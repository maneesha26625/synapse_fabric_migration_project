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charts/chart1.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Lst>
  <p:notesMasterIdLst>
    <p:notesMasterId r:id="rId8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1f06871-684b-8399-b323-78cf753cf392}">
          <p14:sldIdLst>
            <p14:sldId id="256"/>
            <p14:sldId id="257"/>
            <p14:sldId id="258"/>
          </p14:sldIdLst>
        </p14:section>
        <p14:section name="01 The big picture" id="{edcd35f0-8e86-9070-710e-30dd10eb95d1}">
          <p14:sldIdLst>
            <p14:sldId id="259"/>
            <p14:sldId id="260"/>
            <p14:sldId id="261"/>
            <p14:sldId id="262"/>
            <p14:sldId id="263"/>
            <p14:sldId id="264"/>
            <p14:sldId id="265"/>
          </p14:sldIdLst>
        </p14:section>
        <p14:section name="02 Synapse vs Fabric" id="{dd98de11-0189-5202-5e27-44253af3db99}">
          <p14:sldIdLst>
            <p14:sldId id="266"/>
            <p14:sldId id="267"/>
            <p14:sldId id="268"/>
            <p14:sldId id="269"/>
            <p14:sldId id="270"/>
            <p14:sldId id="271"/>
            <p14:sldId id="272"/>
          </p14:sldIdLst>
        </p14:section>
        <p14:section name="03 Connecting both sides" id="{6e67a713-c824-9c75-0f58-df559a6e2a7a}">
          <p14:sldIdLst>
            <p14:sldId id="273"/>
            <p14:sldId id="274"/>
            <p14:sldId id="275"/>
            <p14:sldId id="276"/>
            <p14:sldId id="277"/>
            <p14:sldId id="278"/>
          </p14:sldIdLst>
        </p14:section>
        <p14:section name="04 The six steps" id="{0079d303-e126-79a4-711c-c12cc26ea6d5}">
          <p14:sldIdLst>
            <p14:sldId id="279"/>
            <p14:sldId id="280"/>
            <p14:sldId id="281"/>
            <p14:sldId id="282"/>
            <p14:sldId id="283"/>
            <p14:sldId id="284"/>
            <p14:sldId id="285"/>
            <p14:sldId id="286"/>
            <p14:sldId id="287"/>
            <p14:sldId id="288"/>
            <p14:sldId id="289"/>
            <p14:sldId id="290"/>
            <p14:sldId id="291"/>
            <p14:sldId id="292"/>
            <p14:sldId id="293"/>
            <p14:sldId id="294"/>
          </p14:sldIdLst>
        </p14:section>
        <p14:section name="05 Item by item" id="{ceca4813-4964-0630-6d5f-6fc0aa80434c}">
          <p14:sldIdLst>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Lst>
        </p14:section>
        <p14:section name="06 How it works underneath" id="{fc799dc8-a5b1-0808-7ece-1abf193e8925}">
          <p14:sldIdLst>
            <p14:sldId id="323"/>
            <p14:sldId id="324"/>
            <p14:sldId id="325"/>
            <p14:sldId id="326"/>
            <p14:sldId id="327"/>
            <p14:sldId id="328"/>
            <p14:sldId id="329"/>
            <p14:sldId id="330"/>
          </p14:sldIdLst>
        </p14:section>
        <p14:section name="Closing" id="{85b01a8f-7677-4a71-482c-a8f9a3514746}">
          <p14:sldIdLst>
            <p14:sldId id="331"/>
            <p14:sldId id="332"/>
            <p14:sldId id="333"/>
            <p14:sldId id="33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notesMaster" Target="notesMasters/notesMaster1.xml"/><Relationship Id="rId82" Type="http://schemas.openxmlformats.org/officeDocument/2006/relationships/presProps" Target="presProps.xml"/><Relationship Id="rId83" Type="http://schemas.openxmlformats.org/officeDocument/2006/relationships/viewProps" Target="viewProps.xml"/><Relationship Id="rId84" Type="http://schemas.openxmlformats.org/officeDocument/2006/relationships/theme" Target="theme/theme1.xml"/><Relationship Id="rId8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333"/>
                </a:solidFill>
                <a:latin typeface="+mj-lt"/>
              </a:defRPr>
            </a:pPr>
            <a:r>
              <a:rPr sz="1300" b="0" i="0" u="none" strike="noStrike">
                <a:solidFill>
                  <a:srgbClr val="1B2333"/>
                </a:solidFill>
                <a:latin typeface="+mj-lt"/>
              </a:rPr>
              <a:t>Readiness points lost per risk</a:t>
            </a:r>
          </a:p>
        </c:rich>
      </c:tx>
      <c:layout/>
      <c:overlay val="0"/>
    </c:title>
    <c:autoTitleDeleted val="0"/>
    <c:plotArea>
      <c:layout/>
      <c:barChart>
        <c:barDir val="bar"/>
        <c:grouping val="clustered"/>
        <c:varyColors val="0"/>
        <c:ser>
          <c:idx val="0"/>
          <c:order val="0"/>
          <c:tx>
            <c:strRef>
              <c:f>Sheet1!$B$1</c:f>
              <c:strCache>
                <c:ptCount val="1"/>
                <c:pt idx="0">
                  <c:v>Points</c:v>
                </c:pt>
              </c:strCache>
            </c:strRef>
          </c:tx>
          <c:spPr>
            <a:solidFill>
              <a:srgbClr val="C8404F"/>
            </a:solidFill>
            <a:effectLst/>
          </c:spPr>
          <c:invertIfNegative val="0"/>
          <c:dLbls>
            <c:numFmt formatCode="General" sourceLinked="0"/>
            <c:txPr>
              <a:bodyPr/>
              <a:lstStyle/>
              <a:p>
                <a:pPr>
                  <a:defRPr b="0" i="0" strike="noStrike" sz="1100" u="none">
                    <a:solidFill>
                      <a:srgbClr val="1B2333"/>
                    </a:solidFill>
                    <a:latin typeface="+mn-lt"/>
                  </a:defRPr>
                </a:pPr>
              </a:p>
            </c:txPr>
            <c:showLegendKey val="0"/>
            <c:showVal val="1"/>
            <c:showCatName val="0"/>
            <c:showSerName val="0"/>
            <c:showPercent val="0"/>
            <c:showBubbleSize val="0"/>
            <c:showLeaderLines val="0"/>
          </c:dLbls>
          <c:dPt>
            <c:idx val="0"/>
            <c:invertIfNegative val="0"/>
            <c:bubble3D val="0"/>
            <c:spPr>
              <a:solidFill>
                <a:srgbClr val="C8404F"/>
              </a:solidFill>
              <a:effectLst/>
            </c:spPr>
          </c:dPt>
          <c:dPt>
            <c:idx val="1"/>
            <c:invertIfNegative val="0"/>
            <c:bubble3D val="0"/>
            <c:spPr>
              <a:solidFill>
                <a:srgbClr val="C77C0E"/>
              </a:solidFill>
              <a:effectLst/>
            </c:spPr>
          </c:dPt>
          <c:dPt>
            <c:idx val="2"/>
            <c:invertIfNegative val="0"/>
            <c:bubble3D val="0"/>
            <c:spPr>
              <a:solidFill>
                <a:srgbClr val="4157D6"/>
              </a:solidFill>
              <a:effectLst/>
            </c:spPr>
          </c:dPt>
          <c:dPt>
            <c:idx val="3"/>
            <c:invertIfNegative val="0"/>
            <c:bubble3D val="0"/>
            <c:spPr>
              <a:solidFill>
                <a:srgbClr val="5D6B82"/>
              </a:solidFill>
              <a:effectLst/>
            </c:spPr>
          </c:dPt>
          <c:cat>
            <c:multiLvlStrRef>
              <c:f>Sheet1!$A$2:$A$5</c:f>
              <c:multiLvlStrCache>
                <c:ptCount val="4"/>
                <c:lvl>
                  <c:pt idx="0">
                    <c:v>Blocking</c:v>
                  </c:pt>
                  <c:pt idx="1">
                    <c:v>High</c:v>
                  </c:pt>
                  <c:pt idx="2">
                    <c:v>Medium</c:v>
                  </c:pt>
                  <c:pt idx="3">
                    <c:v>Low</c:v>
                  </c:pt>
                </c:lvl>
              </c:multiLvlStrCache>
            </c:multiLvlStrRef>
          </c:cat>
          <c:val>
            <c:numRef>
              <c:f>Sheet1!$B$2:$B$5</c:f>
              <c:numCache>
                <c:formatCode>General</c:formatCode>
                <c:ptCount val="4"/>
                <c:pt idx="0">
                  <c:v>25</c:v>
                </c:pt>
                <c:pt idx="1">
                  <c:v>6</c:v>
                </c:pt>
                <c:pt idx="2">
                  <c:v>2</c:v>
                </c:pt>
                <c:pt idx="3">
                  <c:v>0.5</c:v>
                </c:pt>
              </c:numCache>
            </c:numRef>
          </c:val>
        </c:ser>
        <c:dLbls>
          <c:numFmt formatCode="General" sourceLinked="0"/>
          <c:txPr>
            <a:bodyPr/>
            <a:lstStyle/>
            <a:p>
              <a:pPr>
                <a:defRPr b="0" i="0" strike="noStrike" sz="1100" u="none">
                  <a:solidFill>
                    <a:srgbClr val="1B2333"/>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1B233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EEF3F7"/>
        </a:solidFill>
        <a:ln>
          <a:noFill/>
        </a:ln>
        <a:effectLst/>
      </c:spPr>
    </c:plotArea>
    <c:plotVisOnly val="1"/>
    <c:dispBlanksAs val="span"/>
  </c:chart>
  <c:spPr>
    <a:solidFill>
      <a:srgbClr val="EEF3F7"/>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reference deck for learning the whole project: what it does, every step, every option, and how each Synapse item becomes a Fabric item. Facts come from the code on branch Rasool (commit c0d16de) and the project's README and docs. The speaker notes add detail and file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in order the first time: sections 01 to 04 explain the platforms and the journey, section 05 is the reference for each object type, and section 06 explains the machinery.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accelerator migrates objects rather than copying them: table structures, views, procedures, notebooks, pipelines, connections, Spark settings and schedules are rebuilt in their Fabric form, with Synapse-only syntax rewritten on the way. Table data is never copied through the accelerator: it is loaded by Fabric data pipelines the accelerator creates, one per wave.
It is a React web app (frontend/) on a small local Python API (src/discovery_agent/). Demo mode runs the whole app on generated sample data with no Azure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project exists, the rules it follows, how it is built, and how much it lets a user choose.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Fabric is not a new home for the same Synapse code. The SQL engine, Spark runtime and pipeline engine are close relatives, but each has differences that stop Synapse code from running unchanged. Most changes are mechanical and are done by deterministic rules; a smaller set needs meaning rewritten (LLM drafts reviewed by a person); some always need a person (secrets, gateways, business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principles are enforced by the code, not only stated: the ARM transport only has a GET method; SQL statements against the pool must be registered SELECT queries; tests check that only connections/ signs in. The one write beyond the Fabric workspace is the commit to its Git branch, made by Fabric itself, and it can be switched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UI never calls Azure or Fabric directly. In Live mode, services/realApi.ts is the only code that calls fetch; it talks to the local API. In Demo mode, mock/mockApi.ts implements the same MigrationApi interface in the browser.
The API is a small Python HTTP server (api/server.py) with services for connections and discovery (service.py), Fabric sign-in (fabric.py), migration (migration.py) and LLM transforms (transform.py). When the frontend is built, the API also serves it on port 8001.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Layering rule from the README: do not create a new Azure, Synapse, SQL or Git connection path; use ConnectionManager. Tests enforce it: only connections/ may import azure.identity, only sql/connection.py may call pyodbc.connect, and only acquisition/git.py may run a git subprocess (api/fabric.py is allowed to run the az and fab CLIs).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start-ui.ps1 reuses an API already listening on 8001, otherwise starts the scheduled task or a new window with --reload, runs npm install if needed, starts Vite on 5173 and opens the browser. The API refuses to start a second copy on the same port. The scheduled task (MigrationAcceleratorAPI) needs no admin rights; its log is .accelerator\api.log; -Remove uninstalls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number is detailed later: source options in section 03, stages and options in the Plan slides, credentials in the Connections item slides, date filters in Table data, LLM kinds in section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following the accelerator, it helps to know what is different between the two platforms. Each slide ends with what the accelerator does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behind the Assess step. Discovery's mapping module gives every type a preliminary Fabric target, a migration path and a workstream; the migration stages then decide what this build actually creates.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Synapse provisions separate engines (a dedicated pool, Spark pools, a serverless endpoint) on top of the workspace's ADLS Gen2 account. Fabric runs every workload on one capacity and stores everything in OneLake. Shortcuts let Fabric read existing ADLS data in place, which is how the accelerator handles external tables and code that reads storage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Warehouse speaks T-SQL, but not all of the dedicated pool's dialect. Storage clauses have no meaning because Fabric manages storage itself. Collation is the change teams most often miss: Synapse pools default to case-insensitive (SQL_Latin1_General_CP1_CI_AS); a Warehouse defaults to Latin1_General_100_BIN2_UTF8 (case-sensitive), and the collation can only be set when the Warehouse is created.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Synapse, compute is the Spark pool a notebook or job is attached to. In Fabric, an Environment carries the pool choice, runtime version, Spark properties and libraries, and notebooks and Spark job definitions attach to it. Fabric's Starter Pool starts in seconds; a custom pool is only needed for a specific node size, libraries or Spark properties.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Fabric pipelines use the same JSON family as Synapse and Azure Data Factory, so most activities carry over. The real differences: datasets do not exist as items, connections replace linked services, and Fabric items are referenced by id, so they must exist before the pipeline that calls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identity change is the one that breaks code silently: Synapse ran notebooks and COPY statements as its managed identity, while Fabric runs them as the user. A storage account in another Microsoft Entra tenant rejects that user whatever roles it has, which is why the accelerator routes storage through OneLake shortcuts that use a Fabric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starts on the Connections page: choose the route, connect Synapse, connect Fabric,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pickers are keyboard listboxes; unavailable platforms are aria-disabled. The route is remembered in the browser. Start migration needs three things: a route, a connected source and a connected destination whose workspace has a capacity.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Choosing a workspace reads its Git integration from Azure (an ARM read of workspaceRepositoryConfiguration): provider, repository, collaboration branch and root folder. When it has one, Git repository is selected for you. More options lets you pick another branch (for example a release branch for Prod), the root folder, the environment and a parameters file. A repository URL can also be typed, which needs no Azure sign-in (and then reads no SQL pool).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Synapse sign-in uses an interactive browser credential held in memory (MultiTenantSignIn): one window to the account's home directory, then silent tokens for every other directory it belongs to. The SQL layer holds a token provider, not a token, so it picks up a refreshed token for each connection. The token is passed to ODBC as a connection attribute, never in the connection string.
Fabric sign-in is kept apart from the Synapse identity. With the Azure CLI, the API asks az for tokens; with the Fabric CLI, it runs fab api for each call and uses one browser sign-in for Warehouse SQL and OneLake, which fab cannot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authenticates, not this application: HTTPS uses your configured credential helper (Git Credential Manager on Windows), SSH uses your key and ssh-agent. Clone the repository once in a terminal so Git Credential Manager remembers your sign-in; the API's own clones then need nothing typed. Clones go to input/repository/&lt;name&gt; (gitignored).
Working copies with an environment's parameters applied go to input/environments/&lt;id&gt;.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Failures name a category instead of collapsing into 'connection failed', so 'the workspace does not exist', 'you may not read it', 'the pool is paused' and 'the network is down' stay different answers. Every message is redacted when the result is built: tokens, Bearer headers, passwords and secrets in URLs are masked. The same chain can be run from the command line: python -m discovery_agent.connections (exit 0 ready, 1 not ready, 2 nothing configured).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Migration page is one guided journey: six steps side by side, each reviewed and confirmed before the next one opens.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step's details start with a short summary row and put the rest in tabs. A bar at the foot of every step says where it stands and how to move on. Confirming the last step shows 'Migration complete' with the final numbers and Download report (CSV).
Results can disappear: discovery and the run live in the backend's memory and validation results in the page. When a confirmed step loses its results, its box says Run again (Rebuild for an empty plan) and the later steps wait.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P0 scope is a fixed list of nine artifacts, each with exactly one primary source, checked when the code loads: 6 are Git-primary and 3 are SQL-primary. The repository detector also recognises triggers, data flows, KQL scripts, integration runtimes, credentials, managed private endpoints and managed virtual networks, but those have no extractor, so they are detected only. Tables, views and procedures have no Artifacts API route; they always come from the SQL pool.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ConnectionManager provides the three legs; extractors never authenticate, open SQL connections or clone. The repository walker prunes .git, records skipped files with reasons and caps file size (5 MB by default). The detector uses fixed rules with fixed confidences (1.0, 0.8, 0.7, 0.6): a folder name alone never classifies a file. Extraction is sequential and ordered by path, so the output is the same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six extractors read both the Git JSON and the live API JSON with the same parser. Unknown properties raise an UNSUPPORTED_CONSTRUCT warning instead of being dropped, and a malformed artifact is a failure, never an empty success.
References between artifacts (13 *Reference types) are recorded as observations; expressions are kept verbatim with their JSON path and never evaluated.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Drift is compared on a normalised form: service-managed keys (lastPublishTime), nulls and empty objects are dropped from both sides, list order is kept. Before normalisation, untouched artifacts showed false drift. A content hash identifies the bytes served; a separate comparison hash decides the verdict. An unreadable side gives UNKNOWN, never IN_SYNC.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discovery from the Discover step. A live progress list shows what is being read. Running discovery again asks first when later steps are confirmed. The object details drawer also offers View Source Definition, View Mapping, a per-object export and Convert with LLM. The explorer shows every object exactly once, so its total matches Discover.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mapping is deterministic: no model, no heuristics over names. Unknown types map to 'Requires assessment' rather than a guess. Each type also has a one-line migration action and ordered guidance steps shown in the object details. The Assess step shows a tile and percentage per class and a bar across all of them; each tile filters the Objects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Waves are a suggested grouping for planning: they say an object should not be attempted before what it references, not that it can migrate. The Waves step shows objects, dependencies, waves and how many objects have dependencies; a wave row opens the graph filtered to that wave, and a node's side panel lists what it needs, what needs it, and Add to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 /api/migration/plan is read-only and pure: no clock, no randomness, no network inside the planner. Everything that needs the outside world (is Fabric connected, is the ODBC driver there, can a table's DDL be built) is computed first and passed in as checks and findings. The same plan over the same estate always gives the same strategies, risks, effort, readiness and fingerprint.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Preflight reads only what discovery holds (column metadata, module text, notebook JSON, pipeline JSON) and runs the same translators as the runner: warehouse_ddl.create_table, tsql_rules.rewrite, notebooks.to_fabric_ipynb, pipelines.convert, jobs.spark_job and jobs.schedule_bodies. Nothing connects anywhere. Each finding becomes a risk with a severity, which lowers readiness.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stage registry lives in one place (migration/capabilities.py) and the UI reads it from GET /api/migration/capabilities, so the planner, the run and the UI can never disagree about what exists. Options: collation = same as Synapse / case-insensitive / case-sensitive; data run = create and run / create only; rows = skip tables that have rows / replace them; re-read window = one hour / one day / none. Integration runtimes have no stage: always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Credentials are part of the plan request too, so planning knows which connections can be created. Plan → Stages &amp; credentials is configuration only: nothing runs from Plan. Date filters and storage routes are explained in detail in section 05 (Table data, Keep in sync, Storage routing).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run is one background thread (migration-&lt;id&gt;); the page polls GET /api/migration/run. One object never stops the run: its failure is recorded and the next object starts. Workspace-level Fabric errors (FeatureNotAvailable, WorkspaceNotFound, CapacityNotActive, CapacityLimitExceeded) make every later Fabric item fail at once with the same message instead of repeating it. The run refuses to start without a capacity, with an empty plan, or when nothing in the plan can be automated.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runs in the background and reads both sides; it writes nothing unless you tick run-now. Run-now items are real runs: they read their sources and write their targets. Procedures with required parameters are never executed; one that uses temporary tables cannot be compiled ahead and is reported as not checked. Download report (CSV) appears on Migration complete with every run item and every validation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goes through Fabric's Git REST APIs: git/connection, git/myGitCredentials, git/status (which may answer 202 and is followed) and git/commitToGit. Nothing here runs git or holds a Git credential. The strip at the bottom is the Release path shown under the steps: the Fabric Git chip is read live from the workspace. 'What comes next' opens a six-item checklist kept per project and a short glossary.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reference section. Each item slide has the same shape: the Synapse format on the left, the conversion in the middle, the Fabric result on the right, and what is left for a person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Sixteen Synapse object types are created by this build (the MIGRATABLE map in runner.py): Dedicated SQL Pool, Schema, Table, View, Stored Procedure, Function, Security Object, Spark Pool, Notebook, Linked Service, Pipeline, Dataset, Spark Job Definition, SQL Script, Trigger and External Table. Table rows are a seventeenth kind of run item (&lt;table id&gt;#data), one per non-external table. Everything else in a plan is deferred with the reason; an integration runtime gets 'Integration Runtime objects move in a later session.' Deferred items are listed only when the run's scope is everything. A plan entry that discovery no longer finds becomes MISSING, then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Collation names: case-insensitive = Latin1_General_100_CI_AS_KS_WS_SC_UTF8; case-sensitive = Latin1_General_100_BIN2_UTF8 (Fabric's own default). 'Same as Synapse' picks case-sensitive only when the pool's collation contains _CS or _BIN; an unknown collation is treated as Synapse's case-insensitive default. Schemas are created with IF SCHEMA_ID(N'x') IS NULL EXEC(N'CREATE SCHEMA [x]'), so they are safe to repeat.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Tables are rebuilt from metadata rather than from text, because a dedicated pool has no CREATE TABLE text to copy and its storage clauses have no meaning in a Warehouse. Nullability is kept (an IDENTITY column is NOT NULL). Keys are hints in both platforms: not checked, but used by the optimiser and by tools such as Power BI, so they are worth keeping. A key Fabric rejects is noted and the table stands. A table built from an accepted LLM CREATE TABLE skips the type mapping and gets no automatic masks; the run notes 'Dynamic data masks are not added to a reviewed CREATE TABLE: check they are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Fabric Warehouse stores text as UTF-8 varchar, so a Unicode column of n characters becomes varchar(4 × n), because one character can take up to four bytes. Fractional seconds are capped at 6 digits. Validate later reports a column whose type changed by design as REVIEW (naming the change), and a column whose type differs unexpectedly as MISMATCH.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IDENTITY used to be dropped (values loaded as plain bigint). It is now kept, which is the path Microsoft documents for Fabric Data Warehouse: staging table, SET IDENTITY_INSERT ON, INSERT … SELECT, SET IDENTITY_INSERT OFF, then DBCC CHECKIDENT … RESEED. Masks: for a table that already exists, the masks it lacks are added with ALTER TABLE … ALTER COLUMN … ADD MASKED WITH (…). Adding a mask only hides data, so it never exposes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definition text is the most faithful thing there is, so the run creates each module from its own text after the rules; where Fabric's T-SQL still differs, the statement fails with the server's own message, which is reported. An accepted LLM transform replaces the text, but it still goes through the T-SQL rules, which are safe to repeat. Validate compares against the original Synapse text, so a converted view or procedure shows REVIEW ('definition text differs'), not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rules run on a masked copy of the text in which strings, [identifiers], "identifiers" and comments are blanked, so they never match inside them. Each rule that fires adds one note, such as 'Removed 1 table storage option clause(s) (DISTRIBUTION, columnstore, heap, partitions): Fabric manages storage itself.' Storage options include HEAP, CLUSTERED INDEX, PARTITION and ORDER, and a WITH clause goes only when every option in it is a storage option. Every isolation level except SNAPSHOT is removed. Workload management covers workload groups, classifiers, and sp_addrolemember / sp_droprolemember with a resource-class role. Rule 6 needs the Warehouse's list of tables without IDENTITY, so it only takes effect in a live run. The COPY INTO rule exists because a Warehouse does not take Synapse's managed identity: without a credential, COPY reads the storage as the Microsoft Entra identity that runs it, which then needs Storage Blob Data Reader.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set the Fabric Migration Assistant for Data Warehouse carries over as 'security objects', rebuilt here from the catalog: 16 named catalog queries include database_principals, role_members, permissions and masked_columns. Grants on system objects are skipped when reading. Permission rows that name an object the login cannot see are dropped with one issue recommending VIEW DEFINITION. Validate compares each role's members and every permission's state (GRANT or DENY), and counts a GRANT WITH GRANT OPTION as a plain GRANT. A rejected CREATE ROLE fails the item at once. Every principal also needs Read on the Warehouse item before it can connect.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never passes through the accelerator: the pipeline runs inside Fabric. The Copy activity cannot read a Synapse source straight into the Warehouse's COPY command, so it stages the rows in the workspace first. The SELECT casts the types a Copy activity cannot carry (geography and geometry with STAsBinary(), xml to nvarchar(max)); every other type is converted by the Copy activity into the type the Warehouse column was created with. Type conversion runs with truncation allowed, so a value too long for its column is cut short rather than refused. The source query and the After copy script each time out after 2 hours; the ForEach has no policy of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table of a wave that reaches this stage gathers every pending table of the same wave and loads them together, but each table keeps its own row in the run, so results are reported table by table. The pool connection is found by its name, synapse-&lt;workspace&gt;-&lt;pool database&gt;, or as any Fabric connection whose path names the same server and database; otherwise it is created from the credential entered in the Table data stage. Without either, the tables are deferred: 'Needs the Synapse pool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dates are fixed in the plan, never 'two years ago', so every run of the same plan copies the same rows and validation compares like with like. A synced table has no end date. The first load stops at the watermark, so the first sync starts exactly where it ends: a row changed after the watermark was read is left for the first sync instead of being copied twice. A synced table's SQL, including the re-read window, is fixed in its control row when it is registered; a later change applies only after a Replace it reload, which registers it again with a fresh watermark.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sync pipeline is never updated once created: it reads its table list from the control table, so registering a table is adding its row. The staging table is emptied by the Copy step's pre-copy script, not by the apply step. Tables sync one after another because each apply batch writes the control table and the Warehouse detects write conflicts per table. Without key columns a changed row cannot be matched, so it arrives as a second row (the planner warns: SYNC_APPEND_ONLY). A soft delete that sets a flag and moves the change column is carried over. For IDENTITY tables the insert is wrapped in SET IDENTITY_INSERT and the identity is reseeded after the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come from reading the code paths: datapipeline.py sets typeConversion and allowDataTruncation on the Copy activity; stages.py reuses an existing load or sync pipeline without updating its definition; api/migration.py's retry re-queues failed items with the run's original settings; stages.py skips the count when Synapse cannot be read; datafilter.py stores each synced table's SQL in its control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Synapse Spark pool is compute: a node size, a node count or autoscale range, a Spark version and optionally libraries. Fabric splits that into a workspace custom Spark pool (node size and scale) and an Environment (the pool choice, runtime version and executor shape). Libraries are not copied because a Synapse pool records only their names, not their files. An existing Environment is left as it is. If the PATCH or the publish fails, the item fails but the Environment already exists, so a retry skips it: finish it in Fabric. An unlisted node size (XXXLarge) falls back to Medium.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Synapse notebook is an ipynb document wrapped in a Synapse resource; Fabric takes a plain ipynb document. The conversion keeps the cells and their language, drops what only Synapse understands, and says what it dropped. If the notebook already exists, it is skipped, or with 'update' its definition is replaced in place so its id (and every pipeline that calls it) stays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Python and PySpark cells get the API rewrites, and only mechanically; storage routing applies to every code cell, and the five review flags are looked for in every code cell. Each flag goes into the run notes ('Review before running, uses: …') and becomes a NOTEBOOK_REVIEW finding (Medium), because a silent guess at someone's code is worse than an honest note. The Warehouse keeps the pool's name (other characters become _, and wh_ is added unless it starts with a letter), so synapsesql reads usually need no rename; only quoted pool.schema.table arguments on a read line are re-pointed. The storage flag in the run notes is computed before routing, so it can remain even when the paths were routed.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additionalLibraryUris combines the job's jars and files; command-line arguments are joined with spaces. The definition also carries additionalLakehouseIds (empty) and retryPolicy (null); language is Python, Scala (Java maps to Scala) or R. When the main file is on a routed account, executableFile is pointed through the shortcut. A .py, .r, .scala or .sql file whose code names storage paths is copied to Files/_migrated_jobs/&lt;job&gt;/&lt;file&gt; with those paths rewritten, and the job runs the copy; otherwise the original runs through the shortcut. Libraries are re-pointed through the shortcut, never copied. The copy is read and written with OneLake's ADLS-compatible API (token audience storage.azure.com, used only for onelake.dfs.fabric.microsoft.com).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linked-service types are converted: AzureSqlDatabase, AzureSqlDW, AzureSynapseAnalytics and SqlServer become SQL connections; AzureBlobFS becomes AzureDataLakeStorage (the container or folder path is asked for); AzureBlobStorage becomes AzureBlobs. Discovery recognises 14 linked-service types in all. A server or database that comes from Key Vault or an unresolved parameter cannot be read, so that connection is made by hand. The pool is recognised by database name only: a SQL-family linked service whose database (parameters filled in) equals the pool's name. Fabric tests each connection when it is created (except workspace identity), so a wrong secret fails the create. An on-premises SqlServer still becomes a cloud connection, with a note when it used an integration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 connections offer 5 choices and storage connections 7; the ones that pass no secret through the tool are offered first. Workspace identity is never inferred: it only works once someone has granted the identity access, so it must be chosen. Fabric cannot test a workspace-identity connection, so that create skips the test. A Key Vault secret name is checked to be a name (letters, digits, dashes), not a pasted secret.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activity the converter does not know is never guessed at: the pipeline is reported as needing a rewrite and is not created. With 'update', an existing pipeline gets its new definition in place, so its id stays the same and pipelines that call it and its schedules keep working. An accepted LLM transform is still a Synapse-shaped pipeline: the usual converter embeds its datasets and resolves the 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SynapseNotebook becomes the Fabric notebook activity (TridentNotebook in JSON) with the notebook's Fabric id. ExecutePipeline keeps the Execute Pipeline type, which calls a pipeline in the same workspace by id and needs no connection (Fabric's newer Invoke pipeline activity would need a connection and fails at run time without one). External-service activities that also reference a second linked service are not converted. The 33: Copy; Lookup, GetMetadata, Delete, Validation; SynapseNotebook, ExecutePipeline, SparkJob, SqlPoolStoredProcedure, SqlServerStoredProcedure, Script; Switch, ForEach, Until, IfCondition; AzureFunctionActivity, DatabricksNotebook, DatabricksSparkJar, DatabricksSparkPython, Custom, HDInsightHive, HDInsightPig, HDInsightMapReduce, HDInsightSpark, HDInsightStreaming, AzureMLExecutePipeline; Wait, SetVariable, AppendVariable, Fail, WebActivity, WebHook, Filter.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Fabric has no dataset item: dataset settings live in each activity (datasetSettings) and point at a Fabric connection by id. That is why the Connections stage runs before the Pipelines stage. Only an activity's first input and first output are folded in. A value replaces a whole expression; it is never nested inside another. Validate checks a dataset by checking that every pipeline that uses it exists in Fabric.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Fabric has no SQL script item. Without the T-SQL kernel, Fabric would run the notebook on Spark, read the cell as Spark SQL and fail on T-SQL, although the SQL is fine; the sqldatawarehouse kernel and the warehouse dependency avoid that. The Warehouse dependency is written only if the Warehouse exists when the script migrates, so run the Warehouse stage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Schedules are created switched off because a trigger that fires before the data and pipelines it feeds are ready does harm, and enabling is one click. Switch them on at cut-over, and switch the Synapse triggers off at the same time. Daily and weekly schedules with no listed times use the trigger's start time of day. A pipeline not yet in Fabric fails the schedule item: run the Pipelines stage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location is the data source's location (abfss://container@account.dfs.core.windows.net/base) plus the table's own location. A shortcut that already exists (409) is skipped. The same Lakehouse also holds the shortcuts used for storage routing and the rewritten Spark job main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literal account with the container from a variable is rewritten whenever that account is routed (the container keeps coming from the variable, which works because each shortcut is named after its container); an account from a variable only when exactly one account is routed. Not matched: http://, Python string concatenation, and placeholders inside https URLs. Plan's storage list scans views, procedures, functions, SQL scripts, notebooks and Spark jobs, not pipeline SQL, which is still rewritten at run time. Findings: STORAGE_ROUTED (Low) when the run will rewrite the paths; EXTERNAL_STORAGE (Medium, High for a Spark job's main file) when code still reads storage directly; DEPENDS_ON_STORAGE for pipelines that run such an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honest about limits is a principle: each of these is reported as a risk in Plan, with its reason, and as DEFERRED ('left for a person') in the run. Validate lists manual items as REVIEW so they are not forgotten. Workload management and resource classes are not on this list: the T-SQL rules and the security stage remove them automatically. In the code, capabilities.UNHANDLED holds only Integration Runtime; the rest are findings in preflight.py.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machinery every step relies on: how Fabric is called, what happens on a second run, how LLM drafts are made and checked, how the app keeps itself and your data safe, and how it is tested. The section ends with the gaps found while reading the code for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client serves both Fabric sign-in methods: with the Azure CLI the API asks az for a token (cached until 5 minutes before it expires); with the Fabric CLI every call becomes fab api &lt;endpoint&gt; -X &lt;verb&gt;, and the process holds no Fabric token at all. Explained codes: FeatureNotAvailable, CapacityNotActive, InsufficientPrivileges, WorkspaceNotConnectedToGit, WorkspaceHeadMismatch, WorkspacePreviousOperationInProgress. Codes the client makes itself: fabric_unreachable, unexpected_host, operation_failed, operation_timeout (504 after 600 s), job_not_started. Messages are cut at 500 characters. A run is refused up front (409 no_fabric_capacity) when the workspace has no capacity. Fabric Git adds its own retries: WorkspaceHeadMismatch once, and a commit that is too large is split in half until it 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option is existing = skip (default) or update, chosen in Plan → Stages &amp; credentials. Scope: 'automated' (the UI default) lists only what the switched-on stages create; 'all' also lists every other plan object as deferred, with its reason. stopOnFailure (off by default) pauses before a wave when an earlier wave has a failed item; Resume continues and waives that stop. Retry failed puts failed items back to pending and keeps the options and the in-memory credentials. Two places still say nothing is ever overwritten (runner.py's docstring and the Run panel banner); that wording predates update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prompt: base.md frames an object table (name, type, Fabric target, schema, workspace, warehouse), the source, the rules' output with its notes and problems, what discovery found, and up to 40 dependencies with each table's columns (up to 60); then the kind's file and project.md under 'Project requirements', which overrides the general guidance. Source over 200,000 characters is refused. For a table, the source is a CREATE TABLE rebuilt from the pool catalog. Drafts run two at a time (MIGRATION_LLM_WORKERS), at most 50 per request. The README lists six kinds; the code has seven (Function is the seventh). In the UI, the three tabs sit side by side; there is no computed diff. 'Go back to the rules' deletes the accepted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Settings: MIGRATION_LLM=on|off · MIGRATION_LLM_MODEL (Claude Code's default) · MIGRATION_LLM_TIMEOUT=180 · MIGRATION_LLM_WORKERS=2 · CLAUDE_CLI (claude on PATH) · MIGRATION_PROMPTS_DIR=prompts/transform · MIGRATION_TRANSFORMS_DIR=transforms. How a run uses an accepted draft: notebook cells replace the original's; a table's CREATE TABLE is used as it is (no type mapping, no automatic masks); views, procedures and functions still pass through the T-SQL rules; a pipeline still goes through the converter; a SQL script's text becomes the query. store.py's docstring suggests keeping transforms under version control, but .gitignore ignores transforms/ because they hold the client's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Origin check and no CSRF token: the defences are the Host check, the JSON content type (a cross-site form cannot send it without a CORS preflight, and no CORS headers are ever sent) and binding to 127.0.0.1. Responses carry Cache-Control: no-store and nosniff; static files are guarded against path traversal. redact() masks JWTs, Bearer tokens, password=, pwd=, client_secret=, sig= and user:secret@ in URLs. The authentication record written for the Fabric CLI method holds no token (~/.synapse-discovery/authentication-record.json) and is deleted on disconnect. Limits: 10,000 plan items, 100 credential entries, 2,048 characters per credential field, 50 storage routes, 32 KiB for project.md.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counts are from the README (1,508 passed, 104 skipped, 70 UI cases). The Demo count is computed from mockData.ts (seed 20240607): the READMEs say about 1,500. partial-ws omits Spark pools, libraries, notebooks and Spark jobs and flags them as 'not a count of zero'. Only denied-ws has a UI test; notfound, expired, offline and timeout exist in the mock but cannot be picked from the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were found by reading the code while preparing this deck; none was changed. The first four can produce a wrong result or a failed run; the rest are smaller or wording only. Each would make a good first ticket for someone learning the codebase: it touches one module, and the tests next to it show how to cover the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three lists appear in the README under 'What is automated, manual, or coming'. Coming next means: each environment's workspace, connections, Warehouse schema and data loads, and schedules switched on only where they should run. Materialized views and sys.pdw_* views are flagged before the run (SYNAPSE_TSQL); the run still tries them and reports Fabric's error. Resource classes and workload management are removed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Terms used across the deck. The left table is the two platforms' vocabulary; the right table is this project's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suggested order: from what the user sees, to how facts are gathered, to how the plan is made, to how the run creates each Fabric item, to how it is checked. The gaps slide in section 06 lists small, well-bounded fixes that make good first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deck follows the code on branch Rasool at commit c0d16de. The README is kept current after every task; check it first when a detail here looks out of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28232"/>
            <a:ext cx="8686800" cy="256032"/>
          </a:xfrm>
          <a:prstGeom prst="rect">
            <a:avLst/>
          </a:prstGeom>
          <a:noFill/>
          <a:ln/>
        </p:spPr>
        <p:txBody>
          <a:bodyPr wrap="square" lIns="0" tIns="0" rIns="0" bIns="0" rtlCol="0" anchor="t"/>
          <a:lstStyle/>
          <a:p>
            <a:pPr indent="0" marL="0">
              <a:buNone/>
            </a:pPr>
            <a:r>
              <a:rPr lang="en-US" sz="1000" dirty="0">
                <a:solidFill>
                  <a:schemeClr val="accent6"/>
                </a:solidFill>
              </a:rPr>
              <a:t>Synapse → Fabric Migration Accelerator  ·  Complete guide (internal)</a:t>
            </a:r>
            <a:endParaRPr lang="en-US" sz="1000" dirty="0"/>
          </a:p>
        </p:txBody>
      </p:sp>
      <p:sp>
        <p:nvSpPr>
          <p:cNvPr id="3" name="Text 1"/>
          <p:cNvSpPr/>
          <p:nvPr>
            <p:ph idx="101" type="title" hasCustomPrompt="1"/>
          </p:nvPr>
        </p:nvSpPr>
        <p:spPr>
          <a:xfrm>
            <a:off x="548640" y="585216"/>
            <a:ext cx="11094415" cy="749808"/>
          </a:xfrm>
          <a:prstGeom prst="rect">
            <a:avLst/>
          </a:prstGeom>
          <a:noFill/>
          <a:ln/>
        </p:spPr>
        <p:txBody>
          <a:bodyPr wrap="square" rtlCol="0"/>
          <a:lstStyle>
            <a:lvl1pPr algn="l" indent="0" marL="0">
              <a:buNone/>
              <a:defRPr lang="en-US" sz="3200"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254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6766560" cy="1645920"/>
          </a:xfrm>
          <a:prstGeom prst="rect">
            <a:avLst/>
          </a:prstGeom>
          <a:noFill/>
          <a:ln/>
        </p:spPr>
        <p:txBody>
          <a:bodyPr wrap="square" rtlCol="0"/>
          <a:lstStyle>
            <a:lvl1pPr algn="l" indent="0" marL="0">
              <a:buNone/>
              <a:defRPr lang="en-US" sz="4200" dirty="0">
                <a:solidFill>
                  <a:schemeClr val="bg1"/>
                </a:solidFill>
              </a:defRPr>
            </a:lvl1pPr>
          </a:lstStyle>
          <a:p>
            <a:pPr algn="l" indent="0" marL="0">
              <a:buNone/>
            </a:pPr>
            <a:endParaRPr lang="en-US" sz="4200" dirty="0"/>
          </a:p>
        </p:txBody>
      </p:sp>
      <p:sp>
        <p:nvSpPr>
          <p:cNvPr id="3" name="Text 0"/>
          <p:cNvSpPr/>
          <p:nvPr>
            <p:ph idx="101" type="body" hasCustomPrompt="1"/>
          </p:nvPr>
        </p:nvSpPr>
        <p:spPr>
          <a:xfrm>
            <a:off x="731520" y="3931920"/>
            <a:ext cx="6766560" cy="868680"/>
          </a:xfrm>
          <a:prstGeom prst="rect">
            <a:avLst/>
          </a:prstGeom>
          <a:noFill/>
          <a:ln/>
        </p:spPr>
        <p:txBody>
          <a:bodyPr wrap="square" rtlCol="0"/>
          <a:lstStyle>
            <a:lvl1pPr indent="0" marL="0">
              <a:buNone/>
              <a:defRPr lang="en-US" sz="2000" dirty="0">
                <a:solidFill>
                  <a:schemeClr val="accent5"/>
                </a:solidFill>
              </a:defRPr>
            </a:lvl1pPr>
          </a:lstStyle>
          <a:p>
            <a:pPr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0B254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880360"/>
            <a:ext cx="10515600" cy="914400"/>
          </a:xfrm>
          <a:prstGeom prst="rect">
            <a:avLst/>
          </a:prstGeom>
          <a:noFill/>
          <a:ln/>
        </p:spPr>
        <p:txBody>
          <a:bodyPr wrap="square" rtlCol="0"/>
          <a:lstStyle>
            <a:lvl1pPr algn="l" indent="0" marL="0">
              <a:buNone/>
              <a:defRPr lang="en-US" sz="4000"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840480"/>
            <a:ext cx="10515600" cy="548640"/>
          </a:xfrm>
          <a:prstGeom prst="rect">
            <a:avLst/>
          </a:prstGeom>
          <a:noFill/>
          <a:ln/>
        </p:spPr>
        <p:txBody>
          <a:bodyPr wrap="square" rtlCol="0"/>
          <a:lstStyle>
            <a:lvl1pPr indent="0" marL="0">
              <a:buNone/>
              <a:defRPr lang="en-US" sz="2000" dirty="0">
                <a:solidFill>
                  <a:schemeClr val="accent5"/>
                </a:solidFill>
              </a:defRPr>
            </a:lvl1pPr>
          </a:lstStyle>
          <a:p>
            <a:pPr indent="0" marL="0">
              <a:buNone/>
            </a:pPr>
            <a:endParaRPr lang="en-US" sz="20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FB0C8"/>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2.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2.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2.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slideLayout" Target="../slideLayouts/slideLayout2.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slideLayout" Target="../slideLayouts/slideLayout2.xml"/><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4.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slideLayout" Target="../slideLayouts/slideLayout2.xml"/><Relationship Id="rId6"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image" Target="../media/image-53-5.png"/><Relationship Id="rId6" Type="http://schemas.openxmlformats.org/officeDocument/2006/relationships/image" Target="../media/image-53-6.png"/><Relationship Id="rId7" Type="http://schemas.openxmlformats.org/officeDocument/2006/relationships/slideLayout" Target="../slideLayouts/slideLayout2.xml"/><Relationship Id="rId8"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4.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image" Target="../media/image-69-3.png"/><Relationship Id="rId4" Type="http://schemas.openxmlformats.org/officeDocument/2006/relationships/image" Target="../media/image-69-4.png"/><Relationship Id="rId5" Type="http://schemas.openxmlformats.org/officeDocument/2006/relationships/image" Target="../media/image-69-5.png"/><Relationship Id="rId6" Type="http://schemas.openxmlformats.org/officeDocument/2006/relationships/image" Target="../media/image-69-6.png"/><Relationship Id="rId7" Type="http://schemas.openxmlformats.org/officeDocument/2006/relationships/image" Target="../media/image-69-7.png"/><Relationship Id="rId8" Type="http://schemas.openxmlformats.org/officeDocument/2006/relationships/image" Target="../media/image-69-8.png"/><Relationship Id="rId9" Type="http://schemas.openxmlformats.org/officeDocument/2006/relationships/slideLayout" Target="../slideLayouts/slideLayout2.xml"/><Relationship Id="rId10"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3.xml"/><Relationship Id="rId3" Type="http://schemas.openxmlformats.org/officeDocument/2006/relationships/notesSlide" Target="../notesSlides/notesSlide7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6766560" cy="1645920"/>
          </a:xfrm>
          <a:prstGeom prst="rect">
            <a:avLst/>
          </a:prstGeom>
          <a:noFill/>
          <a:ln/>
        </p:spPr>
        <p:txBody>
          <a:bodyPr wrap="square" lIns="0" tIns="0" rIns="0" bIns="0" rtlCol="0" anchor="b"/>
          <a:lstStyle/>
          <a:p>
            <a:pPr algn="l" indent="0" marL="0">
              <a:buNone/>
            </a:pPr>
            <a:r>
              <a:rPr lang="en-US" sz="4200" dirty="0">
                <a:solidFill>
                  <a:schemeClr val="bg1"/>
                </a:solidFill>
              </a:rPr>
              <a:t>Synapse → Fabric Migration Accelerator</a:t>
            </a:r>
            <a:endParaRPr lang="en-US" sz="4200" dirty="0"/>
          </a:p>
        </p:txBody>
      </p:sp>
      <p:sp>
        <p:nvSpPr>
          <p:cNvPr id="3" name="Text 0"/>
          <p:cNvSpPr/>
          <p:nvPr>
            <p:ph idx="101" type="body" hasCustomPrompt="1"/>
          </p:nvPr>
        </p:nvSpPr>
        <p:spPr>
          <a:xfrm>
            <a:off x="731520" y="3931920"/>
            <a:ext cx="6766560" cy="868680"/>
          </a:xfrm>
          <a:prstGeom prst="rect">
            <a:avLst/>
          </a:prstGeom>
          <a:noFill/>
          <a:ln/>
        </p:spPr>
        <p:txBody>
          <a:bodyPr wrap="square" lIns="0" tIns="0" rIns="0" bIns="0" rtlCol="0" anchor="t"/>
          <a:lstStyle/>
          <a:p>
            <a:pPr indent="0" marL="0">
              <a:buNone/>
            </a:pPr>
            <a:r>
              <a:rPr lang="en-US" sz="2000" dirty="0">
                <a:solidFill>
                  <a:schemeClr val="accent5"/>
                </a:solidFill>
              </a:rPr>
              <a:t>The complete guide: what it is, how it works, item by item</a:t>
            </a:r>
            <a:endParaRPr lang="en-US" sz="2000" dirty="0"/>
          </a:p>
        </p:txBody>
      </p:sp>
      <p:sp>
        <p:nvSpPr>
          <p:cNvPr id="4" name="Text 2"/>
          <p:cNvSpPr txBox="1"/>
          <p:nvPr/>
        </p:nvSpPr>
        <p:spPr>
          <a:xfrm>
            <a:off x="731520" y="4983480"/>
            <a:ext cx="6766560" cy="320040"/>
          </a:xfrm>
          <a:prstGeom prst="rect">
            <a:avLst/>
          </a:prstGeom>
          <a:noFill/>
          <a:ln/>
        </p:spPr>
        <p:txBody>
          <a:bodyPr wrap="square" lIns="0" tIns="0" rIns="0" bIns="0" rtlCol="0" anchor="t"/>
          <a:lstStyle/>
          <a:p>
            <a:pPr indent="0" marL="0">
              <a:buNone/>
            </a:pPr>
            <a:r>
              <a:rPr lang="en-US" sz="1400" dirty="0">
                <a:solidFill>
                  <a:srgbClr val="C9D4E5"/>
                </a:solidFill>
              </a:rPr>
              <a:t>Internal learning deck  ·  Code as of commit c0d16de (13 October 2026)</a:t>
            </a:r>
            <a:endParaRPr lang="en-US" sz="1400" dirty="0"/>
          </a:p>
        </p:txBody>
      </p:sp>
      <p:sp>
        <p:nvSpPr>
          <p:cNvPr id="5" name="Shape 3"/>
          <p:cNvSpPr/>
          <p:nvPr/>
        </p:nvSpPr>
        <p:spPr>
          <a:xfrm>
            <a:off x="8001000" y="2331720"/>
            <a:ext cx="1280160" cy="1280160"/>
          </a:xfrm>
          <a:prstGeom prst="ellipse">
            <a:avLst/>
          </a:prstGeom>
          <a:solidFill>
            <a:schemeClr val="accent2"/>
          </a:solidFill>
          <a:ln/>
        </p:spPr>
      </p:sp>
      <p:pic>
        <p:nvPicPr>
          <p:cNvPr id="6" name="Image 0" descr="preencoded.png">    </p:cNvPr>
          <p:cNvPicPr>
            <a:picLocks noChangeAspect="1"/>
          </p:cNvPicPr>
          <p:nvPr/>
        </p:nvPicPr>
        <p:blipFill>
          <a:blip r:embed="rId1"/>
          <a:stretch>
            <a:fillRect/>
          </a:stretch>
        </p:blipFill>
        <p:spPr>
          <a:xfrm>
            <a:off x="8321040" y="2651760"/>
            <a:ext cx="640080" cy="640080"/>
          </a:xfrm>
          <a:prstGeom prst="rect">
            <a:avLst/>
          </a:prstGeom>
        </p:spPr>
      </p:pic>
      <p:sp>
        <p:nvSpPr>
          <p:cNvPr id="7" name="Text 4"/>
          <p:cNvSpPr txBox="1"/>
          <p:nvPr/>
        </p:nvSpPr>
        <p:spPr>
          <a:xfrm>
            <a:off x="7772400" y="3749040"/>
            <a:ext cx="1737360" cy="548640"/>
          </a:xfrm>
          <a:prstGeom prst="rect">
            <a:avLst/>
          </a:prstGeom>
          <a:noFill/>
          <a:ln/>
        </p:spPr>
        <p:txBody>
          <a:bodyPr wrap="square" lIns="0" tIns="0" rIns="0" bIns="0" rtlCol="0" anchor="t"/>
          <a:lstStyle/>
          <a:p>
            <a:pPr algn="ctr" indent="0" marL="0">
              <a:buNone/>
            </a:pPr>
            <a:r>
              <a:rPr lang="en-US" sz="1300" dirty="0">
                <a:solidFill>
                  <a:schemeClr val="bg1"/>
                </a:solidFill>
              </a:rPr>
              <a:t>Azure Synapse Analytics</a:t>
            </a:r>
            <a:endParaRPr lang="en-US" sz="1300" dirty="0"/>
          </a:p>
        </p:txBody>
      </p:sp>
      <p:sp>
        <p:nvSpPr>
          <p:cNvPr id="8" name="Shape 5"/>
          <p:cNvSpPr/>
          <p:nvPr/>
        </p:nvSpPr>
        <p:spPr>
          <a:xfrm>
            <a:off x="9418320" y="2971800"/>
            <a:ext cx="594360" cy="91"/>
          </a:xfrm>
          <a:prstGeom prst="line">
            <a:avLst/>
          </a:prstGeom>
          <a:noFill/>
          <a:ln w="31750">
            <a:solidFill>
              <a:srgbClr val="2BB7A3"/>
            </a:solidFill>
            <a:prstDash val="solid"/>
            <a:tailEnd type="triangle"/>
          </a:ln>
        </p:spPr>
      </p:sp>
      <p:sp>
        <p:nvSpPr>
          <p:cNvPr id="9" name="Shape 6"/>
          <p:cNvSpPr/>
          <p:nvPr/>
        </p:nvSpPr>
        <p:spPr>
          <a:xfrm>
            <a:off x="10104120" y="2331720"/>
            <a:ext cx="1280160" cy="1280160"/>
          </a:xfrm>
          <a:prstGeom prst="ellipse">
            <a:avLst/>
          </a:prstGeom>
          <a:solidFill>
            <a:schemeClr val="accent5"/>
          </a:solidFill>
          <a:ln/>
        </p:spPr>
      </p:sp>
      <p:pic>
        <p:nvPicPr>
          <p:cNvPr id="10" name="Image 1" descr="preencoded.png">    </p:cNvPr>
          <p:cNvPicPr>
            <a:picLocks noChangeAspect="1"/>
          </p:cNvPicPr>
          <p:nvPr/>
        </p:nvPicPr>
        <p:blipFill>
          <a:blip r:embed="rId2"/>
          <a:stretch>
            <a:fillRect/>
          </a:stretch>
        </p:blipFill>
        <p:spPr>
          <a:xfrm>
            <a:off x="10424160" y="2651760"/>
            <a:ext cx="640080" cy="640080"/>
          </a:xfrm>
          <a:prstGeom prst="rect">
            <a:avLst/>
          </a:prstGeom>
        </p:spPr>
      </p:pic>
      <p:sp>
        <p:nvSpPr>
          <p:cNvPr id="11" name="Text 7"/>
          <p:cNvSpPr txBox="1"/>
          <p:nvPr/>
        </p:nvSpPr>
        <p:spPr>
          <a:xfrm>
            <a:off x="9875520" y="3749040"/>
            <a:ext cx="1737360" cy="548640"/>
          </a:xfrm>
          <a:prstGeom prst="rect">
            <a:avLst/>
          </a:prstGeom>
          <a:noFill/>
          <a:ln/>
        </p:spPr>
        <p:txBody>
          <a:bodyPr wrap="square" lIns="0" tIns="0" rIns="0" bIns="0" rtlCol="0" anchor="t"/>
          <a:lstStyle/>
          <a:p>
            <a:pPr algn="ctr" indent="0" marL="0">
              <a:buNone/>
            </a:pPr>
            <a:r>
              <a:rPr lang="en-US" sz="1300" dirty="0">
                <a:solidFill>
                  <a:schemeClr val="bg1"/>
                </a:solidFill>
              </a:rPr>
              <a:t>Microsoft Fabric</a:t>
            </a:r>
            <a:endParaRPr lang="en-US" sz="1300" dirty="0"/>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READING GUIDE</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How to read this guide</a:t>
            </a:r>
            <a:endParaRPr lang="en-US" sz="3200" dirty="0"/>
          </a:p>
        </p:txBody>
      </p:sp>
      <p:sp>
        <p:nvSpPr>
          <p:cNvPr id="4" name="Text 2"/>
          <p:cNvSpPr txBox="1"/>
          <p:nvPr/>
        </p:nvSpPr>
        <p:spPr>
          <a:xfrm>
            <a:off x="548640" y="1572768"/>
            <a:ext cx="685800" cy="640080"/>
          </a:xfrm>
          <a:prstGeom prst="rect">
            <a:avLst/>
          </a:prstGeom>
          <a:noFill/>
          <a:ln/>
        </p:spPr>
        <p:txBody>
          <a:bodyPr wrap="square" lIns="0" tIns="0" rIns="0" bIns="0" rtlCol="0" anchor="t"/>
          <a:lstStyle/>
          <a:p>
            <a:pPr indent="0" marL="0">
              <a:buNone/>
            </a:pPr>
            <a:r>
              <a:rPr lang="en-US" sz="2400" dirty="0">
                <a:solidFill>
                  <a:schemeClr val="accent1"/>
                </a:solidFill>
                <a:latin typeface="+mj-lt" pitchFamily="34" charset="0"/>
                <a:ea typeface="+mj-lt" pitchFamily="34" charset="-122"/>
                <a:cs typeface="+mj-lt" pitchFamily="34" charset="-120"/>
              </a:rPr>
              <a:t>01</a:t>
            </a:r>
            <a:endParaRPr lang="en-US" sz="2400" dirty="0"/>
          </a:p>
        </p:txBody>
      </p:sp>
      <p:sp>
        <p:nvSpPr>
          <p:cNvPr id="5" name="Text 3"/>
          <p:cNvSpPr txBox="1"/>
          <p:nvPr/>
        </p:nvSpPr>
        <p:spPr>
          <a:xfrm>
            <a:off x="1325880" y="1554480"/>
            <a:ext cx="6035040" cy="329184"/>
          </a:xfrm>
          <a:prstGeom prst="rect">
            <a:avLst/>
          </a:prstGeom>
          <a:noFill/>
          <a:ln/>
        </p:spPr>
        <p:txBody>
          <a:bodyPr wrap="square" lIns="0" tIns="0" rIns="0" bIns="0" rtlCol="0" anchor="t"/>
          <a:lstStyle/>
          <a:p>
            <a:pPr indent="0" marL="0">
              <a:buNone/>
            </a:pPr>
            <a:r>
              <a:rPr lang="en-US" sz="1600" dirty="0">
                <a:solidFill>
                  <a:schemeClr val="tx2"/>
                </a:solidFill>
                <a:latin typeface="+mj-lt" pitchFamily="34" charset="0"/>
                <a:ea typeface="+mj-lt" pitchFamily="34" charset="-122"/>
                <a:cs typeface="+mj-lt" pitchFamily="34" charset="-120"/>
              </a:rPr>
              <a:t>The big picture</a:t>
            </a:r>
            <a:endParaRPr lang="en-US" sz="1600" dirty="0"/>
          </a:p>
        </p:txBody>
      </p:sp>
      <p:sp>
        <p:nvSpPr>
          <p:cNvPr id="6" name="Text 4"/>
          <p:cNvSpPr txBox="1"/>
          <p:nvPr/>
        </p:nvSpPr>
        <p:spPr>
          <a:xfrm>
            <a:off x="1325880" y="1883664"/>
            <a:ext cx="6035040" cy="329184"/>
          </a:xfrm>
          <a:prstGeom prst="rect">
            <a:avLst/>
          </a:prstGeom>
          <a:noFill/>
          <a:ln/>
        </p:spPr>
        <p:txBody>
          <a:bodyPr wrap="square" lIns="0" tIns="0" rIns="0" bIns="0" rtlCol="0" anchor="t"/>
          <a:lstStyle/>
          <a:p>
            <a:pPr indent="0" marL="0">
              <a:buNone/>
            </a:pPr>
            <a:r>
              <a:rPr lang="en-US" sz="1300" dirty="0">
                <a:solidFill>
                  <a:schemeClr val="accent6"/>
                </a:solidFill>
              </a:rPr>
              <a:t>What the project is, its principles, architecture and options</a:t>
            </a:r>
            <a:endParaRPr lang="en-US" sz="1300" dirty="0"/>
          </a:p>
        </p:txBody>
      </p:sp>
      <p:sp>
        <p:nvSpPr>
          <p:cNvPr id="7" name="Text 5"/>
          <p:cNvSpPr txBox="1"/>
          <p:nvPr/>
        </p:nvSpPr>
        <p:spPr>
          <a:xfrm>
            <a:off x="548640" y="2331720"/>
            <a:ext cx="685800" cy="640080"/>
          </a:xfrm>
          <a:prstGeom prst="rect">
            <a:avLst/>
          </a:prstGeom>
          <a:noFill/>
          <a:ln/>
        </p:spPr>
        <p:txBody>
          <a:bodyPr wrap="square" lIns="0" tIns="0" rIns="0" bIns="0" rtlCol="0" anchor="t"/>
          <a:lstStyle/>
          <a:p>
            <a:pPr indent="0" marL="0">
              <a:buNone/>
            </a:pPr>
            <a:r>
              <a:rPr lang="en-US" sz="2400" dirty="0">
                <a:solidFill>
                  <a:schemeClr val="accent1"/>
                </a:solidFill>
                <a:latin typeface="+mj-lt" pitchFamily="34" charset="0"/>
                <a:ea typeface="+mj-lt" pitchFamily="34" charset="-122"/>
                <a:cs typeface="+mj-lt" pitchFamily="34" charset="-120"/>
              </a:rPr>
              <a:t>02</a:t>
            </a:r>
            <a:endParaRPr lang="en-US" sz="2400" dirty="0"/>
          </a:p>
        </p:txBody>
      </p:sp>
      <p:sp>
        <p:nvSpPr>
          <p:cNvPr id="8" name="Text 6"/>
          <p:cNvSpPr txBox="1"/>
          <p:nvPr/>
        </p:nvSpPr>
        <p:spPr>
          <a:xfrm>
            <a:off x="1325880" y="2313432"/>
            <a:ext cx="6035040" cy="329184"/>
          </a:xfrm>
          <a:prstGeom prst="rect">
            <a:avLst/>
          </a:prstGeom>
          <a:noFill/>
          <a:ln/>
        </p:spPr>
        <p:txBody>
          <a:bodyPr wrap="square" lIns="0" tIns="0" rIns="0" bIns="0" rtlCol="0" anchor="t"/>
          <a:lstStyle/>
          <a:p>
            <a:pPr indent="0" marL="0">
              <a:buNone/>
            </a:pPr>
            <a:r>
              <a:rPr lang="en-US" sz="1600" dirty="0">
                <a:solidFill>
                  <a:schemeClr val="tx2"/>
                </a:solidFill>
                <a:latin typeface="+mj-lt" pitchFamily="34" charset="0"/>
                <a:ea typeface="+mj-lt" pitchFamily="34" charset="-122"/>
                <a:cs typeface="+mj-lt" pitchFamily="34" charset="-120"/>
              </a:rPr>
              <a:t>Synapse vs Fabric</a:t>
            </a:r>
            <a:endParaRPr lang="en-US" sz="1600" dirty="0"/>
          </a:p>
        </p:txBody>
      </p:sp>
      <p:sp>
        <p:nvSpPr>
          <p:cNvPr id="9" name="Text 7"/>
          <p:cNvSpPr txBox="1"/>
          <p:nvPr/>
        </p:nvSpPr>
        <p:spPr>
          <a:xfrm>
            <a:off x="1325880" y="2642616"/>
            <a:ext cx="6035040" cy="329184"/>
          </a:xfrm>
          <a:prstGeom prst="rect">
            <a:avLst/>
          </a:prstGeom>
          <a:noFill/>
          <a:ln/>
        </p:spPr>
        <p:txBody>
          <a:bodyPr wrap="square" lIns="0" tIns="0" rIns="0" bIns="0" rtlCol="0" anchor="t"/>
          <a:lstStyle/>
          <a:p>
            <a:pPr indent="0" marL="0">
              <a:buNone/>
            </a:pPr>
            <a:r>
              <a:rPr lang="en-US" sz="1300" dirty="0">
                <a:solidFill>
                  <a:schemeClr val="accent6"/>
                </a:solidFill>
              </a:rPr>
              <a:t>How the two platforms differ, component by component</a:t>
            </a:r>
            <a:endParaRPr lang="en-US" sz="1300" dirty="0"/>
          </a:p>
        </p:txBody>
      </p:sp>
      <p:sp>
        <p:nvSpPr>
          <p:cNvPr id="10" name="Text 8"/>
          <p:cNvSpPr txBox="1"/>
          <p:nvPr/>
        </p:nvSpPr>
        <p:spPr>
          <a:xfrm>
            <a:off x="548640" y="3090672"/>
            <a:ext cx="685800" cy="640080"/>
          </a:xfrm>
          <a:prstGeom prst="rect">
            <a:avLst/>
          </a:prstGeom>
          <a:noFill/>
          <a:ln/>
        </p:spPr>
        <p:txBody>
          <a:bodyPr wrap="square" lIns="0" tIns="0" rIns="0" bIns="0" rtlCol="0" anchor="t"/>
          <a:lstStyle/>
          <a:p>
            <a:pPr indent="0" marL="0">
              <a:buNone/>
            </a:pPr>
            <a:r>
              <a:rPr lang="en-US" sz="2400" dirty="0">
                <a:solidFill>
                  <a:schemeClr val="accent1"/>
                </a:solidFill>
                <a:latin typeface="+mj-lt" pitchFamily="34" charset="0"/>
                <a:ea typeface="+mj-lt" pitchFamily="34" charset="-122"/>
                <a:cs typeface="+mj-lt" pitchFamily="34" charset="-120"/>
              </a:rPr>
              <a:t>03</a:t>
            </a:r>
            <a:endParaRPr lang="en-US" sz="2400" dirty="0"/>
          </a:p>
        </p:txBody>
      </p:sp>
      <p:sp>
        <p:nvSpPr>
          <p:cNvPr id="11" name="Text 9"/>
          <p:cNvSpPr txBox="1"/>
          <p:nvPr/>
        </p:nvSpPr>
        <p:spPr>
          <a:xfrm>
            <a:off x="1325880" y="3072384"/>
            <a:ext cx="6035040" cy="329184"/>
          </a:xfrm>
          <a:prstGeom prst="rect">
            <a:avLst/>
          </a:prstGeom>
          <a:noFill/>
          <a:ln/>
        </p:spPr>
        <p:txBody>
          <a:bodyPr wrap="square" lIns="0" tIns="0" rIns="0" bIns="0" rtlCol="0" anchor="t"/>
          <a:lstStyle/>
          <a:p>
            <a:pPr indent="0" marL="0">
              <a:buNone/>
            </a:pPr>
            <a:r>
              <a:rPr lang="en-US" sz="1600" dirty="0">
                <a:solidFill>
                  <a:schemeClr val="tx2"/>
                </a:solidFill>
                <a:latin typeface="+mj-lt" pitchFamily="34" charset="0"/>
                <a:ea typeface="+mj-lt" pitchFamily="34" charset="-122"/>
                <a:cs typeface="+mj-lt" pitchFamily="34" charset="-120"/>
              </a:rPr>
              <a:t>Connecting both sides</a:t>
            </a:r>
            <a:endParaRPr lang="en-US" sz="1600" dirty="0"/>
          </a:p>
        </p:txBody>
      </p:sp>
      <p:sp>
        <p:nvSpPr>
          <p:cNvPr id="12" name="Text 10"/>
          <p:cNvSpPr txBox="1"/>
          <p:nvPr/>
        </p:nvSpPr>
        <p:spPr>
          <a:xfrm>
            <a:off x="1325880" y="3401568"/>
            <a:ext cx="6035040" cy="329184"/>
          </a:xfrm>
          <a:prstGeom prst="rect">
            <a:avLst/>
          </a:prstGeom>
          <a:noFill/>
          <a:ln/>
        </p:spPr>
        <p:txBody>
          <a:bodyPr wrap="square" lIns="0" tIns="0" rIns="0" bIns="0" rtlCol="0" anchor="t"/>
          <a:lstStyle/>
          <a:p>
            <a:pPr indent="0" marL="0">
              <a:buNone/>
            </a:pPr>
            <a:r>
              <a:rPr lang="en-US" sz="1300" dirty="0">
                <a:solidFill>
                  <a:schemeClr val="accent6"/>
                </a:solidFill>
              </a:rPr>
              <a:t>Sign-in, Git repositories, ZIP exports and environments</a:t>
            </a:r>
            <a:endParaRPr lang="en-US" sz="1300" dirty="0"/>
          </a:p>
        </p:txBody>
      </p:sp>
      <p:sp>
        <p:nvSpPr>
          <p:cNvPr id="13" name="Text 11"/>
          <p:cNvSpPr txBox="1"/>
          <p:nvPr/>
        </p:nvSpPr>
        <p:spPr>
          <a:xfrm>
            <a:off x="548640" y="3849624"/>
            <a:ext cx="685800" cy="640080"/>
          </a:xfrm>
          <a:prstGeom prst="rect">
            <a:avLst/>
          </a:prstGeom>
          <a:noFill/>
          <a:ln/>
        </p:spPr>
        <p:txBody>
          <a:bodyPr wrap="square" lIns="0" tIns="0" rIns="0" bIns="0" rtlCol="0" anchor="t"/>
          <a:lstStyle/>
          <a:p>
            <a:pPr indent="0" marL="0">
              <a:buNone/>
            </a:pPr>
            <a:r>
              <a:rPr lang="en-US" sz="2400" dirty="0">
                <a:solidFill>
                  <a:schemeClr val="accent1"/>
                </a:solidFill>
                <a:latin typeface="+mj-lt" pitchFamily="34" charset="0"/>
                <a:ea typeface="+mj-lt" pitchFamily="34" charset="-122"/>
                <a:cs typeface="+mj-lt" pitchFamily="34" charset="-120"/>
              </a:rPr>
              <a:t>04</a:t>
            </a:r>
            <a:endParaRPr lang="en-US" sz="2400" dirty="0"/>
          </a:p>
        </p:txBody>
      </p:sp>
      <p:sp>
        <p:nvSpPr>
          <p:cNvPr id="14" name="Text 12"/>
          <p:cNvSpPr txBox="1"/>
          <p:nvPr/>
        </p:nvSpPr>
        <p:spPr>
          <a:xfrm>
            <a:off x="1325880" y="3831336"/>
            <a:ext cx="6035040" cy="329184"/>
          </a:xfrm>
          <a:prstGeom prst="rect">
            <a:avLst/>
          </a:prstGeom>
          <a:noFill/>
          <a:ln/>
        </p:spPr>
        <p:txBody>
          <a:bodyPr wrap="square" lIns="0" tIns="0" rIns="0" bIns="0" rtlCol="0" anchor="t"/>
          <a:lstStyle/>
          <a:p>
            <a:pPr indent="0" marL="0">
              <a:buNone/>
            </a:pPr>
            <a:r>
              <a:rPr lang="en-US" sz="1600" dirty="0">
                <a:solidFill>
                  <a:schemeClr val="tx2"/>
                </a:solidFill>
                <a:latin typeface="+mj-lt" pitchFamily="34" charset="0"/>
                <a:ea typeface="+mj-lt" pitchFamily="34" charset="-122"/>
                <a:cs typeface="+mj-lt" pitchFamily="34" charset="-120"/>
              </a:rPr>
              <a:t>The six steps</a:t>
            </a:r>
            <a:endParaRPr lang="en-US" sz="1600" dirty="0"/>
          </a:p>
        </p:txBody>
      </p:sp>
      <p:sp>
        <p:nvSpPr>
          <p:cNvPr id="15" name="Text 13"/>
          <p:cNvSpPr txBox="1"/>
          <p:nvPr/>
        </p:nvSpPr>
        <p:spPr>
          <a:xfrm>
            <a:off x="1325880" y="4160520"/>
            <a:ext cx="6035040" cy="329184"/>
          </a:xfrm>
          <a:prstGeom prst="rect">
            <a:avLst/>
          </a:prstGeom>
          <a:noFill/>
          <a:ln/>
        </p:spPr>
        <p:txBody>
          <a:bodyPr wrap="square" lIns="0" tIns="0" rIns="0" bIns="0" rtlCol="0" anchor="t"/>
          <a:lstStyle/>
          <a:p>
            <a:pPr indent="0" marL="0">
              <a:buNone/>
            </a:pPr>
            <a:r>
              <a:rPr lang="en-US" sz="1300" dirty="0">
                <a:solidFill>
                  <a:schemeClr val="accent6"/>
                </a:solidFill>
              </a:rPr>
              <a:t>Discover, Assess, Waves, Plan, Migrate, Validate, then Fabric Git</a:t>
            </a:r>
            <a:endParaRPr lang="en-US" sz="1300" dirty="0"/>
          </a:p>
        </p:txBody>
      </p:sp>
      <p:sp>
        <p:nvSpPr>
          <p:cNvPr id="16" name="Text 14"/>
          <p:cNvSpPr txBox="1"/>
          <p:nvPr/>
        </p:nvSpPr>
        <p:spPr>
          <a:xfrm>
            <a:off x="548640" y="4608576"/>
            <a:ext cx="685800" cy="640080"/>
          </a:xfrm>
          <a:prstGeom prst="rect">
            <a:avLst/>
          </a:prstGeom>
          <a:noFill/>
          <a:ln/>
        </p:spPr>
        <p:txBody>
          <a:bodyPr wrap="square" lIns="0" tIns="0" rIns="0" bIns="0" rtlCol="0" anchor="t"/>
          <a:lstStyle/>
          <a:p>
            <a:pPr indent="0" marL="0">
              <a:buNone/>
            </a:pPr>
            <a:r>
              <a:rPr lang="en-US" sz="2400" dirty="0">
                <a:solidFill>
                  <a:schemeClr val="accent1"/>
                </a:solidFill>
                <a:latin typeface="+mj-lt" pitchFamily="34" charset="0"/>
                <a:ea typeface="+mj-lt" pitchFamily="34" charset="-122"/>
                <a:cs typeface="+mj-lt" pitchFamily="34" charset="-120"/>
              </a:rPr>
              <a:t>05</a:t>
            </a:r>
            <a:endParaRPr lang="en-US" sz="2400" dirty="0"/>
          </a:p>
        </p:txBody>
      </p:sp>
      <p:sp>
        <p:nvSpPr>
          <p:cNvPr id="17" name="Text 15"/>
          <p:cNvSpPr txBox="1"/>
          <p:nvPr/>
        </p:nvSpPr>
        <p:spPr>
          <a:xfrm>
            <a:off x="1325880" y="4590288"/>
            <a:ext cx="6035040" cy="329184"/>
          </a:xfrm>
          <a:prstGeom prst="rect">
            <a:avLst/>
          </a:prstGeom>
          <a:noFill/>
          <a:ln/>
        </p:spPr>
        <p:txBody>
          <a:bodyPr wrap="square" lIns="0" tIns="0" rIns="0" bIns="0" rtlCol="0" anchor="t"/>
          <a:lstStyle/>
          <a:p>
            <a:pPr indent="0" marL="0">
              <a:buNone/>
            </a:pPr>
            <a:r>
              <a:rPr lang="en-US" sz="1600" dirty="0">
                <a:solidFill>
                  <a:schemeClr val="tx2"/>
                </a:solidFill>
                <a:latin typeface="+mj-lt" pitchFamily="34" charset="0"/>
                <a:ea typeface="+mj-lt" pitchFamily="34" charset="-122"/>
                <a:cs typeface="+mj-lt" pitchFamily="34" charset="-120"/>
              </a:rPr>
              <a:t>Item by item</a:t>
            </a:r>
            <a:endParaRPr lang="en-US" sz="1600" dirty="0"/>
          </a:p>
        </p:txBody>
      </p:sp>
      <p:sp>
        <p:nvSpPr>
          <p:cNvPr id="18" name="Text 16"/>
          <p:cNvSpPr txBox="1"/>
          <p:nvPr/>
        </p:nvSpPr>
        <p:spPr>
          <a:xfrm>
            <a:off x="1325880" y="4919472"/>
            <a:ext cx="6035040" cy="329184"/>
          </a:xfrm>
          <a:prstGeom prst="rect">
            <a:avLst/>
          </a:prstGeom>
          <a:noFill/>
          <a:ln/>
        </p:spPr>
        <p:txBody>
          <a:bodyPr wrap="square" lIns="0" tIns="0" rIns="0" bIns="0" rtlCol="0" anchor="t"/>
          <a:lstStyle/>
          <a:p>
            <a:pPr indent="0" marL="0">
              <a:buNone/>
            </a:pPr>
            <a:r>
              <a:rPr lang="en-US" sz="1300" dirty="0">
                <a:solidFill>
                  <a:schemeClr val="accent6"/>
                </a:solidFill>
              </a:rPr>
              <a:t>Every object type: its Synapse format, the conversion, its Fabric form</a:t>
            </a:r>
            <a:endParaRPr lang="en-US" sz="1300" dirty="0"/>
          </a:p>
        </p:txBody>
      </p:sp>
      <p:sp>
        <p:nvSpPr>
          <p:cNvPr id="19" name="Text 17"/>
          <p:cNvSpPr txBox="1"/>
          <p:nvPr/>
        </p:nvSpPr>
        <p:spPr>
          <a:xfrm>
            <a:off x="548640" y="5367528"/>
            <a:ext cx="685800" cy="640080"/>
          </a:xfrm>
          <a:prstGeom prst="rect">
            <a:avLst/>
          </a:prstGeom>
          <a:noFill/>
          <a:ln/>
        </p:spPr>
        <p:txBody>
          <a:bodyPr wrap="square" lIns="0" tIns="0" rIns="0" bIns="0" rtlCol="0" anchor="t"/>
          <a:lstStyle/>
          <a:p>
            <a:pPr indent="0" marL="0">
              <a:buNone/>
            </a:pPr>
            <a:r>
              <a:rPr lang="en-US" sz="2400" dirty="0">
                <a:solidFill>
                  <a:schemeClr val="accent1"/>
                </a:solidFill>
                <a:latin typeface="+mj-lt" pitchFamily="34" charset="0"/>
                <a:ea typeface="+mj-lt" pitchFamily="34" charset="-122"/>
                <a:cs typeface="+mj-lt" pitchFamily="34" charset="-120"/>
              </a:rPr>
              <a:t>06</a:t>
            </a:r>
            <a:endParaRPr lang="en-US" sz="2400" dirty="0"/>
          </a:p>
        </p:txBody>
      </p:sp>
      <p:sp>
        <p:nvSpPr>
          <p:cNvPr id="20" name="Text 18"/>
          <p:cNvSpPr txBox="1"/>
          <p:nvPr/>
        </p:nvSpPr>
        <p:spPr>
          <a:xfrm>
            <a:off x="1325880" y="5349240"/>
            <a:ext cx="6035040" cy="329184"/>
          </a:xfrm>
          <a:prstGeom prst="rect">
            <a:avLst/>
          </a:prstGeom>
          <a:noFill/>
          <a:ln/>
        </p:spPr>
        <p:txBody>
          <a:bodyPr wrap="square" lIns="0" tIns="0" rIns="0" bIns="0" rtlCol="0" anchor="t"/>
          <a:lstStyle/>
          <a:p>
            <a:pPr indent="0" marL="0">
              <a:buNone/>
            </a:pPr>
            <a:r>
              <a:rPr lang="en-US" sz="1600" dirty="0">
                <a:solidFill>
                  <a:schemeClr val="tx2"/>
                </a:solidFill>
                <a:latin typeface="+mj-lt" pitchFamily="34" charset="0"/>
                <a:ea typeface="+mj-lt" pitchFamily="34" charset="-122"/>
                <a:cs typeface="+mj-lt" pitchFamily="34" charset="-120"/>
              </a:rPr>
              <a:t>How it works underneath</a:t>
            </a:r>
            <a:endParaRPr lang="en-US" sz="1600" dirty="0"/>
          </a:p>
        </p:txBody>
      </p:sp>
      <p:sp>
        <p:nvSpPr>
          <p:cNvPr id="21" name="Text 19"/>
          <p:cNvSpPr txBox="1"/>
          <p:nvPr/>
        </p:nvSpPr>
        <p:spPr>
          <a:xfrm>
            <a:off x="1325880" y="5678424"/>
            <a:ext cx="6035040" cy="329184"/>
          </a:xfrm>
          <a:prstGeom prst="rect">
            <a:avLst/>
          </a:prstGeom>
          <a:noFill/>
          <a:ln/>
        </p:spPr>
        <p:txBody>
          <a:bodyPr wrap="square" lIns="0" tIns="0" rIns="0" bIns="0" rtlCol="0" anchor="t"/>
          <a:lstStyle/>
          <a:p>
            <a:pPr indent="0" marL="0">
              <a:buNone/>
            </a:pPr>
            <a:r>
              <a:rPr lang="en-US" sz="1300" dirty="0">
                <a:solidFill>
                  <a:schemeClr val="accent6"/>
                </a:solidFill>
              </a:rPr>
              <a:t>REST client, re-runs, LLM drafts, safety, state and tests</a:t>
            </a:r>
            <a:endParaRPr lang="en-US" sz="1300" dirty="0"/>
          </a:p>
        </p:txBody>
      </p:sp>
      <p:sp>
        <p:nvSpPr>
          <p:cNvPr id="22" name="Shape 20"/>
          <p:cNvSpPr/>
          <p:nvPr/>
        </p:nvSpPr>
        <p:spPr>
          <a:xfrm>
            <a:off x="7818120" y="1572768"/>
            <a:ext cx="3822192" cy="4526280"/>
          </a:xfrm>
          <a:prstGeom prst="roundRect">
            <a:avLst>
              <a:gd name="adj" fmla="val 2871"/>
            </a:avLst>
          </a:prstGeom>
          <a:solidFill>
            <a:schemeClr val="bg2"/>
          </a:solidFill>
          <a:ln/>
        </p:spPr>
      </p:sp>
      <p:sp>
        <p:nvSpPr>
          <p:cNvPr id="23" name="Text 21"/>
          <p:cNvSpPr txBox="1"/>
          <p:nvPr/>
        </p:nvSpPr>
        <p:spPr>
          <a:xfrm>
            <a:off x="8046720" y="1737360"/>
            <a:ext cx="3383280" cy="365760"/>
          </a:xfrm>
          <a:prstGeom prst="rect">
            <a:avLst/>
          </a:prstGeom>
          <a:noFill/>
          <a:ln/>
        </p:spPr>
        <p:txBody>
          <a:bodyPr wrap="square" lIns="0" tIns="0" rIns="0" bIns="0" rtlCol="0" anchor="t"/>
          <a:lstStyle/>
          <a:p>
            <a:pPr indent="0" marL="0">
              <a:buNone/>
            </a:pPr>
            <a:r>
              <a:rPr lang="en-US" sz="1700" dirty="0">
                <a:solidFill>
                  <a:schemeClr val="tx2"/>
                </a:solidFill>
                <a:latin typeface="+mj-lt" pitchFamily="34" charset="0"/>
                <a:ea typeface="+mj-lt" pitchFamily="34" charset="-122"/>
                <a:cs typeface="+mj-lt" pitchFamily="34" charset="-120"/>
              </a:rPr>
              <a:t>Legend</a:t>
            </a:r>
            <a:endParaRPr lang="en-US" sz="1700" dirty="0"/>
          </a:p>
        </p:txBody>
      </p:sp>
      <p:sp>
        <p:nvSpPr>
          <p:cNvPr id="24" name="Shape 22"/>
          <p:cNvSpPr/>
          <p:nvPr/>
        </p:nvSpPr>
        <p:spPr>
          <a:xfrm>
            <a:off x="8046720" y="2276856"/>
            <a:ext cx="384048" cy="384048"/>
          </a:xfrm>
          <a:prstGeom prst="roundRect">
            <a:avLst>
              <a:gd name="adj" fmla="val 19048"/>
            </a:avLst>
          </a:prstGeom>
          <a:solidFill>
            <a:schemeClr val="accent2">
              <a:alpha val="45000"/>
            </a:schemeClr>
          </a:solidFill>
          <a:ln/>
        </p:spPr>
      </p:sp>
      <p:sp>
        <p:nvSpPr>
          <p:cNvPr id="25" name="Text 23"/>
          <p:cNvSpPr txBox="1"/>
          <p:nvPr/>
        </p:nvSpPr>
        <p:spPr>
          <a:xfrm>
            <a:off x="8577072" y="2221992"/>
            <a:ext cx="2926080" cy="274320"/>
          </a:xfrm>
          <a:prstGeom prst="rect">
            <a:avLst/>
          </a:prstGeom>
          <a:noFill/>
          <a:ln/>
        </p:spPr>
        <p:txBody>
          <a:bodyPr wrap="square" lIns="0" tIns="0" rIns="0" bIns="0" rtlCol="0" anchor="t"/>
          <a:lstStyle/>
          <a:p>
            <a:pPr indent="0" marL="0">
              <a:buNone/>
            </a:pPr>
            <a:r>
              <a:rPr lang="en-US" sz="1350" b="1" dirty="0">
                <a:solidFill>
                  <a:schemeClr val="tx2"/>
                </a:solidFill>
              </a:rPr>
              <a:t>Synapse</a:t>
            </a:r>
            <a:endParaRPr lang="en-US" sz="1350" dirty="0"/>
          </a:p>
        </p:txBody>
      </p:sp>
      <p:sp>
        <p:nvSpPr>
          <p:cNvPr id="26" name="Text 24"/>
          <p:cNvSpPr txBox="1"/>
          <p:nvPr/>
        </p:nvSpPr>
        <p:spPr>
          <a:xfrm>
            <a:off x="8577072" y="2487168"/>
            <a:ext cx="2971800" cy="274320"/>
          </a:xfrm>
          <a:prstGeom prst="rect">
            <a:avLst/>
          </a:prstGeom>
          <a:noFill/>
          <a:ln/>
        </p:spPr>
        <p:txBody>
          <a:bodyPr wrap="square" lIns="0" tIns="0" rIns="0" bIns="0" rtlCol="0" anchor="t"/>
          <a:lstStyle/>
          <a:p>
            <a:pPr indent="0" marL="0">
              <a:buNone/>
            </a:pPr>
            <a:r>
              <a:rPr lang="en-US" sz="1200" dirty="0">
                <a:solidFill>
                  <a:schemeClr val="accent6"/>
                </a:solidFill>
              </a:rPr>
              <a:t>The source platform and its formats</a:t>
            </a:r>
            <a:endParaRPr lang="en-US" sz="1200" dirty="0"/>
          </a:p>
        </p:txBody>
      </p:sp>
      <p:sp>
        <p:nvSpPr>
          <p:cNvPr id="27" name="Shape 25"/>
          <p:cNvSpPr/>
          <p:nvPr/>
        </p:nvSpPr>
        <p:spPr>
          <a:xfrm>
            <a:off x="8046720" y="2990088"/>
            <a:ext cx="384048" cy="384048"/>
          </a:xfrm>
          <a:prstGeom prst="roundRect">
            <a:avLst>
              <a:gd name="adj" fmla="val 19048"/>
            </a:avLst>
          </a:prstGeom>
          <a:solidFill>
            <a:schemeClr val="accent1">
              <a:alpha val="45000"/>
            </a:schemeClr>
          </a:solidFill>
          <a:ln/>
        </p:spPr>
      </p:sp>
      <p:sp>
        <p:nvSpPr>
          <p:cNvPr id="28" name="Text 26"/>
          <p:cNvSpPr txBox="1"/>
          <p:nvPr/>
        </p:nvSpPr>
        <p:spPr>
          <a:xfrm>
            <a:off x="8577072" y="2935224"/>
            <a:ext cx="2926080" cy="274320"/>
          </a:xfrm>
          <a:prstGeom prst="rect">
            <a:avLst/>
          </a:prstGeom>
          <a:noFill/>
          <a:ln/>
        </p:spPr>
        <p:txBody>
          <a:bodyPr wrap="square" lIns="0" tIns="0" rIns="0" bIns="0" rtlCol="0" anchor="t"/>
          <a:lstStyle/>
          <a:p>
            <a:pPr indent="0" marL="0">
              <a:buNone/>
            </a:pPr>
            <a:r>
              <a:rPr lang="en-US" sz="1350" b="1" dirty="0">
                <a:solidFill>
                  <a:schemeClr val="tx2"/>
                </a:solidFill>
              </a:rPr>
              <a:t>Fabric</a:t>
            </a:r>
            <a:endParaRPr lang="en-US" sz="1350" dirty="0"/>
          </a:p>
        </p:txBody>
      </p:sp>
      <p:sp>
        <p:nvSpPr>
          <p:cNvPr id="29" name="Text 27"/>
          <p:cNvSpPr txBox="1"/>
          <p:nvPr/>
        </p:nvSpPr>
        <p:spPr>
          <a:xfrm>
            <a:off x="8577072" y="3200400"/>
            <a:ext cx="2971800" cy="274320"/>
          </a:xfrm>
          <a:prstGeom prst="rect">
            <a:avLst/>
          </a:prstGeom>
          <a:noFill/>
          <a:ln/>
        </p:spPr>
        <p:txBody>
          <a:bodyPr wrap="square" lIns="0" tIns="0" rIns="0" bIns="0" rtlCol="0" anchor="t"/>
          <a:lstStyle/>
          <a:p>
            <a:pPr indent="0" marL="0">
              <a:buNone/>
            </a:pPr>
            <a:r>
              <a:rPr lang="en-US" sz="1200" dirty="0">
                <a:solidFill>
                  <a:schemeClr val="accent6"/>
                </a:solidFill>
              </a:rPr>
              <a:t>The target platform and what is created</a:t>
            </a:r>
            <a:endParaRPr lang="en-US" sz="1200" dirty="0"/>
          </a:p>
        </p:txBody>
      </p:sp>
      <p:sp>
        <p:nvSpPr>
          <p:cNvPr id="30" name="Shape 28"/>
          <p:cNvSpPr/>
          <p:nvPr/>
        </p:nvSpPr>
        <p:spPr>
          <a:xfrm>
            <a:off x="8046720" y="3703320"/>
            <a:ext cx="384048" cy="384048"/>
          </a:xfrm>
          <a:prstGeom prst="roundRect">
            <a:avLst>
              <a:gd name="adj" fmla="val 19048"/>
            </a:avLst>
          </a:prstGeom>
          <a:solidFill>
            <a:schemeClr val="accent3">
              <a:alpha val="45000"/>
            </a:schemeClr>
          </a:solidFill>
          <a:ln/>
        </p:spPr>
      </p:sp>
      <p:sp>
        <p:nvSpPr>
          <p:cNvPr id="31" name="Text 29"/>
          <p:cNvSpPr txBox="1"/>
          <p:nvPr/>
        </p:nvSpPr>
        <p:spPr>
          <a:xfrm>
            <a:off x="8577072" y="3648456"/>
            <a:ext cx="2926080" cy="274320"/>
          </a:xfrm>
          <a:prstGeom prst="rect">
            <a:avLst/>
          </a:prstGeom>
          <a:noFill/>
          <a:ln/>
        </p:spPr>
        <p:txBody>
          <a:bodyPr wrap="square" lIns="0" tIns="0" rIns="0" bIns="0" rtlCol="0" anchor="t"/>
          <a:lstStyle/>
          <a:p>
            <a:pPr indent="0" marL="0">
              <a:buNone/>
            </a:pPr>
            <a:r>
              <a:rPr lang="en-US" sz="1350" b="1" dirty="0">
                <a:solidFill>
                  <a:schemeClr val="tx2"/>
                </a:solidFill>
              </a:rPr>
              <a:t>Left for a person</a:t>
            </a:r>
            <a:endParaRPr lang="en-US" sz="1350" dirty="0"/>
          </a:p>
        </p:txBody>
      </p:sp>
      <p:sp>
        <p:nvSpPr>
          <p:cNvPr id="32" name="Text 30"/>
          <p:cNvSpPr txBox="1"/>
          <p:nvPr/>
        </p:nvSpPr>
        <p:spPr>
          <a:xfrm>
            <a:off x="8577072" y="3913632"/>
            <a:ext cx="2971800" cy="274320"/>
          </a:xfrm>
          <a:prstGeom prst="rect">
            <a:avLst/>
          </a:prstGeom>
          <a:noFill/>
          <a:ln/>
        </p:spPr>
        <p:txBody>
          <a:bodyPr wrap="square" lIns="0" tIns="0" rIns="0" bIns="0" rtlCol="0" anchor="t"/>
          <a:lstStyle/>
          <a:p>
            <a:pPr indent="0" marL="0">
              <a:buNone/>
            </a:pPr>
            <a:r>
              <a:rPr lang="en-US" sz="1200" dirty="0">
                <a:solidFill>
                  <a:schemeClr val="accent6"/>
                </a:solidFill>
              </a:rPr>
              <a:t>What the tool reports instead of converting</a:t>
            </a:r>
            <a:endParaRPr lang="en-US" sz="1200" dirty="0"/>
          </a:p>
        </p:txBody>
      </p:sp>
      <p:sp>
        <p:nvSpPr>
          <p:cNvPr id="33" name="Text 31"/>
          <p:cNvSpPr txBox="1"/>
          <p:nvPr/>
        </p:nvSpPr>
        <p:spPr>
          <a:xfrm>
            <a:off x="8046720" y="4462272"/>
            <a:ext cx="3383280" cy="274320"/>
          </a:xfrm>
          <a:prstGeom prst="rect">
            <a:avLst/>
          </a:prstGeom>
          <a:noFill/>
          <a:ln/>
        </p:spPr>
        <p:txBody>
          <a:bodyPr wrap="square" lIns="0" tIns="0" rIns="0" bIns="0" rtlCol="0" anchor="t"/>
          <a:lstStyle/>
          <a:p>
            <a:pPr indent="0" marL="0">
              <a:buNone/>
            </a:pPr>
            <a:r>
              <a:rPr lang="en-US" sz="1200" dirty="0">
                <a:solidFill>
                  <a:schemeClr val="tx2"/>
                </a:solidFill>
                <a:latin typeface="Consolas" pitchFamily="34" charset="0"/>
                <a:ea typeface="Consolas" pitchFamily="34" charset="-122"/>
                <a:cs typeface="Consolas" pitchFamily="34" charset="-120"/>
              </a:rPr>
              <a:t>migration/runner.py</a:t>
            </a:r>
            <a:endParaRPr lang="en-US" sz="1200" dirty="0"/>
          </a:p>
        </p:txBody>
      </p:sp>
      <p:sp>
        <p:nvSpPr>
          <p:cNvPr id="34" name="Text 32"/>
          <p:cNvSpPr txBox="1"/>
          <p:nvPr/>
        </p:nvSpPr>
        <p:spPr>
          <a:xfrm>
            <a:off x="8046720" y="4736592"/>
            <a:ext cx="3429000" cy="274320"/>
          </a:xfrm>
          <a:prstGeom prst="rect">
            <a:avLst/>
          </a:prstGeom>
          <a:noFill/>
          <a:ln/>
        </p:spPr>
        <p:txBody>
          <a:bodyPr wrap="square" lIns="0" tIns="0" rIns="0" bIns="0" rtlCol="0" anchor="t"/>
          <a:lstStyle/>
          <a:p>
            <a:pPr indent="0" marL="0">
              <a:buNone/>
            </a:pPr>
            <a:r>
              <a:rPr lang="en-US" sz="1200" dirty="0">
                <a:solidFill>
                  <a:schemeClr val="accent6"/>
                </a:solidFill>
              </a:rPr>
              <a:t>Top right of a slide: where to read the code</a:t>
            </a:r>
            <a:endParaRPr lang="en-US" sz="1200" dirty="0"/>
          </a:p>
        </p:txBody>
      </p:sp>
      <p:sp>
        <p:nvSpPr>
          <p:cNvPr id="35" name="Text 33"/>
          <p:cNvSpPr txBox="1"/>
          <p:nvPr/>
        </p:nvSpPr>
        <p:spPr>
          <a:xfrm>
            <a:off x="8046720" y="5120640"/>
            <a:ext cx="3383280" cy="274320"/>
          </a:xfrm>
          <a:prstGeom prst="rect">
            <a:avLst/>
          </a:prstGeom>
          <a:noFill/>
          <a:ln/>
        </p:spPr>
        <p:txBody>
          <a:bodyPr wrap="square" lIns="0" tIns="0" rIns="0" bIns="0" rtlCol="0" anchor="t"/>
          <a:lstStyle/>
          <a:p>
            <a:pPr indent="0" marL="0">
              <a:buNone/>
            </a:pPr>
            <a:r>
              <a:rPr lang="en-US" sz="1350" b="1" dirty="0">
                <a:solidFill>
                  <a:schemeClr val="tx2"/>
                </a:solidFill>
              </a:rPr>
              <a:t>Speaker notes</a:t>
            </a:r>
            <a:endParaRPr lang="en-US" sz="1350" dirty="0"/>
          </a:p>
        </p:txBody>
      </p:sp>
      <p:sp>
        <p:nvSpPr>
          <p:cNvPr id="36" name="Text 34"/>
          <p:cNvSpPr txBox="1"/>
          <p:nvPr/>
        </p:nvSpPr>
        <p:spPr>
          <a:xfrm>
            <a:off x="8046720" y="5394960"/>
            <a:ext cx="3429000" cy="274320"/>
          </a:xfrm>
          <a:prstGeom prst="rect">
            <a:avLst/>
          </a:prstGeom>
          <a:noFill/>
          <a:ln/>
        </p:spPr>
        <p:txBody>
          <a:bodyPr wrap="square" lIns="0" tIns="0" rIns="0" bIns="0" rtlCol="0" anchor="t"/>
          <a:lstStyle/>
          <a:p>
            <a:pPr indent="0" marL="0">
              <a:buNone/>
            </a:pPr>
            <a:r>
              <a:rPr lang="en-US" sz="1200" dirty="0">
                <a:solidFill>
                  <a:schemeClr val="accent6"/>
                </a:solidFill>
              </a:rPr>
              <a:t>Extra detail and file names under each slide</a:t>
            </a:r>
            <a:endParaRPr lang="en-US" sz="12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OVERVIEW</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The project on one page</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README.md</a:t>
            </a:r>
            <a:endParaRPr lang="en-US" sz="1100" dirty="0"/>
          </a:p>
        </p:txBody>
      </p:sp>
      <p:sp>
        <p:nvSpPr>
          <p:cNvPr id="5" name="Shape 3"/>
          <p:cNvSpPr/>
          <p:nvPr/>
        </p:nvSpPr>
        <p:spPr>
          <a:xfrm>
            <a:off x="548640" y="1554480"/>
            <a:ext cx="4754880" cy="3611880"/>
          </a:xfrm>
          <a:prstGeom prst="roundRect">
            <a:avLst>
              <a:gd name="adj" fmla="val 3038"/>
            </a:avLst>
          </a:prstGeom>
          <a:solidFill>
            <a:schemeClr val="tx2"/>
          </a:solidFill>
          <a:ln/>
        </p:spPr>
      </p:sp>
      <p:sp>
        <p:nvSpPr>
          <p:cNvPr id="6" name="Text 4"/>
          <p:cNvSpPr txBox="1"/>
          <p:nvPr/>
        </p:nvSpPr>
        <p:spPr>
          <a:xfrm>
            <a:off x="914400" y="1783080"/>
            <a:ext cx="4069080" cy="3154680"/>
          </a:xfrm>
          <a:prstGeom prst="rect">
            <a:avLst/>
          </a:prstGeom>
          <a:noFill/>
          <a:ln/>
        </p:spPr>
        <p:txBody>
          <a:bodyPr wrap="square" lIns="0" tIns="0" rIns="0" bIns="0" rtlCol="0" anchor="ctr"/>
          <a:lstStyle/>
          <a:p>
            <a:pPr indent="0" marL="0">
              <a:buNone/>
            </a:pPr>
            <a:r>
              <a:rPr lang="en-US" sz="2000" dirty="0">
                <a:solidFill>
                  <a:schemeClr val="bg1"/>
                </a:solidFill>
                <a:latin typeface="+mj-lt" pitchFamily="34" charset="0"/>
                <a:ea typeface="+mj-lt" pitchFamily="34" charset="-122"/>
                <a:cs typeface="+mj-lt" pitchFamily="34" charset="-120"/>
              </a:rPr>
              <a:t>A web app that moves a whole Azure Synapse workspace into Microsoft Fabric.</a:t>
            </a:r>
            <a:endParaRPr lang="en-US" sz="2000" dirty="0"/>
          </a:p>
          <a:p>
            <a:pPr indent="0" marL="0">
              <a:buNone/>
            </a:pPr>
            <a:r>
              <a:rPr lang="en-US" sz="1000" dirty="0">
                <a:solidFill>
                  <a:schemeClr val="tx1"/>
                </a:solidFill>
                <a:latin typeface="+mj-lt" pitchFamily="34" charset="0"/>
                <a:ea typeface="+mj-lt" pitchFamily="34" charset="-122"/>
                <a:cs typeface="+mj-lt" pitchFamily="34" charset="-120"/>
              </a:rPr>
              <a:t> </a:t>
            </a:r>
            <a:endParaRPr lang="en-US" sz="2000" dirty="0"/>
          </a:p>
          <a:p>
            <a:pPr indent="0" marL="0">
              <a:buNone/>
            </a:pPr>
            <a:r>
              <a:rPr lang="en-US" sz="2000" dirty="0">
                <a:solidFill>
                  <a:schemeClr val="accent5"/>
                </a:solidFill>
                <a:latin typeface="+mj-lt" pitchFamily="34" charset="0"/>
                <a:ea typeface="+mj-lt" pitchFamily="34" charset="-122"/>
                <a:cs typeface="+mj-lt" pitchFamily="34" charset="-120"/>
              </a:rPr>
              <a:t>It reads everything, plans the move, rebuilds each object in its Fabric form, loads the data with Fabric pipelines, and proves the result.</a:t>
            </a:r>
            <a:endParaRPr lang="en-US" sz="2000" dirty="0"/>
          </a:p>
        </p:txBody>
      </p:sp>
      <p:sp>
        <p:nvSpPr>
          <p:cNvPr id="7" name="Shape 5"/>
          <p:cNvSpPr/>
          <p:nvPr/>
        </p:nvSpPr>
        <p:spPr>
          <a:xfrm>
            <a:off x="5577840" y="1554480"/>
            <a:ext cx="2926080" cy="1719072"/>
          </a:xfrm>
          <a:prstGeom prst="roundRect">
            <a:avLst>
              <a:gd name="adj" fmla="val 6383"/>
            </a:avLst>
          </a:prstGeom>
          <a:solidFill>
            <a:schemeClr val="bg2"/>
          </a:solidFill>
          <a:ln/>
        </p:spPr>
      </p:sp>
      <p:sp>
        <p:nvSpPr>
          <p:cNvPr id="8" name="Shape 6"/>
          <p:cNvSpPr/>
          <p:nvPr/>
        </p:nvSpPr>
        <p:spPr>
          <a:xfrm>
            <a:off x="5760720" y="1719072"/>
            <a:ext cx="438912" cy="438912"/>
          </a:xfrm>
          <a:prstGeom prst="ellipse">
            <a:avLst/>
          </a:prstGeom>
          <a:solidFill>
            <a:schemeClr val="accent1"/>
          </a:solidFill>
          <a:ln/>
        </p:spPr>
      </p:sp>
      <p:pic>
        <p:nvPicPr>
          <p:cNvPr id="9" name="Image 0" descr="preencoded.png">    </p:cNvPr>
          <p:cNvPicPr>
            <a:picLocks noChangeAspect="1"/>
          </p:cNvPicPr>
          <p:nvPr/>
        </p:nvPicPr>
        <p:blipFill>
          <a:blip r:embed="rId1"/>
          <a:stretch>
            <a:fillRect/>
          </a:stretch>
        </p:blipFill>
        <p:spPr>
          <a:xfrm>
            <a:off x="5870448" y="1828800"/>
            <a:ext cx="219456" cy="219456"/>
          </a:xfrm>
          <a:prstGeom prst="rect">
            <a:avLst/>
          </a:prstGeom>
        </p:spPr>
      </p:pic>
      <p:sp>
        <p:nvSpPr>
          <p:cNvPr id="10" name="Text 7"/>
          <p:cNvSpPr txBox="1"/>
          <p:nvPr/>
        </p:nvSpPr>
        <p:spPr>
          <a:xfrm>
            <a:off x="6327648" y="1719072"/>
            <a:ext cx="2011680" cy="438912"/>
          </a:xfrm>
          <a:prstGeom prst="rect">
            <a:avLst/>
          </a:prstGeom>
          <a:noFill/>
          <a:ln/>
        </p:spPr>
        <p:txBody>
          <a:bodyPr wrap="square" lIns="0" tIns="0" rIns="0" bIns="0" rtlCol="0" anchor="ctr"/>
          <a:lstStyle/>
          <a:p>
            <a:pPr indent="0" marL="0">
              <a:buNone/>
            </a:pPr>
            <a:r>
              <a:rPr lang="en-US" sz="1600" dirty="0">
                <a:solidFill>
                  <a:schemeClr val="tx2"/>
                </a:solidFill>
                <a:latin typeface="+mj-lt" pitchFamily="34" charset="0"/>
                <a:ea typeface="+mj-lt" pitchFamily="34" charset="-122"/>
                <a:cs typeface="+mj-lt" pitchFamily="34" charset="-120"/>
              </a:rPr>
              <a:t>Reads</a:t>
            </a:r>
            <a:endParaRPr lang="en-US" sz="1600" dirty="0"/>
          </a:p>
        </p:txBody>
      </p:sp>
      <p:sp>
        <p:nvSpPr>
          <p:cNvPr id="11" name="Text 8"/>
          <p:cNvSpPr txBox="1"/>
          <p:nvPr/>
        </p:nvSpPr>
        <p:spPr>
          <a:xfrm>
            <a:off x="5760720" y="2249424"/>
            <a:ext cx="2606040" cy="960120"/>
          </a:xfrm>
          <a:prstGeom prst="rect">
            <a:avLst/>
          </a:prstGeom>
          <a:noFill/>
          <a:ln/>
        </p:spPr>
        <p:txBody>
          <a:bodyPr wrap="square" lIns="0" tIns="0" rIns="0" bIns="0" rtlCol="0" anchor="t"/>
          <a:lstStyle/>
          <a:p>
            <a:pPr indent="0" marL="0">
              <a:buNone/>
            </a:pPr>
            <a:r>
              <a:rPr lang="en-US" sz="1250" dirty="0">
                <a:solidFill>
                  <a:schemeClr val="tx1"/>
                </a:solidFill>
              </a:rPr>
              <a:t>Git repository, live workspace or ZIP export, plus the dedicated SQL pool's catalog. Never writes to Synapse.</a:t>
            </a:r>
            <a:endParaRPr lang="en-US" sz="1250" dirty="0"/>
          </a:p>
        </p:txBody>
      </p:sp>
      <p:sp>
        <p:nvSpPr>
          <p:cNvPr id="12" name="Shape 9"/>
          <p:cNvSpPr/>
          <p:nvPr/>
        </p:nvSpPr>
        <p:spPr>
          <a:xfrm>
            <a:off x="8714232" y="1554480"/>
            <a:ext cx="2926080" cy="1719072"/>
          </a:xfrm>
          <a:prstGeom prst="roundRect">
            <a:avLst>
              <a:gd name="adj" fmla="val 6383"/>
            </a:avLst>
          </a:prstGeom>
          <a:solidFill>
            <a:schemeClr val="bg2"/>
          </a:solidFill>
          <a:ln/>
        </p:spPr>
      </p:sp>
      <p:sp>
        <p:nvSpPr>
          <p:cNvPr id="13" name="Shape 10"/>
          <p:cNvSpPr/>
          <p:nvPr/>
        </p:nvSpPr>
        <p:spPr>
          <a:xfrm>
            <a:off x="8897112" y="1719072"/>
            <a:ext cx="438912" cy="438912"/>
          </a:xfrm>
          <a:prstGeom prst="ellipse">
            <a:avLst/>
          </a:prstGeom>
          <a:solidFill>
            <a:schemeClr val="accent1"/>
          </a:solidFill>
          <a:ln/>
        </p:spPr>
      </p:sp>
      <p:pic>
        <p:nvPicPr>
          <p:cNvPr id="14" name="Image 1" descr="preencoded.png">    </p:cNvPr>
          <p:cNvPicPr>
            <a:picLocks noChangeAspect="1"/>
          </p:cNvPicPr>
          <p:nvPr/>
        </p:nvPicPr>
        <p:blipFill>
          <a:blip r:embed="rId2"/>
          <a:stretch>
            <a:fillRect/>
          </a:stretch>
        </p:blipFill>
        <p:spPr>
          <a:xfrm>
            <a:off x="9006840" y="1828800"/>
            <a:ext cx="219456" cy="219456"/>
          </a:xfrm>
          <a:prstGeom prst="rect">
            <a:avLst/>
          </a:prstGeom>
        </p:spPr>
      </p:pic>
      <p:sp>
        <p:nvSpPr>
          <p:cNvPr id="15" name="Text 11"/>
          <p:cNvSpPr txBox="1"/>
          <p:nvPr/>
        </p:nvSpPr>
        <p:spPr>
          <a:xfrm>
            <a:off x="9464040" y="1719072"/>
            <a:ext cx="2011680" cy="438912"/>
          </a:xfrm>
          <a:prstGeom prst="rect">
            <a:avLst/>
          </a:prstGeom>
          <a:noFill/>
          <a:ln/>
        </p:spPr>
        <p:txBody>
          <a:bodyPr wrap="square" lIns="0" tIns="0" rIns="0" bIns="0" rtlCol="0" anchor="ctr"/>
          <a:lstStyle/>
          <a:p>
            <a:pPr indent="0" marL="0">
              <a:buNone/>
            </a:pPr>
            <a:r>
              <a:rPr lang="en-US" sz="1600" dirty="0">
                <a:solidFill>
                  <a:schemeClr val="tx2"/>
                </a:solidFill>
                <a:latin typeface="+mj-lt" pitchFamily="34" charset="0"/>
                <a:ea typeface="+mj-lt" pitchFamily="34" charset="-122"/>
                <a:cs typeface="+mj-lt" pitchFamily="34" charset="-120"/>
              </a:rPr>
              <a:t>Decides</a:t>
            </a:r>
            <a:endParaRPr lang="en-US" sz="1600" dirty="0"/>
          </a:p>
        </p:txBody>
      </p:sp>
      <p:sp>
        <p:nvSpPr>
          <p:cNvPr id="16" name="Text 12"/>
          <p:cNvSpPr txBox="1"/>
          <p:nvPr/>
        </p:nvSpPr>
        <p:spPr>
          <a:xfrm>
            <a:off x="8897112" y="2249424"/>
            <a:ext cx="2606040" cy="960120"/>
          </a:xfrm>
          <a:prstGeom prst="rect">
            <a:avLst/>
          </a:prstGeom>
          <a:noFill/>
          <a:ln/>
        </p:spPr>
        <p:txBody>
          <a:bodyPr wrap="square" lIns="0" tIns="0" rIns="0" bIns="0" rtlCol="0" anchor="t"/>
          <a:lstStyle/>
          <a:p>
            <a:pPr indent="0" marL="0">
              <a:buNone/>
            </a:pPr>
            <a:r>
              <a:rPr lang="en-US" sz="1250" dirty="0">
                <a:solidFill>
                  <a:schemeClr val="tx1"/>
                </a:solidFill>
              </a:rPr>
              <a:t>The Fabric target and class of every object, dependency waves, risks, effort and a readiness score.</a:t>
            </a:r>
            <a:endParaRPr lang="en-US" sz="1250" dirty="0"/>
          </a:p>
        </p:txBody>
      </p:sp>
      <p:sp>
        <p:nvSpPr>
          <p:cNvPr id="17" name="Shape 13"/>
          <p:cNvSpPr/>
          <p:nvPr/>
        </p:nvSpPr>
        <p:spPr>
          <a:xfrm>
            <a:off x="5577840" y="3410712"/>
            <a:ext cx="2926080" cy="1719072"/>
          </a:xfrm>
          <a:prstGeom prst="roundRect">
            <a:avLst>
              <a:gd name="adj" fmla="val 6383"/>
            </a:avLst>
          </a:prstGeom>
          <a:solidFill>
            <a:schemeClr val="bg2"/>
          </a:solidFill>
          <a:ln/>
        </p:spPr>
      </p:sp>
      <p:sp>
        <p:nvSpPr>
          <p:cNvPr id="18" name="Shape 14"/>
          <p:cNvSpPr/>
          <p:nvPr/>
        </p:nvSpPr>
        <p:spPr>
          <a:xfrm>
            <a:off x="5760720" y="3575304"/>
            <a:ext cx="438912" cy="438912"/>
          </a:xfrm>
          <a:prstGeom prst="ellipse">
            <a:avLst/>
          </a:prstGeom>
          <a:solidFill>
            <a:schemeClr val="accent1"/>
          </a:solidFill>
          <a:ln/>
        </p:spPr>
      </p:sp>
      <p:pic>
        <p:nvPicPr>
          <p:cNvPr id="19" name="Image 2" descr="preencoded.png">    </p:cNvPr>
          <p:cNvPicPr>
            <a:picLocks noChangeAspect="1"/>
          </p:cNvPicPr>
          <p:nvPr/>
        </p:nvPicPr>
        <p:blipFill>
          <a:blip r:embed="rId3"/>
          <a:stretch>
            <a:fillRect/>
          </a:stretch>
        </p:blipFill>
        <p:spPr>
          <a:xfrm>
            <a:off x="5870448" y="3685032"/>
            <a:ext cx="219456" cy="219456"/>
          </a:xfrm>
          <a:prstGeom prst="rect">
            <a:avLst/>
          </a:prstGeom>
        </p:spPr>
      </p:pic>
      <p:sp>
        <p:nvSpPr>
          <p:cNvPr id="20" name="Text 15"/>
          <p:cNvSpPr txBox="1"/>
          <p:nvPr/>
        </p:nvSpPr>
        <p:spPr>
          <a:xfrm>
            <a:off x="6327648" y="3575304"/>
            <a:ext cx="2011680" cy="438912"/>
          </a:xfrm>
          <a:prstGeom prst="rect">
            <a:avLst/>
          </a:prstGeom>
          <a:noFill/>
          <a:ln/>
        </p:spPr>
        <p:txBody>
          <a:bodyPr wrap="square" lIns="0" tIns="0" rIns="0" bIns="0" rtlCol="0" anchor="ctr"/>
          <a:lstStyle/>
          <a:p>
            <a:pPr indent="0" marL="0">
              <a:buNone/>
            </a:pPr>
            <a:r>
              <a:rPr lang="en-US" sz="1600" dirty="0">
                <a:solidFill>
                  <a:schemeClr val="tx2"/>
                </a:solidFill>
                <a:latin typeface="+mj-lt" pitchFamily="34" charset="0"/>
                <a:ea typeface="+mj-lt" pitchFamily="34" charset="-122"/>
                <a:cs typeface="+mj-lt" pitchFamily="34" charset="-120"/>
              </a:rPr>
              <a:t>Builds</a:t>
            </a:r>
            <a:endParaRPr lang="en-US" sz="1600" dirty="0"/>
          </a:p>
        </p:txBody>
      </p:sp>
      <p:sp>
        <p:nvSpPr>
          <p:cNvPr id="21" name="Text 16"/>
          <p:cNvSpPr txBox="1"/>
          <p:nvPr/>
        </p:nvSpPr>
        <p:spPr>
          <a:xfrm>
            <a:off x="5760720" y="4105656"/>
            <a:ext cx="2606040" cy="960120"/>
          </a:xfrm>
          <a:prstGeom prst="rect">
            <a:avLst/>
          </a:prstGeom>
          <a:noFill/>
          <a:ln/>
        </p:spPr>
        <p:txBody>
          <a:bodyPr wrap="square" lIns="0" tIns="0" rIns="0" bIns="0" rtlCol="0" anchor="t"/>
          <a:lstStyle/>
          <a:p>
            <a:pPr indent="0" marL="0">
              <a:buNone/>
            </a:pPr>
            <a:r>
              <a:rPr lang="en-US" sz="1250" dirty="0">
                <a:solidFill>
                  <a:schemeClr val="tx1"/>
                </a:solidFill>
              </a:rPr>
              <a:t>Warehouse objects, data pipelines, notebooks, Spark, connections, schedules and shortcuts: in Fabric only.</a:t>
            </a:r>
            <a:endParaRPr lang="en-US" sz="1250" dirty="0"/>
          </a:p>
        </p:txBody>
      </p:sp>
      <p:sp>
        <p:nvSpPr>
          <p:cNvPr id="22" name="Shape 17"/>
          <p:cNvSpPr/>
          <p:nvPr/>
        </p:nvSpPr>
        <p:spPr>
          <a:xfrm>
            <a:off x="8714232" y="3410712"/>
            <a:ext cx="2926080" cy="1719072"/>
          </a:xfrm>
          <a:prstGeom prst="roundRect">
            <a:avLst>
              <a:gd name="adj" fmla="val 6383"/>
            </a:avLst>
          </a:prstGeom>
          <a:solidFill>
            <a:schemeClr val="bg2"/>
          </a:solidFill>
          <a:ln/>
        </p:spPr>
      </p:sp>
      <p:sp>
        <p:nvSpPr>
          <p:cNvPr id="23" name="Shape 18"/>
          <p:cNvSpPr/>
          <p:nvPr/>
        </p:nvSpPr>
        <p:spPr>
          <a:xfrm>
            <a:off x="8897112" y="3575304"/>
            <a:ext cx="438912" cy="438912"/>
          </a:xfrm>
          <a:prstGeom prst="ellipse">
            <a:avLst/>
          </a:prstGeom>
          <a:solidFill>
            <a:schemeClr val="accent1"/>
          </a:solidFill>
          <a:ln/>
        </p:spPr>
      </p:sp>
      <p:pic>
        <p:nvPicPr>
          <p:cNvPr id="24" name="Image 3" descr="preencoded.png">    </p:cNvPr>
          <p:cNvPicPr>
            <a:picLocks noChangeAspect="1"/>
          </p:cNvPicPr>
          <p:nvPr/>
        </p:nvPicPr>
        <p:blipFill>
          <a:blip r:embed="rId4"/>
          <a:stretch>
            <a:fillRect/>
          </a:stretch>
        </p:blipFill>
        <p:spPr>
          <a:xfrm>
            <a:off x="9006840" y="3685032"/>
            <a:ext cx="219456" cy="219456"/>
          </a:xfrm>
          <a:prstGeom prst="rect">
            <a:avLst/>
          </a:prstGeom>
        </p:spPr>
      </p:pic>
      <p:sp>
        <p:nvSpPr>
          <p:cNvPr id="25" name="Text 19"/>
          <p:cNvSpPr txBox="1"/>
          <p:nvPr/>
        </p:nvSpPr>
        <p:spPr>
          <a:xfrm>
            <a:off x="9464040" y="3575304"/>
            <a:ext cx="2011680" cy="438912"/>
          </a:xfrm>
          <a:prstGeom prst="rect">
            <a:avLst/>
          </a:prstGeom>
          <a:noFill/>
          <a:ln/>
        </p:spPr>
        <p:txBody>
          <a:bodyPr wrap="square" lIns="0" tIns="0" rIns="0" bIns="0" rtlCol="0" anchor="ctr"/>
          <a:lstStyle/>
          <a:p>
            <a:pPr indent="0" marL="0">
              <a:buNone/>
            </a:pPr>
            <a:r>
              <a:rPr lang="en-US" sz="1600" dirty="0">
                <a:solidFill>
                  <a:schemeClr val="tx2"/>
                </a:solidFill>
                <a:latin typeface="+mj-lt" pitchFamily="34" charset="0"/>
                <a:ea typeface="+mj-lt" pitchFamily="34" charset="-122"/>
                <a:cs typeface="+mj-lt" pitchFamily="34" charset="-120"/>
              </a:rPr>
              <a:t>Proves</a:t>
            </a:r>
            <a:endParaRPr lang="en-US" sz="1600" dirty="0"/>
          </a:p>
        </p:txBody>
      </p:sp>
      <p:sp>
        <p:nvSpPr>
          <p:cNvPr id="26" name="Text 20"/>
          <p:cNvSpPr txBox="1"/>
          <p:nvPr/>
        </p:nvSpPr>
        <p:spPr>
          <a:xfrm>
            <a:off x="8897112" y="4105656"/>
            <a:ext cx="2606040" cy="960120"/>
          </a:xfrm>
          <a:prstGeom prst="rect">
            <a:avLst/>
          </a:prstGeom>
          <a:noFill/>
          <a:ln/>
        </p:spPr>
        <p:txBody>
          <a:bodyPr wrap="square" lIns="0" tIns="0" rIns="0" bIns="0" rtlCol="0" anchor="t"/>
          <a:lstStyle/>
          <a:p>
            <a:pPr indent="0" marL="0">
              <a:buNone/>
            </a:pPr>
            <a:r>
              <a:rPr lang="en-US" sz="1250" dirty="0">
                <a:solidFill>
                  <a:schemeClr val="tx1"/>
                </a:solidFill>
              </a:rPr>
              <a:t>Compares both sides object by object, checks each object runs, and commits the run to Fabric Git.</a:t>
            </a:r>
            <a:endParaRPr lang="en-US" sz="1250" dirty="0"/>
          </a:p>
        </p:txBody>
      </p:sp>
      <p:sp>
        <p:nvSpPr>
          <p:cNvPr id="27" name="Shape 21"/>
          <p:cNvSpPr/>
          <p:nvPr/>
        </p:nvSpPr>
        <p:spPr>
          <a:xfrm>
            <a:off x="548640" y="5440680"/>
            <a:ext cx="1737360" cy="384048"/>
          </a:xfrm>
          <a:prstGeom prst="roundRect">
            <a:avLst>
              <a:gd name="adj" fmla="val 50000"/>
            </a:avLst>
          </a:prstGeom>
          <a:solidFill>
            <a:schemeClr val="accent1">
              <a:alpha val="18000"/>
            </a:schemeClr>
          </a:solidFill>
          <a:ln/>
        </p:spPr>
      </p:sp>
      <p:sp>
        <p:nvSpPr>
          <p:cNvPr id="28" name="Text 22"/>
          <p:cNvSpPr txBox="1"/>
          <p:nvPr/>
        </p:nvSpPr>
        <p:spPr>
          <a:xfrm>
            <a:off x="548640" y="5440680"/>
            <a:ext cx="1737360" cy="384048"/>
          </a:xfrm>
          <a:prstGeom prst="rect">
            <a:avLst/>
          </a:prstGeom>
          <a:noFill/>
          <a:ln/>
        </p:spPr>
        <p:txBody>
          <a:bodyPr wrap="square" lIns="0" tIns="0" rIns="0" bIns="0" rtlCol="0" anchor="ctr"/>
          <a:lstStyle/>
          <a:p>
            <a:pPr algn="ctr" indent="0" marL="0">
              <a:buNone/>
            </a:pPr>
            <a:r>
              <a:rPr lang="en-US" sz="1200" b="1" dirty="0">
                <a:solidFill>
                  <a:schemeClr val="tx2"/>
                </a:solidFill>
              </a:rPr>
              <a:t>6 steps</a:t>
            </a:r>
            <a:endParaRPr lang="en-US" sz="1200" dirty="0"/>
          </a:p>
        </p:txBody>
      </p:sp>
      <p:sp>
        <p:nvSpPr>
          <p:cNvPr id="29" name="Shape 23"/>
          <p:cNvSpPr/>
          <p:nvPr/>
        </p:nvSpPr>
        <p:spPr>
          <a:xfrm>
            <a:off x="2418588" y="5440680"/>
            <a:ext cx="1737360" cy="384048"/>
          </a:xfrm>
          <a:prstGeom prst="roundRect">
            <a:avLst>
              <a:gd name="adj" fmla="val 50000"/>
            </a:avLst>
          </a:prstGeom>
          <a:solidFill>
            <a:schemeClr val="accent1">
              <a:alpha val="18000"/>
            </a:schemeClr>
          </a:solidFill>
          <a:ln/>
        </p:spPr>
      </p:sp>
      <p:sp>
        <p:nvSpPr>
          <p:cNvPr id="30" name="Text 24"/>
          <p:cNvSpPr txBox="1"/>
          <p:nvPr/>
        </p:nvSpPr>
        <p:spPr>
          <a:xfrm>
            <a:off x="2418588" y="5440680"/>
            <a:ext cx="1737360" cy="384048"/>
          </a:xfrm>
          <a:prstGeom prst="rect">
            <a:avLst/>
          </a:prstGeom>
          <a:noFill/>
          <a:ln/>
        </p:spPr>
        <p:txBody>
          <a:bodyPr wrap="square" lIns="0" tIns="0" rIns="0" bIns="0" rtlCol="0" anchor="ctr"/>
          <a:lstStyle/>
          <a:p>
            <a:pPr algn="ctr" indent="0" marL="0">
              <a:buNone/>
            </a:pPr>
            <a:r>
              <a:rPr lang="en-US" sz="1200" b="1" dirty="0">
                <a:solidFill>
                  <a:schemeClr val="tx2"/>
                </a:solidFill>
              </a:rPr>
              <a:t>11 migration stages</a:t>
            </a:r>
            <a:endParaRPr lang="en-US" sz="1200" dirty="0"/>
          </a:p>
        </p:txBody>
      </p:sp>
      <p:sp>
        <p:nvSpPr>
          <p:cNvPr id="31" name="Shape 25"/>
          <p:cNvSpPr/>
          <p:nvPr/>
        </p:nvSpPr>
        <p:spPr>
          <a:xfrm>
            <a:off x="4288536" y="5440680"/>
            <a:ext cx="1737360" cy="384048"/>
          </a:xfrm>
          <a:prstGeom prst="roundRect">
            <a:avLst>
              <a:gd name="adj" fmla="val 50000"/>
            </a:avLst>
          </a:prstGeom>
          <a:solidFill>
            <a:schemeClr val="accent1">
              <a:alpha val="18000"/>
            </a:schemeClr>
          </a:solidFill>
          <a:ln/>
        </p:spPr>
      </p:sp>
      <p:sp>
        <p:nvSpPr>
          <p:cNvPr id="32" name="Text 26"/>
          <p:cNvSpPr txBox="1"/>
          <p:nvPr/>
        </p:nvSpPr>
        <p:spPr>
          <a:xfrm>
            <a:off x="4288536" y="5440680"/>
            <a:ext cx="1737360" cy="384048"/>
          </a:xfrm>
          <a:prstGeom prst="rect">
            <a:avLst/>
          </a:prstGeom>
          <a:noFill/>
          <a:ln/>
        </p:spPr>
        <p:txBody>
          <a:bodyPr wrap="square" lIns="0" tIns="0" rIns="0" bIns="0" rtlCol="0" anchor="ctr"/>
          <a:lstStyle/>
          <a:p>
            <a:pPr algn="ctr" indent="0" marL="0">
              <a:buNone/>
            </a:pPr>
            <a:r>
              <a:rPr lang="en-US" sz="1200" b="1" dirty="0">
                <a:solidFill>
                  <a:schemeClr val="tx2"/>
                </a:solidFill>
              </a:rPr>
              <a:t>16 object types created</a:t>
            </a:r>
            <a:endParaRPr lang="en-US" sz="1200" dirty="0"/>
          </a:p>
        </p:txBody>
      </p:sp>
      <p:sp>
        <p:nvSpPr>
          <p:cNvPr id="33" name="Shape 27"/>
          <p:cNvSpPr/>
          <p:nvPr/>
        </p:nvSpPr>
        <p:spPr>
          <a:xfrm>
            <a:off x="6158484" y="5440680"/>
            <a:ext cx="1737360" cy="384048"/>
          </a:xfrm>
          <a:prstGeom prst="roundRect">
            <a:avLst>
              <a:gd name="adj" fmla="val 50000"/>
            </a:avLst>
          </a:prstGeom>
          <a:solidFill>
            <a:schemeClr val="accent1">
              <a:alpha val="18000"/>
            </a:schemeClr>
          </a:solidFill>
          <a:ln/>
        </p:spPr>
      </p:sp>
      <p:sp>
        <p:nvSpPr>
          <p:cNvPr id="34" name="Text 28"/>
          <p:cNvSpPr txBox="1"/>
          <p:nvPr/>
        </p:nvSpPr>
        <p:spPr>
          <a:xfrm>
            <a:off x="6158484" y="5440680"/>
            <a:ext cx="1737360" cy="384048"/>
          </a:xfrm>
          <a:prstGeom prst="rect">
            <a:avLst/>
          </a:prstGeom>
          <a:noFill/>
          <a:ln/>
        </p:spPr>
        <p:txBody>
          <a:bodyPr wrap="square" lIns="0" tIns="0" rIns="0" bIns="0" rtlCol="0" anchor="ctr"/>
          <a:lstStyle/>
          <a:p>
            <a:pPr algn="ctr" indent="0" marL="0">
              <a:buNone/>
            </a:pPr>
            <a:r>
              <a:rPr lang="en-US" sz="1200" b="1" dirty="0">
                <a:solidFill>
                  <a:schemeClr val="tx2"/>
                </a:solidFill>
              </a:rPr>
              <a:t>3 ways to read Synapse</a:t>
            </a:r>
            <a:endParaRPr lang="en-US" sz="1200" dirty="0"/>
          </a:p>
        </p:txBody>
      </p:sp>
      <p:sp>
        <p:nvSpPr>
          <p:cNvPr id="35" name="Shape 29"/>
          <p:cNvSpPr/>
          <p:nvPr/>
        </p:nvSpPr>
        <p:spPr>
          <a:xfrm>
            <a:off x="8028432" y="5440680"/>
            <a:ext cx="1737360" cy="384048"/>
          </a:xfrm>
          <a:prstGeom prst="roundRect">
            <a:avLst>
              <a:gd name="adj" fmla="val 50000"/>
            </a:avLst>
          </a:prstGeom>
          <a:solidFill>
            <a:schemeClr val="accent1">
              <a:alpha val="18000"/>
            </a:schemeClr>
          </a:solidFill>
          <a:ln/>
        </p:spPr>
      </p:sp>
      <p:sp>
        <p:nvSpPr>
          <p:cNvPr id="36" name="Text 30"/>
          <p:cNvSpPr txBox="1"/>
          <p:nvPr/>
        </p:nvSpPr>
        <p:spPr>
          <a:xfrm>
            <a:off x="8028432" y="5440680"/>
            <a:ext cx="1737360" cy="384048"/>
          </a:xfrm>
          <a:prstGeom prst="rect">
            <a:avLst/>
          </a:prstGeom>
          <a:noFill/>
          <a:ln/>
        </p:spPr>
        <p:txBody>
          <a:bodyPr wrap="square" lIns="0" tIns="0" rIns="0" bIns="0" rtlCol="0" anchor="ctr"/>
          <a:lstStyle/>
          <a:p>
            <a:pPr algn="ctr" indent="0" marL="0">
              <a:buNone/>
            </a:pPr>
            <a:r>
              <a:rPr lang="en-US" sz="1200" b="1" dirty="0">
                <a:solidFill>
                  <a:schemeClr val="tx2"/>
                </a:solidFill>
              </a:rPr>
              <a:t>45 API endpoints</a:t>
            </a:r>
            <a:endParaRPr lang="en-US" sz="1200" dirty="0"/>
          </a:p>
        </p:txBody>
      </p:sp>
      <p:sp>
        <p:nvSpPr>
          <p:cNvPr id="37" name="Shape 31"/>
          <p:cNvSpPr/>
          <p:nvPr/>
        </p:nvSpPr>
        <p:spPr>
          <a:xfrm>
            <a:off x="9898380" y="5440680"/>
            <a:ext cx="1737360" cy="384048"/>
          </a:xfrm>
          <a:prstGeom prst="roundRect">
            <a:avLst>
              <a:gd name="adj" fmla="val 50000"/>
            </a:avLst>
          </a:prstGeom>
          <a:solidFill>
            <a:schemeClr val="accent1">
              <a:alpha val="18000"/>
            </a:schemeClr>
          </a:solidFill>
          <a:ln/>
        </p:spPr>
      </p:sp>
      <p:sp>
        <p:nvSpPr>
          <p:cNvPr id="38" name="Text 32"/>
          <p:cNvSpPr txBox="1"/>
          <p:nvPr/>
        </p:nvSpPr>
        <p:spPr>
          <a:xfrm>
            <a:off x="9898380" y="5440680"/>
            <a:ext cx="1737360" cy="384048"/>
          </a:xfrm>
          <a:prstGeom prst="rect">
            <a:avLst/>
          </a:prstGeom>
          <a:noFill/>
          <a:ln/>
        </p:spPr>
        <p:txBody>
          <a:bodyPr wrap="square" lIns="0" tIns="0" rIns="0" bIns="0" rtlCol="0" anchor="ctr"/>
          <a:lstStyle/>
          <a:p>
            <a:pPr algn="ctr" indent="0" marL="0">
              <a:buNone/>
            </a:pPr>
            <a:r>
              <a:rPr lang="en-US" sz="1200" b="1" dirty="0">
                <a:solidFill>
                  <a:schemeClr val="tx2"/>
                </a:solidFill>
              </a:rPr>
              <a:t>1,508 tests passing</a:t>
            </a:r>
            <a:endParaRPr lang="en-US" sz="12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731520" y="1417320"/>
            <a:ext cx="2743200" cy="1371600"/>
          </a:xfrm>
          <a:prstGeom prst="rect">
            <a:avLst/>
          </a:prstGeom>
          <a:noFill/>
          <a:ln/>
        </p:spPr>
        <p:txBody>
          <a:bodyPr wrap="square" lIns="0" tIns="0" rIns="0" bIns="0" rtlCol="0" anchor="t"/>
          <a:lstStyle/>
          <a:p>
            <a:pPr indent="0" marL="0">
              <a:buNone/>
            </a:pPr>
            <a:r>
              <a:rPr lang="en-US" sz="8800" dirty="0">
                <a:solidFill>
                  <a:schemeClr val="accent5"/>
                </a:solidFill>
                <a:latin typeface="+mj-lt" pitchFamily="34" charset="0"/>
                <a:ea typeface="+mj-lt" pitchFamily="34" charset="-122"/>
                <a:cs typeface="+mj-lt" pitchFamily="34" charset="-120"/>
              </a:rPr>
              <a:t>01</a:t>
            </a:r>
            <a:endParaRPr lang="en-US" sz="8800" dirty="0"/>
          </a:p>
        </p:txBody>
      </p:sp>
      <p:sp>
        <p:nvSpPr>
          <p:cNvPr id="3" name="Shape 1"/>
          <p:cNvSpPr/>
          <p:nvPr/>
        </p:nvSpPr>
        <p:spPr>
          <a:xfrm>
            <a:off x="8549640" y="2011680"/>
            <a:ext cx="2468880" cy="2468880"/>
          </a:xfrm>
          <a:prstGeom prst="ellipse">
            <a:avLst/>
          </a:prstGeom>
          <a:solidFill>
            <a:schemeClr val="accent5">
              <a:alpha val="18000"/>
            </a:schemeClr>
          </a:solidFill>
          <a:ln/>
        </p:spPr>
      </p:sp>
      <p:pic>
        <p:nvPicPr>
          <p:cNvPr id="4" name="Image 0" descr="preencoded.png">    </p:cNvPr>
          <p:cNvPicPr>
            <a:picLocks noChangeAspect="1"/>
          </p:cNvPicPr>
          <p:nvPr/>
        </p:nvPicPr>
        <p:blipFill>
          <a:blip r:embed="rId1"/>
          <a:stretch>
            <a:fillRect/>
          </a:stretch>
        </p:blipFill>
        <p:spPr>
          <a:xfrm>
            <a:off x="9166860" y="2628900"/>
            <a:ext cx="1234440" cy="1234440"/>
          </a:xfrm>
          <a:prstGeom prst="rect">
            <a:avLst/>
          </a:prstGeom>
        </p:spPr>
      </p:pic>
      <p:sp>
        <p:nvSpPr>
          <p:cNvPr id="5" name="Text 0"/>
          <p:cNvSpPr/>
          <p:nvPr>
            <p:ph idx="100" type="title" hasCustomPrompt="1"/>
          </p:nvPr>
        </p:nvSpPr>
        <p:spPr>
          <a:xfrm>
            <a:off x="731520" y="2880360"/>
            <a:ext cx="10515600" cy="914400"/>
          </a:xfrm>
          <a:prstGeom prst="rect">
            <a:avLst/>
          </a:prstGeom>
          <a:noFill/>
          <a:ln/>
        </p:spPr>
        <p:txBody>
          <a:bodyPr wrap="square" lIns="0" tIns="0" rIns="0" bIns="0" rtlCol="0" anchor="ctr"/>
          <a:lstStyle/>
          <a:p>
            <a:pPr algn="l" indent="0" marL="0">
              <a:buNone/>
            </a:pPr>
            <a:r>
              <a:rPr lang="en-US" sz="4000" dirty="0">
                <a:solidFill>
                  <a:schemeClr val="bg1"/>
                </a:solidFill>
              </a:rPr>
              <a:t>The big picture</a:t>
            </a:r>
            <a:endParaRPr lang="en-US" sz="4000" dirty="0"/>
          </a:p>
        </p:txBody>
      </p:sp>
      <p:sp>
        <p:nvSpPr>
          <p:cNvPr id="6" name="Text 0"/>
          <p:cNvSpPr/>
          <p:nvPr>
            <p:ph idx="101" type="body" hasCustomPrompt="1"/>
          </p:nvPr>
        </p:nvSpPr>
        <p:spPr>
          <a:xfrm>
            <a:off x="731520" y="3840480"/>
            <a:ext cx="10515600" cy="548640"/>
          </a:xfrm>
          <a:prstGeom prst="rect">
            <a:avLst/>
          </a:prstGeom>
          <a:noFill/>
          <a:ln/>
        </p:spPr>
        <p:txBody>
          <a:bodyPr wrap="square" lIns="0" tIns="0" rIns="0" bIns="0" rtlCol="0" anchor="t"/>
          <a:lstStyle/>
          <a:p>
            <a:pPr indent="0" marL="0">
              <a:buNone/>
            </a:pPr>
            <a:r>
              <a:rPr lang="en-US" sz="2000" dirty="0">
                <a:solidFill>
                  <a:schemeClr val="accent5"/>
                </a:solidFill>
              </a:rPr>
              <a:t>What the project is, its principles, architecture and options</a:t>
            </a:r>
            <a:endParaRPr lang="en-US" sz="20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FB0C8"/>
                </a:solidFill>
              </a:defRPr>
            </a:lvl1pPr>
          </a:lstStyle>
          <a:p>
            <a:pPr algn="r"/>
            <a:fld id="{F7021451-1387-4CA6-816F-3879F97B5CBC}" type="slidenum">
              <a:rPr b="0" lang="en-US"/>
              <a:t>4</a:t>
            </a:fld>
            <a:endParaRPr lang="en-US"/>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01 · THE BIG PICTURE</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Why moving to Fabric means rebuilding, not copying</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docs/Synapse_to_Fabric_Transformation_Guide.docx</a:t>
            </a:r>
            <a:endParaRPr lang="en-US" sz="1100" dirty="0"/>
          </a:p>
        </p:txBody>
      </p:sp>
      <p:sp>
        <p:nvSpPr>
          <p:cNvPr id="5" name="Shape 3"/>
          <p:cNvSpPr/>
          <p:nvPr/>
        </p:nvSpPr>
        <p:spPr>
          <a:xfrm>
            <a:off x="548640" y="1508760"/>
            <a:ext cx="3515258" cy="1783080"/>
          </a:xfrm>
          <a:prstGeom prst="roundRect">
            <a:avLst>
              <a:gd name="adj" fmla="val 6154"/>
            </a:avLst>
          </a:prstGeom>
          <a:solidFill>
            <a:schemeClr val="bg2"/>
          </a:solidFill>
          <a:ln/>
        </p:spPr>
      </p:sp>
      <p:sp>
        <p:nvSpPr>
          <p:cNvPr id="6" name="Shape 4"/>
          <p:cNvSpPr/>
          <p:nvPr/>
        </p:nvSpPr>
        <p:spPr>
          <a:xfrm>
            <a:off x="749808" y="1691640"/>
            <a:ext cx="457200" cy="45720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864108" y="1805940"/>
            <a:ext cx="228600" cy="228600"/>
          </a:xfrm>
          <a:prstGeom prst="rect">
            <a:avLst/>
          </a:prstGeom>
        </p:spPr>
      </p:pic>
      <p:sp>
        <p:nvSpPr>
          <p:cNvPr id="8" name="Text 5"/>
          <p:cNvSpPr txBox="1"/>
          <p:nvPr/>
        </p:nvSpPr>
        <p:spPr>
          <a:xfrm>
            <a:off x="1335024" y="1664208"/>
            <a:ext cx="2555138" cy="512064"/>
          </a:xfrm>
          <a:prstGeom prst="rect">
            <a:avLst/>
          </a:prstGeom>
          <a:noFill/>
          <a:ln/>
        </p:spPr>
        <p:txBody>
          <a:bodyPr wrap="square" lIns="0" tIns="0" rIns="0" bIns="0" rtlCol="0" anchor="ctr"/>
          <a:lstStyle/>
          <a:p>
            <a:pPr indent="0" marL="0">
              <a:buNone/>
            </a:pPr>
            <a:r>
              <a:rPr lang="en-US" sz="1550" dirty="0">
                <a:solidFill>
                  <a:schemeClr val="tx2"/>
                </a:solidFill>
                <a:latin typeface="+mj-lt" pitchFamily="34" charset="0"/>
                <a:ea typeface="+mj-lt" pitchFamily="34" charset="-122"/>
                <a:cs typeface="+mj-lt" pitchFamily="34" charset="-120"/>
              </a:rPr>
              <a:t>SQL engine</a:t>
            </a:r>
            <a:endParaRPr lang="en-US" sz="1550" dirty="0"/>
          </a:p>
        </p:txBody>
      </p:sp>
      <p:sp>
        <p:nvSpPr>
          <p:cNvPr id="9" name="Text 6"/>
          <p:cNvSpPr txBox="1"/>
          <p:nvPr/>
        </p:nvSpPr>
        <p:spPr>
          <a:xfrm>
            <a:off x="749808" y="2258568"/>
            <a:ext cx="3131210" cy="941832"/>
          </a:xfrm>
          <a:prstGeom prst="rect">
            <a:avLst/>
          </a:prstGeom>
          <a:noFill/>
          <a:ln/>
        </p:spPr>
        <p:txBody>
          <a:bodyPr wrap="square" lIns="0" tIns="0" rIns="0" bIns="0" rtlCol="0" anchor="t"/>
          <a:lstStyle/>
          <a:p>
            <a:pPr indent="0" marL="0">
              <a:buNone/>
            </a:pPr>
            <a:r>
              <a:rPr lang="en-US" sz="1300" dirty="0">
                <a:solidFill>
                  <a:schemeClr val="tx1"/>
                </a:solidFill>
              </a:rPr>
              <a:t>A dedicated pool is a distributed MPP engine. A Fabric Warehouse manages storage itself and accepts a different T-SQL surface and type set.</a:t>
            </a:r>
            <a:endParaRPr lang="en-US" sz="1300" dirty="0"/>
          </a:p>
        </p:txBody>
      </p:sp>
      <p:sp>
        <p:nvSpPr>
          <p:cNvPr id="10" name="Shape 7"/>
          <p:cNvSpPr/>
          <p:nvPr/>
        </p:nvSpPr>
        <p:spPr>
          <a:xfrm>
            <a:off x="4338218" y="1508760"/>
            <a:ext cx="3515258" cy="1783080"/>
          </a:xfrm>
          <a:prstGeom prst="roundRect">
            <a:avLst>
              <a:gd name="adj" fmla="val 6154"/>
            </a:avLst>
          </a:prstGeom>
          <a:solidFill>
            <a:schemeClr val="bg2"/>
          </a:solidFill>
          <a:ln/>
        </p:spPr>
      </p:sp>
      <p:sp>
        <p:nvSpPr>
          <p:cNvPr id="11" name="Shape 8"/>
          <p:cNvSpPr/>
          <p:nvPr/>
        </p:nvSpPr>
        <p:spPr>
          <a:xfrm>
            <a:off x="4539386" y="1691640"/>
            <a:ext cx="457200" cy="457200"/>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4653686" y="1805940"/>
            <a:ext cx="228600" cy="228600"/>
          </a:xfrm>
          <a:prstGeom prst="rect">
            <a:avLst/>
          </a:prstGeom>
        </p:spPr>
      </p:pic>
      <p:sp>
        <p:nvSpPr>
          <p:cNvPr id="13" name="Text 9"/>
          <p:cNvSpPr txBox="1"/>
          <p:nvPr/>
        </p:nvSpPr>
        <p:spPr>
          <a:xfrm>
            <a:off x="5124602" y="1664208"/>
            <a:ext cx="2555138" cy="512064"/>
          </a:xfrm>
          <a:prstGeom prst="rect">
            <a:avLst/>
          </a:prstGeom>
          <a:noFill/>
          <a:ln/>
        </p:spPr>
        <p:txBody>
          <a:bodyPr wrap="square" lIns="0" tIns="0" rIns="0" bIns="0" rtlCol="0" anchor="ctr"/>
          <a:lstStyle/>
          <a:p>
            <a:pPr indent="0" marL="0">
              <a:buNone/>
            </a:pPr>
            <a:r>
              <a:rPr lang="en-US" sz="1550" dirty="0">
                <a:solidFill>
                  <a:schemeClr val="tx2"/>
                </a:solidFill>
                <a:latin typeface="+mj-lt" pitchFamily="34" charset="0"/>
                <a:ea typeface="+mj-lt" pitchFamily="34" charset="-122"/>
                <a:cs typeface="+mj-lt" pitchFamily="34" charset="-120"/>
              </a:rPr>
              <a:t>Spark runtime</a:t>
            </a:r>
            <a:endParaRPr lang="en-US" sz="1550" dirty="0"/>
          </a:p>
        </p:txBody>
      </p:sp>
      <p:sp>
        <p:nvSpPr>
          <p:cNvPr id="14" name="Text 10"/>
          <p:cNvSpPr txBox="1"/>
          <p:nvPr/>
        </p:nvSpPr>
        <p:spPr>
          <a:xfrm>
            <a:off x="4539386" y="2258568"/>
            <a:ext cx="3131210" cy="941832"/>
          </a:xfrm>
          <a:prstGeom prst="rect">
            <a:avLst/>
          </a:prstGeom>
          <a:noFill/>
          <a:ln/>
        </p:spPr>
        <p:txBody>
          <a:bodyPr wrap="square" lIns="0" tIns="0" rIns="0" bIns="0" rtlCol="0" anchor="t"/>
          <a:lstStyle/>
          <a:p>
            <a:pPr indent="0" marL="0">
              <a:buNone/>
            </a:pPr>
            <a:r>
              <a:rPr lang="en-US" sz="1300" dirty="0">
                <a:solidFill>
                  <a:schemeClr val="tx1"/>
                </a:solidFill>
              </a:rPr>
              <a:t>Synapse pools become Fabric pools and Environments; utilities, connectors and secrets work differently.</a:t>
            </a:r>
            <a:endParaRPr lang="en-US" sz="1300" dirty="0"/>
          </a:p>
        </p:txBody>
      </p:sp>
      <p:sp>
        <p:nvSpPr>
          <p:cNvPr id="15" name="Shape 11"/>
          <p:cNvSpPr/>
          <p:nvPr/>
        </p:nvSpPr>
        <p:spPr>
          <a:xfrm>
            <a:off x="8127797" y="1508760"/>
            <a:ext cx="3515258" cy="1783080"/>
          </a:xfrm>
          <a:prstGeom prst="roundRect">
            <a:avLst>
              <a:gd name="adj" fmla="val 6154"/>
            </a:avLst>
          </a:prstGeom>
          <a:solidFill>
            <a:schemeClr val="bg2"/>
          </a:solidFill>
          <a:ln/>
        </p:spPr>
      </p:sp>
      <p:sp>
        <p:nvSpPr>
          <p:cNvPr id="16" name="Shape 12"/>
          <p:cNvSpPr/>
          <p:nvPr/>
        </p:nvSpPr>
        <p:spPr>
          <a:xfrm>
            <a:off x="8328965" y="1691640"/>
            <a:ext cx="457200" cy="457200"/>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8443265" y="1805940"/>
            <a:ext cx="228600" cy="228600"/>
          </a:xfrm>
          <a:prstGeom prst="rect">
            <a:avLst/>
          </a:prstGeom>
        </p:spPr>
      </p:pic>
      <p:sp>
        <p:nvSpPr>
          <p:cNvPr id="18" name="Text 13"/>
          <p:cNvSpPr txBox="1"/>
          <p:nvPr/>
        </p:nvSpPr>
        <p:spPr>
          <a:xfrm>
            <a:off x="8914181" y="1664208"/>
            <a:ext cx="2555138" cy="512064"/>
          </a:xfrm>
          <a:prstGeom prst="rect">
            <a:avLst/>
          </a:prstGeom>
          <a:noFill/>
          <a:ln/>
        </p:spPr>
        <p:txBody>
          <a:bodyPr wrap="square" lIns="0" tIns="0" rIns="0" bIns="0" rtlCol="0" anchor="ctr"/>
          <a:lstStyle/>
          <a:p>
            <a:pPr indent="0" marL="0">
              <a:buNone/>
            </a:pPr>
            <a:r>
              <a:rPr lang="en-US" sz="1550" dirty="0">
                <a:solidFill>
                  <a:schemeClr val="tx2"/>
                </a:solidFill>
                <a:latin typeface="+mj-lt" pitchFamily="34" charset="0"/>
                <a:ea typeface="+mj-lt" pitchFamily="34" charset="-122"/>
                <a:cs typeface="+mj-lt" pitchFamily="34" charset="-120"/>
              </a:rPr>
              <a:t>Pipeline engine</a:t>
            </a:r>
            <a:endParaRPr lang="en-US" sz="1550" dirty="0"/>
          </a:p>
        </p:txBody>
      </p:sp>
      <p:sp>
        <p:nvSpPr>
          <p:cNvPr id="19" name="Text 14"/>
          <p:cNvSpPr txBox="1"/>
          <p:nvPr/>
        </p:nvSpPr>
        <p:spPr>
          <a:xfrm>
            <a:off x="8328965" y="2258568"/>
            <a:ext cx="3131210" cy="941832"/>
          </a:xfrm>
          <a:prstGeom prst="rect">
            <a:avLst/>
          </a:prstGeom>
          <a:noFill/>
          <a:ln/>
        </p:spPr>
        <p:txBody>
          <a:bodyPr wrap="square" lIns="0" tIns="0" rIns="0" bIns="0" rtlCol="0" anchor="t"/>
          <a:lstStyle/>
          <a:p>
            <a:pPr indent="0" marL="0">
              <a:buNone/>
            </a:pPr>
            <a:r>
              <a:rPr lang="en-US" sz="1300" dirty="0">
                <a:solidFill>
                  <a:schemeClr val="tx1"/>
                </a:solidFill>
              </a:rPr>
              <a:t>The same JSON family, but datasets live inside activities and Fabric items are referenced by id.</a:t>
            </a:r>
            <a:endParaRPr lang="en-US" sz="1300" dirty="0"/>
          </a:p>
        </p:txBody>
      </p:sp>
      <p:sp>
        <p:nvSpPr>
          <p:cNvPr id="20" name="Shape 15"/>
          <p:cNvSpPr/>
          <p:nvPr/>
        </p:nvSpPr>
        <p:spPr>
          <a:xfrm>
            <a:off x="548640" y="3493008"/>
            <a:ext cx="3515258" cy="1783080"/>
          </a:xfrm>
          <a:prstGeom prst="roundRect">
            <a:avLst>
              <a:gd name="adj" fmla="val 6154"/>
            </a:avLst>
          </a:prstGeom>
          <a:solidFill>
            <a:schemeClr val="bg2"/>
          </a:solidFill>
          <a:ln/>
        </p:spPr>
      </p:sp>
      <p:sp>
        <p:nvSpPr>
          <p:cNvPr id="21" name="Shape 16"/>
          <p:cNvSpPr/>
          <p:nvPr/>
        </p:nvSpPr>
        <p:spPr>
          <a:xfrm>
            <a:off x="749808" y="3675888"/>
            <a:ext cx="457200" cy="457200"/>
          </a:xfrm>
          <a:prstGeom prst="ellipse">
            <a:avLst/>
          </a:prstGeom>
          <a:solidFill>
            <a:schemeClr val="accent1"/>
          </a:solidFill>
          <a:ln/>
        </p:spPr>
      </p:sp>
      <p:pic>
        <p:nvPicPr>
          <p:cNvPr id="22" name="Image 3" descr="preencoded.png">    </p:cNvPr>
          <p:cNvPicPr>
            <a:picLocks noChangeAspect="1"/>
          </p:cNvPicPr>
          <p:nvPr/>
        </p:nvPicPr>
        <p:blipFill>
          <a:blip r:embed="rId4"/>
          <a:stretch>
            <a:fillRect/>
          </a:stretch>
        </p:blipFill>
        <p:spPr>
          <a:xfrm>
            <a:off x="864108" y="3790188"/>
            <a:ext cx="228600" cy="228600"/>
          </a:xfrm>
          <a:prstGeom prst="rect">
            <a:avLst/>
          </a:prstGeom>
        </p:spPr>
      </p:pic>
      <p:sp>
        <p:nvSpPr>
          <p:cNvPr id="23" name="Text 17"/>
          <p:cNvSpPr txBox="1"/>
          <p:nvPr/>
        </p:nvSpPr>
        <p:spPr>
          <a:xfrm>
            <a:off x="1335024" y="3648456"/>
            <a:ext cx="2555138" cy="512064"/>
          </a:xfrm>
          <a:prstGeom prst="rect">
            <a:avLst/>
          </a:prstGeom>
          <a:noFill/>
          <a:ln/>
        </p:spPr>
        <p:txBody>
          <a:bodyPr wrap="square" lIns="0" tIns="0" rIns="0" bIns="0" rtlCol="0" anchor="ctr"/>
          <a:lstStyle/>
          <a:p>
            <a:pPr indent="0" marL="0">
              <a:buNone/>
            </a:pPr>
            <a:r>
              <a:rPr lang="en-US" sz="1550" dirty="0">
                <a:solidFill>
                  <a:schemeClr val="tx2"/>
                </a:solidFill>
                <a:latin typeface="+mj-lt" pitchFamily="34" charset="0"/>
                <a:ea typeface="+mj-lt" pitchFamily="34" charset="-122"/>
                <a:cs typeface="+mj-lt" pitchFamily="34" charset="-120"/>
              </a:rPr>
              <a:t>Connectivity</a:t>
            </a:r>
            <a:endParaRPr lang="en-US" sz="1550" dirty="0"/>
          </a:p>
        </p:txBody>
      </p:sp>
      <p:sp>
        <p:nvSpPr>
          <p:cNvPr id="24" name="Text 18"/>
          <p:cNvSpPr txBox="1"/>
          <p:nvPr/>
        </p:nvSpPr>
        <p:spPr>
          <a:xfrm>
            <a:off x="749808" y="4242816"/>
            <a:ext cx="3131210" cy="941832"/>
          </a:xfrm>
          <a:prstGeom prst="rect">
            <a:avLst/>
          </a:prstGeom>
          <a:noFill/>
          <a:ln/>
        </p:spPr>
        <p:txBody>
          <a:bodyPr wrap="square" lIns="0" tIns="0" rIns="0" bIns="0" rtlCol="0" anchor="t"/>
          <a:lstStyle/>
          <a:p>
            <a:pPr indent="0" marL="0">
              <a:buNone/>
            </a:pPr>
            <a:r>
              <a:rPr lang="en-US" sz="1300" dirty="0">
                <a:solidFill>
                  <a:schemeClr val="tx1"/>
                </a:solidFill>
              </a:rPr>
              <a:t>Linked services become Fabric connections; secrets never leave Synapse, so they are set again.</a:t>
            </a:r>
            <a:endParaRPr lang="en-US" sz="1300" dirty="0"/>
          </a:p>
        </p:txBody>
      </p:sp>
      <p:sp>
        <p:nvSpPr>
          <p:cNvPr id="25" name="Shape 19"/>
          <p:cNvSpPr/>
          <p:nvPr/>
        </p:nvSpPr>
        <p:spPr>
          <a:xfrm>
            <a:off x="4338218" y="3493008"/>
            <a:ext cx="3515258" cy="1783080"/>
          </a:xfrm>
          <a:prstGeom prst="roundRect">
            <a:avLst>
              <a:gd name="adj" fmla="val 6154"/>
            </a:avLst>
          </a:prstGeom>
          <a:solidFill>
            <a:schemeClr val="bg2"/>
          </a:solidFill>
          <a:ln/>
        </p:spPr>
      </p:sp>
      <p:sp>
        <p:nvSpPr>
          <p:cNvPr id="26" name="Shape 20"/>
          <p:cNvSpPr/>
          <p:nvPr/>
        </p:nvSpPr>
        <p:spPr>
          <a:xfrm>
            <a:off x="4539386" y="3675888"/>
            <a:ext cx="457200" cy="457200"/>
          </a:xfrm>
          <a:prstGeom prst="ellipse">
            <a:avLst/>
          </a:prstGeom>
          <a:solidFill>
            <a:schemeClr val="accent1"/>
          </a:solidFill>
          <a:ln/>
        </p:spPr>
      </p:sp>
      <p:pic>
        <p:nvPicPr>
          <p:cNvPr id="27" name="Image 4" descr="preencoded.png">    </p:cNvPr>
          <p:cNvPicPr>
            <a:picLocks noChangeAspect="1"/>
          </p:cNvPicPr>
          <p:nvPr/>
        </p:nvPicPr>
        <p:blipFill>
          <a:blip r:embed="rId5"/>
          <a:stretch>
            <a:fillRect/>
          </a:stretch>
        </p:blipFill>
        <p:spPr>
          <a:xfrm>
            <a:off x="4653686" y="3790188"/>
            <a:ext cx="228600" cy="228600"/>
          </a:xfrm>
          <a:prstGeom prst="rect">
            <a:avLst/>
          </a:prstGeom>
        </p:spPr>
      </p:pic>
      <p:sp>
        <p:nvSpPr>
          <p:cNvPr id="28" name="Text 21"/>
          <p:cNvSpPr txBox="1"/>
          <p:nvPr/>
        </p:nvSpPr>
        <p:spPr>
          <a:xfrm>
            <a:off x="5124602" y="3648456"/>
            <a:ext cx="2555138" cy="512064"/>
          </a:xfrm>
          <a:prstGeom prst="rect">
            <a:avLst/>
          </a:prstGeom>
          <a:noFill/>
          <a:ln/>
        </p:spPr>
        <p:txBody>
          <a:bodyPr wrap="square" lIns="0" tIns="0" rIns="0" bIns="0" rtlCol="0" anchor="ctr"/>
          <a:lstStyle/>
          <a:p>
            <a:pPr indent="0" marL="0">
              <a:buNone/>
            </a:pPr>
            <a:r>
              <a:rPr lang="en-US" sz="1550" dirty="0">
                <a:solidFill>
                  <a:schemeClr val="tx2"/>
                </a:solidFill>
                <a:latin typeface="+mj-lt" pitchFamily="34" charset="0"/>
                <a:ea typeface="+mj-lt" pitchFamily="34" charset="-122"/>
                <a:cs typeface="+mj-lt" pitchFamily="34" charset="-120"/>
              </a:rPr>
              <a:t>Identity</a:t>
            </a:r>
            <a:endParaRPr lang="en-US" sz="1550" dirty="0"/>
          </a:p>
        </p:txBody>
      </p:sp>
      <p:sp>
        <p:nvSpPr>
          <p:cNvPr id="29" name="Text 22"/>
          <p:cNvSpPr txBox="1"/>
          <p:nvPr/>
        </p:nvSpPr>
        <p:spPr>
          <a:xfrm>
            <a:off x="4539386" y="4242816"/>
            <a:ext cx="3131210" cy="941832"/>
          </a:xfrm>
          <a:prstGeom prst="rect">
            <a:avLst/>
          </a:prstGeom>
          <a:noFill/>
          <a:ln/>
        </p:spPr>
        <p:txBody>
          <a:bodyPr wrap="square" lIns="0" tIns="0" rIns="0" bIns="0" rtlCol="0" anchor="t"/>
          <a:lstStyle/>
          <a:p>
            <a:pPr indent="0" marL="0">
              <a:buNone/>
            </a:pPr>
            <a:r>
              <a:rPr lang="en-US" sz="1300" dirty="0">
                <a:solidFill>
                  <a:schemeClr val="tx1"/>
                </a:solidFill>
              </a:rPr>
              <a:t>Code that ran as the Synapse managed identity runs as the signed-in user in Fabric.</a:t>
            </a:r>
            <a:endParaRPr lang="en-US" sz="1300" dirty="0"/>
          </a:p>
        </p:txBody>
      </p:sp>
      <p:sp>
        <p:nvSpPr>
          <p:cNvPr id="30" name="Shape 23"/>
          <p:cNvSpPr/>
          <p:nvPr/>
        </p:nvSpPr>
        <p:spPr>
          <a:xfrm>
            <a:off x="8127797" y="3493008"/>
            <a:ext cx="3515258" cy="1783080"/>
          </a:xfrm>
          <a:prstGeom prst="roundRect">
            <a:avLst>
              <a:gd name="adj" fmla="val 6154"/>
            </a:avLst>
          </a:prstGeom>
          <a:solidFill>
            <a:schemeClr val="bg2"/>
          </a:solidFill>
          <a:ln/>
        </p:spPr>
      </p:sp>
      <p:sp>
        <p:nvSpPr>
          <p:cNvPr id="31" name="Shape 24"/>
          <p:cNvSpPr/>
          <p:nvPr/>
        </p:nvSpPr>
        <p:spPr>
          <a:xfrm>
            <a:off x="8328965" y="3675888"/>
            <a:ext cx="457200" cy="457200"/>
          </a:xfrm>
          <a:prstGeom prst="ellipse">
            <a:avLst/>
          </a:prstGeom>
          <a:solidFill>
            <a:schemeClr val="accent1"/>
          </a:solidFill>
          <a:ln/>
        </p:spPr>
      </p:sp>
      <p:pic>
        <p:nvPicPr>
          <p:cNvPr id="32" name="Image 5" descr="preencoded.png">    </p:cNvPr>
          <p:cNvPicPr>
            <a:picLocks noChangeAspect="1"/>
          </p:cNvPicPr>
          <p:nvPr/>
        </p:nvPicPr>
        <p:blipFill>
          <a:blip r:embed="rId6"/>
          <a:stretch>
            <a:fillRect/>
          </a:stretch>
        </p:blipFill>
        <p:spPr>
          <a:xfrm>
            <a:off x="8443265" y="3790188"/>
            <a:ext cx="228600" cy="228600"/>
          </a:xfrm>
          <a:prstGeom prst="rect">
            <a:avLst/>
          </a:prstGeom>
        </p:spPr>
      </p:pic>
      <p:sp>
        <p:nvSpPr>
          <p:cNvPr id="33" name="Text 25"/>
          <p:cNvSpPr txBox="1"/>
          <p:nvPr/>
        </p:nvSpPr>
        <p:spPr>
          <a:xfrm>
            <a:off x="8914181" y="3648456"/>
            <a:ext cx="2555138" cy="512064"/>
          </a:xfrm>
          <a:prstGeom prst="rect">
            <a:avLst/>
          </a:prstGeom>
          <a:noFill/>
          <a:ln/>
        </p:spPr>
        <p:txBody>
          <a:bodyPr wrap="square" lIns="0" tIns="0" rIns="0" bIns="0" rtlCol="0" anchor="ctr"/>
          <a:lstStyle/>
          <a:p>
            <a:pPr indent="0" marL="0">
              <a:buNone/>
            </a:pPr>
            <a:r>
              <a:rPr lang="en-US" sz="1550" dirty="0">
                <a:solidFill>
                  <a:schemeClr val="tx2"/>
                </a:solidFill>
                <a:latin typeface="+mj-lt" pitchFamily="34" charset="0"/>
                <a:ea typeface="+mj-lt" pitchFamily="34" charset="-122"/>
                <a:cs typeface="+mj-lt" pitchFamily="34" charset="-120"/>
              </a:rPr>
              <a:t>Delivery</a:t>
            </a:r>
            <a:endParaRPr lang="en-US" sz="1550" dirty="0"/>
          </a:p>
        </p:txBody>
      </p:sp>
      <p:sp>
        <p:nvSpPr>
          <p:cNvPr id="34" name="Text 26"/>
          <p:cNvSpPr txBox="1"/>
          <p:nvPr/>
        </p:nvSpPr>
        <p:spPr>
          <a:xfrm>
            <a:off x="8328965" y="4242816"/>
            <a:ext cx="3131210" cy="941832"/>
          </a:xfrm>
          <a:prstGeom prst="rect">
            <a:avLst/>
          </a:prstGeom>
          <a:noFill/>
          <a:ln/>
        </p:spPr>
        <p:txBody>
          <a:bodyPr wrap="square" lIns="0" tIns="0" rIns="0" bIns="0" rtlCol="0" anchor="t"/>
          <a:lstStyle/>
          <a:p>
            <a:pPr indent="0" marL="0">
              <a:buNone/>
            </a:pPr>
            <a:r>
              <a:rPr lang="en-US" sz="1300" dirty="0">
                <a:solidFill>
                  <a:schemeClr val="tx1"/>
                </a:solidFill>
              </a:rPr>
              <a:t>Synapse Git holds JSON per artifact; Fabric Git holds item folders, promoted with its own tools.</a:t>
            </a:r>
            <a:endParaRPr lang="en-US" sz="1300" dirty="0"/>
          </a:p>
        </p:txBody>
      </p:sp>
      <p:sp>
        <p:nvSpPr>
          <p:cNvPr id="35" name="Shape 27"/>
          <p:cNvSpPr/>
          <p:nvPr/>
        </p:nvSpPr>
        <p:spPr>
          <a:xfrm>
            <a:off x="548640" y="5559552"/>
            <a:ext cx="11094415" cy="621792"/>
          </a:xfrm>
          <a:prstGeom prst="roundRect">
            <a:avLst>
              <a:gd name="adj" fmla="val 17647"/>
            </a:avLst>
          </a:prstGeom>
          <a:solidFill>
            <a:schemeClr val="accent1">
              <a:alpha val="13000"/>
            </a:schemeClr>
          </a:solidFill>
          <a:ln/>
        </p:spPr>
      </p:sp>
      <p:sp>
        <p:nvSpPr>
          <p:cNvPr id="36" name="Text 28"/>
          <p:cNvSpPr txBox="1"/>
          <p:nvPr/>
        </p:nvSpPr>
        <p:spPr>
          <a:xfrm>
            <a:off x="777240" y="5559552"/>
            <a:ext cx="10637215" cy="621792"/>
          </a:xfrm>
          <a:prstGeom prst="rect">
            <a:avLst/>
          </a:prstGeom>
          <a:noFill/>
          <a:ln/>
        </p:spPr>
        <p:txBody>
          <a:bodyPr wrap="square" lIns="0" tIns="0" rIns="0" bIns="0" rtlCol="0" anchor="ctr"/>
          <a:lstStyle/>
          <a:p>
            <a:pPr indent="0" marL="0">
              <a:buNone/>
            </a:pPr>
            <a:r>
              <a:rPr lang="en-US" sz="1250" b="1" dirty="0">
                <a:solidFill>
                  <a:schemeClr val="tx2"/>
                </a:solidFill>
              </a:rPr>
              <a:t>Every migration has three parts:  </a:t>
            </a:r>
            <a:pPr indent="0" marL="0">
              <a:buNone/>
            </a:pPr>
            <a:r>
              <a:rPr lang="en-US" sz="1250" dirty="0">
                <a:solidFill>
                  <a:schemeClr val="tx1"/>
                </a:solidFill>
              </a:rPr>
              <a:t>recreate each object in its Fabric form, transform the code Fabric would reject, then move and verify the data.</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01 · THE BIG PICTURE</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Six principles behind every design decision</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README.md → Principles</a:t>
            </a:r>
            <a:endParaRPr lang="en-US" sz="1100" dirty="0"/>
          </a:p>
        </p:txBody>
      </p:sp>
      <p:sp>
        <p:nvSpPr>
          <p:cNvPr id="5" name="Shape 3"/>
          <p:cNvSpPr/>
          <p:nvPr/>
        </p:nvSpPr>
        <p:spPr>
          <a:xfrm>
            <a:off x="548640" y="1508760"/>
            <a:ext cx="3515258" cy="2148840"/>
          </a:xfrm>
          <a:prstGeom prst="roundRect">
            <a:avLst>
              <a:gd name="adj" fmla="val 5106"/>
            </a:avLst>
          </a:prstGeom>
          <a:solidFill>
            <a:schemeClr val="bg2"/>
          </a:solidFill>
          <a:ln/>
        </p:spPr>
      </p:sp>
      <p:sp>
        <p:nvSpPr>
          <p:cNvPr id="6" name="Shape 4"/>
          <p:cNvSpPr/>
          <p:nvPr/>
        </p:nvSpPr>
        <p:spPr>
          <a:xfrm>
            <a:off x="749808" y="1691640"/>
            <a:ext cx="457200" cy="45720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864108" y="1805940"/>
            <a:ext cx="228600" cy="228600"/>
          </a:xfrm>
          <a:prstGeom prst="rect">
            <a:avLst/>
          </a:prstGeom>
        </p:spPr>
      </p:pic>
      <p:sp>
        <p:nvSpPr>
          <p:cNvPr id="8" name="Text 5"/>
          <p:cNvSpPr txBox="1"/>
          <p:nvPr/>
        </p:nvSpPr>
        <p:spPr>
          <a:xfrm>
            <a:off x="1335024" y="1664208"/>
            <a:ext cx="2555138" cy="512064"/>
          </a:xfrm>
          <a:prstGeom prst="rect">
            <a:avLst/>
          </a:prstGeom>
          <a:noFill/>
          <a:ln/>
        </p:spPr>
        <p:txBody>
          <a:bodyPr wrap="square" lIns="0" tIns="0" rIns="0" bIns="0" rtlCol="0" anchor="ctr"/>
          <a:lstStyle/>
          <a:p>
            <a:pPr indent="0" marL="0">
              <a:buNone/>
            </a:pPr>
            <a:r>
              <a:rPr lang="en-US" sz="1550" dirty="0">
                <a:solidFill>
                  <a:schemeClr val="tx2"/>
                </a:solidFill>
                <a:latin typeface="+mj-lt" pitchFamily="34" charset="0"/>
                <a:ea typeface="+mj-lt" pitchFamily="34" charset="-122"/>
                <a:cs typeface="+mj-lt" pitchFamily="34" charset="-120"/>
              </a:rPr>
              <a:t>Synapse is never changed</a:t>
            </a:r>
            <a:endParaRPr lang="en-US" sz="1550" dirty="0"/>
          </a:p>
        </p:txBody>
      </p:sp>
      <p:sp>
        <p:nvSpPr>
          <p:cNvPr id="9" name="Text 6"/>
          <p:cNvSpPr txBox="1"/>
          <p:nvPr/>
        </p:nvSpPr>
        <p:spPr>
          <a:xfrm>
            <a:off x="749808" y="2258568"/>
            <a:ext cx="3131210" cy="1307592"/>
          </a:xfrm>
          <a:prstGeom prst="rect">
            <a:avLst/>
          </a:prstGeom>
          <a:noFill/>
          <a:ln/>
        </p:spPr>
        <p:txBody>
          <a:bodyPr wrap="square" lIns="0" tIns="0" rIns="0" bIns="0" rtlCol="0" anchor="t"/>
          <a:lstStyle/>
          <a:p>
            <a:pPr indent="0" marL="0">
              <a:buNone/>
            </a:pPr>
            <a:r>
              <a:rPr lang="en-US" sz="1300" dirty="0">
                <a:solidFill>
                  <a:schemeClr val="tx1"/>
                </a:solidFill>
              </a:rPr>
              <a:t>Every Azure call is a GET, and every SQL statement one of 16 fixed SELECT queries checked when the code loads.</a:t>
            </a:r>
            <a:endParaRPr lang="en-US" sz="1300" dirty="0"/>
          </a:p>
        </p:txBody>
      </p:sp>
      <p:sp>
        <p:nvSpPr>
          <p:cNvPr id="10" name="Shape 7"/>
          <p:cNvSpPr/>
          <p:nvPr/>
        </p:nvSpPr>
        <p:spPr>
          <a:xfrm>
            <a:off x="4338218" y="1508760"/>
            <a:ext cx="3515258" cy="2148840"/>
          </a:xfrm>
          <a:prstGeom prst="roundRect">
            <a:avLst>
              <a:gd name="adj" fmla="val 5106"/>
            </a:avLst>
          </a:prstGeom>
          <a:solidFill>
            <a:schemeClr val="bg2"/>
          </a:solidFill>
          <a:ln/>
        </p:spPr>
      </p:sp>
      <p:sp>
        <p:nvSpPr>
          <p:cNvPr id="11" name="Shape 8"/>
          <p:cNvSpPr/>
          <p:nvPr/>
        </p:nvSpPr>
        <p:spPr>
          <a:xfrm>
            <a:off x="4539386" y="1691640"/>
            <a:ext cx="457200" cy="457200"/>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4653686" y="1805940"/>
            <a:ext cx="228600" cy="228600"/>
          </a:xfrm>
          <a:prstGeom prst="rect">
            <a:avLst/>
          </a:prstGeom>
        </p:spPr>
      </p:pic>
      <p:sp>
        <p:nvSpPr>
          <p:cNvPr id="13" name="Text 9"/>
          <p:cNvSpPr txBox="1"/>
          <p:nvPr/>
        </p:nvSpPr>
        <p:spPr>
          <a:xfrm>
            <a:off x="5124602" y="1664208"/>
            <a:ext cx="2555138" cy="512064"/>
          </a:xfrm>
          <a:prstGeom prst="rect">
            <a:avLst/>
          </a:prstGeom>
          <a:noFill/>
          <a:ln/>
        </p:spPr>
        <p:txBody>
          <a:bodyPr wrap="square" lIns="0" tIns="0" rIns="0" bIns="0" rtlCol="0" anchor="ctr"/>
          <a:lstStyle/>
          <a:p>
            <a:pPr indent="0" marL="0">
              <a:buNone/>
            </a:pPr>
            <a:r>
              <a:rPr lang="en-US" sz="1550" dirty="0">
                <a:solidFill>
                  <a:schemeClr val="tx2"/>
                </a:solidFill>
                <a:latin typeface="+mj-lt" pitchFamily="34" charset="0"/>
                <a:ea typeface="+mj-lt" pitchFamily="34" charset="-122"/>
                <a:cs typeface="+mj-lt" pitchFamily="34" charset="-120"/>
              </a:rPr>
              <a:t>Only Migrate writes, only to Fabric</a:t>
            </a:r>
            <a:endParaRPr lang="en-US" sz="1550" dirty="0"/>
          </a:p>
        </p:txBody>
      </p:sp>
      <p:sp>
        <p:nvSpPr>
          <p:cNvPr id="14" name="Text 10"/>
          <p:cNvSpPr txBox="1"/>
          <p:nvPr/>
        </p:nvSpPr>
        <p:spPr>
          <a:xfrm>
            <a:off x="4539386" y="2258568"/>
            <a:ext cx="3131210" cy="1307592"/>
          </a:xfrm>
          <a:prstGeom prst="rect">
            <a:avLst/>
          </a:prstGeom>
          <a:noFill/>
          <a:ln/>
        </p:spPr>
        <p:txBody>
          <a:bodyPr wrap="square" lIns="0" tIns="0" rIns="0" bIns="0" rtlCol="0" anchor="t"/>
          <a:lstStyle/>
          <a:p>
            <a:pPr indent="0" marL="0">
              <a:buNone/>
            </a:pPr>
            <a:r>
              <a:rPr lang="en-US" sz="1300" dirty="0">
                <a:solidFill>
                  <a:schemeClr val="tx1"/>
                </a:solidFill>
              </a:rPr>
              <a:t>Objects already in Fabric are skipped unless you choose to update them. Tables are never replaced.</a:t>
            </a:r>
            <a:endParaRPr lang="en-US" sz="1300" dirty="0"/>
          </a:p>
        </p:txBody>
      </p:sp>
      <p:sp>
        <p:nvSpPr>
          <p:cNvPr id="15" name="Shape 11"/>
          <p:cNvSpPr/>
          <p:nvPr/>
        </p:nvSpPr>
        <p:spPr>
          <a:xfrm>
            <a:off x="8127797" y="1508760"/>
            <a:ext cx="3515258" cy="2148840"/>
          </a:xfrm>
          <a:prstGeom prst="roundRect">
            <a:avLst>
              <a:gd name="adj" fmla="val 5106"/>
            </a:avLst>
          </a:prstGeom>
          <a:solidFill>
            <a:schemeClr val="bg2"/>
          </a:solidFill>
          <a:ln/>
        </p:spPr>
      </p:sp>
      <p:sp>
        <p:nvSpPr>
          <p:cNvPr id="16" name="Shape 12"/>
          <p:cNvSpPr/>
          <p:nvPr/>
        </p:nvSpPr>
        <p:spPr>
          <a:xfrm>
            <a:off x="8328965" y="1691640"/>
            <a:ext cx="457200" cy="457200"/>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8443265" y="1805940"/>
            <a:ext cx="228600" cy="228600"/>
          </a:xfrm>
          <a:prstGeom prst="rect">
            <a:avLst/>
          </a:prstGeom>
        </p:spPr>
      </p:pic>
      <p:sp>
        <p:nvSpPr>
          <p:cNvPr id="18" name="Text 13"/>
          <p:cNvSpPr txBox="1"/>
          <p:nvPr/>
        </p:nvSpPr>
        <p:spPr>
          <a:xfrm>
            <a:off x="8914181" y="1664208"/>
            <a:ext cx="2555138" cy="512064"/>
          </a:xfrm>
          <a:prstGeom prst="rect">
            <a:avLst/>
          </a:prstGeom>
          <a:noFill/>
          <a:ln/>
        </p:spPr>
        <p:txBody>
          <a:bodyPr wrap="square" lIns="0" tIns="0" rIns="0" bIns="0" rtlCol="0" anchor="ctr"/>
          <a:lstStyle/>
          <a:p>
            <a:pPr indent="0" marL="0">
              <a:buNone/>
            </a:pPr>
            <a:r>
              <a:rPr lang="en-US" sz="1550" dirty="0">
                <a:solidFill>
                  <a:schemeClr val="tx2"/>
                </a:solidFill>
                <a:latin typeface="+mj-lt" pitchFamily="34" charset="0"/>
                <a:ea typeface="+mj-lt" pitchFamily="34" charset="-122"/>
                <a:cs typeface="+mj-lt" pitchFamily="34" charset="-120"/>
              </a:rPr>
              <a:t>Structure migrated, data via Fabric</a:t>
            </a:r>
            <a:endParaRPr lang="en-US" sz="1550" dirty="0"/>
          </a:p>
        </p:txBody>
      </p:sp>
      <p:sp>
        <p:nvSpPr>
          <p:cNvPr id="19" name="Text 14"/>
          <p:cNvSpPr txBox="1"/>
          <p:nvPr/>
        </p:nvSpPr>
        <p:spPr>
          <a:xfrm>
            <a:off x="8328965" y="2258568"/>
            <a:ext cx="3131210" cy="1307592"/>
          </a:xfrm>
          <a:prstGeom prst="rect">
            <a:avLst/>
          </a:prstGeom>
          <a:noFill/>
          <a:ln/>
        </p:spPr>
        <p:txBody>
          <a:bodyPr wrap="square" lIns="0" tIns="0" rIns="0" bIns="0" rtlCol="0" anchor="t"/>
          <a:lstStyle/>
          <a:p>
            <a:pPr indent="0" marL="0">
              <a:buNone/>
            </a:pPr>
            <a:r>
              <a:rPr lang="en-US" sz="1300" dirty="0">
                <a:solidFill>
                  <a:schemeClr val="tx1"/>
                </a:solidFill>
              </a:rPr>
              <a:t>Rows go from the pool to the Warehouse through Fabric data pipelines, never through the accelerator.</a:t>
            </a:r>
            <a:endParaRPr lang="en-US" sz="1300" dirty="0"/>
          </a:p>
        </p:txBody>
      </p:sp>
      <p:sp>
        <p:nvSpPr>
          <p:cNvPr id="20" name="Shape 15"/>
          <p:cNvSpPr/>
          <p:nvPr/>
        </p:nvSpPr>
        <p:spPr>
          <a:xfrm>
            <a:off x="548640" y="3858768"/>
            <a:ext cx="3515258" cy="2148840"/>
          </a:xfrm>
          <a:prstGeom prst="roundRect">
            <a:avLst>
              <a:gd name="adj" fmla="val 5106"/>
            </a:avLst>
          </a:prstGeom>
          <a:solidFill>
            <a:schemeClr val="bg2"/>
          </a:solidFill>
          <a:ln/>
        </p:spPr>
      </p:sp>
      <p:sp>
        <p:nvSpPr>
          <p:cNvPr id="21" name="Shape 16"/>
          <p:cNvSpPr/>
          <p:nvPr/>
        </p:nvSpPr>
        <p:spPr>
          <a:xfrm>
            <a:off x="749808" y="4041648"/>
            <a:ext cx="457200" cy="457200"/>
          </a:xfrm>
          <a:prstGeom prst="ellipse">
            <a:avLst/>
          </a:prstGeom>
          <a:solidFill>
            <a:schemeClr val="accent1"/>
          </a:solidFill>
          <a:ln/>
        </p:spPr>
      </p:sp>
      <p:pic>
        <p:nvPicPr>
          <p:cNvPr id="22" name="Image 3" descr="preencoded.png">    </p:cNvPr>
          <p:cNvPicPr>
            <a:picLocks noChangeAspect="1"/>
          </p:cNvPicPr>
          <p:nvPr/>
        </p:nvPicPr>
        <p:blipFill>
          <a:blip r:embed="rId4"/>
          <a:stretch>
            <a:fillRect/>
          </a:stretch>
        </p:blipFill>
        <p:spPr>
          <a:xfrm>
            <a:off x="864108" y="4155948"/>
            <a:ext cx="228600" cy="228600"/>
          </a:xfrm>
          <a:prstGeom prst="rect">
            <a:avLst/>
          </a:prstGeom>
        </p:spPr>
      </p:pic>
      <p:sp>
        <p:nvSpPr>
          <p:cNvPr id="23" name="Text 17"/>
          <p:cNvSpPr txBox="1"/>
          <p:nvPr/>
        </p:nvSpPr>
        <p:spPr>
          <a:xfrm>
            <a:off x="1335024" y="4014216"/>
            <a:ext cx="2555138" cy="512064"/>
          </a:xfrm>
          <a:prstGeom prst="rect">
            <a:avLst/>
          </a:prstGeom>
          <a:noFill/>
          <a:ln/>
        </p:spPr>
        <p:txBody>
          <a:bodyPr wrap="square" lIns="0" tIns="0" rIns="0" bIns="0" rtlCol="0" anchor="ctr"/>
          <a:lstStyle/>
          <a:p>
            <a:pPr indent="0" marL="0">
              <a:buNone/>
            </a:pPr>
            <a:r>
              <a:rPr lang="en-US" sz="1550" dirty="0">
                <a:solidFill>
                  <a:schemeClr val="tx2"/>
                </a:solidFill>
                <a:latin typeface="+mj-lt" pitchFamily="34" charset="0"/>
                <a:ea typeface="+mj-lt" pitchFamily="34" charset="-122"/>
                <a:cs typeface="+mj-lt" pitchFamily="34" charset="-120"/>
              </a:rPr>
              <a:t>No secrets kept</a:t>
            </a:r>
            <a:endParaRPr lang="en-US" sz="1550" dirty="0"/>
          </a:p>
        </p:txBody>
      </p:sp>
      <p:sp>
        <p:nvSpPr>
          <p:cNvPr id="24" name="Text 18"/>
          <p:cNvSpPr txBox="1"/>
          <p:nvPr/>
        </p:nvSpPr>
        <p:spPr>
          <a:xfrm>
            <a:off x="749808" y="4608576"/>
            <a:ext cx="3131210" cy="1307592"/>
          </a:xfrm>
          <a:prstGeom prst="rect">
            <a:avLst/>
          </a:prstGeom>
          <a:noFill/>
          <a:ln/>
        </p:spPr>
        <p:txBody>
          <a:bodyPr wrap="square" lIns="0" tIns="0" rIns="0" bIns="0" rtlCol="0" anchor="t"/>
          <a:lstStyle/>
          <a:p>
            <a:pPr indent="0" marL="0">
              <a:buNone/>
            </a:pPr>
            <a:r>
              <a:rPr lang="en-US" sz="1300" dirty="0">
                <a:solidFill>
                  <a:schemeClr val="tx1"/>
                </a:solidFill>
              </a:rPr>
              <a:t>Sign-in happens in Microsoft's window or the CLIs. Credentials typed for connections live in memory only.</a:t>
            </a:r>
            <a:endParaRPr lang="en-US" sz="1300" dirty="0"/>
          </a:p>
        </p:txBody>
      </p:sp>
      <p:sp>
        <p:nvSpPr>
          <p:cNvPr id="25" name="Shape 19"/>
          <p:cNvSpPr/>
          <p:nvPr/>
        </p:nvSpPr>
        <p:spPr>
          <a:xfrm>
            <a:off x="4338218" y="3858768"/>
            <a:ext cx="3515258" cy="2148840"/>
          </a:xfrm>
          <a:prstGeom prst="roundRect">
            <a:avLst>
              <a:gd name="adj" fmla="val 5106"/>
            </a:avLst>
          </a:prstGeom>
          <a:solidFill>
            <a:schemeClr val="bg2"/>
          </a:solidFill>
          <a:ln/>
        </p:spPr>
      </p:sp>
      <p:sp>
        <p:nvSpPr>
          <p:cNvPr id="26" name="Shape 20"/>
          <p:cNvSpPr/>
          <p:nvPr/>
        </p:nvSpPr>
        <p:spPr>
          <a:xfrm>
            <a:off x="4539386" y="4041648"/>
            <a:ext cx="457200" cy="457200"/>
          </a:xfrm>
          <a:prstGeom prst="ellipse">
            <a:avLst/>
          </a:prstGeom>
          <a:solidFill>
            <a:schemeClr val="accent1"/>
          </a:solidFill>
          <a:ln/>
        </p:spPr>
      </p:sp>
      <p:pic>
        <p:nvPicPr>
          <p:cNvPr id="27" name="Image 4" descr="preencoded.png">    </p:cNvPr>
          <p:cNvPicPr>
            <a:picLocks noChangeAspect="1"/>
          </p:cNvPicPr>
          <p:nvPr/>
        </p:nvPicPr>
        <p:blipFill>
          <a:blip r:embed="rId5"/>
          <a:stretch>
            <a:fillRect/>
          </a:stretch>
        </p:blipFill>
        <p:spPr>
          <a:xfrm>
            <a:off x="4653686" y="4155948"/>
            <a:ext cx="228600" cy="228600"/>
          </a:xfrm>
          <a:prstGeom prst="rect">
            <a:avLst/>
          </a:prstGeom>
        </p:spPr>
      </p:pic>
      <p:sp>
        <p:nvSpPr>
          <p:cNvPr id="28" name="Text 21"/>
          <p:cNvSpPr txBox="1"/>
          <p:nvPr/>
        </p:nvSpPr>
        <p:spPr>
          <a:xfrm>
            <a:off x="5124602" y="4014216"/>
            <a:ext cx="2555138" cy="512064"/>
          </a:xfrm>
          <a:prstGeom prst="rect">
            <a:avLst/>
          </a:prstGeom>
          <a:noFill/>
          <a:ln/>
        </p:spPr>
        <p:txBody>
          <a:bodyPr wrap="square" lIns="0" tIns="0" rIns="0" bIns="0" rtlCol="0" anchor="ctr"/>
          <a:lstStyle/>
          <a:p>
            <a:pPr indent="0" marL="0">
              <a:buNone/>
            </a:pPr>
            <a:r>
              <a:rPr lang="en-US" sz="1550" dirty="0">
                <a:solidFill>
                  <a:schemeClr val="tx2"/>
                </a:solidFill>
                <a:latin typeface="+mj-lt" pitchFamily="34" charset="0"/>
                <a:ea typeface="+mj-lt" pitchFamily="34" charset="-122"/>
                <a:cs typeface="+mj-lt" pitchFamily="34" charset="-120"/>
              </a:rPr>
              <a:t>Deterministic by default</a:t>
            </a:r>
            <a:endParaRPr lang="en-US" sz="1550" dirty="0"/>
          </a:p>
        </p:txBody>
      </p:sp>
      <p:sp>
        <p:nvSpPr>
          <p:cNvPr id="29" name="Text 22"/>
          <p:cNvSpPr txBox="1"/>
          <p:nvPr/>
        </p:nvSpPr>
        <p:spPr>
          <a:xfrm>
            <a:off x="4539386" y="4608576"/>
            <a:ext cx="3131210" cy="1307592"/>
          </a:xfrm>
          <a:prstGeom prst="rect">
            <a:avLst/>
          </a:prstGeom>
          <a:noFill/>
          <a:ln/>
        </p:spPr>
        <p:txBody>
          <a:bodyPr wrap="square" lIns="0" tIns="0" rIns="0" bIns="0" rtlCol="0" anchor="t"/>
          <a:lstStyle/>
          <a:p>
            <a:pPr indent="0" marL="0">
              <a:buNone/>
            </a:pPr>
            <a:r>
              <a:rPr lang="en-US" sz="1300" dirty="0">
                <a:solidFill>
                  <a:schemeClr val="tx1"/>
                </a:solidFill>
              </a:rPr>
              <a:t>Parsers and rules do the work. An LLM is used only when a person asks, and only after review.</a:t>
            </a:r>
            <a:endParaRPr lang="en-US" sz="1300" dirty="0"/>
          </a:p>
        </p:txBody>
      </p:sp>
      <p:sp>
        <p:nvSpPr>
          <p:cNvPr id="30" name="Shape 23"/>
          <p:cNvSpPr/>
          <p:nvPr/>
        </p:nvSpPr>
        <p:spPr>
          <a:xfrm>
            <a:off x="8127797" y="3858768"/>
            <a:ext cx="3515258" cy="2148840"/>
          </a:xfrm>
          <a:prstGeom prst="roundRect">
            <a:avLst>
              <a:gd name="adj" fmla="val 5106"/>
            </a:avLst>
          </a:prstGeom>
          <a:solidFill>
            <a:schemeClr val="bg2"/>
          </a:solidFill>
          <a:ln/>
        </p:spPr>
      </p:sp>
      <p:sp>
        <p:nvSpPr>
          <p:cNvPr id="31" name="Shape 24"/>
          <p:cNvSpPr/>
          <p:nvPr/>
        </p:nvSpPr>
        <p:spPr>
          <a:xfrm>
            <a:off x="8328965" y="4041648"/>
            <a:ext cx="457200" cy="457200"/>
          </a:xfrm>
          <a:prstGeom prst="ellipse">
            <a:avLst/>
          </a:prstGeom>
          <a:solidFill>
            <a:schemeClr val="accent1"/>
          </a:solidFill>
          <a:ln/>
        </p:spPr>
      </p:sp>
      <p:pic>
        <p:nvPicPr>
          <p:cNvPr id="32" name="Image 5" descr="preencoded.png">    </p:cNvPr>
          <p:cNvPicPr>
            <a:picLocks noChangeAspect="1"/>
          </p:cNvPicPr>
          <p:nvPr/>
        </p:nvPicPr>
        <p:blipFill>
          <a:blip r:embed="rId6"/>
          <a:stretch>
            <a:fillRect/>
          </a:stretch>
        </p:blipFill>
        <p:spPr>
          <a:xfrm>
            <a:off x="8443265" y="4155948"/>
            <a:ext cx="228600" cy="228600"/>
          </a:xfrm>
          <a:prstGeom prst="rect">
            <a:avLst/>
          </a:prstGeom>
        </p:spPr>
      </p:pic>
      <p:sp>
        <p:nvSpPr>
          <p:cNvPr id="33" name="Text 25"/>
          <p:cNvSpPr txBox="1"/>
          <p:nvPr/>
        </p:nvSpPr>
        <p:spPr>
          <a:xfrm>
            <a:off x="8914181" y="4014216"/>
            <a:ext cx="2555138" cy="512064"/>
          </a:xfrm>
          <a:prstGeom prst="rect">
            <a:avLst/>
          </a:prstGeom>
          <a:noFill/>
          <a:ln/>
        </p:spPr>
        <p:txBody>
          <a:bodyPr wrap="square" lIns="0" tIns="0" rIns="0" bIns="0" rtlCol="0" anchor="ctr"/>
          <a:lstStyle/>
          <a:p>
            <a:pPr indent="0" marL="0">
              <a:buNone/>
            </a:pPr>
            <a:r>
              <a:rPr lang="en-US" sz="1550" dirty="0">
                <a:solidFill>
                  <a:schemeClr val="tx2"/>
                </a:solidFill>
                <a:latin typeface="+mj-lt" pitchFamily="34" charset="0"/>
                <a:ea typeface="+mj-lt" pitchFamily="34" charset="-122"/>
                <a:cs typeface="+mj-lt" pitchFamily="34" charset="-120"/>
              </a:rPr>
              <a:t>Honest about limits</a:t>
            </a:r>
            <a:endParaRPr lang="en-US" sz="1550" dirty="0"/>
          </a:p>
        </p:txBody>
      </p:sp>
      <p:sp>
        <p:nvSpPr>
          <p:cNvPr id="34" name="Text 26"/>
          <p:cNvSpPr txBox="1"/>
          <p:nvPr/>
        </p:nvSpPr>
        <p:spPr>
          <a:xfrm>
            <a:off x="8328965" y="4608576"/>
            <a:ext cx="3131210" cy="1307592"/>
          </a:xfrm>
          <a:prstGeom prst="rect">
            <a:avLst/>
          </a:prstGeom>
          <a:noFill/>
          <a:ln/>
        </p:spPr>
        <p:txBody>
          <a:bodyPr wrap="square" lIns="0" tIns="0" rIns="0" bIns="0" rtlCol="0" anchor="t"/>
          <a:lstStyle/>
          <a:p>
            <a:pPr indent="0" marL="0">
              <a:buNone/>
            </a:pPr>
            <a:r>
              <a:rPr lang="en-US" sz="1300" dirty="0">
                <a:solidFill>
                  <a:schemeClr val="tx1"/>
                </a:solidFill>
              </a:rPr>
              <a:t>Anything not converted is a risk before the run and 'left for a person' after it, with the reason.</a:t>
            </a:r>
            <a:endParaRPr lang="en-US" sz="13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01 · THE BIG PICTURE</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Architecture: a web app on a local API</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src/discovery_agent/api/server.py</a:t>
            </a:r>
            <a:endParaRPr lang="en-US" sz="1100" dirty="0"/>
          </a:p>
        </p:txBody>
      </p:sp>
      <p:sp>
        <p:nvSpPr>
          <p:cNvPr id="5" name="Shape 3"/>
          <p:cNvSpPr/>
          <p:nvPr/>
        </p:nvSpPr>
        <p:spPr>
          <a:xfrm>
            <a:off x="1463040" y="1554480"/>
            <a:ext cx="4572000" cy="777240"/>
          </a:xfrm>
          <a:prstGeom prst="roundRect">
            <a:avLst>
              <a:gd name="adj" fmla="val 14118"/>
            </a:avLst>
          </a:prstGeom>
          <a:solidFill>
            <a:schemeClr val="bg2"/>
          </a:solidFill>
          <a:ln/>
        </p:spPr>
      </p:sp>
      <p:sp>
        <p:nvSpPr>
          <p:cNvPr id="6" name="Shape 4"/>
          <p:cNvSpPr/>
          <p:nvPr/>
        </p:nvSpPr>
        <p:spPr>
          <a:xfrm>
            <a:off x="1627632" y="1709928"/>
            <a:ext cx="420624" cy="420624"/>
          </a:xfrm>
          <a:prstGeom prst="ellipse">
            <a:avLst/>
          </a:prstGeom>
          <a:solidFill>
            <a:schemeClr val="tx2"/>
          </a:solidFill>
          <a:ln/>
        </p:spPr>
      </p:sp>
      <p:pic>
        <p:nvPicPr>
          <p:cNvPr id="7" name="Image 0" descr="preencoded.png">    </p:cNvPr>
          <p:cNvPicPr>
            <a:picLocks noChangeAspect="1"/>
          </p:cNvPicPr>
          <p:nvPr/>
        </p:nvPicPr>
        <p:blipFill>
          <a:blip r:embed="rId1"/>
          <a:stretch>
            <a:fillRect/>
          </a:stretch>
        </p:blipFill>
        <p:spPr>
          <a:xfrm>
            <a:off x="1732788" y="1815084"/>
            <a:ext cx="210312" cy="210312"/>
          </a:xfrm>
          <a:prstGeom prst="rect">
            <a:avLst/>
          </a:prstGeom>
        </p:spPr>
      </p:pic>
      <p:sp>
        <p:nvSpPr>
          <p:cNvPr id="8" name="Text 5"/>
          <p:cNvSpPr txBox="1"/>
          <p:nvPr/>
        </p:nvSpPr>
        <p:spPr>
          <a:xfrm>
            <a:off x="2148840" y="1645920"/>
            <a:ext cx="3794760" cy="594360"/>
          </a:xfrm>
          <a:prstGeom prst="rect">
            <a:avLst/>
          </a:prstGeom>
          <a:noFill/>
          <a:ln/>
        </p:spPr>
        <p:txBody>
          <a:bodyPr wrap="square" lIns="0" tIns="0" rIns="0" bIns="0" rtlCol="0" anchor="t"/>
          <a:lstStyle/>
          <a:p>
            <a:pPr indent="0" marL="0">
              <a:buNone/>
            </a:pPr>
            <a:r>
              <a:rPr lang="en-US" sz="1350" dirty="0">
                <a:solidFill>
                  <a:schemeClr val="tx2"/>
                </a:solidFill>
                <a:latin typeface="+mj-lt" pitchFamily="34" charset="0"/>
                <a:ea typeface="+mj-lt" pitchFamily="34" charset="-122"/>
                <a:cs typeface="+mj-lt" pitchFamily="34" charset="-120"/>
              </a:rPr>
              <a:t>Browser: React web app (frontend/)</a:t>
            </a:r>
            <a:endParaRPr lang="en-US" sz="1400" dirty="0"/>
          </a:p>
          <a:p>
            <a:pPr indent="0" marL="0">
              <a:buNone/>
            </a:pPr>
            <a:r>
              <a:rPr lang="en-US" sz="1150" dirty="0">
                <a:solidFill>
                  <a:schemeClr val="accent6"/>
                </a:solidFill>
              </a:rPr>
              <a:t>Live: realApi.ts calls /api  ·  Demo: mockApi.ts runs in the browser</a:t>
            </a:r>
            <a:endParaRPr lang="en-US" sz="1400" dirty="0"/>
          </a:p>
        </p:txBody>
      </p:sp>
      <p:sp>
        <p:nvSpPr>
          <p:cNvPr id="9" name="Shape 6"/>
          <p:cNvSpPr/>
          <p:nvPr/>
        </p:nvSpPr>
        <p:spPr>
          <a:xfrm>
            <a:off x="3749040" y="2350008"/>
            <a:ext cx="91" cy="347472"/>
          </a:xfrm>
          <a:prstGeom prst="line">
            <a:avLst/>
          </a:prstGeom>
          <a:noFill/>
          <a:ln w="22225">
            <a:solidFill>
              <a:srgbClr val="5D6B82"/>
            </a:solidFill>
            <a:prstDash val="solid"/>
            <a:tailEnd type="triangle"/>
          </a:ln>
        </p:spPr>
      </p:sp>
      <p:sp>
        <p:nvSpPr>
          <p:cNvPr id="10" name="Text 7"/>
          <p:cNvSpPr txBox="1"/>
          <p:nvPr/>
        </p:nvSpPr>
        <p:spPr>
          <a:xfrm>
            <a:off x="3886200" y="2377440"/>
            <a:ext cx="3017520" cy="274320"/>
          </a:xfrm>
          <a:prstGeom prst="rect">
            <a:avLst/>
          </a:prstGeom>
          <a:noFill/>
          <a:ln/>
        </p:spPr>
        <p:txBody>
          <a:bodyPr wrap="square" lIns="0" tIns="0" rIns="0" bIns="0" rtlCol="0" anchor="t"/>
          <a:lstStyle/>
          <a:p>
            <a:pPr indent="0" marL="0">
              <a:buNone/>
            </a:pPr>
            <a:r>
              <a:rPr lang="en-US" sz="1100" dirty="0">
                <a:solidFill>
                  <a:schemeClr val="accent6"/>
                </a:solidFill>
              </a:rPr>
              <a:t>/api/*  (Vite proxy in development)</a:t>
            </a:r>
            <a:endParaRPr lang="en-US" sz="1100" dirty="0"/>
          </a:p>
        </p:txBody>
      </p:sp>
      <p:sp>
        <p:nvSpPr>
          <p:cNvPr id="11" name="Shape 8"/>
          <p:cNvSpPr/>
          <p:nvPr/>
        </p:nvSpPr>
        <p:spPr>
          <a:xfrm>
            <a:off x="548640" y="2715768"/>
            <a:ext cx="6400800" cy="1280160"/>
          </a:xfrm>
          <a:prstGeom prst="roundRect">
            <a:avLst>
              <a:gd name="adj" fmla="val 8571"/>
            </a:avLst>
          </a:prstGeom>
          <a:solidFill>
            <a:schemeClr val="bg2"/>
          </a:solidFill>
          <a:ln/>
        </p:spPr>
      </p:sp>
      <p:sp>
        <p:nvSpPr>
          <p:cNvPr id="12" name="Shape 9"/>
          <p:cNvSpPr/>
          <p:nvPr/>
        </p:nvSpPr>
        <p:spPr>
          <a:xfrm>
            <a:off x="713232" y="2871216"/>
            <a:ext cx="420624" cy="420624"/>
          </a:xfrm>
          <a:prstGeom prst="ellipse">
            <a:avLst/>
          </a:prstGeom>
          <a:solidFill>
            <a:schemeClr val="tx2"/>
          </a:solidFill>
          <a:ln/>
        </p:spPr>
      </p:sp>
      <p:pic>
        <p:nvPicPr>
          <p:cNvPr id="13" name="Image 1" descr="preencoded.png">    </p:cNvPr>
          <p:cNvPicPr>
            <a:picLocks noChangeAspect="1"/>
          </p:cNvPicPr>
          <p:nvPr/>
        </p:nvPicPr>
        <p:blipFill>
          <a:blip r:embed="rId2"/>
          <a:stretch>
            <a:fillRect/>
          </a:stretch>
        </p:blipFill>
        <p:spPr>
          <a:xfrm>
            <a:off x="818388" y="2976372"/>
            <a:ext cx="210312" cy="210312"/>
          </a:xfrm>
          <a:prstGeom prst="rect">
            <a:avLst/>
          </a:prstGeom>
        </p:spPr>
      </p:pic>
      <p:sp>
        <p:nvSpPr>
          <p:cNvPr id="14" name="Text 10"/>
          <p:cNvSpPr txBox="1"/>
          <p:nvPr/>
        </p:nvSpPr>
        <p:spPr>
          <a:xfrm>
            <a:off x="1234440" y="2807208"/>
            <a:ext cx="5623560" cy="1097280"/>
          </a:xfrm>
          <a:prstGeom prst="rect">
            <a:avLst/>
          </a:prstGeom>
          <a:noFill/>
          <a:ln/>
        </p:spPr>
        <p:txBody>
          <a:bodyPr wrap="square" lIns="0" tIns="0" rIns="0" bIns="0" rtlCol="0" anchor="t"/>
          <a:lstStyle/>
          <a:p>
            <a:pPr indent="0" marL="0">
              <a:buNone/>
            </a:pPr>
            <a:r>
              <a:rPr lang="en-US" sz="1350" dirty="0">
                <a:solidFill>
                  <a:schemeClr val="tx2"/>
                </a:solidFill>
                <a:latin typeface="+mj-lt" pitchFamily="34" charset="0"/>
                <a:ea typeface="+mj-lt" pitchFamily="34" charset="-122"/>
                <a:cs typeface="+mj-lt" pitchFamily="34" charset="-120"/>
              </a:rPr>
              <a:t>Local API: python -m discovery_agent.api (port 8001)</a:t>
            </a:r>
            <a:endParaRPr lang="en-US" sz="1400" dirty="0"/>
          </a:p>
          <a:p>
            <a:pPr indent="0" marL="0">
              <a:buNone/>
            </a:pPr>
            <a:r>
              <a:rPr lang="en-US" sz="1150" dirty="0">
                <a:solidFill>
                  <a:schemeClr val="accent6"/>
                </a:solidFill>
              </a:rPr>
              <a:t>connections/ (sign-in)  ·  discovery engine (extractors, records, sql, synapse)  ·  mapping/  ·  migration/  ·  api/ (HTTP, Fabric sign-in)  ·  llm/</a:t>
            </a:r>
            <a:endParaRPr lang="en-US" sz="1400" dirty="0"/>
          </a:p>
        </p:txBody>
      </p:sp>
      <p:sp>
        <p:nvSpPr>
          <p:cNvPr id="15" name="Shape 11"/>
          <p:cNvSpPr/>
          <p:nvPr/>
        </p:nvSpPr>
        <p:spPr>
          <a:xfrm>
            <a:off x="1554480" y="4014216"/>
            <a:ext cx="91" cy="356616"/>
          </a:xfrm>
          <a:prstGeom prst="line">
            <a:avLst/>
          </a:prstGeom>
          <a:noFill/>
          <a:ln w="22225">
            <a:solidFill>
              <a:srgbClr val="5D6B82"/>
            </a:solidFill>
            <a:prstDash val="solid"/>
            <a:tailEnd type="triangle"/>
          </a:ln>
        </p:spPr>
      </p:sp>
      <p:sp>
        <p:nvSpPr>
          <p:cNvPr id="16" name="Shape 12"/>
          <p:cNvSpPr/>
          <p:nvPr/>
        </p:nvSpPr>
        <p:spPr>
          <a:xfrm>
            <a:off x="3749040" y="4014216"/>
            <a:ext cx="91" cy="356616"/>
          </a:xfrm>
          <a:prstGeom prst="line">
            <a:avLst/>
          </a:prstGeom>
          <a:noFill/>
          <a:ln w="22225">
            <a:solidFill>
              <a:srgbClr val="5D6B82"/>
            </a:solidFill>
            <a:prstDash val="solid"/>
            <a:tailEnd type="triangle"/>
          </a:ln>
        </p:spPr>
      </p:sp>
      <p:sp>
        <p:nvSpPr>
          <p:cNvPr id="17" name="Shape 13"/>
          <p:cNvSpPr/>
          <p:nvPr/>
        </p:nvSpPr>
        <p:spPr>
          <a:xfrm>
            <a:off x="5852160" y="4014216"/>
            <a:ext cx="91" cy="356616"/>
          </a:xfrm>
          <a:prstGeom prst="line">
            <a:avLst/>
          </a:prstGeom>
          <a:noFill/>
          <a:ln w="22225">
            <a:solidFill>
              <a:srgbClr val="5D6B82"/>
            </a:solidFill>
            <a:prstDash val="solid"/>
            <a:tailEnd type="triangle"/>
          </a:ln>
        </p:spPr>
      </p:sp>
      <p:sp>
        <p:nvSpPr>
          <p:cNvPr id="18" name="Shape 14"/>
          <p:cNvSpPr/>
          <p:nvPr/>
        </p:nvSpPr>
        <p:spPr>
          <a:xfrm>
            <a:off x="548640" y="4389120"/>
            <a:ext cx="2011680" cy="1325880"/>
          </a:xfrm>
          <a:prstGeom prst="roundRect">
            <a:avLst>
              <a:gd name="adj" fmla="val 8276"/>
            </a:avLst>
          </a:prstGeom>
          <a:solidFill>
            <a:schemeClr val="bg2"/>
          </a:solidFill>
          <a:ln/>
        </p:spPr>
      </p:sp>
      <p:sp>
        <p:nvSpPr>
          <p:cNvPr id="19" name="Shape 15"/>
          <p:cNvSpPr/>
          <p:nvPr/>
        </p:nvSpPr>
        <p:spPr>
          <a:xfrm>
            <a:off x="713232" y="4544568"/>
            <a:ext cx="420624" cy="420624"/>
          </a:xfrm>
          <a:prstGeom prst="ellipse">
            <a:avLst/>
          </a:prstGeom>
          <a:solidFill>
            <a:schemeClr val="accent2"/>
          </a:solidFill>
          <a:ln/>
        </p:spPr>
      </p:sp>
      <p:pic>
        <p:nvPicPr>
          <p:cNvPr id="20" name="Image 2" descr="preencoded.png">    </p:cNvPr>
          <p:cNvPicPr>
            <a:picLocks noChangeAspect="1"/>
          </p:cNvPicPr>
          <p:nvPr/>
        </p:nvPicPr>
        <p:blipFill>
          <a:blip r:embed="rId3"/>
          <a:stretch>
            <a:fillRect/>
          </a:stretch>
        </p:blipFill>
        <p:spPr>
          <a:xfrm>
            <a:off x="818388" y="4649724"/>
            <a:ext cx="210312" cy="210312"/>
          </a:xfrm>
          <a:prstGeom prst="rect">
            <a:avLst/>
          </a:prstGeom>
        </p:spPr>
      </p:pic>
      <p:sp>
        <p:nvSpPr>
          <p:cNvPr id="21" name="Text 16"/>
          <p:cNvSpPr txBox="1"/>
          <p:nvPr/>
        </p:nvSpPr>
        <p:spPr>
          <a:xfrm>
            <a:off x="1234440" y="4480560"/>
            <a:ext cx="1234440" cy="1143000"/>
          </a:xfrm>
          <a:prstGeom prst="rect">
            <a:avLst/>
          </a:prstGeom>
          <a:noFill/>
          <a:ln/>
        </p:spPr>
        <p:txBody>
          <a:bodyPr wrap="square" lIns="0" tIns="0" rIns="0" bIns="0" rtlCol="0" anchor="t"/>
          <a:lstStyle/>
          <a:p>
            <a:pPr indent="0" marL="0">
              <a:buNone/>
            </a:pPr>
            <a:r>
              <a:rPr lang="en-US" sz="1350" dirty="0">
                <a:solidFill>
                  <a:schemeClr val="tx2"/>
                </a:solidFill>
                <a:latin typeface="+mj-lt" pitchFamily="34" charset="0"/>
                <a:ea typeface="+mj-lt" pitchFamily="34" charset="-122"/>
                <a:cs typeface="+mj-lt" pitchFamily="34" charset="-120"/>
              </a:rPr>
              <a:t>Azure Synapse</a:t>
            </a:r>
            <a:endParaRPr lang="en-US" sz="1400" dirty="0"/>
          </a:p>
          <a:p>
            <a:pPr indent="0" marL="0">
              <a:buNone/>
            </a:pPr>
            <a:r>
              <a:rPr lang="en-US" sz="1150" dirty="0">
                <a:solidFill>
                  <a:schemeClr val="accent6"/>
                </a:solidFill>
              </a:rPr>
              <a:t>ARM, Artifacts API and SQL pool: read only</a:t>
            </a:r>
            <a:endParaRPr lang="en-US" sz="1400" dirty="0"/>
          </a:p>
        </p:txBody>
      </p:sp>
      <p:sp>
        <p:nvSpPr>
          <p:cNvPr id="22" name="Shape 17"/>
          <p:cNvSpPr/>
          <p:nvPr/>
        </p:nvSpPr>
        <p:spPr>
          <a:xfrm>
            <a:off x="2743200" y="4389120"/>
            <a:ext cx="2011680" cy="1325880"/>
          </a:xfrm>
          <a:prstGeom prst="roundRect">
            <a:avLst>
              <a:gd name="adj" fmla="val 8276"/>
            </a:avLst>
          </a:prstGeom>
          <a:solidFill>
            <a:schemeClr val="bg2"/>
          </a:solidFill>
          <a:ln/>
        </p:spPr>
      </p:sp>
      <p:sp>
        <p:nvSpPr>
          <p:cNvPr id="23" name="Shape 18"/>
          <p:cNvSpPr/>
          <p:nvPr/>
        </p:nvSpPr>
        <p:spPr>
          <a:xfrm>
            <a:off x="2907792" y="4544568"/>
            <a:ext cx="420624" cy="420624"/>
          </a:xfrm>
          <a:prstGeom prst="ellipse">
            <a:avLst/>
          </a:prstGeom>
          <a:solidFill>
            <a:schemeClr val="accent2"/>
          </a:solidFill>
          <a:ln/>
        </p:spPr>
      </p:sp>
      <p:pic>
        <p:nvPicPr>
          <p:cNvPr id="24" name="Image 3" descr="preencoded.png">    </p:cNvPr>
          <p:cNvPicPr>
            <a:picLocks noChangeAspect="1"/>
          </p:cNvPicPr>
          <p:nvPr/>
        </p:nvPicPr>
        <p:blipFill>
          <a:blip r:embed="rId4"/>
          <a:stretch>
            <a:fillRect/>
          </a:stretch>
        </p:blipFill>
        <p:spPr>
          <a:xfrm>
            <a:off x="3012948" y="4649724"/>
            <a:ext cx="210312" cy="210312"/>
          </a:xfrm>
          <a:prstGeom prst="rect">
            <a:avLst/>
          </a:prstGeom>
        </p:spPr>
      </p:pic>
      <p:sp>
        <p:nvSpPr>
          <p:cNvPr id="25" name="Text 19"/>
          <p:cNvSpPr txBox="1"/>
          <p:nvPr/>
        </p:nvSpPr>
        <p:spPr>
          <a:xfrm>
            <a:off x="3429000" y="4480560"/>
            <a:ext cx="1234440" cy="1143000"/>
          </a:xfrm>
          <a:prstGeom prst="rect">
            <a:avLst/>
          </a:prstGeom>
          <a:noFill/>
          <a:ln/>
        </p:spPr>
        <p:txBody>
          <a:bodyPr wrap="square" lIns="0" tIns="0" rIns="0" bIns="0" rtlCol="0" anchor="t"/>
          <a:lstStyle/>
          <a:p>
            <a:pPr indent="0" marL="0">
              <a:buNone/>
            </a:pPr>
            <a:r>
              <a:rPr lang="en-US" sz="1350" dirty="0">
                <a:solidFill>
                  <a:schemeClr val="tx2"/>
                </a:solidFill>
                <a:latin typeface="+mj-lt" pitchFamily="34" charset="0"/>
                <a:ea typeface="+mj-lt" pitchFamily="34" charset="-122"/>
                <a:cs typeface="+mj-lt" pitchFamily="34" charset="-120"/>
              </a:rPr>
              <a:t>Git provider</a:t>
            </a:r>
            <a:endParaRPr lang="en-US" sz="1400" dirty="0"/>
          </a:p>
          <a:p>
            <a:pPr indent="0" marL="0">
              <a:buNone/>
            </a:pPr>
            <a:r>
              <a:rPr lang="en-US" sz="1150" dirty="0">
                <a:solidFill>
                  <a:schemeClr val="accent6"/>
                </a:solidFill>
              </a:rPr>
              <a:t>Clone of the Synapse repository: read only</a:t>
            </a:r>
            <a:endParaRPr lang="en-US" sz="1400" dirty="0"/>
          </a:p>
        </p:txBody>
      </p:sp>
      <p:sp>
        <p:nvSpPr>
          <p:cNvPr id="26" name="Shape 20"/>
          <p:cNvSpPr/>
          <p:nvPr/>
        </p:nvSpPr>
        <p:spPr>
          <a:xfrm>
            <a:off x="4937760" y="4389120"/>
            <a:ext cx="2011680" cy="1325880"/>
          </a:xfrm>
          <a:prstGeom prst="roundRect">
            <a:avLst>
              <a:gd name="adj" fmla="val 8276"/>
            </a:avLst>
          </a:prstGeom>
          <a:solidFill>
            <a:schemeClr val="bg2"/>
          </a:solidFill>
          <a:ln/>
        </p:spPr>
      </p:sp>
      <p:sp>
        <p:nvSpPr>
          <p:cNvPr id="27" name="Shape 21"/>
          <p:cNvSpPr/>
          <p:nvPr/>
        </p:nvSpPr>
        <p:spPr>
          <a:xfrm>
            <a:off x="5102352" y="4544568"/>
            <a:ext cx="420624" cy="420624"/>
          </a:xfrm>
          <a:prstGeom prst="ellipse">
            <a:avLst/>
          </a:prstGeom>
          <a:solidFill>
            <a:schemeClr val="accent1"/>
          </a:solidFill>
          <a:ln/>
        </p:spPr>
      </p:sp>
      <p:pic>
        <p:nvPicPr>
          <p:cNvPr id="28" name="Image 4" descr="preencoded.png">    </p:cNvPr>
          <p:cNvPicPr>
            <a:picLocks noChangeAspect="1"/>
          </p:cNvPicPr>
          <p:nvPr/>
        </p:nvPicPr>
        <p:blipFill>
          <a:blip r:embed="rId5"/>
          <a:stretch>
            <a:fillRect/>
          </a:stretch>
        </p:blipFill>
        <p:spPr>
          <a:xfrm>
            <a:off x="5207508" y="4649724"/>
            <a:ext cx="210312" cy="210312"/>
          </a:xfrm>
          <a:prstGeom prst="rect">
            <a:avLst/>
          </a:prstGeom>
        </p:spPr>
      </p:pic>
      <p:sp>
        <p:nvSpPr>
          <p:cNvPr id="29" name="Text 22"/>
          <p:cNvSpPr txBox="1"/>
          <p:nvPr/>
        </p:nvSpPr>
        <p:spPr>
          <a:xfrm>
            <a:off x="5623560" y="4480560"/>
            <a:ext cx="1234440" cy="1143000"/>
          </a:xfrm>
          <a:prstGeom prst="rect">
            <a:avLst/>
          </a:prstGeom>
          <a:noFill/>
          <a:ln/>
        </p:spPr>
        <p:txBody>
          <a:bodyPr wrap="square" lIns="0" tIns="0" rIns="0" bIns="0" rtlCol="0" anchor="t"/>
          <a:lstStyle/>
          <a:p>
            <a:pPr indent="0" marL="0">
              <a:buNone/>
            </a:pPr>
            <a:r>
              <a:rPr lang="en-US" sz="1350" dirty="0">
                <a:solidFill>
                  <a:schemeClr val="tx2"/>
                </a:solidFill>
                <a:latin typeface="+mj-lt" pitchFamily="34" charset="0"/>
                <a:ea typeface="+mj-lt" pitchFamily="34" charset="-122"/>
                <a:cs typeface="+mj-lt" pitchFamily="34" charset="-120"/>
              </a:rPr>
              <a:t>Microsoft Fabric</a:t>
            </a:r>
            <a:endParaRPr lang="en-US" sz="1400" dirty="0"/>
          </a:p>
          <a:p>
            <a:pPr indent="0" marL="0">
              <a:buNone/>
            </a:pPr>
            <a:r>
              <a:rPr lang="en-US" sz="1150" dirty="0">
                <a:solidFill>
                  <a:schemeClr val="accent6"/>
                </a:solidFill>
              </a:rPr>
              <a:t>REST API, Warehouse SQL, OneLake, Git</a:t>
            </a:r>
            <a:endParaRPr lang="en-US" sz="1400" dirty="0"/>
          </a:p>
        </p:txBody>
      </p:sp>
      <p:sp>
        <p:nvSpPr>
          <p:cNvPr id="30" name="Shape 23"/>
          <p:cNvSpPr/>
          <p:nvPr/>
        </p:nvSpPr>
        <p:spPr>
          <a:xfrm>
            <a:off x="7269480" y="1554480"/>
            <a:ext cx="4370832" cy="4553712"/>
          </a:xfrm>
          <a:prstGeom prst="roundRect">
            <a:avLst>
              <a:gd name="adj" fmla="val 2510"/>
            </a:avLst>
          </a:prstGeom>
          <a:solidFill>
            <a:schemeClr val="bg2"/>
          </a:solidFill>
          <a:ln/>
        </p:spPr>
      </p:sp>
      <p:sp>
        <p:nvSpPr>
          <p:cNvPr id="31" name="Text 24"/>
          <p:cNvSpPr txBox="1"/>
          <p:nvPr/>
        </p:nvSpPr>
        <p:spPr>
          <a:xfrm>
            <a:off x="7498080" y="1737360"/>
            <a:ext cx="3913632" cy="384048"/>
          </a:xfrm>
          <a:prstGeom prst="rect">
            <a:avLst/>
          </a:prstGeom>
          <a:noFill/>
          <a:ln/>
        </p:spPr>
        <p:txBody>
          <a:bodyPr wrap="square" lIns="0" tIns="0" rIns="0" bIns="0" rtlCol="0" anchor="t"/>
          <a:lstStyle/>
          <a:p>
            <a:pPr indent="0" marL="0">
              <a:buNone/>
            </a:pPr>
            <a:r>
              <a:rPr lang="en-US" sz="1700" dirty="0">
                <a:solidFill>
                  <a:schemeClr val="tx2"/>
                </a:solidFill>
                <a:latin typeface="+mj-lt" pitchFamily="34" charset="0"/>
                <a:ea typeface="+mj-lt" pitchFamily="34" charset="-122"/>
                <a:cs typeface="+mj-lt" pitchFamily="34" charset="-120"/>
              </a:rPr>
              <a:t>How the pieces talk</a:t>
            </a:r>
            <a:endParaRPr lang="en-US" sz="1700" dirty="0"/>
          </a:p>
        </p:txBody>
      </p:sp>
      <p:sp>
        <p:nvSpPr>
          <p:cNvPr id="32" name="Text 25"/>
          <p:cNvSpPr txBox="1"/>
          <p:nvPr/>
        </p:nvSpPr>
        <p:spPr>
          <a:xfrm>
            <a:off x="7470648" y="2240280"/>
            <a:ext cx="3986784" cy="3730752"/>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chemeClr val="tx1"/>
                </a:solidFill>
              </a:rPr>
              <a:t>The UI talks to one interface, MigrationApi (43 methods): realApi.ts in Live mode, mockApi.ts in Demo mode.</a:t>
            </a:r>
            <a:endParaRPr lang="en-US" sz="1400" dirty="0"/>
          </a:p>
          <a:p>
            <a:pPr marL="177800" indent="-177800">
              <a:spcAft>
                <a:spcPts val="600"/>
              </a:spcAft>
              <a:buSzPct val="100000"/>
              <a:buChar char="•"/>
            </a:pPr>
            <a:r>
              <a:rPr lang="en-US" sz="1250" dirty="0">
                <a:solidFill>
                  <a:schemeClr val="tx1"/>
                </a:solidFill>
              </a:rPr>
              <a:t>The API serves 45 endpoints under /api, JSON in and out. It never returns a token.</a:t>
            </a:r>
            <a:endParaRPr lang="en-US" sz="1400" dirty="0"/>
          </a:p>
          <a:p>
            <a:pPr marL="177800" indent="-177800">
              <a:spcAft>
                <a:spcPts val="600"/>
              </a:spcAft>
              <a:buSzPct val="100000"/>
              <a:buChar char="•"/>
            </a:pPr>
            <a:r>
              <a:rPr lang="en-US" sz="1250" dirty="0">
                <a:solidFill>
                  <a:schemeClr val="tx1"/>
                </a:solidFill>
              </a:rPr>
              <a:t>Long work runs on background threads (discovery, the run, validation, Git commits, LLM drafts); the page polls.</a:t>
            </a:r>
            <a:endParaRPr lang="en-US" sz="1400" dirty="0"/>
          </a:p>
          <a:p>
            <a:pPr marL="177800" indent="-177800">
              <a:spcAft>
                <a:spcPts val="600"/>
              </a:spcAft>
              <a:buSzPct val="100000"/>
              <a:buChar char="•"/>
            </a:pPr>
            <a:r>
              <a:rPr lang="en-US" sz="1250" dirty="0">
                <a:solidFill>
                  <a:schemeClr val="tx1"/>
                </a:solidFill>
              </a:rPr>
              <a:t>One operator: one discovery and one run at a time.</a:t>
            </a:r>
            <a:endParaRPr lang="en-US" sz="1400" dirty="0"/>
          </a:p>
          <a:p>
            <a:pPr marL="177800" indent="-177800">
              <a:spcAft>
                <a:spcPts val="600"/>
              </a:spcAft>
              <a:buSzPct val="100000"/>
              <a:buChar char="•"/>
            </a:pPr>
            <a:r>
              <a:rPr lang="en-US" sz="1250" dirty="0">
                <a:solidFill>
                  <a:schemeClr val="tx1"/>
                </a:solidFill>
              </a:rPr>
              <a:t>Fabric is reached over REST for items and over TDS (ODBC 18) for Warehouse SQL.</a:t>
            </a:r>
            <a:endParaRPr lang="en-US" sz="1400" dirty="0"/>
          </a:p>
          <a:p>
            <a:pPr marL="177800" indent="-177800">
              <a:spcAft>
                <a:spcPts val="600"/>
              </a:spcAft>
              <a:buSzPct val="100000"/>
              <a:buChar char="•"/>
            </a:pPr>
            <a:r>
              <a:rPr lang="en-US" sz="1250" dirty="0">
                <a:solidFill>
                  <a:schemeClr val="tx1"/>
                </a:solidFill>
              </a:rPr>
              <a:t>The API binds to 127.0.0.1 and refuses requests addressed elsewhere.</a:t>
            </a:r>
            <a:endParaRPr lang="en-US" sz="14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01 · THE BIG PICTURE</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Where things live in the code</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src/discovery_agent/</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514600"/>
                <a:gridCol w="4937760"/>
                <a:gridCol w="3639312"/>
              </a:tblGrid>
              <a:tr h="384048">
                <a:tc>
                  <a:txBody>
                    <a:bodyPr/>
                    <a:lstStyle/>
                    <a:p>
                      <a:pPr indent="0" marL="0">
                        <a:buNone/>
                      </a:pPr>
                      <a:r>
                        <a:rPr lang="en-US" sz="1200" b="1" dirty="0">
                          <a:solidFill>
                            <a:schemeClr val="bg1"/>
                          </a:solidFill>
                        </a:rPr>
                        <a:t>Package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indent="0" marL="0">
                        <a:buNone/>
                      </a:pPr>
                      <a:r>
                        <a:rPr lang="en-US" sz="1200" b="1" dirty="0">
                          <a:solidFill>
                            <a:schemeClr val="bg1"/>
                          </a:solidFill>
                        </a:rPr>
                        <a:t>Responsibility</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indent="0" marL="0">
                        <a:buNone/>
                      </a:pPr>
                      <a:r>
                        <a:rPr lang="en-US" sz="1200" b="1" dirty="0">
                          <a:solidFill>
                            <a:schemeClr val="bg1"/>
                          </a:solidFill>
                        </a:rPr>
                        <a:t>Key files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r>
              <a:tr h="384048">
                <a:tc>
                  <a:txBody>
                    <a:bodyPr/>
                    <a:lstStyle/>
                    <a:p>
                      <a:pPr indent="0" marL="0">
                        <a:buNone/>
                      </a:pPr>
                      <a:r>
                        <a:rPr lang="en-US" sz="1200" b="1" dirty="0">
                          <a:solidFill>
                            <a:schemeClr val="tx2"/>
                          </a:solidFill>
                        </a:rPr>
                        <a:t>connections/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The only place that signs in: Azure, Synapse, SQL, Git</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azure.py, synapse.py, sql.py, git.py, manager.py</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chemeClr val="tx2"/>
                          </a:solidFill>
                        </a:rPr>
                        <a:t>acquisition/</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Clones the Synapse repository at a commit (the only git subprocess)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acquire.py, git.py, providers.py</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84048">
                <a:tc>
                  <a:txBody>
                    <a:bodyPr/>
                    <a:lstStyle/>
                    <a:p>
                      <a:pPr indent="0" marL="0">
                        <a:buNone/>
                      </a:pPr>
                      <a:r>
                        <a:rPr lang="en-US" sz="1200" b="1" dirty="0">
                          <a:solidFill>
                            <a:schemeClr val="tx2"/>
                          </a:solidFill>
                        </a:rPr>
                        <a:t>sql/</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Dedicated pool catalog: 16 fixed SELECTs, models, security</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queries.py, dedicated_pool.py, security.py</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chemeClr val="tx2"/>
                          </a:solidFill>
                        </a:rPr>
                        <a:t>synapse/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Synapse Artifacts API: a GET-only route registry</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api.py, client.py, source.py</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84048">
                <a:tc>
                  <a:txBody>
                    <a:bodyPr/>
                    <a:lstStyle/>
                    <a:p>
                      <a:pPr indent="0" marL="0">
                        <a:buNone/>
                      </a:pPr>
                      <a:r>
                        <a:rPr lang="en-US" sz="1200" b="1" dirty="0">
                          <a:solidFill>
                            <a:schemeClr val="tx2"/>
                          </a:solidFill>
                        </a:rPr>
                        <a:t>artifacts/, extractors/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Walks files, detects artifact types, extracts facts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detector.py, pipeline.py, notebook.py…</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chemeClr val="tx2"/>
                          </a:solidFill>
                        </a:rPr>
                        <a:t>discovery.py, records.py</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Runs discovery; merges sources into one record per object</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discovery_models.py, source_strategy.py</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84048">
                <a:tc>
                  <a:txBody>
                    <a:bodyPr/>
                    <a:lstStyle/>
                    <a:p>
                      <a:pPr indent="0" marL="0">
                        <a:buNone/>
                      </a:pPr>
                      <a:r>
                        <a:rPr lang="en-US" sz="1200" b="1" dirty="0">
                          <a:solidFill>
                            <a:schemeClr val="tx2"/>
                          </a:solidFill>
                        </a:rPr>
                        <a:t>mapping/</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Fabric target, class and workstream; dependency waves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synapse_fabric_mapping.py, waves.py</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chemeClr val="tx2"/>
                          </a:solidFill>
                        </a:rPr>
                        <a:t>migration/</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Planner, findings, run, stages, T-SQL rules, REST, validation, Git</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runner.py, stages.py, stages_fabric.py…</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84048">
                <a:tc>
                  <a:txBody>
                    <a:bodyPr/>
                    <a:lstStyle/>
                    <a:p>
                      <a:pPr indent="0" marL="0">
                        <a:buNone/>
                      </a:pPr>
                      <a:r>
                        <a:rPr lang="en-US" sz="1200" b="1" dirty="0">
                          <a:solidFill>
                            <a:schemeClr val="tx2"/>
                          </a:solidFill>
                        </a:rPr>
                        <a:t>api/</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The local HTTP API (45 endpoints) and its services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server.py, service.py, migration.py, fabric.py</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chemeClr val="tx2"/>
                          </a:solidFill>
                        </a:rPr>
                        <a:t>llm/, prompts/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LLM-assisted transforms through the Claude Code CLI</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claude_cli.py, checks.py, transform/*.md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84048">
                <a:tc>
                  <a:txBody>
                    <a:bodyPr/>
                    <a:lstStyle/>
                    <a:p>
                      <a:pPr indent="0" marL="0">
                        <a:buNone/>
                      </a:pPr>
                      <a:r>
                        <a:rPr lang="en-US" sz="1200" b="1" dirty="0">
                          <a:solidFill>
                            <a:schemeClr val="tx2"/>
                          </a:solidFill>
                        </a:rPr>
                        <a:t>frontend/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React app: Connections and Migration pages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pages/, components/, services/, mock/</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01 · THE BIG PICTURE</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Running it: requirements, modes and state</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start-ui.ps1 · install-api-service.ps1</a:t>
            </a:r>
            <a:endParaRPr lang="en-US" sz="1100" dirty="0"/>
          </a:p>
        </p:txBody>
      </p:sp>
      <p:sp>
        <p:nvSpPr>
          <p:cNvPr id="5" name="Shape 3"/>
          <p:cNvSpPr/>
          <p:nvPr/>
        </p:nvSpPr>
        <p:spPr>
          <a:xfrm>
            <a:off x="548640" y="1554480"/>
            <a:ext cx="3547872" cy="3611880"/>
          </a:xfrm>
          <a:prstGeom prst="roundRect">
            <a:avLst>
              <a:gd name="adj" fmla="val 3093"/>
            </a:avLst>
          </a:prstGeom>
          <a:solidFill>
            <a:schemeClr val="bg2"/>
          </a:solidFill>
          <a:ln/>
        </p:spPr>
      </p:sp>
      <p:sp>
        <p:nvSpPr>
          <p:cNvPr id="6" name="Text 4"/>
          <p:cNvSpPr txBox="1"/>
          <p:nvPr/>
        </p:nvSpPr>
        <p:spPr>
          <a:xfrm>
            <a:off x="777240" y="1737360"/>
            <a:ext cx="3090672"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YOU NEED</a:t>
            </a:r>
            <a:endParaRPr lang="en-US" sz="1100" dirty="0"/>
          </a:p>
        </p:txBody>
      </p:sp>
      <p:sp>
        <p:nvSpPr>
          <p:cNvPr id="7" name="Text 5"/>
          <p:cNvSpPr txBox="1"/>
          <p:nvPr/>
        </p:nvSpPr>
        <p:spPr>
          <a:xfrm>
            <a:off x="749808" y="2057400"/>
            <a:ext cx="3163824" cy="29718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Python 3.10+ (no runtime dependencies; optional pyodbc, azure-identity, requests)</a:t>
            </a:r>
            <a:endParaRPr lang="en-US" sz="1400" dirty="0"/>
          </a:p>
          <a:p>
            <a:pPr marL="177800" indent="-177800">
              <a:spcAft>
                <a:spcPts val="600"/>
              </a:spcAft>
              <a:buSzPct val="100000"/>
              <a:buChar char="•"/>
            </a:pPr>
            <a:r>
              <a:rPr lang="en-US" sz="1300" dirty="0">
                <a:solidFill>
                  <a:schemeClr val="tx1"/>
                </a:solidFill>
              </a:rPr>
              <a:t>Node.js 18+ for the web app</a:t>
            </a:r>
            <a:endParaRPr lang="en-US" sz="1400" dirty="0"/>
          </a:p>
          <a:p>
            <a:pPr marL="177800" indent="-177800">
              <a:spcAft>
                <a:spcPts val="600"/>
              </a:spcAft>
              <a:buSzPct val="100000"/>
              <a:buChar char="•"/>
            </a:pPr>
            <a:r>
              <a:rPr lang="en-US" sz="1300" dirty="0">
                <a:solidFill>
                  <a:schemeClr val="tx1"/>
                </a:solidFill>
              </a:rPr>
              <a:t>Azure CLI; the Fabric CLI is optional</a:t>
            </a:r>
            <a:endParaRPr lang="en-US" sz="1400" dirty="0"/>
          </a:p>
          <a:p>
            <a:pPr marL="177800" indent="-177800">
              <a:spcAft>
                <a:spcPts val="600"/>
              </a:spcAft>
              <a:buSzPct val="100000"/>
              <a:buChar char="•"/>
            </a:pPr>
            <a:r>
              <a:rPr lang="en-US" sz="1300" dirty="0">
                <a:solidFill>
                  <a:schemeClr val="tx1"/>
                </a:solidFill>
              </a:rPr>
              <a:t>ODBC Driver 18 for SQL Server</a:t>
            </a:r>
            <a:endParaRPr lang="en-US" sz="1400" dirty="0"/>
          </a:p>
          <a:p>
            <a:pPr marL="177800" indent="-177800">
              <a:spcAft>
                <a:spcPts val="600"/>
              </a:spcAft>
              <a:buSzPct val="100000"/>
              <a:buChar char="•"/>
            </a:pPr>
            <a:r>
              <a:rPr lang="en-US" sz="1300" dirty="0">
                <a:solidFill>
                  <a:schemeClr val="tx1"/>
                </a:solidFill>
              </a:rPr>
              <a:t>A Fabric workspace on a Fabric or Trial capacity</a:t>
            </a:r>
            <a:endParaRPr lang="en-US" sz="1400" dirty="0"/>
          </a:p>
          <a:p>
            <a:pPr marL="177800" indent="-177800">
              <a:spcAft>
                <a:spcPts val="600"/>
              </a:spcAft>
              <a:buSzPct val="100000"/>
              <a:buChar char="•"/>
            </a:pPr>
            <a:r>
              <a:rPr lang="en-US" sz="1300" dirty="0">
                <a:solidFill>
                  <a:schemeClr val="tx1"/>
                </a:solidFill>
              </a:rPr>
              <a:t>Optional: Claude Code CLI, signed in, for LLM drafts</a:t>
            </a:r>
            <a:endParaRPr lang="en-US" sz="1400" dirty="0"/>
          </a:p>
        </p:txBody>
      </p:sp>
      <p:sp>
        <p:nvSpPr>
          <p:cNvPr id="8" name="Shape 6"/>
          <p:cNvSpPr/>
          <p:nvPr/>
        </p:nvSpPr>
        <p:spPr>
          <a:xfrm>
            <a:off x="4325112" y="1554480"/>
            <a:ext cx="3547872" cy="2057400"/>
          </a:xfrm>
          <a:prstGeom prst="roundRect">
            <a:avLst>
              <a:gd name="adj" fmla="val 3556"/>
            </a:avLst>
          </a:prstGeom>
          <a:solidFill>
            <a:schemeClr val="tx2"/>
          </a:solidFill>
          <a:ln/>
        </p:spPr>
      </p:sp>
      <p:sp>
        <p:nvSpPr>
          <p:cNvPr id="9" name="Text 7"/>
          <p:cNvSpPr txBox="1"/>
          <p:nvPr/>
        </p:nvSpPr>
        <p:spPr>
          <a:xfrm>
            <a:off x="4507992" y="1664208"/>
            <a:ext cx="3182112" cy="256032"/>
          </a:xfrm>
          <a:prstGeom prst="rect">
            <a:avLst/>
          </a:prstGeom>
          <a:noFill/>
          <a:ln/>
        </p:spPr>
        <p:txBody>
          <a:bodyPr wrap="square" lIns="0" tIns="0" rIns="0" bIns="0" rtlCol="0" anchor="t"/>
          <a:lstStyle/>
          <a:p>
            <a:pPr indent="0" marL="0">
              <a:buNone/>
            </a:pPr>
            <a:r>
              <a:rPr lang="en-US" sz="1100" b="1" dirty="0">
                <a:solidFill>
                  <a:schemeClr val="accent5"/>
                </a:solidFill>
              </a:rPr>
              <a:t>START IT</a:t>
            </a:r>
            <a:endParaRPr lang="en-US" sz="1100" dirty="0"/>
          </a:p>
        </p:txBody>
      </p:sp>
      <p:sp>
        <p:nvSpPr>
          <p:cNvPr id="10" name="Text 8"/>
          <p:cNvSpPr txBox="1"/>
          <p:nvPr/>
        </p:nvSpPr>
        <p:spPr>
          <a:xfrm>
            <a:off x="4507992" y="1965960"/>
            <a:ext cx="3182112" cy="1554480"/>
          </a:xfrm>
          <a:prstGeom prst="rect">
            <a:avLst/>
          </a:prstGeom>
          <a:noFill/>
          <a:ln/>
        </p:spPr>
        <p:txBody>
          <a:bodyPr wrap="square" lIns="0" tIns="0" rIns="0" bIns="0" rtlCol="0" anchor="t"/>
          <a:lstStyle/>
          <a:p>
            <a:pPr indent="0" marL="0">
              <a:buNone/>
            </a:pPr>
            <a:r>
              <a:rPr lang="en-US" sz="1100" dirty="0">
                <a:solidFill>
                  <a:srgbClr val="E6EDF5"/>
                </a:solidFill>
                <a:latin typeface="Consolas" pitchFamily="34" charset="0"/>
                <a:ea typeface="Consolas" pitchFamily="34" charset="-122"/>
                <a:cs typeface="Consolas" pitchFamily="34" charset="-120"/>
              </a:rPr>
              <a:t>python -m venv .venv</a:t>
            </a:r>
            <a:endParaRPr lang="en-US" sz="1100" dirty="0"/>
          </a:p>
          <a:p>
            <a:pPr indent="0" marL="0">
              <a:buNone/>
            </a:pPr>
            <a:r>
              <a:rPr lang="en-US" sz="1100" dirty="0">
                <a:solidFill>
                  <a:srgbClr val="E6EDF5"/>
                </a:solidFill>
                <a:latin typeface="Consolas" pitchFamily="34" charset="0"/>
                <a:ea typeface="Consolas" pitchFamily="34" charset="-122"/>
                <a:cs typeface="Consolas" pitchFamily="34" charset="-120"/>
              </a:rPr>
              <a:t>.venv\Scripts\activate</a:t>
            </a:r>
            <a:endParaRPr lang="en-US" sz="1100" dirty="0"/>
          </a:p>
          <a:p>
            <a:pPr indent="0" marL="0">
              <a:buNone/>
            </a:pPr>
            <a:r>
              <a:rPr lang="en-US" sz="1100" dirty="0">
                <a:solidFill>
                  <a:srgbClr val="E6EDF5"/>
                </a:solidFill>
                <a:latin typeface="Consolas" pitchFamily="34" charset="0"/>
                <a:ea typeface="Consolas" pitchFamily="34" charset="-122"/>
                <a:cs typeface="Consolas" pitchFamily="34" charset="-120"/>
              </a:rPr>
              <a:t>pip install -e ".[dev,live]"</a:t>
            </a:r>
            <a:endParaRPr lang="en-US" sz="1100" dirty="0"/>
          </a:p>
          <a:p>
            <a:pPr indent="0" marL="0">
              <a:buNone/>
            </a:pPr>
            <a:r>
              <a:rPr lang="en-US" sz="1100" dirty="0">
                <a:solidFill>
                  <a:srgbClr val="E6EDF5"/>
                </a:solidFill>
                <a:latin typeface="Consolas" pitchFamily="34" charset="0"/>
                <a:ea typeface="Consolas" pitchFamily="34" charset="-122"/>
                <a:cs typeface="Consolas" pitchFamily="34" charset="-120"/>
              </a:rPr>
              <a:t>az login</a:t>
            </a:r>
            <a:endParaRPr lang="en-US" sz="1100" dirty="0"/>
          </a:p>
          <a:p>
            <a:pPr indent="0" marL="0">
              <a:buNone/>
            </a:pPr>
            <a:r>
              <a:rPr lang="en-US" sz="1100" dirty="0">
                <a:solidFill>
                  <a:srgbClr val="E6EDF5"/>
                </a:solidFill>
                <a:latin typeface="Consolas" pitchFamily="34" charset="0"/>
                <a:ea typeface="Consolas" pitchFamily="34" charset="-122"/>
                <a:cs typeface="Consolas" pitchFamily="34" charset="-120"/>
              </a:rPr>
              <a:t>.\start-ui.ps1</a:t>
            </a:r>
            <a:endParaRPr lang="en-US" sz="1100" dirty="0"/>
          </a:p>
        </p:txBody>
      </p:sp>
      <p:sp>
        <p:nvSpPr>
          <p:cNvPr id="11" name="Text 9"/>
          <p:cNvSpPr txBox="1"/>
          <p:nvPr/>
        </p:nvSpPr>
        <p:spPr>
          <a:xfrm>
            <a:off x="4325112" y="3767328"/>
            <a:ext cx="3547872" cy="14630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API on :8001 (restarts itself when code changes), UI on :5173</a:t>
            </a:r>
            <a:endParaRPr lang="en-US" sz="1400" dirty="0"/>
          </a:p>
          <a:p>
            <a:pPr marL="177800" indent="-177800">
              <a:spcAft>
                <a:spcPts val="500"/>
              </a:spcAft>
              <a:buSzPct val="100000"/>
              <a:buChar char="•"/>
            </a:pPr>
            <a:r>
              <a:rPr lang="en-US" sz="1250" dirty="0">
                <a:solidFill>
                  <a:schemeClr val="tx1"/>
                </a:solidFill>
              </a:rPr>
              <a:t>install-api-service.ps1: a scheduled task runs the API hidden at sign-in</a:t>
            </a:r>
            <a:endParaRPr lang="en-US" sz="1400" dirty="0"/>
          </a:p>
          <a:p>
            <a:pPr marL="177800" indent="-177800">
              <a:spcAft>
                <a:spcPts val="500"/>
              </a:spcAft>
              <a:buSzPct val="100000"/>
              <a:buChar char="•"/>
            </a:pPr>
            <a:r>
              <a:rPr lang="en-US" sz="1250" dirty="0">
                <a:solidFill>
                  <a:schemeClr val="tx1"/>
                </a:solidFill>
              </a:rPr>
              <a:t>Or build the UI and let the API serve it on :8001</a:t>
            </a:r>
            <a:endParaRPr lang="en-US" sz="1400" dirty="0"/>
          </a:p>
        </p:txBody>
      </p:sp>
      <p:sp>
        <p:nvSpPr>
          <p:cNvPr id="12" name="Shape 10"/>
          <p:cNvSpPr/>
          <p:nvPr/>
        </p:nvSpPr>
        <p:spPr>
          <a:xfrm>
            <a:off x="8092440" y="1554480"/>
            <a:ext cx="3547872" cy="3611880"/>
          </a:xfrm>
          <a:prstGeom prst="roundRect">
            <a:avLst>
              <a:gd name="adj" fmla="val 3093"/>
            </a:avLst>
          </a:prstGeom>
          <a:solidFill>
            <a:schemeClr val="bg2"/>
          </a:solidFill>
          <a:ln/>
        </p:spPr>
      </p:sp>
      <p:sp>
        <p:nvSpPr>
          <p:cNvPr id="13" name="Text 11"/>
          <p:cNvSpPr txBox="1"/>
          <p:nvPr/>
        </p:nvSpPr>
        <p:spPr>
          <a:xfrm>
            <a:off x="8321040" y="1737360"/>
            <a:ext cx="3090672"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MODES AND STATE</a:t>
            </a:r>
            <a:endParaRPr lang="en-US" sz="1100" dirty="0"/>
          </a:p>
        </p:txBody>
      </p:sp>
      <p:sp>
        <p:nvSpPr>
          <p:cNvPr id="14" name="Text 12"/>
          <p:cNvSpPr txBox="1"/>
          <p:nvPr/>
        </p:nvSpPr>
        <p:spPr>
          <a:xfrm>
            <a:off x="8293608" y="2057400"/>
            <a:ext cx="3163824" cy="29718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Live: real workspaces through the local API</a:t>
            </a:r>
            <a:endParaRPr lang="en-US" sz="1400" dirty="0"/>
          </a:p>
          <a:p>
            <a:pPr marL="177800" indent="-177800">
              <a:spcAft>
                <a:spcPts val="600"/>
              </a:spcAft>
              <a:buSzPct val="100000"/>
              <a:buChar char="•"/>
            </a:pPr>
            <a:r>
              <a:rPr lang="en-US" sz="1300" dirty="0">
                <a:solidFill>
                  <a:schemeClr val="tx1"/>
                </a:solidFill>
              </a:rPr>
              <a:t>Demo: an in-browser simulation, 1,578 sample objects</a:t>
            </a:r>
            <a:endParaRPr lang="en-US" sz="1400" dirty="0"/>
          </a:p>
          <a:p>
            <a:pPr marL="177800" indent="-177800">
              <a:spcAft>
                <a:spcPts val="600"/>
              </a:spcAft>
              <a:buSzPct val="100000"/>
              <a:buChar char="•"/>
            </a:pPr>
            <a:r>
              <a:rPr lang="en-US" sz="1300" dirty="0">
                <a:solidFill>
                  <a:schemeClr val="tx1"/>
                </a:solidFill>
              </a:rPr>
              <a:t>Saved across restarts: the last discovery and the Fabric target (.accelerator/state)</a:t>
            </a:r>
            <a:endParaRPr lang="en-US" sz="1400" dirty="0"/>
          </a:p>
          <a:p>
            <a:pPr marL="177800" indent="-177800">
              <a:spcAft>
                <a:spcPts val="600"/>
              </a:spcAft>
              <a:buSzPct val="100000"/>
              <a:buChar char="•"/>
            </a:pPr>
            <a:r>
              <a:rPr lang="en-US" sz="1300" dirty="0">
                <a:solidFill>
                  <a:schemeClr val="tx1"/>
                </a:solidFill>
              </a:rPr>
              <a:t>Never in the state folder: tokens, passwords, credentials</a:t>
            </a:r>
            <a:endParaRPr lang="en-US" sz="1400" dirty="0"/>
          </a:p>
          <a:p>
            <a:pPr marL="177800" indent="-177800">
              <a:spcAft>
                <a:spcPts val="600"/>
              </a:spcAft>
              <a:buSzPct val="100000"/>
              <a:buChar char="•"/>
            </a:pPr>
            <a:r>
              <a:rPr lang="en-US" sz="1300" dirty="0">
                <a:solidFill>
                  <a:schemeClr val="tx1"/>
                </a:solidFill>
              </a:rPr>
              <a:t>MIGRATION_STATE=off keeps nothing</a:t>
            </a:r>
            <a:endParaRPr lang="en-US" sz="1400" dirty="0"/>
          </a:p>
        </p:txBody>
      </p:sp>
      <p:sp>
        <p:nvSpPr>
          <p:cNvPr id="15" name="Shape 13"/>
          <p:cNvSpPr/>
          <p:nvPr/>
        </p:nvSpPr>
        <p:spPr>
          <a:xfrm>
            <a:off x="548640" y="5440680"/>
            <a:ext cx="11094415" cy="685800"/>
          </a:xfrm>
          <a:prstGeom prst="roundRect">
            <a:avLst>
              <a:gd name="adj" fmla="val 16000"/>
            </a:avLst>
          </a:prstGeom>
          <a:solidFill>
            <a:schemeClr val="accent1">
              <a:alpha val="13000"/>
            </a:schemeClr>
          </a:solidFill>
          <a:ln/>
        </p:spPr>
      </p:sp>
      <p:sp>
        <p:nvSpPr>
          <p:cNvPr id="16" name="Text 14"/>
          <p:cNvSpPr txBox="1"/>
          <p:nvPr/>
        </p:nvSpPr>
        <p:spPr>
          <a:xfrm>
            <a:off x="777240" y="5440680"/>
            <a:ext cx="10637215" cy="685800"/>
          </a:xfrm>
          <a:prstGeom prst="rect">
            <a:avLst/>
          </a:prstGeom>
          <a:noFill/>
          <a:ln/>
        </p:spPr>
        <p:txBody>
          <a:bodyPr wrap="square" lIns="0" tIns="0" rIns="0" bIns="0" rtlCol="0" anchor="ctr"/>
          <a:lstStyle/>
          <a:p>
            <a:pPr indent="0" marL="0">
              <a:buNone/>
            </a:pPr>
            <a:r>
              <a:rPr lang="en-US" sz="1250" b="1" dirty="0">
                <a:solidFill>
                  <a:schemeClr val="tx2"/>
                </a:solidFill>
              </a:rPr>
              <a:t>One copy, local only:  </a:t>
            </a:r>
            <a:pPr indent="0" marL="0">
              <a:buNone/>
            </a:pPr>
            <a:r>
              <a:rPr lang="en-US" sz="1250" dirty="0">
                <a:solidFill>
                  <a:schemeClr val="tx1"/>
                </a:solidFill>
              </a:rPr>
              <a:t>the API listens on 127.0.0.1:8001 and will not start a second copy while /api/health answers; the Vite dev server on :5173 passes /api calls to it.</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01 · THE BIG PICTURE</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Features and options at a glance</a:t>
            </a:r>
            <a:endParaRPr lang="en-US" sz="3200" dirty="0"/>
          </a:p>
        </p:txBody>
      </p:sp>
      <p:sp>
        <p:nvSpPr>
          <p:cNvPr id="4" name="Shape 2"/>
          <p:cNvSpPr/>
          <p:nvPr/>
        </p:nvSpPr>
        <p:spPr>
          <a:xfrm>
            <a:off x="548640" y="1508760"/>
            <a:ext cx="2602154" cy="1344168"/>
          </a:xfrm>
          <a:prstGeom prst="roundRect">
            <a:avLst>
              <a:gd name="adj" fmla="val 8163"/>
            </a:avLst>
          </a:prstGeom>
          <a:solidFill>
            <a:schemeClr val="bg2"/>
          </a:solidFill>
          <a:ln/>
        </p:spPr>
      </p:sp>
      <p:sp>
        <p:nvSpPr>
          <p:cNvPr id="5" name="Text 3"/>
          <p:cNvSpPr txBox="1"/>
          <p:nvPr/>
        </p:nvSpPr>
        <p:spPr>
          <a:xfrm>
            <a:off x="749808" y="1618488"/>
            <a:ext cx="2236394" cy="566928"/>
          </a:xfrm>
          <a:prstGeom prst="rect">
            <a:avLst/>
          </a:prstGeom>
          <a:noFill/>
          <a:ln/>
        </p:spPr>
        <p:txBody>
          <a:bodyPr wrap="square" lIns="0" tIns="0" rIns="0" bIns="0" rtlCol="0" anchor="t"/>
          <a:lstStyle/>
          <a:p>
            <a:pPr indent="0" marL="0">
              <a:buNone/>
            </a:pPr>
            <a:r>
              <a:rPr lang="en-US" sz="3200" dirty="0">
                <a:solidFill>
                  <a:schemeClr val="accent1"/>
                </a:solidFill>
                <a:latin typeface="+mj-lt" pitchFamily="34" charset="0"/>
                <a:ea typeface="+mj-lt" pitchFamily="34" charset="-122"/>
                <a:cs typeface="+mj-lt" pitchFamily="34" charset="-120"/>
              </a:rPr>
              <a:t>3</a:t>
            </a:r>
            <a:endParaRPr lang="en-US" sz="3200" dirty="0"/>
          </a:p>
        </p:txBody>
      </p:sp>
      <p:sp>
        <p:nvSpPr>
          <p:cNvPr id="6" name="Text 4"/>
          <p:cNvSpPr txBox="1"/>
          <p:nvPr/>
        </p:nvSpPr>
        <p:spPr>
          <a:xfrm>
            <a:off x="749808" y="2203704"/>
            <a:ext cx="2236394" cy="594360"/>
          </a:xfrm>
          <a:prstGeom prst="rect">
            <a:avLst/>
          </a:prstGeom>
          <a:noFill/>
          <a:ln/>
        </p:spPr>
        <p:txBody>
          <a:bodyPr wrap="square" lIns="0" tIns="0" rIns="0" bIns="0" rtlCol="0" anchor="t"/>
          <a:lstStyle/>
          <a:p>
            <a:pPr indent="0" marL="0">
              <a:buNone/>
            </a:pPr>
            <a:r>
              <a:rPr lang="en-US" sz="1250" dirty="0">
                <a:solidFill>
                  <a:schemeClr val="tx1"/>
                </a:solidFill>
              </a:rPr>
              <a:t>ways to read Synapse: Git repository, live workspace, ZIP export</a:t>
            </a:r>
            <a:endParaRPr lang="en-US" sz="1250" dirty="0"/>
          </a:p>
        </p:txBody>
      </p:sp>
      <p:sp>
        <p:nvSpPr>
          <p:cNvPr id="7" name="Shape 5"/>
          <p:cNvSpPr/>
          <p:nvPr/>
        </p:nvSpPr>
        <p:spPr>
          <a:xfrm>
            <a:off x="3379394" y="1508760"/>
            <a:ext cx="2602154" cy="1344168"/>
          </a:xfrm>
          <a:prstGeom prst="roundRect">
            <a:avLst>
              <a:gd name="adj" fmla="val 8163"/>
            </a:avLst>
          </a:prstGeom>
          <a:solidFill>
            <a:schemeClr val="bg2"/>
          </a:solidFill>
          <a:ln/>
        </p:spPr>
      </p:sp>
      <p:sp>
        <p:nvSpPr>
          <p:cNvPr id="8" name="Text 6"/>
          <p:cNvSpPr txBox="1"/>
          <p:nvPr/>
        </p:nvSpPr>
        <p:spPr>
          <a:xfrm>
            <a:off x="3580562" y="1618488"/>
            <a:ext cx="2236394" cy="566928"/>
          </a:xfrm>
          <a:prstGeom prst="rect">
            <a:avLst/>
          </a:prstGeom>
          <a:noFill/>
          <a:ln/>
        </p:spPr>
        <p:txBody>
          <a:bodyPr wrap="square" lIns="0" tIns="0" rIns="0" bIns="0" rtlCol="0" anchor="t"/>
          <a:lstStyle/>
          <a:p>
            <a:pPr indent="0" marL="0">
              <a:buNone/>
            </a:pPr>
            <a:r>
              <a:rPr lang="en-US" sz="3200" dirty="0">
                <a:solidFill>
                  <a:schemeClr val="accent1"/>
                </a:solidFill>
                <a:latin typeface="+mj-lt" pitchFamily="34" charset="0"/>
                <a:ea typeface="+mj-lt" pitchFamily="34" charset="-122"/>
                <a:cs typeface="+mj-lt" pitchFamily="34" charset="-120"/>
              </a:rPr>
              <a:t>2</a:t>
            </a:r>
            <a:endParaRPr lang="en-US" sz="3200" dirty="0"/>
          </a:p>
        </p:txBody>
      </p:sp>
      <p:sp>
        <p:nvSpPr>
          <p:cNvPr id="9" name="Text 7"/>
          <p:cNvSpPr txBox="1"/>
          <p:nvPr/>
        </p:nvSpPr>
        <p:spPr>
          <a:xfrm>
            <a:off x="3580562" y="2203704"/>
            <a:ext cx="2236394" cy="594360"/>
          </a:xfrm>
          <a:prstGeom prst="rect">
            <a:avLst/>
          </a:prstGeom>
          <a:noFill/>
          <a:ln/>
        </p:spPr>
        <p:txBody>
          <a:bodyPr wrap="square" lIns="0" tIns="0" rIns="0" bIns="0" rtlCol="0" anchor="t"/>
          <a:lstStyle/>
          <a:p>
            <a:pPr indent="0" marL="0">
              <a:buNone/>
            </a:pPr>
            <a:r>
              <a:rPr lang="en-US" sz="1250" dirty="0">
                <a:solidFill>
                  <a:schemeClr val="tx1"/>
                </a:solidFill>
              </a:rPr>
              <a:t>Fabric sign-ins: Azure CLI or Fabric CLI</a:t>
            </a:r>
            <a:endParaRPr lang="en-US" sz="1250" dirty="0"/>
          </a:p>
        </p:txBody>
      </p:sp>
      <p:sp>
        <p:nvSpPr>
          <p:cNvPr id="10" name="Shape 8"/>
          <p:cNvSpPr/>
          <p:nvPr/>
        </p:nvSpPr>
        <p:spPr>
          <a:xfrm>
            <a:off x="6210148" y="1508760"/>
            <a:ext cx="2602154" cy="1344168"/>
          </a:xfrm>
          <a:prstGeom prst="roundRect">
            <a:avLst>
              <a:gd name="adj" fmla="val 8163"/>
            </a:avLst>
          </a:prstGeom>
          <a:solidFill>
            <a:schemeClr val="bg2"/>
          </a:solidFill>
          <a:ln/>
        </p:spPr>
      </p:sp>
      <p:sp>
        <p:nvSpPr>
          <p:cNvPr id="11" name="Text 9"/>
          <p:cNvSpPr txBox="1"/>
          <p:nvPr/>
        </p:nvSpPr>
        <p:spPr>
          <a:xfrm>
            <a:off x="6411316" y="1618488"/>
            <a:ext cx="2236394" cy="566928"/>
          </a:xfrm>
          <a:prstGeom prst="rect">
            <a:avLst/>
          </a:prstGeom>
          <a:noFill/>
          <a:ln/>
        </p:spPr>
        <p:txBody>
          <a:bodyPr wrap="square" lIns="0" tIns="0" rIns="0" bIns="0" rtlCol="0" anchor="t"/>
          <a:lstStyle/>
          <a:p>
            <a:pPr indent="0" marL="0">
              <a:buNone/>
            </a:pPr>
            <a:r>
              <a:rPr lang="en-US" sz="3200" dirty="0">
                <a:solidFill>
                  <a:schemeClr val="accent1"/>
                </a:solidFill>
                <a:latin typeface="+mj-lt" pitchFamily="34" charset="0"/>
                <a:ea typeface="+mj-lt" pitchFamily="34" charset="-122"/>
                <a:cs typeface="+mj-lt" pitchFamily="34" charset="-120"/>
              </a:rPr>
              <a:t>6</a:t>
            </a:r>
            <a:endParaRPr lang="en-US" sz="3200" dirty="0"/>
          </a:p>
        </p:txBody>
      </p:sp>
      <p:sp>
        <p:nvSpPr>
          <p:cNvPr id="12" name="Text 10"/>
          <p:cNvSpPr txBox="1"/>
          <p:nvPr/>
        </p:nvSpPr>
        <p:spPr>
          <a:xfrm>
            <a:off x="6411316" y="2203704"/>
            <a:ext cx="2236394" cy="594360"/>
          </a:xfrm>
          <a:prstGeom prst="rect">
            <a:avLst/>
          </a:prstGeom>
          <a:noFill/>
          <a:ln/>
        </p:spPr>
        <p:txBody>
          <a:bodyPr wrap="square" lIns="0" tIns="0" rIns="0" bIns="0" rtlCol="0" anchor="t"/>
          <a:lstStyle/>
          <a:p>
            <a:pPr indent="0" marL="0">
              <a:buNone/>
            </a:pPr>
            <a:r>
              <a:rPr lang="en-US" sz="1250" dirty="0">
                <a:solidFill>
                  <a:schemeClr val="tx1"/>
                </a:solidFill>
              </a:rPr>
              <a:t>guided steps, each confirmed before the next</a:t>
            </a:r>
            <a:endParaRPr lang="en-US" sz="1250" dirty="0"/>
          </a:p>
        </p:txBody>
      </p:sp>
      <p:sp>
        <p:nvSpPr>
          <p:cNvPr id="13" name="Shape 11"/>
          <p:cNvSpPr/>
          <p:nvPr/>
        </p:nvSpPr>
        <p:spPr>
          <a:xfrm>
            <a:off x="9040901" y="1508760"/>
            <a:ext cx="2602154" cy="1344168"/>
          </a:xfrm>
          <a:prstGeom prst="roundRect">
            <a:avLst>
              <a:gd name="adj" fmla="val 8163"/>
            </a:avLst>
          </a:prstGeom>
          <a:solidFill>
            <a:schemeClr val="bg2"/>
          </a:solidFill>
          <a:ln/>
        </p:spPr>
      </p:sp>
      <p:sp>
        <p:nvSpPr>
          <p:cNvPr id="14" name="Text 12"/>
          <p:cNvSpPr txBox="1"/>
          <p:nvPr/>
        </p:nvSpPr>
        <p:spPr>
          <a:xfrm>
            <a:off x="9242069" y="1618488"/>
            <a:ext cx="2236394" cy="566928"/>
          </a:xfrm>
          <a:prstGeom prst="rect">
            <a:avLst/>
          </a:prstGeom>
          <a:noFill/>
          <a:ln/>
        </p:spPr>
        <p:txBody>
          <a:bodyPr wrap="square" lIns="0" tIns="0" rIns="0" bIns="0" rtlCol="0" anchor="t"/>
          <a:lstStyle/>
          <a:p>
            <a:pPr indent="0" marL="0">
              <a:buNone/>
            </a:pPr>
            <a:r>
              <a:rPr lang="en-US" sz="3200" dirty="0">
                <a:solidFill>
                  <a:schemeClr val="accent1"/>
                </a:solidFill>
                <a:latin typeface="+mj-lt" pitchFamily="34" charset="0"/>
                <a:ea typeface="+mj-lt" pitchFamily="34" charset="-122"/>
                <a:cs typeface="+mj-lt" pitchFamily="34" charset="-120"/>
              </a:rPr>
              <a:t>11</a:t>
            </a:r>
            <a:endParaRPr lang="en-US" sz="3200" dirty="0"/>
          </a:p>
        </p:txBody>
      </p:sp>
      <p:sp>
        <p:nvSpPr>
          <p:cNvPr id="15" name="Text 13"/>
          <p:cNvSpPr txBox="1"/>
          <p:nvPr/>
        </p:nvSpPr>
        <p:spPr>
          <a:xfrm>
            <a:off x="9242069" y="2203704"/>
            <a:ext cx="2236394" cy="594360"/>
          </a:xfrm>
          <a:prstGeom prst="rect">
            <a:avLst/>
          </a:prstGeom>
          <a:noFill/>
          <a:ln/>
        </p:spPr>
        <p:txBody>
          <a:bodyPr wrap="square" lIns="0" tIns="0" rIns="0" bIns="0" rtlCol="0" anchor="t"/>
          <a:lstStyle/>
          <a:p>
            <a:pPr indent="0" marL="0">
              <a:buNone/>
            </a:pPr>
            <a:r>
              <a:rPr lang="en-US" sz="1250" dirty="0">
                <a:solidFill>
                  <a:schemeClr val="tx1"/>
                </a:solidFill>
              </a:rPr>
              <a:t>migration stages, each one switchable</a:t>
            </a:r>
            <a:endParaRPr lang="en-US" sz="1250" dirty="0"/>
          </a:p>
        </p:txBody>
      </p:sp>
      <p:sp>
        <p:nvSpPr>
          <p:cNvPr id="16" name="Shape 14"/>
          <p:cNvSpPr/>
          <p:nvPr/>
        </p:nvSpPr>
        <p:spPr>
          <a:xfrm>
            <a:off x="548640" y="3054096"/>
            <a:ext cx="2602154" cy="1344168"/>
          </a:xfrm>
          <a:prstGeom prst="roundRect">
            <a:avLst>
              <a:gd name="adj" fmla="val 8163"/>
            </a:avLst>
          </a:prstGeom>
          <a:solidFill>
            <a:schemeClr val="bg2"/>
          </a:solidFill>
          <a:ln/>
        </p:spPr>
      </p:sp>
      <p:sp>
        <p:nvSpPr>
          <p:cNvPr id="17" name="Text 15"/>
          <p:cNvSpPr txBox="1"/>
          <p:nvPr/>
        </p:nvSpPr>
        <p:spPr>
          <a:xfrm>
            <a:off x="749808" y="3163824"/>
            <a:ext cx="2236394" cy="566928"/>
          </a:xfrm>
          <a:prstGeom prst="rect">
            <a:avLst/>
          </a:prstGeom>
          <a:noFill/>
          <a:ln/>
        </p:spPr>
        <p:txBody>
          <a:bodyPr wrap="square" lIns="0" tIns="0" rIns="0" bIns="0" rtlCol="0" anchor="t"/>
          <a:lstStyle/>
          <a:p>
            <a:pPr indent="0" marL="0">
              <a:buNone/>
            </a:pPr>
            <a:r>
              <a:rPr lang="en-US" sz="3200" dirty="0">
                <a:solidFill>
                  <a:schemeClr val="accent1"/>
                </a:solidFill>
                <a:latin typeface="+mj-lt" pitchFamily="34" charset="0"/>
                <a:ea typeface="+mj-lt" pitchFamily="34" charset="-122"/>
                <a:cs typeface="+mj-lt" pitchFamily="34" charset="-120"/>
              </a:rPr>
              <a:t>4</a:t>
            </a:r>
            <a:endParaRPr lang="en-US" sz="3200" dirty="0"/>
          </a:p>
        </p:txBody>
      </p:sp>
      <p:sp>
        <p:nvSpPr>
          <p:cNvPr id="18" name="Text 16"/>
          <p:cNvSpPr txBox="1"/>
          <p:nvPr/>
        </p:nvSpPr>
        <p:spPr>
          <a:xfrm>
            <a:off x="749808" y="3749040"/>
            <a:ext cx="2236394" cy="594360"/>
          </a:xfrm>
          <a:prstGeom prst="rect">
            <a:avLst/>
          </a:prstGeom>
          <a:noFill/>
          <a:ln/>
        </p:spPr>
        <p:txBody>
          <a:bodyPr wrap="square" lIns="0" tIns="0" rIns="0" bIns="0" rtlCol="0" anchor="t"/>
          <a:lstStyle/>
          <a:p>
            <a:pPr indent="0" marL="0">
              <a:buNone/>
            </a:pPr>
            <a:r>
              <a:rPr lang="en-US" sz="1250" dirty="0">
                <a:solidFill>
                  <a:schemeClr val="tx1"/>
                </a:solidFill>
              </a:rPr>
              <a:t>stage options: collation, data run, data mode, re-read window</a:t>
            </a:r>
            <a:endParaRPr lang="en-US" sz="1250" dirty="0"/>
          </a:p>
        </p:txBody>
      </p:sp>
      <p:sp>
        <p:nvSpPr>
          <p:cNvPr id="19" name="Shape 17"/>
          <p:cNvSpPr/>
          <p:nvPr/>
        </p:nvSpPr>
        <p:spPr>
          <a:xfrm>
            <a:off x="3379394" y="3054096"/>
            <a:ext cx="2602154" cy="1344168"/>
          </a:xfrm>
          <a:prstGeom prst="roundRect">
            <a:avLst>
              <a:gd name="adj" fmla="val 8163"/>
            </a:avLst>
          </a:prstGeom>
          <a:solidFill>
            <a:schemeClr val="bg2"/>
          </a:solidFill>
          <a:ln/>
        </p:spPr>
      </p:sp>
      <p:sp>
        <p:nvSpPr>
          <p:cNvPr id="20" name="Text 18"/>
          <p:cNvSpPr txBox="1"/>
          <p:nvPr/>
        </p:nvSpPr>
        <p:spPr>
          <a:xfrm>
            <a:off x="3580562" y="3163824"/>
            <a:ext cx="2236394" cy="566928"/>
          </a:xfrm>
          <a:prstGeom prst="rect">
            <a:avLst/>
          </a:prstGeom>
          <a:noFill/>
          <a:ln/>
        </p:spPr>
        <p:txBody>
          <a:bodyPr wrap="square" lIns="0" tIns="0" rIns="0" bIns="0" rtlCol="0" anchor="t"/>
          <a:lstStyle/>
          <a:p>
            <a:pPr indent="0" marL="0">
              <a:buNone/>
            </a:pPr>
            <a:r>
              <a:rPr lang="en-US" sz="3200" dirty="0">
                <a:solidFill>
                  <a:schemeClr val="accent1"/>
                </a:solidFill>
                <a:latin typeface="+mj-lt" pitchFamily="34" charset="0"/>
                <a:ea typeface="+mj-lt" pitchFamily="34" charset="-122"/>
                <a:cs typeface="+mj-lt" pitchFamily="34" charset="-120"/>
              </a:rPr>
              <a:t>4</a:t>
            </a:r>
            <a:endParaRPr lang="en-US" sz="3200" dirty="0"/>
          </a:p>
        </p:txBody>
      </p:sp>
      <p:sp>
        <p:nvSpPr>
          <p:cNvPr id="21" name="Text 19"/>
          <p:cNvSpPr txBox="1"/>
          <p:nvPr/>
        </p:nvSpPr>
        <p:spPr>
          <a:xfrm>
            <a:off x="3580562" y="3749040"/>
            <a:ext cx="2236394" cy="594360"/>
          </a:xfrm>
          <a:prstGeom prst="rect">
            <a:avLst/>
          </a:prstGeom>
          <a:noFill/>
          <a:ln/>
        </p:spPr>
        <p:txBody>
          <a:bodyPr wrap="square" lIns="0" tIns="0" rIns="0" bIns="0" rtlCol="0" anchor="t"/>
          <a:lstStyle/>
          <a:p>
            <a:pPr indent="0" marL="0">
              <a:buNone/>
            </a:pPr>
            <a:r>
              <a:rPr lang="en-US" sz="1250" dirty="0">
                <a:solidFill>
                  <a:schemeClr val="tx1"/>
                </a:solidFill>
              </a:rPr>
              <a:t>run options: scope, stop on failure, update existing, Git commit</a:t>
            </a:r>
            <a:endParaRPr lang="en-US" sz="1250" dirty="0"/>
          </a:p>
        </p:txBody>
      </p:sp>
      <p:sp>
        <p:nvSpPr>
          <p:cNvPr id="22" name="Shape 20"/>
          <p:cNvSpPr/>
          <p:nvPr/>
        </p:nvSpPr>
        <p:spPr>
          <a:xfrm>
            <a:off x="6210148" y="3054096"/>
            <a:ext cx="2602154" cy="1344168"/>
          </a:xfrm>
          <a:prstGeom prst="roundRect">
            <a:avLst>
              <a:gd name="adj" fmla="val 8163"/>
            </a:avLst>
          </a:prstGeom>
          <a:solidFill>
            <a:schemeClr val="bg2"/>
          </a:solidFill>
          <a:ln/>
        </p:spPr>
      </p:sp>
      <p:sp>
        <p:nvSpPr>
          <p:cNvPr id="23" name="Text 21"/>
          <p:cNvSpPr txBox="1"/>
          <p:nvPr/>
        </p:nvSpPr>
        <p:spPr>
          <a:xfrm>
            <a:off x="6411316" y="3163824"/>
            <a:ext cx="2236394" cy="566928"/>
          </a:xfrm>
          <a:prstGeom prst="rect">
            <a:avLst/>
          </a:prstGeom>
          <a:noFill/>
          <a:ln/>
        </p:spPr>
        <p:txBody>
          <a:bodyPr wrap="square" lIns="0" tIns="0" rIns="0" bIns="0" rtlCol="0" anchor="t"/>
          <a:lstStyle/>
          <a:p>
            <a:pPr indent="0" marL="0">
              <a:buNone/>
            </a:pPr>
            <a:r>
              <a:rPr lang="en-US" sz="3200" dirty="0">
                <a:solidFill>
                  <a:schemeClr val="accent1"/>
                </a:solidFill>
                <a:latin typeface="+mj-lt" pitchFamily="34" charset="0"/>
                <a:ea typeface="+mj-lt" pitchFamily="34" charset="-122"/>
                <a:cs typeface="+mj-lt" pitchFamily="34" charset="-120"/>
              </a:rPr>
              <a:t>12</a:t>
            </a:r>
            <a:endParaRPr lang="en-US" sz="3200" dirty="0"/>
          </a:p>
        </p:txBody>
      </p:sp>
      <p:sp>
        <p:nvSpPr>
          <p:cNvPr id="24" name="Text 22"/>
          <p:cNvSpPr txBox="1"/>
          <p:nvPr/>
        </p:nvSpPr>
        <p:spPr>
          <a:xfrm>
            <a:off x="6411316" y="3749040"/>
            <a:ext cx="2236394" cy="594360"/>
          </a:xfrm>
          <a:prstGeom prst="rect">
            <a:avLst/>
          </a:prstGeom>
          <a:noFill/>
          <a:ln/>
        </p:spPr>
        <p:txBody>
          <a:bodyPr wrap="square" lIns="0" tIns="0" rIns="0" bIns="0" rtlCol="0" anchor="t"/>
          <a:lstStyle/>
          <a:p>
            <a:pPr indent="0" marL="0">
              <a:buNone/>
            </a:pPr>
            <a:r>
              <a:rPr lang="en-US" sz="1250" dirty="0">
                <a:solidFill>
                  <a:schemeClr val="tx1"/>
                </a:solidFill>
              </a:rPr>
              <a:t>credential choices: 5 for SQL, 7 for storage</a:t>
            </a:r>
            <a:endParaRPr lang="en-US" sz="1250" dirty="0"/>
          </a:p>
        </p:txBody>
      </p:sp>
      <p:sp>
        <p:nvSpPr>
          <p:cNvPr id="25" name="Shape 23"/>
          <p:cNvSpPr/>
          <p:nvPr/>
        </p:nvSpPr>
        <p:spPr>
          <a:xfrm>
            <a:off x="9040901" y="3054096"/>
            <a:ext cx="2602154" cy="1344168"/>
          </a:xfrm>
          <a:prstGeom prst="roundRect">
            <a:avLst>
              <a:gd name="adj" fmla="val 8163"/>
            </a:avLst>
          </a:prstGeom>
          <a:solidFill>
            <a:schemeClr val="bg2"/>
          </a:solidFill>
          <a:ln/>
        </p:spPr>
      </p:sp>
      <p:sp>
        <p:nvSpPr>
          <p:cNvPr id="26" name="Text 24"/>
          <p:cNvSpPr txBox="1"/>
          <p:nvPr/>
        </p:nvSpPr>
        <p:spPr>
          <a:xfrm>
            <a:off x="9242069" y="3163824"/>
            <a:ext cx="2236394" cy="566928"/>
          </a:xfrm>
          <a:prstGeom prst="rect">
            <a:avLst/>
          </a:prstGeom>
          <a:noFill/>
          <a:ln/>
        </p:spPr>
        <p:txBody>
          <a:bodyPr wrap="square" lIns="0" tIns="0" rIns="0" bIns="0" rtlCol="0" anchor="t"/>
          <a:lstStyle/>
          <a:p>
            <a:pPr indent="0" marL="0">
              <a:buNone/>
            </a:pPr>
            <a:r>
              <a:rPr lang="en-US" sz="3200" dirty="0">
                <a:solidFill>
                  <a:schemeClr val="accent1"/>
                </a:solidFill>
                <a:latin typeface="+mj-lt" pitchFamily="34" charset="0"/>
                <a:ea typeface="+mj-lt" pitchFamily="34" charset="-122"/>
                <a:cs typeface="+mj-lt" pitchFamily="34" charset="-120"/>
              </a:rPr>
              <a:t>6</a:t>
            </a:r>
            <a:endParaRPr lang="en-US" sz="3200" dirty="0"/>
          </a:p>
        </p:txBody>
      </p:sp>
      <p:sp>
        <p:nvSpPr>
          <p:cNvPr id="27" name="Text 25"/>
          <p:cNvSpPr txBox="1"/>
          <p:nvPr/>
        </p:nvSpPr>
        <p:spPr>
          <a:xfrm>
            <a:off x="9242069" y="3749040"/>
            <a:ext cx="2236394" cy="594360"/>
          </a:xfrm>
          <a:prstGeom prst="rect">
            <a:avLst/>
          </a:prstGeom>
          <a:noFill/>
          <a:ln/>
        </p:spPr>
        <p:txBody>
          <a:bodyPr wrap="square" lIns="0" tIns="0" rIns="0" bIns="0" rtlCol="0" anchor="t"/>
          <a:lstStyle/>
          <a:p>
            <a:pPr indent="0" marL="0">
              <a:buNone/>
            </a:pPr>
            <a:r>
              <a:rPr lang="en-US" sz="1250" dirty="0">
                <a:solidFill>
                  <a:schemeClr val="tx1"/>
                </a:solidFill>
              </a:rPr>
              <a:t>settings per date filter, plus a bulk apply</a:t>
            </a:r>
            <a:endParaRPr lang="en-US" sz="1250" dirty="0"/>
          </a:p>
        </p:txBody>
      </p:sp>
      <p:sp>
        <p:nvSpPr>
          <p:cNvPr id="28" name="Shape 26"/>
          <p:cNvSpPr/>
          <p:nvPr/>
        </p:nvSpPr>
        <p:spPr>
          <a:xfrm>
            <a:off x="548640" y="4599432"/>
            <a:ext cx="2602154" cy="1344168"/>
          </a:xfrm>
          <a:prstGeom prst="roundRect">
            <a:avLst>
              <a:gd name="adj" fmla="val 8163"/>
            </a:avLst>
          </a:prstGeom>
          <a:solidFill>
            <a:schemeClr val="bg2"/>
          </a:solidFill>
          <a:ln/>
        </p:spPr>
      </p:sp>
      <p:sp>
        <p:nvSpPr>
          <p:cNvPr id="29" name="Text 27"/>
          <p:cNvSpPr txBox="1"/>
          <p:nvPr/>
        </p:nvSpPr>
        <p:spPr>
          <a:xfrm>
            <a:off x="749808" y="4709160"/>
            <a:ext cx="2236394" cy="566928"/>
          </a:xfrm>
          <a:prstGeom prst="rect">
            <a:avLst/>
          </a:prstGeom>
          <a:noFill/>
          <a:ln/>
        </p:spPr>
        <p:txBody>
          <a:bodyPr wrap="square" lIns="0" tIns="0" rIns="0" bIns="0" rtlCol="0" anchor="t"/>
          <a:lstStyle/>
          <a:p>
            <a:pPr indent="0" marL="0">
              <a:buNone/>
            </a:pPr>
            <a:r>
              <a:rPr lang="en-US" sz="3200" dirty="0">
                <a:solidFill>
                  <a:schemeClr val="accent1"/>
                </a:solidFill>
                <a:latin typeface="+mj-lt" pitchFamily="34" charset="0"/>
                <a:ea typeface="+mj-lt" pitchFamily="34" charset="-122"/>
                <a:cs typeface="+mj-lt" pitchFamily="34" charset="-120"/>
              </a:rPr>
              <a:t>5</a:t>
            </a:r>
            <a:endParaRPr lang="en-US" sz="3200" dirty="0"/>
          </a:p>
        </p:txBody>
      </p:sp>
      <p:sp>
        <p:nvSpPr>
          <p:cNvPr id="30" name="Text 28"/>
          <p:cNvSpPr txBox="1"/>
          <p:nvPr/>
        </p:nvSpPr>
        <p:spPr>
          <a:xfrm>
            <a:off x="749808" y="5294376"/>
            <a:ext cx="2236394" cy="594360"/>
          </a:xfrm>
          <a:prstGeom prst="rect">
            <a:avLst/>
          </a:prstGeom>
          <a:noFill/>
          <a:ln/>
        </p:spPr>
        <p:txBody>
          <a:bodyPr wrap="square" lIns="0" tIns="0" rIns="0" bIns="0" rtlCol="0" anchor="t"/>
          <a:lstStyle/>
          <a:p>
            <a:pPr indent="0" marL="0">
              <a:buNone/>
            </a:pPr>
            <a:r>
              <a:rPr lang="en-US" sz="1250" dirty="0">
                <a:solidFill>
                  <a:schemeClr val="tx1"/>
                </a:solidFill>
              </a:rPr>
              <a:t>object kinds Validate can run for real</a:t>
            </a:r>
            <a:endParaRPr lang="en-US" sz="1250" dirty="0"/>
          </a:p>
        </p:txBody>
      </p:sp>
      <p:sp>
        <p:nvSpPr>
          <p:cNvPr id="31" name="Shape 29"/>
          <p:cNvSpPr/>
          <p:nvPr/>
        </p:nvSpPr>
        <p:spPr>
          <a:xfrm>
            <a:off x="3379394" y="4599432"/>
            <a:ext cx="2602154" cy="1344168"/>
          </a:xfrm>
          <a:prstGeom prst="roundRect">
            <a:avLst>
              <a:gd name="adj" fmla="val 8163"/>
            </a:avLst>
          </a:prstGeom>
          <a:solidFill>
            <a:schemeClr val="bg2"/>
          </a:solidFill>
          <a:ln/>
        </p:spPr>
      </p:sp>
      <p:sp>
        <p:nvSpPr>
          <p:cNvPr id="32" name="Text 30"/>
          <p:cNvSpPr txBox="1"/>
          <p:nvPr/>
        </p:nvSpPr>
        <p:spPr>
          <a:xfrm>
            <a:off x="3580562" y="4709160"/>
            <a:ext cx="2236394" cy="566928"/>
          </a:xfrm>
          <a:prstGeom prst="rect">
            <a:avLst/>
          </a:prstGeom>
          <a:noFill/>
          <a:ln/>
        </p:spPr>
        <p:txBody>
          <a:bodyPr wrap="square" lIns="0" tIns="0" rIns="0" bIns="0" rtlCol="0" anchor="t"/>
          <a:lstStyle/>
          <a:p>
            <a:pPr indent="0" marL="0">
              <a:buNone/>
            </a:pPr>
            <a:r>
              <a:rPr lang="en-US" sz="3200" dirty="0">
                <a:solidFill>
                  <a:schemeClr val="accent1"/>
                </a:solidFill>
                <a:latin typeface="+mj-lt" pitchFamily="34" charset="0"/>
                <a:ea typeface="+mj-lt" pitchFamily="34" charset="-122"/>
                <a:cs typeface="+mj-lt" pitchFamily="34" charset="-120"/>
              </a:rPr>
              <a:t>7</a:t>
            </a:r>
            <a:endParaRPr lang="en-US" sz="3200" dirty="0"/>
          </a:p>
        </p:txBody>
      </p:sp>
      <p:sp>
        <p:nvSpPr>
          <p:cNvPr id="33" name="Text 31"/>
          <p:cNvSpPr txBox="1"/>
          <p:nvPr/>
        </p:nvSpPr>
        <p:spPr>
          <a:xfrm>
            <a:off x="3580562" y="5294376"/>
            <a:ext cx="2236394" cy="594360"/>
          </a:xfrm>
          <a:prstGeom prst="rect">
            <a:avLst/>
          </a:prstGeom>
          <a:noFill/>
          <a:ln/>
        </p:spPr>
        <p:txBody>
          <a:bodyPr wrap="square" lIns="0" tIns="0" rIns="0" bIns="0" rtlCol="0" anchor="t"/>
          <a:lstStyle/>
          <a:p>
            <a:pPr indent="0" marL="0">
              <a:buNone/>
            </a:pPr>
            <a:r>
              <a:rPr lang="en-US" sz="1250" dirty="0">
                <a:solidFill>
                  <a:schemeClr val="tx1"/>
                </a:solidFill>
              </a:rPr>
              <a:t>object kinds the LLM can draft</a:t>
            </a:r>
            <a:endParaRPr lang="en-US" sz="1250" dirty="0"/>
          </a:p>
        </p:txBody>
      </p:sp>
      <p:sp>
        <p:nvSpPr>
          <p:cNvPr id="34" name="Shape 32"/>
          <p:cNvSpPr/>
          <p:nvPr/>
        </p:nvSpPr>
        <p:spPr>
          <a:xfrm>
            <a:off x="6210148" y="4599432"/>
            <a:ext cx="2602154" cy="1344168"/>
          </a:xfrm>
          <a:prstGeom prst="roundRect">
            <a:avLst>
              <a:gd name="adj" fmla="val 8163"/>
            </a:avLst>
          </a:prstGeom>
          <a:solidFill>
            <a:schemeClr val="bg2"/>
          </a:solidFill>
          <a:ln/>
        </p:spPr>
      </p:sp>
      <p:sp>
        <p:nvSpPr>
          <p:cNvPr id="35" name="Text 33"/>
          <p:cNvSpPr txBox="1"/>
          <p:nvPr/>
        </p:nvSpPr>
        <p:spPr>
          <a:xfrm>
            <a:off x="6411316" y="4709160"/>
            <a:ext cx="2236394" cy="566928"/>
          </a:xfrm>
          <a:prstGeom prst="rect">
            <a:avLst/>
          </a:prstGeom>
          <a:noFill/>
          <a:ln/>
        </p:spPr>
        <p:txBody>
          <a:bodyPr wrap="square" lIns="0" tIns="0" rIns="0" bIns="0" rtlCol="0" anchor="t"/>
          <a:lstStyle/>
          <a:p>
            <a:pPr indent="0" marL="0">
              <a:buNone/>
            </a:pPr>
            <a:r>
              <a:rPr lang="en-US" sz="3200" dirty="0">
                <a:solidFill>
                  <a:schemeClr val="accent1"/>
                </a:solidFill>
                <a:latin typeface="+mj-lt" pitchFamily="34" charset="0"/>
                <a:ea typeface="+mj-lt" pitchFamily="34" charset="-122"/>
                <a:cs typeface="+mj-lt" pitchFamily="34" charset="-120"/>
              </a:rPr>
              <a:t>8</a:t>
            </a:r>
            <a:endParaRPr lang="en-US" sz="3200" dirty="0"/>
          </a:p>
        </p:txBody>
      </p:sp>
      <p:sp>
        <p:nvSpPr>
          <p:cNvPr id="36" name="Text 34"/>
          <p:cNvSpPr txBox="1"/>
          <p:nvPr/>
        </p:nvSpPr>
        <p:spPr>
          <a:xfrm>
            <a:off x="6411316" y="5294376"/>
            <a:ext cx="2236394" cy="594360"/>
          </a:xfrm>
          <a:prstGeom prst="rect">
            <a:avLst/>
          </a:prstGeom>
          <a:noFill/>
          <a:ln/>
        </p:spPr>
        <p:txBody>
          <a:bodyPr wrap="square" lIns="0" tIns="0" rIns="0" bIns="0" rtlCol="0" anchor="t"/>
          <a:lstStyle/>
          <a:p>
            <a:pPr indent="0" marL="0">
              <a:buNone/>
            </a:pPr>
            <a:r>
              <a:rPr lang="en-US" sz="1250" dirty="0">
                <a:solidFill>
                  <a:schemeClr val="tx1"/>
                </a:solidFill>
              </a:rPr>
              <a:t>inventory groups, with search and 5 filters</a:t>
            </a:r>
            <a:endParaRPr lang="en-US" sz="1250" dirty="0"/>
          </a:p>
        </p:txBody>
      </p:sp>
      <p:sp>
        <p:nvSpPr>
          <p:cNvPr id="37" name="Shape 35"/>
          <p:cNvSpPr/>
          <p:nvPr/>
        </p:nvSpPr>
        <p:spPr>
          <a:xfrm>
            <a:off x="9040901" y="4599432"/>
            <a:ext cx="2602154" cy="1344168"/>
          </a:xfrm>
          <a:prstGeom prst="roundRect">
            <a:avLst>
              <a:gd name="adj" fmla="val 8163"/>
            </a:avLst>
          </a:prstGeom>
          <a:solidFill>
            <a:schemeClr val="bg2"/>
          </a:solidFill>
          <a:ln/>
        </p:spPr>
      </p:sp>
      <p:sp>
        <p:nvSpPr>
          <p:cNvPr id="38" name="Text 36"/>
          <p:cNvSpPr txBox="1"/>
          <p:nvPr/>
        </p:nvSpPr>
        <p:spPr>
          <a:xfrm>
            <a:off x="9242069" y="4709160"/>
            <a:ext cx="2236394" cy="566928"/>
          </a:xfrm>
          <a:prstGeom prst="rect">
            <a:avLst/>
          </a:prstGeom>
          <a:noFill/>
          <a:ln/>
        </p:spPr>
        <p:txBody>
          <a:bodyPr wrap="square" lIns="0" tIns="0" rIns="0" bIns="0" rtlCol="0" anchor="t"/>
          <a:lstStyle/>
          <a:p>
            <a:pPr indent="0" marL="0">
              <a:buNone/>
            </a:pPr>
            <a:r>
              <a:rPr lang="en-US" sz="3200" dirty="0">
                <a:solidFill>
                  <a:schemeClr val="accent1"/>
                </a:solidFill>
                <a:latin typeface="+mj-lt" pitchFamily="34" charset="0"/>
                <a:ea typeface="+mj-lt" pitchFamily="34" charset="-122"/>
                <a:cs typeface="+mj-lt" pitchFamily="34" charset="-120"/>
              </a:rPr>
              <a:t>2</a:t>
            </a:r>
            <a:endParaRPr lang="en-US" sz="3200" dirty="0"/>
          </a:p>
        </p:txBody>
      </p:sp>
      <p:sp>
        <p:nvSpPr>
          <p:cNvPr id="39" name="Text 37"/>
          <p:cNvSpPr txBox="1"/>
          <p:nvPr/>
        </p:nvSpPr>
        <p:spPr>
          <a:xfrm>
            <a:off x="9242069" y="5294376"/>
            <a:ext cx="2236394" cy="594360"/>
          </a:xfrm>
          <a:prstGeom prst="rect">
            <a:avLst/>
          </a:prstGeom>
          <a:noFill/>
          <a:ln/>
        </p:spPr>
        <p:txBody>
          <a:bodyPr wrap="square" lIns="0" tIns="0" rIns="0" bIns="0" rtlCol="0" anchor="t"/>
          <a:lstStyle/>
          <a:p>
            <a:pPr indent="0" marL="0">
              <a:buNone/>
            </a:pPr>
            <a:r>
              <a:rPr lang="en-US" sz="1250" dirty="0">
                <a:solidFill>
                  <a:schemeClr val="tx1"/>
                </a:solidFill>
              </a:rPr>
              <a:t>modes: Live on real workspaces, Demo in the browser</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731520" y="1417320"/>
            <a:ext cx="2743200" cy="1371600"/>
          </a:xfrm>
          <a:prstGeom prst="rect">
            <a:avLst/>
          </a:prstGeom>
          <a:noFill/>
          <a:ln/>
        </p:spPr>
        <p:txBody>
          <a:bodyPr wrap="square" lIns="0" tIns="0" rIns="0" bIns="0" rtlCol="0" anchor="t"/>
          <a:lstStyle/>
          <a:p>
            <a:pPr indent="0" marL="0">
              <a:buNone/>
            </a:pPr>
            <a:r>
              <a:rPr lang="en-US" sz="8800" dirty="0">
                <a:solidFill>
                  <a:schemeClr val="accent5"/>
                </a:solidFill>
                <a:latin typeface="+mj-lt" pitchFamily="34" charset="0"/>
                <a:ea typeface="+mj-lt" pitchFamily="34" charset="-122"/>
                <a:cs typeface="+mj-lt" pitchFamily="34" charset="-120"/>
              </a:rPr>
              <a:t>02</a:t>
            </a:r>
            <a:endParaRPr lang="en-US" sz="8800" dirty="0"/>
          </a:p>
        </p:txBody>
      </p:sp>
      <p:sp>
        <p:nvSpPr>
          <p:cNvPr id="3" name="Shape 1"/>
          <p:cNvSpPr/>
          <p:nvPr/>
        </p:nvSpPr>
        <p:spPr>
          <a:xfrm>
            <a:off x="8549640" y="2011680"/>
            <a:ext cx="2468880" cy="2468880"/>
          </a:xfrm>
          <a:prstGeom prst="ellipse">
            <a:avLst/>
          </a:prstGeom>
          <a:solidFill>
            <a:schemeClr val="accent5">
              <a:alpha val="18000"/>
            </a:schemeClr>
          </a:solidFill>
          <a:ln/>
        </p:spPr>
      </p:sp>
      <p:pic>
        <p:nvPicPr>
          <p:cNvPr id="4" name="Image 0" descr="preencoded.png">    </p:cNvPr>
          <p:cNvPicPr>
            <a:picLocks noChangeAspect="1"/>
          </p:cNvPicPr>
          <p:nvPr/>
        </p:nvPicPr>
        <p:blipFill>
          <a:blip r:embed="rId1"/>
          <a:stretch>
            <a:fillRect/>
          </a:stretch>
        </p:blipFill>
        <p:spPr>
          <a:xfrm>
            <a:off x="9166860" y="2628900"/>
            <a:ext cx="1234440" cy="1234440"/>
          </a:xfrm>
          <a:prstGeom prst="rect">
            <a:avLst/>
          </a:prstGeom>
        </p:spPr>
      </p:pic>
      <p:sp>
        <p:nvSpPr>
          <p:cNvPr id="5" name="Text 0"/>
          <p:cNvSpPr/>
          <p:nvPr>
            <p:ph idx="100" type="title" hasCustomPrompt="1"/>
          </p:nvPr>
        </p:nvSpPr>
        <p:spPr>
          <a:xfrm>
            <a:off x="731520" y="2880360"/>
            <a:ext cx="10515600" cy="914400"/>
          </a:xfrm>
          <a:prstGeom prst="rect">
            <a:avLst/>
          </a:prstGeom>
          <a:noFill/>
          <a:ln/>
        </p:spPr>
        <p:txBody>
          <a:bodyPr wrap="square" lIns="0" tIns="0" rIns="0" bIns="0" rtlCol="0" anchor="ctr"/>
          <a:lstStyle/>
          <a:p>
            <a:pPr algn="l" indent="0" marL="0">
              <a:buNone/>
            </a:pPr>
            <a:r>
              <a:rPr lang="en-US" sz="4000" dirty="0">
                <a:solidFill>
                  <a:schemeClr val="bg1"/>
                </a:solidFill>
              </a:rPr>
              <a:t>Synapse vs Fabric</a:t>
            </a:r>
            <a:endParaRPr lang="en-US" sz="4000" dirty="0"/>
          </a:p>
        </p:txBody>
      </p:sp>
      <p:sp>
        <p:nvSpPr>
          <p:cNvPr id="6" name="Text 0"/>
          <p:cNvSpPr/>
          <p:nvPr>
            <p:ph idx="101" type="body" hasCustomPrompt="1"/>
          </p:nvPr>
        </p:nvSpPr>
        <p:spPr>
          <a:xfrm>
            <a:off x="731520" y="3840480"/>
            <a:ext cx="10515600" cy="548640"/>
          </a:xfrm>
          <a:prstGeom prst="rect">
            <a:avLst/>
          </a:prstGeom>
          <a:noFill/>
          <a:ln/>
        </p:spPr>
        <p:txBody>
          <a:bodyPr wrap="square" lIns="0" tIns="0" rIns="0" bIns="0" rtlCol="0" anchor="t"/>
          <a:lstStyle/>
          <a:p>
            <a:pPr indent="0" marL="0">
              <a:buNone/>
            </a:pPr>
            <a:r>
              <a:rPr lang="en-US" sz="2000" dirty="0">
                <a:solidFill>
                  <a:schemeClr val="accent5"/>
                </a:solidFill>
              </a:rPr>
              <a:t>How the two platforms differ, component by component</a:t>
            </a:r>
            <a:endParaRPr lang="en-US" sz="20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FB0C8"/>
                </a:solidFill>
              </a:defRPr>
            </a:lvl1pPr>
          </a:lstStyle>
          <a:p>
            <a:pPr algn="r"/>
            <a:fld id="{F7021451-1387-4CA6-816F-3879F97B5CBC}" type="slidenum">
              <a:rPr b="0" lang="en-US"/>
              <a:t>11</a:t>
            </a:fld>
            <a:endParaRPr lang="en-US"/>
          </a:p>
        </p:txBody>
      </p:sp>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02 · SYNAPSE VS FABRIC</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Every Synapse component and its Fabric equivalent</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mapping/synapse_fabric_mapping.py</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44752"/>
          <a:ext cx="11094415" cy="914400"/>
        </p:xfrm>
        <a:graphic>
          <a:graphicData uri="http://schemas.openxmlformats.org/drawingml/2006/table">
            <a:tbl>
              <a:tblPr/>
              <a:tblGrid>
                <a:gridCol w="3063240"/>
                <a:gridCol w="4251960"/>
                <a:gridCol w="3776472"/>
              </a:tblGrid>
              <a:tr h="310896">
                <a:tc>
                  <a:txBody>
                    <a:bodyPr/>
                    <a:lstStyle/>
                    <a:p>
                      <a:pPr indent="0" marL="0">
                        <a:buNone/>
                      </a:pPr>
                      <a:r>
                        <a:rPr lang="en-US" sz="1200" b="1" dirty="0">
                          <a:solidFill>
                            <a:schemeClr val="bg1"/>
                          </a:solidFill>
                        </a:rPr>
                        <a:t>Synapse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4157D6"/>
                    </a:solidFill>
                  </a:tcPr>
                </a:tc>
                <a:tc>
                  <a:txBody>
                    <a:bodyPr/>
                    <a:lstStyle/>
                    <a:p>
                      <a:pPr indent="0" marL="0">
                        <a:buNone/>
                      </a:pPr>
                      <a:r>
                        <a:rPr lang="en-US" sz="1200" b="1" dirty="0">
                          <a:solidFill>
                            <a:schemeClr val="bg1"/>
                          </a:solidFill>
                        </a:rPr>
                        <a:t>Fabric</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7F70"/>
                    </a:solidFill>
                  </a:tcPr>
                </a:tc>
                <a:tc>
                  <a:txBody>
                    <a:bodyPr/>
                    <a:lstStyle/>
                    <a:p>
                      <a:pPr indent="0" marL="0">
                        <a:buNone/>
                      </a:pPr>
                      <a:r>
                        <a:rPr lang="en-US" sz="1200" b="1" dirty="0">
                          <a:solidFill>
                            <a:schemeClr val="bg1"/>
                          </a:solidFill>
                        </a:rPr>
                        <a:t>The accelerator</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r>
              <a:tr h="260604">
                <a:tc>
                  <a:txBody>
                    <a:bodyPr/>
                    <a:lstStyle/>
                    <a:p>
                      <a:pPr indent="0" marL="0">
                        <a:buNone/>
                      </a:pPr>
                      <a:r>
                        <a:rPr lang="en-US" sz="1200" b="1" dirty="0">
                          <a:solidFill>
                            <a:schemeClr val="tx2"/>
                          </a:solidFill>
                        </a:rPr>
                        <a:t>Synapse workspace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Fabric workspace on a capacity</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Chosen and tested on Connections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260604">
                <a:tc>
                  <a:txBody>
                    <a:bodyPr/>
                    <a:lstStyle/>
                    <a:p>
                      <a:pPr indent="0" marL="0">
                        <a:buNone/>
                      </a:pPr>
                      <a:r>
                        <a:rPr lang="en-US" sz="1200" b="1" dirty="0">
                          <a:solidFill>
                            <a:schemeClr val="tx2"/>
                          </a:solidFill>
                        </a:rPr>
                        <a:t>Dedicated SQL pool</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Warehouse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Created, one per pool</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260604">
                <a:tc>
                  <a:txBody>
                    <a:bodyPr/>
                    <a:lstStyle/>
                    <a:p>
                      <a:pPr indent="0" marL="0">
                        <a:buNone/>
                      </a:pPr>
                      <a:r>
                        <a:rPr lang="en-US" sz="1200" b="1" dirty="0">
                          <a:solidFill>
                            <a:schemeClr val="tx2"/>
                          </a:solidFill>
                        </a:rPr>
                        <a:t>Serverless SQL pool</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Lakehouse SQL endpoint, or the Warehouse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Flagged: SERVERLESS_SQL</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260604">
                <a:tc>
                  <a:txBody>
                    <a:bodyPr/>
                    <a:lstStyle/>
                    <a:p>
                      <a:pPr indent="0" marL="0">
                        <a:buNone/>
                      </a:pPr>
                      <a:r>
                        <a:rPr lang="en-US" sz="1200" b="1" dirty="0">
                          <a:solidFill>
                            <a:schemeClr val="tx2"/>
                          </a:solidFill>
                        </a:rPr>
                        <a:t>Tables, views, procedures, functions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The same objects in the Warehouse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Created, after the T-SQL rules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260604">
                <a:tc>
                  <a:txBody>
                    <a:bodyPr/>
                    <a:lstStyle/>
                    <a:p>
                      <a:pPr indent="0" marL="0">
                        <a:buNone/>
                      </a:pPr>
                      <a:r>
                        <a:rPr lang="en-US" sz="1200" b="1" dirty="0">
                          <a:solidFill>
                            <a:schemeClr val="tx2"/>
                          </a:solidFill>
                        </a:rPr>
                        <a:t>Roles, permissions, data masks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Warehouse roles, GRANT / DENY, masks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Created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260604">
                <a:tc>
                  <a:txBody>
                    <a:bodyPr/>
                    <a:lstStyle/>
                    <a:p>
                      <a:pPr indent="0" marL="0">
                        <a:buNone/>
                      </a:pPr>
                      <a:r>
                        <a:rPr lang="en-US" sz="1200" b="1" dirty="0">
                          <a:solidFill>
                            <a:schemeClr val="tx2"/>
                          </a:solidFill>
                        </a:rPr>
                        <a:t>External table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OneLake shortcut in a Lakehouse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Created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260604">
                <a:tc>
                  <a:txBody>
                    <a:bodyPr/>
                    <a:lstStyle/>
                    <a:p>
                      <a:pPr indent="0" marL="0">
                        <a:buNone/>
                      </a:pPr>
                      <a:r>
                        <a:rPr lang="en-US" sz="1200" b="1" dirty="0">
                          <a:solidFill>
                            <a:schemeClr val="tx2"/>
                          </a:solidFill>
                        </a:rPr>
                        <a:t>Lake database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Lakehouse with schemas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Not discovered yet</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260604">
                <a:tc>
                  <a:txBody>
                    <a:bodyPr/>
                    <a:lstStyle/>
                    <a:p>
                      <a:pPr indent="0" marL="0">
                        <a:buNone/>
                      </a:pPr>
                      <a:r>
                        <a:rPr lang="en-US" sz="1200" b="1" dirty="0">
                          <a:solidFill>
                            <a:schemeClr val="tx2"/>
                          </a:solidFill>
                        </a:rPr>
                        <a:t>Spark pool</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Custom Spark pool + Environment</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Created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260604">
                <a:tc>
                  <a:txBody>
                    <a:bodyPr/>
                    <a:lstStyle/>
                    <a:p>
                      <a:pPr indent="0" marL="0">
                        <a:buNone/>
                      </a:pPr>
                      <a:r>
                        <a:rPr lang="en-US" sz="1200" b="1" dirty="0">
                          <a:solidFill>
                            <a:schemeClr val="tx2"/>
                          </a:solidFill>
                        </a:rPr>
                        <a:t>Notebook</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Notebook</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Created, code rewritten</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260604">
                <a:tc>
                  <a:txBody>
                    <a:bodyPr/>
                    <a:lstStyle/>
                    <a:p>
                      <a:pPr indent="0" marL="0">
                        <a:buNone/>
                      </a:pPr>
                      <a:r>
                        <a:rPr lang="en-US" sz="1200" b="1" dirty="0">
                          <a:solidFill>
                            <a:schemeClr val="tx2"/>
                          </a:solidFill>
                        </a:rPr>
                        <a:t>Spark job definition</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Spark job definition</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Created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260604">
                <a:tc>
                  <a:txBody>
                    <a:bodyPr/>
                    <a:lstStyle/>
                    <a:p>
                      <a:pPr indent="0" marL="0">
                        <a:buNone/>
                      </a:pPr>
                      <a:r>
                        <a:rPr lang="en-US" sz="1200" b="1" dirty="0">
                          <a:solidFill>
                            <a:schemeClr val="tx2"/>
                          </a:solidFill>
                        </a:rPr>
                        <a:t>Pipeline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Data pipeline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Created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260604">
                <a:tc>
                  <a:txBody>
                    <a:bodyPr/>
                    <a:lstStyle/>
                    <a:p>
                      <a:pPr indent="0" marL="0">
                        <a:buNone/>
                      </a:pPr>
                      <a:r>
                        <a:rPr lang="en-US" sz="1200" b="1" dirty="0">
                          <a:solidFill>
                            <a:schemeClr val="tx2"/>
                          </a:solidFill>
                        </a:rPr>
                        <a:t>Dataset</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Settings inside each activity</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Embedded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260604">
                <a:tc>
                  <a:txBody>
                    <a:bodyPr/>
                    <a:lstStyle/>
                    <a:p>
                      <a:pPr indent="0" marL="0">
                        <a:buNone/>
                      </a:pPr>
                      <a:r>
                        <a:rPr lang="en-US" sz="1200" b="1" dirty="0">
                          <a:solidFill>
                            <a:schemeClr val="tx2"/>
                          </a:solidFill>
                        </a:rPr>
                        <a:t>Linked service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Connection</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Created (SQL, ADLS Gen2, Blob)</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260604">
                <a:tc>
                  <a:txBody>
                    <a:bodyPr/>
                    <a:lstStyle/>
                    <a:p>
                      <a:pPr indent="0" marL="0">
                        <a:buNone/>
                      </a:pPr>
                      <a:r>
                        <a:rPr lang="en-US" sz="1200" b="1" dirty="0">
                          <a:solidFill>
                            <a:schemeClr val="tx2"/>
                          </a:solidFill>
                        </a:rPr>
                        <a:t>Trigger</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Pipeline schedule (events: Activator)</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Schedules, switched off</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260604">
                <a:tc>
                  <a:txBody>
                    <a:bodyPr/>
                    <a:lstStyle/>
                    <a:p>
                      <a:pPr indent="0" marL="0">
                        <a:buNone/>
                      </a:pPr>
                      <a:r>
                        <a:rPr lang="en-US" sz="1200" b="1" dirty="0">
                          <a:solidFill>
                            <a:schemeClr val="tx2"/>
                          </a:solidFill>
                        </a:rPr>
                        <a:t>Integration runtime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Built-in compute, or a data gateway</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By hand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260604">
                <a:tc>
                  <a:txBody>
                    <a:bodyPr/>
                    <a:lstStyle/>
                    <a:p>
                      <a:pPr indent="0" marL="0">
                        <a:buNone/>
                      </a:pPr>
                      <a:r>
                        <a:rPr lang="en-US" sz="1200" b="1" dirty="0">
                          <a:solidFill>
                            <a:schemeClr val="tx2"/>
                          </a:solidFill>
                        </a:rPr>
                        <a:t>SQL script</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Notebook with a T-SQL cell</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Created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260604">
                <a:tc>
                  <a:txBody>
                    <a:bodyPr/>
                    <a:lstStyle/>
                    <a:p>
                      <a:pPr indent="0" marL="0">
                        <a:buNone/>
                      </a:pPr>
                      <a:r>
                        <a:rPr lang="en-US" sz="1200" b="1" dirty="0">
                          <a:solidFill>
                            <a:schemeClr val="tx2"/>
                          </a:solidFill>
                        </a:rPr>
                        <a:t>ADLS Gen2 storage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OneLake, with shortcuts to ADLS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Paths routed via shortcuts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02 · SYNAPSE VS FABRIC</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Compute and storage: provisioned pools vs one capacity</a:t>
            </a:r>
            <a:endParaRPr lang="en-US" sz="3200" dirty="0"/>
          </a:p>
        </p:txBody>
      </p:sp>
      <p:sp>
        <p:nvSpPr>
          <p:cNvPr id="4" name="Shape 2"/>
          <p:cNvSpPr/>
          <p:nvPr/>
        </p:nvSpPr>
        <p:spPr>
          <a:xfrm>
            <a:off x="548640" y="1508760"/>
            <a:ext cx="5449824" cy="3977640"/>
          </a:xfrm>
          <a:prstGeom prst="roundRect">
            <a:avLst>
              <a:gd name="adj" fmla="val 2759"/>
            </a:avLst>
          </a:prstGeom>
          <a:solidFill>
            <a:schemeClr val="accent2">
              <a:alpha val="9000"/>
            </a:schemeClr>
          </a:solidFill>
          <a:ln/>
        </p:spPr>
      </p:sp>
      <p:sp>
        <p:nvSpPr>
          <p:cNvPr id="5" name="Text 3"/>
          <p:cNvSpPr txBox="1"/>
          <p:nvPr/>
        </p:nvSpPr>
        <p:spPr>
          <a:xfrm>
            <a:off x="777240" y="1664208"/>
            <a:ext cx="2743200" cy="256032"/>
          </a:xfrm>
          <a:prstGeom prst="rect">
            <a:avLst/>
          </a:prstGeom>
          <a:noFill/>
          <a:ln/>
        </p:spPr>
        <p:txBody>
          <a:bodyPr wrap="square" lIns="0" tIns="0" rIns="0" bIns="0" rtlCol="0" anchor="t"/>
          <a:lstStyle/>
          <a:p>
            <a:pPr indent="0" marL="0">
              <a:buNone/>
            </a:pPr>
            <a:r>
              <a:rPr lang="en-US" sz="1100" b="1" spc="100" kern="0" dirty="0">
                <a:solidFill>
                  <a:schemeClr val="accent2"/>
                </a:solidFill>
              </a:rPr>
              <a:t>SYNAPSE</a:t>
            </a:r>
            <a:endParaRPr lang="en-US" sz="1100" dirty="0"/>
          </a:p>
        </p:txBody>
      </p:sp>
      <p:sp>
        <p:nvSpPr>
          <p:cNvPr id="6" name="Text 4"/>
          <p:cNvSpPr txBox="1"/>
          <p:nvPr/>
        </p:nvSpPr>
        <p:spPr>
          <a:xfrm>
            <a:off x="777240" y="2011680"/>
            <a:ext cx="1463040" cy="594360"/>
          </a:xfrm>
          <a:prstGeom prst="rect">
            <a:avLst/>
          </a:prstGeom>
          <a:noFill/>
          <a:ln/>
        </p:spPr>
        <p:txBody>
          <a:bodyPr wrap="square" lIns="0" tIns="0" rIns="0" bIns="0" rtlCol="0" anchor="t"/>
          <a:lstStyle/>
          <a:p>
            <a:pPr indent="0" marL="0">
              <a:buNone/>
            </a:pPr>
            <a:r>
              <a:rPr lang="en-US" sz="1250" b="1" dirty="0">
                <a:solidFill>
                  <a:schemeClr val="tx2"/>
                </a:solidFill>
              </a:rPr>
              <a:t>SQL compute</a:t>
            </a:r>
            <a:endParaRPr lang="en-US" sz="1250" dirty="0"/>
          </a:p>
        </p:txBody>
      </p:sp>
      <p:sp>
        <p:nvSpPr>
          <p:cNvPr id="7" name="Text 5"/>
          <p:cNvSpPr txBox="1"/>
          <p:nvPr/>
        </p:nvSpPr>
        <p:spPr>
          <a:xfrm>
            <a:off x="2286000" y="2011680"/>
            <a:ext cx="3566160" cy="621792"/>
          </a:xfrm>
          <a:prstGeom prst="rect">
            <a:avLst/>
          </a:prstGeom>
          <a:noFill/>
          <a:ln/>
        </p:spPr>
        <p:txBody>
          <a:bodyPr wrap="square" lIns="0" tIns="0" rIns="0" bIns="0" rtlCol="0" anchor="t"/>
          <a:lstStyle/>
          <a:p>
            <a:pPr indent="0" marL="0">
              <a:buNone/>
            </a:pPr>
            <a:r>
              <a:rPr lang="en-US" sz="1250" dirty="0">
                <a:solidFill>
                  <a:schemeClr val="tx1"/>
                </a:solidFill>
              </a:rPr>
              <a:t>Dedicated SQL pool sized in DWU; paused and resumed</a:t>
            </a:r>
            <a:endParaRPr lang="en-US" sz="1250" dirty="0"/>
          </a:p>
        </p:txBody>
      </p:sp>
      <p:sp>
        <p:nvSpPr>
          <p:cNvPr id="8" name="Text 6"/>
          <p:cNvSpPr txBox="1"/>
          <p:nvPr/>
        </p:nvSpPr>
        <p:spPr>
          <a:xfrm>
            <a:off x="777240" y="2697480"/>
            <a:ext cx="1463040" cy="594360"/>
          </a:xfrm>
          <a:prstGeom prst="rect">
            <a:avLst/>
          </a:prstGeom>
          <a:noFill/>
          <a:ln/>
        </p:spPr>
        <p:txBody>
          <a:bodyPr wrap="square" lIns="0" tIns="0" rIns="0" bIns="0" rtlCol="0" anchor="t"/>
          <a:lstStyle/>
          <a:p>
            <a:pPr indent="0" marL="0">
              <a:buNone/>
            </a:pPr>
            <a:r>
              <a:rPr lang="en-US" sz="1250" b="1" dirty="0">
                <a:solidFill>
                  <a:schemeClr val="tx2"/>
                </a:solidFill>
              </a:rPr>
              <a:t>Spark compute</a:t>
            </a:r>
            <a:endParaRPr lang="en-US" sz="1250" dirty="0"/>
          </a:p>
        </p:txBody>
      </p:sp>
      <p:sp>
        <p:nvSpPr>
          <p:cNvPr id="9" name="Text 7"/>
          <p:cNvSpPr txBox="1"/>
          <p:nvPr/>
        </p:nvSpPr>
        <p:spPr>
          <a:xfrm>
            <a:off x="2286000" y="2697480"/>
            <a:ext cx="3566160" cy="621792"/>
          </a:xfrm>
          <a:prstGeom prst="rect">
            <a:avLst/>
          </a:prstGeom>
          <a:noFill/>
          <a:ln/>
        </p:spPr>
        <p:txBody>
          <a:bodyPr wrap="square" lIns="0" tIns="0" rIns="0" bIns="0" rtlCol="0" anchor="t"/>
          <a:lstStyle/>
          <a:p>
            <a:pPr indent="0" marL="0">
              <a:buNone/>
            </a:pPr>
            <a:r>
              <a:rPr lang="en-US" sz="1250" dirty="0">
                <a:solidFill>
                  <a:schemeClr val="tx1"/>
                </a:solidFill>
              </a:rPr>
              <a:t>Apache Spark pools with a node size and autoscale; minutes to start</a:t>
            </a:r>
            <a:endParaRPr lang="en-US" sz="1250" dirty="0"/>
          </a:p>
        </p:txBody>
      </p:sp>
      <p:sp>
        <p:nvSpPr>
          <p:cNvPr id="10" name="Text 8"/>
          <p:cNvSpPr txBox="1"/>
          <p:nvPr/>
        </p:nvSpPr>
        <p:spPr>
          <a:xfrm>
            <a:off x="777240" y="3383280"/>
            <a:ext cx="1463040" cy="594360"/>
          </a:xfrm>
          <a:prstGeom prst="rect">
            <a:avLst/>
          </a:prstGeom>
          <a:noFill/>
          <a:ln/>
        </p:spPr>
        <p:txBody>
          <a:bodyPr wrap="square" lIns="0" tIns="0" rIns="0" bIns="0" rtlCol="0" anchor="t"/>
          <a:lstStyle/>
          <a:p>
            <a:pPr indent="0" marL="0">
              <a:buNone/>
            </a:pPr>
            <a:r>
              <a:rPr lang="en-US" sz="1250" b="1" dirty="0">
                <a:solidFill>
                  <a:schemeClr val="tx2"/>
                </a:solidFill>
              </a:rPr>
              <a:t>Serverless SQL</a:t>
            </a:r>
            <a:endParaRPr lang="en-US" sz="1250" dirty="0"/>
          </a:p>
        </p:txBody>
      </p:sp>
      <p:sp>
        <p:nvSpPr>
          <p:cNvPr id="11" name="Text 9"/>
          <p:cNvSpPr txBox="1"/>
          <p:nvPr/>
        </p:nvSpPr>
        <p:spPr>
          <a:xfrm>
            <a:off x="2286000" y="3383280"/>
            <a:ext cx="3566160" cy="621792"/>
          </a:xfrm>
          <a:prstGeom prst="rect">
            <a:avLst/>
          </a:prstGeom>
          <a:noFill/>
          <a:ln/>
        </p:spPr>
        <p:txBody>
          <a:bodyPr wrap="square" lIns="0" tIns="0" rIns="0" bIns="0" rtlCol="0" anchor="t"/>
          <a:lstStyle/>
          <a:p>
            <a:pPr indent="0" marL="0">
              <a:buNone/>
            </a:pPr>
            <a:r>
              <a:rPr lang="en-US" sz="1250" dirty="0">
                <a:solidFill>
                  <a:schemeClr val="tx1"/>
                </a:solidFill>
              </a:rPr>
              <a:t>Built-in serverless pool, pay per query over lake files</a:t>
            </a:r>
            <a:endParaRPr lang="en-US" sz="1250" dirty="0"/>
          </a:p>
        </p:txBody>
      </p:sp>
      <p:sp>
        <p:nvSpPr>
          <p:cNvPr id="12" name="Text 10"/>
          <p:cNvSpPr txBox="1"/>
          <p:nvPr/>
        </p:nvSpPr>
        <p:spPr>
          <a:xfrm>
            <a:off x="777240" y="4069080"/>
            <a:ext cx="1463040" cy="594360"/>
          </a:xfrm>
          <a:prstGeom prst="rect">
            <a:avLst/>
          </a:prstGeom>
          <a:noFill/>
          <a:ln/>
        </p:spPr>
        <p:txBody>
          <a:bodyPr wrap="square" lIns="0" tIns="0" rIns="0" bIns="0" rtlCol="0" anchor="t"/>
          <a:lstStyle/>
          <a:p>
            <a:pPr indent="0" marL="0">
              <a:buNone/>
            </a:pPr>
            <a:r>
              <a:rPr lang="en-US" sz="1250" b="1" dirty="0">
                <a:solidFill>
                  <a:schemeClr val="tx2"/>
                </a:solidFill>
              </a:rPr>
              <a:t>Storage</a:t>
            </a:r>
            <a:endParaRPr lang="en-US" sz="1250" dirty="0"/>
          </a:p>
        </p:txBody>
      </p:sp>
      <p:sp>
        <p:nvSpPr>
          <p:cNvPr id="13" name="Text 11"/>
          <p:cNvSpPr txBox="1"/>
          <p:nvPr/>
        </p:nvSpPr>
        <p:spPr>
          <a:xfrm>
            <a:off x="2286000" y="4069080"/>
            <a:ext cx="3566160" cy="621792"/>
          </a:xfrm>
          <a:prstGeom prst="rect">
            <a:avLst/>
          </a:prstGeom>
          <a:noFill/>
          <a:ln/>
        </p:spPr>
        <p:txBody>
          <a:bodyPr wrap="square" lIns="0" tIns="0" rIns="0" bIns="0" rtlCol="0" anchor="t"/>
          <a:lstStyle/>
          <a:p>
            <a:pPr indent="0" marL="0">
              <a:buNone/>
            </a:pPr>
            <a:r>
              <a:rPr lang="en-US" sz="1250" dirty="0">
                <a:solidFill>
                  <a:schemeClr val="tx1"/>
                </a:solidFill>
              </a:rPr>
              <a:t>The workspace's primary ADLS Gen2 account and file system</a:t>
            </a:r>
            <a:endParaRPr lang="en-US" sz="1250" dirty="0"/>
          </a:p>
        </p:txBody>
      </p:sp>
      <p:sp>
        <p:nvSpPr>
          <p:cNvPr id="14" name="Text 12"/>
          <p:cNvSpPr txBox="1"/>
          <p:nvPr/>
        </p:nvSpPr>
        <p:spPr>
          <a:xfrm>
            <a:off x="777240" y="4754880"/>
            <a:ext cx="1463040" cy="594360"/>
          </a:xfrm>
          <a:prstGeom prst="rect">
            <a:avLst/>
          </a:prstGeom>
          <a:noFill/>
          <a:ln/>
        </p:spPr>
        <p:txBody>
          <a:bodyPr wrap="square" lIns="0" tIns="0" rIns="0" bIns="0" rtlCol="0" anchor="t"/>
          <a:lstStyle/>
          <a:p>
            <a:pPr indent="0" marL="0">
              <a:buNone/>
            </a:pPr>
            <a:r>
              <a:rPr lang="en-US" sz="1250" b="1" dirty="0">
                <a:solidFill>
                  <a:schemeClr val="tx2"/>
                </a:solidFill>
              </a:rPr>
              <a:t>Table layout</a:t>
            </a:r>
            <a:endParaRPr lang="en-US" sz="1250" dirty="0"/>
          </a:p>
        </p:txBody>
      </p:sp>
      <p:sp>
        <p:nvSpPr>
          <p:cNvPr id="15" name="Text 13"/>
          <p:cNvSpPr txBox="1"/>
          <p:nvPr/>
        </p:nvSpPr>
        <p:spPr>
          <a:xfrm>
            <a:off x="2286000" y="4754880"/>
            <a:ext cx="3566160" cy="621792"/>
          </a:xfrm>
          <a:prstGeom prst="rect">
            <a:avLst/>
          </a:prstGeom>
          <a:noFill/>
          <a:ln/>
        </p:spPr>
        <p:txBody>
          <a:bodyPr wrap="square" lIns="0" tIns="0" rIns="0" bIns="0" rtlCol="0" anchor="t"/>
          <a:lstStyle/>
          <a:p>
            <a:pPr indent="0" marL="0">
              <a:buNone/>
            </a:pPr>
            <a:r>
              <a:rPr lang="en-US" sz="1250" dirty="0">
                <a:solidFill>
                  <a:schemeClr val="tx1"/>
                </a:solidFill>
              </a:rPr>
              <a:t>Spread over 60 distributions: hash, round-robin or replicated</a:t>
            </a:r>
            <a:endParaRPr lang="en-US" sz="1250" dirty="0"/>
          </a:p>
        </p:txBody>
      </p:sp>
      <p:sp>
        <p:nvSpPr>
          <p:cNvPr id="16" name="Shape 14"/>
          <p:cNvSpPr/>
          <p:nvPr/>
        </p:nvSpPr>
        <p:spPr>
          <a:xfrm>
            <a:off x="6190488" y="1508760"/>
            <a:ext cx="5449824" cy="3977640"/>
          </a:xfrm>
          <a:prstGeom prst="roundRect">
            <a:avLst>
              <a:gd name="adj" fmla="val 2759"/>
            </a:avLst>
          </a:prstGeom>
          <a:solidFill>
            <a:schemeClr val="accent1">
              <a:alpha val="9000"/>
            </a:schemeClr>
          </a:solidFill>
          <a:ln/>
        </p:spPr>
      </p:sp>
      <p:sp>
        <p:nvSpPr>
          <p:cNvPr id="17" name="Text 15"/>
          <p:cNvSpPr txBox="1"/>
          <p:nvPr/>
        </p:nvSpPr>
        <p:spPr>
          <a:xfrm>
            <a:off x="6419088" y="1664208"/>
            <a:ext cx="2743200"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FABRIC</a:t>
            </a:r>
            <a:endParaRPr lang="en-US" sz="1100" dirty="0"/>
          </a:p>
        </p:txBody>
      </p:sp>
      <p:sp>
        <p:nvSpPr>
          <p:cNvPr id="18" name="Text 16"/>
          <p:cNvSpPr txBox="1"/>
          <p:nvPr/>
        </p:nvSpPr>
        <p:spPr>
          <a:xfrm>
            <a:off x="6419088" y="2011680"/>
            <a:ext cx="1463040" cy="594360"/>
          </a:xfrm>
          <a:prstGeom prst="rect">
            <a:avLst/>
          </a:prstGeom>
          <a:noFill/>
          <a:ln/>
        </p:spPr>
        <p:txBody>
          <a:bodyPr wrap="square" lIns="0" tIns="0" rIns="0" bIns="0" rtlCol="0" anchor="t"/>
          <a:lstStyle/>
          <a:p>
            <a:pPr indent="0" marL="0">
              <a:buNone/>
            </a:pPr>
            <a:r>
              <a:rPr lang="en-US" sz="1250" b="1" dirty="0">
                <a:solidFill>
                  <a:schemeClr val="tx2"/>
                </a:solidFill>
              </a:rPr>
              <a:t>SQL compute</a:t>
            </a:r>
            <a:endParaRPr lang="en-US" sz="1250" dirty="0"/>
          </a:p>
        </p:txBody>
      </p:sp>
      <p:sp>
        <p:nvSpPr>
          <p:cNvPr id="19" name="Text 17"/>
          <p:cNvSpPr txBox="1"/>
          <p:nvPr/>
        </p:nvSpPr>
        <p:spPr>
          <a:xfrm>
            <a:off x="7927848" y="2011680"/>
            <a:ext cx="3566160" cy="621792"/>
          </a:xfrm>
          <a:prstGeom prst="rect">
            <a:avLst/>
          </a:prstGeom>
          <a:noFill/>
          <a:ln/>
        </p:spPr>
        <p:txBody>
          <a:bodyPr wrap="square" lIns="0" tIns="0" rIns="0" bIns="0" rtlCol="0" anchor="t"/>
          <a:lstStyle/>
          <a:p>
            <a:pPr indent="0" marL="0">
              <a:buNone/>
            </a:pPr>
            <a:r>
              <a:rPr lang="en-US" sz="1250" dirty="0">
                <a:solidFill>
                  <a:schemeClr val="tx1"/>
                </a:solidFill>
              </a:rPr>
              <a:t>Warehouse on the workspace's capacity (F SKU); no DWU setting</a:t>
            </a:r>
            <a:endParaRPr lang="en-US" sz="1250" dirty="0"/>
          </a:p>
        </p:txBody>
      </p:sp>
      <p:sp>
        <p:nvSpPr>
          <p:cNvPr id="20" name="Text 18"/>
          <p:cNvSpPr txBox="1"/>
          <p:nvPr/>
        </p:nvSpPr>
        <p:spPr>
          <a:xfrm>
            <a:off x="6419088" y="2697480"/>
            <a:ext cx="1463040" cy="594360"/>
          </a:xfrm>
          <a:prstGeom prst="rect">
            <a:avLst/>
          </a:prstGeom>
          <a:noFill/>
          <a:ln/>
        </p:spPr>
        <p:txBody>
          <a:bodyPr wrap="square" lIns="0" tIns="0" rIns="0" bIns="0" rtlCol="0" anchor="t"/>
          <a:lstStyle/>
          <a:p>
            <a:pPr indent="0" marL="0">
              <a:buNone/>
            </a:pPr>
            <a:r>
              <a:rPr lang="en-US" sz="1250" b="1" dirty="0">
                <a:solidFill>
                  <a:schemeClr val="tx2"/>
                </a:solidFill>
              </a:rPr>
              <a:t>Spark compute</a:t>
            </a:r>
            <a:endParaRPr lang="en-US" sz="1250" dirty="0"/>
          </a:p>
        </p:txBody>
      </p:sp>
      <p:sp>
        <p:nvSpPr>
          <p:cNvPr id="21" name="Text 19"/>
          <p:cNvSpPr txBox="1"/>
          <p:nvPr/>
        </p:nvSpPr>
        <p:spPr>
          <a:xfrm>
            <a:off x="7927848" y="2697480"/>
            <a:ext cx="3566160" cy="621792"/>
          </a:xfrm>
          <a:prstGeom prst="rect">
            <a:avLst/>
          </a:prstGeom>
          <a:noFill/>
          <a:ln/>
        </p:spPr>
        <p:txBody>
          <a:bodyPr wrap="square" lIns="0" tIns="0" rIns="0" bIns="0" rtlCol="0" anchor="t"/>
          <a:lstStyle/>
          <a:p>
            <a:pPr indent="0" marL="0">
              <a:buNone/>
            </a:pPr>
            <a:r>
              <a:rPr lang="en-US" sz="1250" dirty="0">
                <a:solidFill>
                  <a:schemeClr val="tx1"/>
                </a:solidFill>
              </a:rPr>
              <a:t>Starter Pool in seconds, or a custom pool through an Environment</a:t>
            </a:r>
            <a:endParaRPr lang="en-US" sz="1250" dirty="0"/>
          </a:p>
        </p:txBody>
      </p:sp>
      <p:sp>
        <p:nvSpPr>
          <p:cNvPr id="22" name="Text 20"/>
          <p:cNvSpPr txBox="1"/>
          <p:nvPr/>
        </p:nvSpPr>
        <p:spPr>
          <a:xfrm>
            <a:off x="6419088" y="3383280"/>
            <a:ext cx="1463040" cy="594360"/>
          </a:xfrm>
          <a:prstGeom prst="rect">
            <a:avLst/>
          </a:prstGeom>
          <a:noFill/>
          <a:ln/>
        </p:spPr>
        <p:txBody>
          <a:bodyPr wrap="square" lIns="0" tIns="0" rIns="0" bIns="0" rtlCol="0" anchor="t"/>
          <a:lstStyle/>
          <a:p>
            <a:pPr indent="0" marL="0">
              <a:buNone/>
            </a:pPr>
            <a:r>
              <a:rPr lang="en-US" sz="1250" b="1" dirty="0">
                <a:solidFill>
                  <a:schemeClr val="tx2"/>
                </a:solidFill>
              </a:rPr>
              <a:t>Serverless SQL</a:t>
            </a:r>
            <a:endParaRPr lang="en-US" sz="1250" dirty="0"/>
          </a:p>
        </p:txBody>
      </p:sp>
      <p:sp>
        <p:nvSpPr>
          <p:cNvPr id="23" name="Text 21"/>
          <p:cNvSpPr txBox="1"/>
          <p:nvPr/>
        </p:nvSpPr>
        <p:spPr>
          <a:xfrm>
            <a:off x="7927848" y="3383280"/>
            <a:ext cx="3566160" cy="621792"/>
          </a:xfrm>
          <a:prstGeom prst="rect">
            <a:avLst/>
          </a:prstGeom>
          <a:noFill/>
          <a:ln/>
        </p:spPr>
        <p:txBody>
          <a:bodyPr wrap="square" lIns="0" tIns="0" rIns="0" bIns="0" rtlCol="0" anchor="t"/>
          <a:lstStyle/>
          <a:p>
            <a:pPr indent="0" marL="0">
              <a:buNone/>
            </a:pPr>
            <a:r>
              <a:rPr lang="en-US" sz="1250" dirty="0">
                <a:solidFill>
                  <a:schemeClr val="tx1"/>
                </a:solidFill>
              </a:rPr>
              <a:t>A Lakehouse's SQL analytics endpoint; OPENROWSET in the Warehouse</a:t>
            </a:r>
            <a:endParaRPr lang="en-US" sz="1250" dirty="0"/>
          </a:p>
        </p:txBody>
      </p:sp>
      <p:sp>
        <p:nvSpPr>
          <p:cNvPr id="24" name="Text 22"/>
          <p:cNvSpPr txBox="1"/>
          <p:nvPr/>
        </p:nvSpPr>
        <p:spPr>
          <a:xfrm>
            <a:off x="6419088" y="4069080"/>
            <a:ext cx="1463040" cy="594360"/>
          </a:xfrm>
          <a:prstGeom prst="rect">
            <a:avLst/>
          </a:prstGeom>
          <a:noFill/>
          <a:ln/>
        </p:spPr>
        <p:txBody>
          <a:bodyPr wrap="square" lIns="0" tIns="0" rIns="0" bIns="0" rtlCol="0" anchor="t"/>
          <a:lstStyle/>
          <a:p>
            <a:pPr indent="0" marL="0">
              <a:buNone/>
            </a:pPr>
            <a:r>
              <a:rPr lang="en-US" sz="1250" b="1" dirty="0">
                <a:solidFill>
                  <a:schemeClr val="tx2"/>
                </a:solidFill>
              </a:rPr>
              <a:t>Storage</a:t>
            </a:r>
            <a:endParaRPr lang="en-US" sz="1250" dirty="0"/>
          </a:p>
        </p:txBody>
      </p:sp>
      <p:sp>
        <p:nvSpPr>
          <p:cNvPr id="25" name="Text 23"/>
          <p:cNvSpPr txBox="1"/>
          <p:nvPr/>
        </p:nvSpPr>
        <p:spPr>
          <a:xfrm>
            <a:off x="7927848" y="4069080"/>
            <a:ext cx="3566160" cy="621792"/>
          </a:xfrm>
          <a:prstGeom prst="rect">
            <a:avLst/>
          </a:prstGeom>
          <a:noFill/>
          <a:ln/>
        </p:spPr>
        <p:txBody>
          <a:bodyPr wrap="square" lIns="0" tIns="0" rIns="0" bIns="0" rtlCol="0" anchor="t"/>
          <a:lstStyle/>
          <a:p>
            <a:pPr indent="0" marL="0">
              <a:buNone/>
            </a:pPr>
            <a:r>
              <a:rPr lang="en-US" sz="1250" dirty="0">
                <a:solidFill>
                  <a:schemeClr val="tx1"/>
                </a:solidFill>
              </a:rPr>
              <a:t>OneLake: one lake per tenant; shortcuts read ADLS in place</a:t>
            </a:r>
            <a:endParaRPr lang="en-US" sz="1250" dirty="0"/>
          </a:p>
        </p:txBody>
      </p:sp>
      <p:sp>
        <p:nvSpPr>
          <p:cNvPr id="26" name="Text 24"/>
          <p:cNvSpPr txBox="1"/>
          <p:nvPr/>
        </p:nvSpPr>
        <p:spPr>
          <a:xfrm>
            <a:off x="6419088" y="4754880"/>
            <a:ext cx="1463040" cy="594360"/>
          </a:xfrm>
          <a:prstGeom prst="rect">
            <a:avLst/>
          </a:prstGeom>
          <a:noFill/>
          <a:ln/>
        </p:spPr>
        <p:txBody>
          <a:bodyPr wrap="square" lIns="0" tIns="0" rIns="0" bIns="0" rtlCol="0" anchor="t"/>
          <a:lstStyle/>
          <a:p>
            <a:pPr indent="0" marL="0">
              <a:buNone/>
            </a:pPr>
            <a:r>
              <a:rPr lang="en-US" sz="1250" b="1" dirty="0">
                <a:solidFill>
                  <a:schemeClr val="tx2"/>
                </a:solidFill>
              </a:rPr>
              <a:t>Table layout</a:t>
            </a:r>
            <a:endParaRPr lang="en-US" sz="1250" dirty="0"/>
          </a:p>
        </p:txBody>
      </p:sp>
      <p:sp>
        <p:nvSpPr>
          <p:cNvPr id="27" name="Text 25"/>
          <p:cNvSpPr txBox="1"/>
          <p:nvPr/>
        </p:nvSpPr>
        <p:spPr>
          <a:xfrm>
            <a:off x="7927848" y="4754880"/>
            <a:ext cx="3566160" cy="621792"/>
          </a:xfrm>
          <a:prstGeom prst="rect">
            <a:avLst/>
          </a:prstGeom>
          <a:noFill/>
          <a:ln/>
        </p:spPr>
        <p:txBody>
          <a:bodyPr wrap="square" lIns="0" tIns="0" rIns="0" bIns="0" rtlCol="0" anchor="t"/>
          <a:lstStyle/>
          <a:p>
            <a:pPr indent="0" marL="0">
              <a:buNone/>
            </a:pPr>
            <a:r>
              <a:rPr lang="en-US" sz="1250" dirty="0">
                <a:solidFill>
                  <a:schemeClr val="tx1"/>
                </a:solidFill>
              </a:rPr>
              <a:t>Delta Parquet in OneLake, laid out by the engine</a:t>
            </a:r>
            <a:endParaRPr lang="en-US" sz="1250" dirty="0"/>
          </a:p>
        </p:txBody>
      </p:sp>
      <p:sp>
        <p:nvSpPr>
          <p:cNvPr id="28" name="Shape 26"/>
          <p:cNvSpPr/>
          <p:nvPr/>
        </p:nvSpPr>
        <p:spPr>
          <a:xfrm>
            <a:off x="548640" y="5623560"/>
            <a:ext cx="11094415" cy="566928"/>
          </a:xfrm>
          <a:prstGeom prst="roundRect">
            <a:avLst>
              <a:gd name="adj" fmla="val 19355"/>
            </a:avLst>
          </a:prstGeom>
          <a:solidFill>
            <a:schemeClr val="accent1">
              <a:alpha val="13000"/>
            </a:schemeClr>
          </a:solidFill>
          <a:ln/>
        </p:spPr>
      </p:sp>
      <p:sp>
        <p:nvSpPr>
          <p:cNvPr id="29" name="Text 27"/>
          <p:cNvSpPr txBox="1"/>
          <p:nvPr/>
        </p:nvSpPr>
        <p:spPr>
          <a:xfrm>
            <a:off x="777240" y="5623560"/>
            <a:ext cx="10637215" cy="566928"/>
          </a:xfrm>
          <a:prstGeom prst="rect">
            <a:avLst/>
          </a:prstGeom>
          <a:noFill/>
          <a:ln/>
        </p:spPr>
        <p:txBody>
          <a:bodyPr wrap="square" lIns="0" tIns="0" rIns="0" bIns="0" rtlCol="0" anchor="ctr"/>
          <a:lstStyle/>
          <a:p>
            <a:pPr indent="0" marL="0">
              <a:buNone/>
            </a:pPr>
            <a:r>
              <a:rPr lang="en-US" sz="1250" b="1" dirty="0">
                <a:solidFill>
                  <a:schemeClr val="tx2"/>
                </a:solidFill>
              </a:rPr>
              <a:t>Sizing:  </a:t>
            </a:r>
            <a:pPr indent="0" marL="0">
              <a:buNone/>
            </a:pPr>
            <a:r>
              <a:rPr lang="en-US" sz="1250" dirty="0">
                <a:solidFill>
                  <a:schemeClr val="tx1"/>
                </a:solidFill>
              </a:rPr>
              <a:t>one capacity is shared by SQL, Spark and pipelines, so size it from measured load rather than by converting DWUs.</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02 · SYNAPSE VS FABRIC</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SQL: dedicated pool vs Fabric Warehouse</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migration/warehouse_ddl.py · tsql_rules.py</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828800"/>
                <a:gridCol w="2926080"/>
                <a:gridCol w="3246120"/>
                <a:gridCol w="3090672"/>
              </a:tblGrid>
              <a:tr h="329184">
                <a:tc>
                  <a:txBody>
                    <a:bodyPr/>
                    <a:lstStyle/>
                    <a:p>
                      <a:pPr indent="0" marL="0">
                        <a:buNone/>
                      </a:pPr>
                      <a:r>
                        <a:rPr lang="en-US" sz="1200" b="1" dirty="0">
                          <a:solidFill>
                            <a:schemeClr val="bg1"/>
                          </a:solidFill>
                        </a:rPr>
                        <a:t>Topic</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indent="0" marL="0">
                        <a:buNone/>
                      </a:pPr>
                      <a:r>
                        <a:rPr lang="en-US" sz="1200" b="1" dirty="0">
                          <a:solidFill>
                            <a:schemeClr val="bg1"/>
                          </a:solidFill>
                        </a:rPr>
                        <a:t>Synapse dedicated pool</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4157D6"/>
                    </a:solidFill>
                  </a:tcPr>
                </a:tc>
                <a:tc>
                  <a:txBody>
                    <a:bodyPr/>
                    <a:lstStyle/>
                    <a:p>
                      <a:pPr indent="0" marL="0">
                        <a:buNone/>
                      </a:pPr>
                      <a:r>
                        <a:rPr lang="en-US" sz="1200" b="1" dirty="0">
                          <a:solidFill>
                            <a:schemeClr val="bg1"/>
                          </a:solidFill>
                        </a:rPr>
                        <a:t>Fabric Warehouse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7F70"/>
                    </a:solidFill>
                  </a:tcPr>
                </a:tc>
                <a:tc>
                  <a:txBody>
                    <a:bodyPr/>
                    <a:lstStyle/>
                    <a:p>
                      <a:pPr indent="0" marL="0">
                        <a:buNone/>
                      </a:pPr>
                      <a:r>
                        <a:rPr lang="en-US" sz="1200" b="1" dirty="0">
                          <a:solidFill>
                            <a:schemeClr val="bg1"/>
                          </a:solidFill>
                        </a:rPr>
                        <a:t>What the accelerator does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r>
              <a:tr h="393192">
                <a:tc>
                  <a:txBody>
                    <a:bodyPr/>
                    <a:lstStyle/>
                    <a:p>
                      <a:pPr indent="0" marL="0">
                        <a:buNone/>
                      </a:pPr>
                      <a:r>
                        <a:rPr lang="en-US" sz="1200" b="1" dirty="0">
                          <a:solidFill>
                            <a:schemeClr val="tx2"/>
                          </a:solidFill>
                        </a:rPr>
                        <a:t>Storage options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DISTRIBUTION, CCI, HEAP, PARTITION</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Managed by the engine; options rejected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Dropped, with a note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93192">
                <a:tc>
                  <a:txBody>
                    <a:bodyPr/>
                    <a:lstStyle/>
                    <a:p>
                      <a:pPr indent="0" marL="0">
                        <a:buNone/>
                      </a:pPr>
                      <a:r>
                        <a:rPr lang="en-US" sz="1200" b="1" dirty="0">
                          <a:solidFill>
                            <a:schemeClr val="tx2"/>
                          </a:solidFill>
                        </a:rPr>
                        <a:t>Data types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nvarchar, money, datetime, xml and more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UTF-8 varchar, decimal, datetime2(≤6)…</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Mapped per column (18 rules)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93192">
                <a:tc>
                  <a:txBody>
                    <a:bodyPr/>
                    <a:lstStyle/>
                    <a:p>
                      <a:pPr indent="0" marL="0">
                        <a:buNone/>
                      </a:pPr>
                      <a:r>
                        <a:rPr lang="en-US" sz="1200" b="1" dirty="0">
                          <a:solidFill>
                            <a:schemeClr val="tx2"/>
                          </a:solidFill>
                        </a:rPr>
                        <a:t>IDENTITY</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Any integer type, own seed and step</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bigint only, no seed or increment</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bigint IDENTITY, values kept</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93192">
                <a:tc>
                  <a:txBody>
                    <a:bodyPr/>
                    <a:lstStyle/>
                    <a:p>
                      <a:pPr indent="0" marL="0">
                        <a:buNone/>
                      </a:pPr>
                      <a:r>
                        <a:rPr lang="en-US" sz="1200" b="1" dirty="0">
                          <a:solidFill>
                            <a:schemeClr val="tx2"/>
                          </a:solidFill>
                        </a:rPr>
                        <a:t>Keys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PRIMARY KEY / UNIQUE, NOT ENFORCED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NONCLUSTERED, NOT ENFORCED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Recreated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93192">
                <a:tc>
                  <a:txBody>
                    <a:bodyPr/>
                    <a:lstStyle/>
                    <a:p>
                      <a:pPr indent="0" marL="0">
                        <a:buNone/>
                      </a:pPr>
                      <a:r>
                        <a:rPr lang="en-US" sz="1200" b="1" dirty="0">
                          <a:solidFill>
                            <a:schemeClr val="tx2"/>
                          </a:solidFill>
                        </a:rPr>
                        <a:t>Collation</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Default case-insensitive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Default case-sensitive (BIN2, UTF-8)</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Your choice, set once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93192">
                <a:tc>
                  <a:txBody>
                    <a:bodyPr/>
                    <a:lstStyle/>
                    <a:p>
                      <a:pPr indent="0" marL="0">
                        <a:buNone/>
                      </a:pPr>
                      <a:r>
                        <a:rPr lang="en-US" sz="1200" b="1" dirty="0">
                          <a:solidFill>
                            <a:schemeClr val="tx2"/>
                          </a:solidFill>
                        </a:rPr>
                        <a:t>Isolation</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READ UNCOMMITTED to SERIALIZABLE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Snapshot isolation only</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SET … statements removed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93192">
                <a:tc>
                  <a:txBody>
                    <a:bodyPr/>
                    <a:lstStyle/>
                    <a:p>
                      <a:pPr indent="0" marL="0">
                        <a:buNone/>
                      </a:pPr>
                      <a:r>
                        <a:rPr lang="en-US" sz="1200" b="1" dirty="0">
                          <a:solidFill>
                            <a:schemeClr val="tx2"/>
                          </a:solidFill>
                        </a:rPr>
                        <a:t>Workload management</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Resource classes, workload groups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Managed by Fabric</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Removed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93192">
                <a:tc>
                  <a:txBody>
                    <a:bodyPr/>
                    <a:lstStyle/>
                    <a:p>
                      <a:pPr indent="0" marL="0">
                        <a:buNone/>
                      </a:pPr>
                      <a:r>
                        <a:rPr lang="en-US" sz="1200" b="1" dirty="0">
                          <a:solidFill>
                            <a:schemeClr val="tx2"/>
                          </a:solidFill>
                        </a:rPr>
                        <a:t>Sign-in</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SQL logins and Microsoft Entra</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Microsoft Entra only</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SQL users left for a person</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93192">
                <a:tc>
                  <a:txBody>
                    <a:bodyPr/>
                    <a:lstStyle/>
                    <a:p>
                      <a:pPr indent="0" marL="0">
                        <a:buNone/>
                      </a:pPr>
                      <a:r>
                        <a:rPr lang="en-US" sz="1200" b="1" dirty="0">
                          <a:solidFill>
                            <a:schemeClr val="tx2"/>
                          </a:solidFill>
                        </a:rPr>
                        <a:t>Not available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Multi-statement TVFs, triggers, synonyms, FOR XML, PREDICT, materialized views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Flagged before the run</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93192">
                <a:tc>
                  <a:txBody>
                    <a:bodyPr/>
                    <a:lstStyle/>
                    <a:p>
                      <a:pPr indent="0" marL="0">
                        <a:buNone/>
                      </a:pPr>
                      <a:r>
                        <a:rPr lang="en-US" sz="1200" b="1" dirty="0">
                          <a:solidFill>
                            <a:schemeClr val="tx2"/>
                          </a:solidFill>
                        </a:rPr>
                        <a:t>Renaming</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RENAME OBJECT</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sp_rename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Rewritten</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bl>
          </a:graphicData>
        </a:graphic>
      </p:graphicFrame>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02 · SYNAPSE VS FABRIC</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Spark: pools and notebooks vs Environments</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migration/notebooks.py · environments.py</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828800"/>
                <a:gridCol w="3063240"/>
                <a:gridCol w="3246120"/>
                <a:gridCol w="2953512"/>
              </a:tblGrid>
              <a:tr h="329184">
                <a:tc>
                  <a:txBody>
                    <a:bodyPr/>
                    <a:lstStyle/>
                    <a:p>
                      <a:pPr indent="0" marL="0">
                        <a:buNone/>
                      </a:pPr>
                      <a:r>
                        <a:rPr lang="en-US" sz="1200" b="1" dirty="0">
                          <a:solidFill>
                            <a:schemeClr val="bg1"/>
                          </a:solidFill>
                        </a:rPr>
                        <a:t>Topic</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indent="0" marL="0">
                        <a:buNone/>
                      </a:pPr>
                      <a:r>
                        <a:rPr lang="en-US" sz="1200" b="1" dirty="0">
                          <a:solidFill>
                            <a:schemeClr val="bg1"/>
                          </a:solidFill>
                        </a:rPr>
                        <a:t>Synapse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4157D6"/>
                    </a:solidFill>
                  </a:tcPr>
                </a:tc>
                <a:tc>
                  <a:txBody>
                    <a:bodyPr/>
                    <a:lstStyle/>
                    <a:p>
                      <a:pPr indent="0" marL="0">
                        <a:buNone/>
                      </a:pPr>
                      <a:r>
                        <a:rPr lang="en-US" sz="1200" b="1" dirty="0">
                          <a:solidFill>
                            <a:schemeClr val="bg1"/>
                          </a:solidFill>
                        </a:rPr>
                        <a:t>Fabric</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7F70"/>
                    </a:solidFill>
                  </a:tcPr>
                </a:tc>
                <a:tc>
                  <a:txBody>
                    <a:bodyPr/>
                    <a:lstStyle/>
                    <a:p>
                      <a:pPr indent="0" marL="0">
                        <a:buNone/>
                      </a:pPr>
                      <a:r>
                        <a:rPr lang="en-US" sz="1200" b="1" dirty="0">
                          <a:solidFill>
                            <a:schemeClr val="bg1"/>
                          </a:solidFill>
                        </a:rPr>
                        <a:t>What the accelerator does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r>
              <a:tr h="411480">
                <a:tc>
                  <a:txBody>
                    <a:bodyPr/>
                    <a:lstStyle/>
                    <a:p>
                      <a:pPr indent="0" marL="0">
                        <a:buNone/>
                      </a:pPr>
                      <a:r>
                        <a:rPr lang="en-US" sz="1200" b="1" dirty="0">
                          <a:solidFill>
                            <a:schemeClr val="tx2"/>
                          </a:solidFill>
                        </a:rPr>
                        <a:t>Compute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A notebook attaches to a Spark pool</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An Environment: pool, runtime, libraries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Pool → custom pool + Environment</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chemeClr val="tx2"/>
                          </a:solidFill>
                        </a:rPr>
                        <a:t>Runtime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Spark 3.1 to 3.5</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Runtime 1.2 (Spark 3.4), 1.3 (Spark 3.5)</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Mapped; older versions upgraded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411480">
                <a:tc>
                  <a:txBody>
                    <a:bodyPr/>
                    <a:lstStyle/>
                    <a:p>
                      <a:pPr indent="0" marL="0">
                        <a:buNone/>
                      </a:pPr>
                      <a:r>
                        <a:rPr lang="en-US" sz="1200" b="1" dirty="0">
                          <a:solidFill>
                            <a:schemeClr val="tx2"/>
                          </a:solidFill>
                        </a:rPr>
                        <a:t>Utilities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mssparkutils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notebookutils (old name kept as legacy)</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Renamed in Python cells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chemeClr val="tx2"/>
                          </a:solidFill>
                        </a:rPr>
                        <a:t>Reading the pool</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synapsesql through the sqlanalytics connector</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Fabric connector, reading the Warehouse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Import and reads re-pointed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411480">
                <a:tc>
                  <a:txBody>
                    <a:bodyPr/>
                    <a:lstStyle/>
                    <a:p>
                      <a:pPr indent="0" marL="0">
                        <a:buNone/>
                      </a:pPr>
                      <a:r>
                        <a:rPr lang="en-US" sz="1200" b="1" dirty="0">
                          <a:solidFill>
                            <a:schemeClr val="tx2"/>
                          </a:solidFill>
                        </a:rPr>
                        <a:t>Secrets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TokenLibrary, linked services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Key Vault through notebookutils.credentials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Flagged for review</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chemeClr val="tx2"/>
                          </a:solidFill>
                        </a:rPr>
                        <a:t>Storage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abfss:// as the managed identity</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OneLake paths and shortcuts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Routed through shortcuts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411480">
                <a:tc>
                  <a:txBody>
                    <a:bodyPr/>
                    <a:lstStyle/>
                    <a:p>
                      <a:pPr indent="0" marL="0">
                        <a:buNone/>
                      </a:pPr>
                      <a:r>
                        <a:rPr lang="en-US" sz="1200" b="1" dirty="0">
                          <a:solidFill>
                            <a:schemeClr val="tx2"/>
                          </a:solidFill>
                        </a:rPr>
                        <a:t>Languages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PySpark, Scala, SQL, R, .NET (C#)</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PySpark, Scala, SQL, R</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.NET left for a person</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chemeClr val="tx2"/>
                          </a:solidFill>
                        </a:rPr>
                        <a:t>Job definitions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Bound to a pool; ADLS as default storage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An Environment plus a default Lakehouse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Both set</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411480">
                <a:tc>
                  <a:txBody>
                    <a:bodyPr/>
                    <a:lstStyle/>
                    <a:p>
                      <a:pPr indent="0" marL="0">
                        <a:buNone/>
                      </a:pPr>
                      <a:r>
                        <a:rPr lang="en-US" sz="1200" b="1" dirty="0">
                          <a:solidFill>
                            <a:schemeClr val="tx2"/>
                          </a:solidFill>
                        </a:rPr>
                        <a:t>Libraries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Package names recorded on the pool</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Files uploaded to the Environment</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Left for a person</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02 · SYNAPSE VS FABRIC</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Orchestration: Synapse pipelines vs Fabric Data Factory</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migration/pipelines.py · jobs.py</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828800"/>
                <a:gridCol w="3108960"/>
                <a:gridCol w="3200400"/>
                <a:gridCol w="2953512"/>
              </a:tblGrid>
              <a:tr h="329184">
                <a:tc>
                  <a:txBody>
                    <a:bodyPr/>
                    <a:lstStyle/>
                    <a:p>
                      <a:pPr indent="0" marL="0">
                        <a:buNone/>
                      </a:pPr>
                      <a:r>
                        <a:rPr lang="en-US" sz="1200" b="1" dirty="0">
                          <a:solidFill>
                            <a:schemeClr val="bg1"/>
                          </a:solidFill>
                        </a:rPr>
                        <a:t>Topic</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indent="0" marL="0">
                        <a:buNone/>
                      </a:pPr>
                      <a:r>
                        <a:rPr lang="en-US" sz="1200" b="1" dirty="0">
                          <a:solidFill>
                            <a:schemeClr val="bg1"/>
                          </a:solidFill>
                        </a:rPr>
                        <a:t>Synapse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4157D6"/>
                    </a:solidFill>
                  </a:tcPr>
                </a:tc>
                <a:tc>
                  <a:txBody>
                    <a:bodyPr/>
                    <a:lstStyle/>
                    <a:p>
                      <a:pPr indent="0" marL="0">
                        <a:buNone/>
                      </a:pPr>
                      <a:r>
                        <a:rPr lang="en-US" sz="1200" b="1" dirty="0">
                          <a:solidFill>
                            <a:schemeClr val="bg1"/>
                          </a:solidFill>
                        </a:rPr>
                        <a:t>Fabric</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7F70"/>
                    </a:solidFill>
                  </a:tcPr>
                </a:tc>
                <a:tc>
                  <a:txBody>
                    <a:bodyPr/>
                    <a:lstStyle/>
                    <a:p>
                      <a:pPr indent="0" marL="0">
                        <a:buNone/>
                      </a:pPr>
                      <a:r>
                        <a:rPr lang="en-US" sz="1200" b="1" dirty="0">
                          <a:solidFill>
                            <a:schemeClr val="bg1"/>
                          </a:solidFill>
                        </a:rPr>
                        <a:t>What the accelerator does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r>
              <a:tr h="438912">
                <a:tc>
                  <a:txBody>
                    <a:bodyPr/>
                    <a:lstStyle/>
                    <a:p>
                      <a:pPr indent="0" marL="0">
                        <a:buNone/>
                      </a:pPr>
                      <a:r>
                        <a:rPr lang="en-US" sz="1200" b="1" dirty="0">
                          <a:solidFill>
                            <a:schemeClr val="tx2"/>
                          </a:solidFill>
                        </a:rPr>
                        <a:t>Datasets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Separate, reusable objects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Settings inline in each activity</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Embedded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chemeClr val="tx2"/>
                          </a:solidFill>
                        </a:rPr>
                        <a:t>Linked services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Per workspace; can take parameters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Tenant-level connections, no parameters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Created; parameter defaults used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438912">
                <a:tc>
                  <a:txBody>
                    <a:bodyPr/>
                    <a:lstStyle/>
                    <a:p>
                      <a:pPr indent="0" marL="0">
                        <a:buNone/>
                      </a:pPr>
                      <a:r>
                        <a:rPr lang="en-US" sz="1200" b="1" dirty="0">
                          <a:solidFill>
                            <a:schemeClr val="tx2"/>
                          </a:solidFill>
                        </a:rPr>
                        <a:t>References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Notebooks and pipelines by name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Items by id (Notebook, Execute Pipeline)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Ids resolved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chemeClr val="tx2"/>
                          </a:solidFill>
                        </a:rPr>
                        <a:t>SQL pool steps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Procedure and Script activities on the pool</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The same activities on the Warehouse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Re-pointed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438912">
                <a:tc>
                  <a:txBody>
                    <a:bodyPr/>
                    <a:lstStyle/>
                    <a:p>
                      <a:pPr indent="0" marL="0">
                        <a:buNone/>
                      </a:pPr>
                      <a:r>
                        <a:rPr lang="en-US" sz="1200" b="1" dirty="0">
                          <a:solidFill>
                            <a:schemeClr val="tx2"/>
                          </a:solidFill>
                        </a:rPr>
                        <a:t>Triggers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Separate objects; one can start many pipelines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Schedules per pipeline; events through Activator</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Schedules, switched off</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chemeClr val="tx2"/>
                          </a:solidFill>
                        </a:rPr>
                        <a:t>Data flows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Mapping data flows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Dataflow Gen2</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Pipeline not created; activity named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438912">
                <a:tc>
                  <a:txBody>
                    <a:bodyPr/>
                    <a:lstStyle/>
                    <a:p>
                      <a:pPr indent="0" marL="0">
                        <a:buNone/>
                      </a:pPr>
                      <a:r>
                        <a:rPr lang="en-US" sz="1200" b="1" dirty="0">
                          <a:solidFill>
                            <a:schemeClr val="tx2"/>
                          </a:solidFill>
                        </a:rPr>
                        <a:t>Runtimes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Azure, self-hosted and managed VNet IRs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Built-in, on-premises or VNet data gateway</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By hand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chemeClr val="tx2"/>
                          </a:solidFill>
                        </a:rPr>
                        <a:t>Folders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A folder per pipeline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Workspace folders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Not recreated: workspace root</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bl>
          </a:graphicData>
        </a:graphic>
      </p:graphicFrame>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02 · SYNAPSE VS FABRIC</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Identity, security and Git</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migration/security.py · fabric_git.py</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828800"/>
                <a:gridCol w="3108960"/>
                <a:gridCol w="3246120"/>
                <a:gridCol w="2907792"/>
              </a:tblGrid>
              <a:tr h="329184">
                <a:tc>
                  <a:txBody>
                    <a:bodyPr/>
                    <a:lstStyle/>
                    <a:p>
                      <a:pPr indent="0" marL="0">
                        <a:buNone/>
                      </a:pPr>
                      <a:r>
                        <a:rPr lang="en-US" sz="1200" b="1" dirty="0">
                          <a:solidFill>
                            <a:schemeClr val="bg1"/>
                          </a:solidFill>
                        </a:rPr>
                        <a:t>Topic</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indent="0" marL="0">
                        <a:buNone/>
                      </a:pPr>
                      <a:r>
                        <a:rPr lang="en-US" sz="1200" b="1" dirty="0">
                          <a:solidFill>
                            <a:schemeClr val="bg1"/>
                          </a:solidFill>
                        </a:rPr>
                        <a:t>Synapse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4157D6"/>
                    </a:solidFill>
                  </a:tcPr>
                </a:tc>
                <a:tc>
                  <a:txBody>
                    <a:bodyPr/>
                    <a:lstStyle/>
                    <a:p>
                      <a:pPr indent="0" marL="0">
                        <a:buNone/>
                      </a:pPr>
                      <a:r>
                        <a:rPr lang="en-US" sz="1200" b="1" dirty="0">
                          <a:solidFill>
                            <a:schemeClr val="bg1"/>
                          </a:solidFill>
                        </a:rPr>
                        <a:t>Fabric</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7F70"/>
                    </a:solidFill>
                  </a:tcPr>
                </a:tc>
                <a:tc>
                  <a:txBody>
                    <a:bodyPr/>
                    <a:lstStyle/>
                    <a:p>
                      <a:pPr indent="0" marL="0">
                        <a:buNone/>
                      </a:pPr>
                      <a:r>
                        <a:rPr lang="en-US" sz="1200" b="1" dirty="0">
                          <a:solidFill>
                            <a:schemeClr val="bg1"/>
                          </a:solidFill>
                        </a:rPr>
                        <a:t>What the accelerator does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r>
              <a:tr h="475488">
                <a:tc>
                  <a:txBody>
                    <a:bodyPr/>
                    <a:lstStyle/>
                    <a:p>
                      <a:pPr indent="0" marL="0">
                        <a:buNone/>
                      </a:pPr>
                      <a:r>
                        <a:rPr lang="en-US" sz="1200" b="1" dirty="0">
                          <a:solidFill>
                            <a:schemeClr val="tx2"/>
                          </a:solidFill>
                        </a:rPr>
                        <a:t>Code runs as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The workspace's managed identity</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The signed-in user (connections: workspace identity)</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Storage routed through shortcuts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chemeClr val="tx2"/>
                          </a:solidFill>
                        </a:rPr>
                        <a:t>Access model</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Synapse RBAC, SQL users and database roles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Workspace roles, item permissions, Warehouse grants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Roles, members and grants recreated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475488">
                <a:tc>
                  <a:txBody>
                    <a:bodyPr/>
                    <a:lstStyle/>
                    <a:p>
                      <a:pPr indent="0" marL="0">
                        <a:buNone/>
                      </a:pPr>
                      <a:r>
                        <a:rPr lang="en-US" sz="1200" b="1" dirty="0">
                          <a:solidFill>
                            <a:schemeClr val="tx2"/>
                          </a:solidFill>
                        </a:rPr>
                        <a:t>SQL users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SQL authentication</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Not supported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Listed, with the Entra grants to give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chemeClr val="tx2"/>
                          </a:solidFill>
                        </a:rPr>
                        <a:t>DENY</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Restricts the user</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Admins, Members, Contributors hold CONTROL</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Flagged: SECURITY_DENY</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475488">
                <a:tc>
                  <a:txBody>
                    <a:bodyPr/>
                    <a:lstStyle/>
                    <a:p>
                      <a:pPr indent="0" marL="0">
                        <a:buNone/>
                      </a:pPr>
                      <a:r>
                        <a:rPr lang="en-US" sz="1200" b="1" dirty="0">
                          <a:solidFill>
                            <a:schemeClr val="tx2"/>
                          </a:solidFill>
                        </a:rPr>
                        <a:t>Data masks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Dynamic data masking</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Dynamic data masking</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Part of CREATE TABLE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chemeClr val="tx2"/>
                          </a:solidFill>
                        </a:rPr>
                        <a:t>Source control</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JSON per artifact; publish branch with ARM templates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Workspace synced to one branch and folder</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Reads Synapse Git; commits to Fabric Git</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475488">
                <a:tc>
                  <a:txBody>
                    <a:bodyPr/>
                    <a:lstStyle/>
                    <a:p>
                      <a:pPr indent="0" marL="0">
                        <a:buNone/>
                      </a:pPr>
                      <a:r>
                        <a:rPr lang="en-US" sz="1200" b="1" dirty="0">
                          <a:solidFill>
                            <a:schemeClr val="tx2"/>
                          </a:solidFill>
                        </a:rPr>
                        <a:t>Promotion</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ARM template plus a parameters file per environment</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Fabric Git, deployment pipelines, fabric-cicd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Parameters applied; fabric-cicd next</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731520" y="1417320"/>
            <a:ext cx="2743200" cy="1371600"/>
          </a:xfrm>
          <a:prstGeom prst="rect">
            <a:avLst/>
          </a:prstGeom>
          <a:noFill/>
          <a:ln/>
        </p:spPr>
        <p:txBody>
          <a:bodyPr wrap="square" lIns="0" tIns="0" rIns="0" bIns="0" rtlCol="0" anchor="t"/>
          <a:lstStyle/>
          <a:p>
            <a:pPr indent="0" marL="0">
              <a:buNone/>
            </a:pPr>
            <a:r>
              <a:rPr lang="en-US" sz="8800" dirty="0">
                <a:solidFill>
                  <a:schemeClr val="accent5"/>
                </a:solidFill>
                <a:latin typeface="+mj-lt" pitchFamily="34" charset="0"/>
                <a:ea typeface="+mj-lt" pitchFamily="34" charset="-122"/>
                <a:cs typeface="+mj-lt" pitchFamily="34" charset="-120"/>
              </a:rPr>
              <a:t>03</a:t>
            </a:r>
            <a:endParaRPr lang="en-US" sz="8800" dirty="0"/>
          </a:p>
        </p:txBody>
      </p:sp>
      <p:sp>
        <p:nvSpPr>
          <p:cNvPr id="3" name="Shape 1"/>
          <p:cNvSpPr/>
          <p:nvPr/>
        </p:nvSpPr>
        <p:spPr>
          <a:xfrm>
            <a:off x="8549640" y="2011680"/>
            <a:ext cx="2468880" cy="2468880"/>
          </a:xfrm>
          <a:prstGeom prst="ellipse">
            <a:avLst/>
          </a:prstGeom>
          <a:solidFill>
            <a:schemeClr val="accent5">
              <a:alpha val="18000"/>
            </a:schemeClr>
          </a:solidFill>
          <a:ln/>
        </p:spPr>
      </p:sp>
      <p:pic>
        <p:nvPicPr>
          <p:cNvPr id="4" name="Image 0" descr="preencoded.png">    </p:cNvPr>
          <p:cNvPicPr>
            <a:picLocks noChangeAspect="1"/>
          </p:cNvPicPr>
          <p:nvPr/>
        </p:nvPicPr>
        <p:blipFill>
          <a:blip r:embed="rId1"/>
          <a:stretch>
            <a:fillRect/>
          </a:stretch>
        </p:blipFill>
        <p:spPr>
          <a:xfrm>
            <a:off x="9166860" y="2628900"/>
            <a:ext cx="1234440" cy="1234440"/>
          </a:xfrm>
          <a:prstGeom prst="rect">
            <a:avLst/>
          </a:prstGeom>
        </p:spPr>
      </p:pic>
      <p:sp>
        <p:nvSpPr>
          <p:cNvPr id="5" name="Text 0"/>
          <p:cNvSpPr/>
          <p:nvPr>
            <p:ph idx="100" type="title" hasCustomPrompt="1"/>
          </p:nvPr>
        </p:nvSpPr>
        <p:spPr>
          <a:xfrm>
            <a:off x="731520" y="2880360"/>
            <a:ext cx="10515600" cy="914400"/>
          </a:xfrm>
          <a:prstGeom prst="rect">
            <a:avLst/>
          </a:prstGeom>
          <a:noFill/>
          <a:ln/>
        </p:spPr>
        <p:txBody>
          <a:bodyPr wrap="square" lIns="0" tIns="0" rIns="0" bIns="0" rtlCol="0" anchor="ctr"/>
          <a:lstStyle/>
          <a:p>
            <a:pPr algn="l" indent="0" marL="0">
              <a:buNone/>
            </a:pPr>
            <a:r>
              <a:rPr lang="en-US" sz="4000" dirty="0">
                <a:solidFill>
                  <a:schemeClr val="bg1"/>
                </a:solidFill>
              </a:rPr>
              <a:t>Connecting both sides</a:t>
            </a:r>
            <a:endParaRPr lang="en-US" sz="4000" dirty="0"/>
          </a:p>
        </p:txBody>
      </p:sp>
      <p:sp>
        <p:nvSpPr>
          <p:cNvPr id="6" name="Text 0"/>
          <p:cNvSpPr/>
          <p:nvPr>
            <p:ph idx="101" type="body" hasCustomPrompt="1"/>
          </p:nvPr>
        </p:nvSpPr>
        <p:spPr>
          <a:xfrm>
            <a:off x="731520" y="3840480"/>
            <a:ext cx="10515600" cy="548640"/>
          </a:xfrm>
          <a:prstGeom prst="rect">
            <a:avLst/>
          </a:prstGeom>
          <a:noFill/>
          <a:ln/>
        </p:spPr>
        <p:txBody>
          <a:bodyPr wrap="square" lIns="0" tIns="0" rIns="0" bIns="0" rtlCol="0" anchor="t"/>
          <a:lstStyle/>
          <a:p>
            <a:pPr indent="0" marL="0">
              <a:buNone/>
            </a:pPr>
            <a:r>
              <a:rPr lang="en-US" sz="2000" dirty="0">
                <a:solidFill>
                  <a:schemeClr val="accent5"/>
                </a:solidFill>
              </a:rPr>
              <a:t>Sign-in, Git repositories, ZIP exports and environments</a:t>
            </a:r>
            <a:endParaRPr lang="en-US" sz="20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FB0C8"/>
                </a:solidFill>
              </a:defRPr>
            </a:lvl1pPr>
          </a:lstStyle>
          <a:p>
            <a:pPr algn="r"/>
            <a:fld id="{F7021451-1387-4CA6-816F-3879F97B5CBC}" type="slidenum">
              <a:rPr b="0" lang="en-US"/>
              <a:t>18</a:t>
            </a:fld>
            <a:endParaRPr lang="en-US"/>
          </a:p>
        </p:txBody>
      </p:sp>
    </p:spTree>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03 · CONNECTING BOTH SIDES</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The Connections page: route, source, target, start</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frontend/src/pages/Setup.tsx</a:t>
            </a:r>
            <a:endParaRPr lang="en-US" sz="1100" dirty="0"/>
          </a:p>
        </p:txBody>
      </p:sp>
      <p:sp>
        <p:nvSpPr>
          <p:cNvPr id="5" name="Shape 3"/>
          <p:cNvSpPr/>
          <p:nvPr/>
        </p:nvSpPr>
        <p:spPr>
          <a:xfrm>
            <a:off x="548640" y="1508760"/>
            <a:ext cx="2526716" cy="1600200"/>
          </a:xfrm>
          <a:prstGeom prst="roundRect">
            <a:avLst>
              <a:gd name="adj" fmla="val 6857"/>
            </a:avLst>
          </a:prstGeom>
          <a:solidFill>
            <a:schemeClr val="bg2"/>
          </a:solidFill>
          <a:ln/>
        </p:spPr>
      </p:sp>
      <p:sp>
        <p:nvSpPr>
          <p:cNvPr id="6" name="Shape 4"/>
          <p:cNvSpPr/>
          <p:nvPr/>
        </p:nvSpPr>
        <p:spPr>
          <a:xfrm>
            <a:off x="685800" y="1645920"/>
            <a:ext cx="384048" cy="384048"/>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781812" y="1741932"/>
            <a:ext cx="192024" cy="192024"/>
          </a:xfrm>
          <a:prstGeom prst="rect">
            <a:avLst/>
          </a:prstGeom>
        </p:spPr>
      </p:pic>
      <p:sp>
        <p:nvSpPr>
          <p:cNvPr id="8" name="Text 5"/>
          <p:cNvSpPr txBox="1"/>
          <p:nvPr/>
        </p:nvSpPr>
        <p:spPr>
          <a:xfrm>
            <a:off x="1152144" y="1618488"/>
            <a:ext cx="1831772" cy="438912"/>
          </a:xfrm>
          <a:prstGeom prst="rect">
            <a:avLst/>
          </a:prstGeom>
          <a:noFill/>
          <a:ln/>
        </p:spPr>
        <p:txBody>
          <a:bodyPr wrap="square" lIns="0" tIns="0" rIns="0" bIns="0" rtlCol="0" anchor="ctr"/>
          <a:lstStyle/>
          <a:p>
            <a:pPr indent="0" marL="0">
              <a:buNone/>
            </a:pPr>
            <a:r>
              <a:rPr lang="en-US" sz="1350" dirty="0">
                <a:solidFill>
                  <a:schemeClr val="tx2"/>
                </a:solidFill>
                <a:latin typeface="+mj-lt" pitchFamily="34" charset="0"/>
                <a:ea typeface="+mj-lt" pitchFamily="34" charset="-122"/>
                <a:cs typeface="+mj-lt" pitchFamily="34" charset="-120"/>
              </a:rPr>
              <a:t>1  Choose the route</a:t>
            </a:r>
            <a:endParaRPr lang="en-US" sz="1350" dirty="0"/>
          </a:p>
        </p:txBody>
      </p:sp>
      <p:sp>
        <p:nvSpPr>
          <p:cNvPr id="9" name="Text 6"/>
          <p:cNvSpPr txBox="1"/>
          <p:nvPr/>
        </p:nvSpPr>
        <p:spPr>
          <a:xfrm>
            <a:off x="685800" y="2075688"/>
            <a:ext cx="2252396" cy="960120"/>
          </a:xfrm>
          <a:prstGeom prst="rect">
            <a:avLst/>
          </a:prstGeom>
          <a:noFill/>
          <a:ln/>
        </p:spPr>
        <p:txBody>
          <a:bodyPr wrap="square" lIns="0" tIns="0" rIns="0" bIns="0" rtlCol="0" anchor="t"/>
          <a:lstStyle/>
          <a:p>
            <a:pPr indent="0" marL="0">
              <a:buNone/>
            </a:pPr>
            <a:r>
              <a:rPr lang="en-US" sz="1250" dirty="0">
                <a:solidFill>
                  <a:schemeClr val="tx1"/>
                </a:solidFill>
              </a:rPr>
              <a:t>From Azure Synapse Analytics to Microsoft Fabric. Other platforms are listed as coming soon.</a:t>
            </a:r>
            <a:endParaRPr lang="en-US" sz="1250" dirty="0"/>
          </a:p>
        </p:txBody>
      </p:sp>
      <p:sp>
        <p:nvSpPr>
          <p:cNvPr id="10" name="Shape 7"/>
          <p:cNvSpPr/>
          <p:nvPr/>
        </p:nvSpPr>
        <p:spPr>
          <a:xfrm>
            <a:off x="3121076" y="2308860"/>
            <a:ext cx="237744" cy="91"/>
          </a:xfrm>
          <a:prstGeom prst="line">
            <a:avLst/>
          </a:prstGeom>
          <a:noFill/>
          <a:ln w="19050">
            <a:solidFill>
              <a:srgbClr val="5D6B82"/>
            </a:solidFill>
            <a:prstDash val="solid"/>
            <a:tailEnd type="triangle"/>
          </a:ln>
        </p:spPr>
      </p:sp>
      <p:sp>
        <p:nvSpPr>
          <p:cNvPr id="11" name="Shape 8"/>
          <p:cNvSpPr/>
          <p:nvPr/>
        </p:nvSpPr>
        <p:spPr>
          <a:xfrm>
            <a:off x="3404540" y="1508760"/>
            <a:ext cx="2526716" cy="1600200"/>
          </a:xfrm>
          <a:prstGeom prst="roundRect">
            <a:avLst>
              <a:gd name="adj" fmla="val 6857"/>
            </a:avLst>
          </a:prstGeom>
          <a:solidFill>
            <a:schemeClr val="bg2"/>
          </a:solidFill>
          <a:ln/>
        </p:spPr>
      </p:sp>
      <p:sp>
        <p:nvSpPr>
          <p:cNvPr id="12" name="Shape 9"/>
          <p:cNvSpPr/>
          <p:nvPr/>
        </p:nvSpPr>
        <p:spPr>
          <a:xfrm>
            <a:off x="3541700" y="1645920"/>
            <a:ext cx="384048" cy="384048"/>
          </a:xfrm>
          <a:prstGeom prst="ellipse">
            <a:avLst/>
          </a:prstGeom>
          <a:solidFill>
            <a:schemeClr val="accent2"/>
          </a:solidFill>
          <a:ln/>
        </p:spPr>
      </p:sp>
      <p:pic>
        <p:nvPicPr>
          <p:cNvPr id="13" name="Image 1" descr="preencoded.png">    </p:cNvPr>
          <p:cNvPicPr>
            <a:picLocks noChangeAspect="1"/>
          </p:cNvPicPr>
          <p:nvPr/>
        </p:nvPicPr>
        <p:blipFill>
          <a:blip r:embed="rId2"/>
          <a:stretch>
            <a:fillRect/>
          </a:stretch>
        </p:blipFill>
        <p:spPr>
          <a:xfrm>
            <a:off x="3637712" y="1741932"/>
            <a:ext cx="192024" cy="192024"/>
          </a:xfrm>
          <a:prstGeom prst="rect">
            <a:avLst/>
          </a:prstGeom>
        </p:spPr>
      </p:pic>
      <p:sp>
        <p:nvSpPr>
          <p:cNvPr id="14" name="Text 10"/>
          <p:cNvSpPr txBox="1"/>
          <p:nvPr/>
        </p:nvSpPr>
        <p:spPr>
          <a:xfrm>
            <a:off x="4008044" y="1618488"/>
            <a:ext cx="1831772" cy="438912"/>
          </a:xfrm>
          <a:prstGeom prst="rect">
            <a:avLst/>
          </a:prstGeom>
          <a:noFill/>
          <a:ln/>
        </p:spPr>
        <p:txBody>
          <a:bodyPr wrap="square" lIns="0" tIns="0" rIns="0" bIns="0" rtlCol="0" anchor="ctr"/>
          <a:lstStyle/>
          <a:p>
            <a:pPr indent="0" marL="0">
              <a:buNone/>
            </a:pPr>
            <a:r>
              <a:rPr lang="en-US" sz="1350" dirty="0">
                <a:solidFill>
                  <a:schemeClr val="tx2"/>
                </a:solidFill>
                <a:latin typeface="+mj-lt" pitchFamily="34" charset="0"/>
                <a:ea typeface="+mj-lt" pitchFamily="34" charset="-122"/>
                <a:cs typeface="+mj-lt" pitchFamily="34" charset="-120"/>
              </a:rPr>
              <a:t>2  Connect Synapse</a:t>
            </a:r>
            <a:endParaRPr lang="en-US" sz="1350" dirty="0"/>
          </a:p>
        </p:txBody>
      </p:sp>
      <p:sp>
        <p:nvSpPr>
          <p:cNvPr id="15" name="Text 11"/>
          <p:cNvSpPr txBox="1"/>
          <p:nvPr/>
        </p:nvSpPr>
        <p:spPr>
          <a:xfrm>
            <a:off x="3541700" y="2075688"/>
            <a:ext cx="2252396" cy="960120"/>
          </a:xfrm>
          <a:prstGeom prst="rect">
            <a:avLst/>
          </a:prstGeom>
          <a:noFill/>
          <a:ln/>
        </p:spPr>
        <p:txBody>
          <a:bodyPr wrap="square" lIns="0" tIns="0" rIns="0" bIns="0" rtlCol="0" anchor="t"/>
          <a:lstStyle/>
          <a:p>
            <a:pPr indent="0" marL="0">
              <a:buNone/>
            </a:pPr>
            <a:r>
              <a:rPr lang="en-US" sz="1250" dirty="0">
                <a:solidFill>
                  <a:schemeClr val="tx1"/>
                </a:solidFill>
              </a:rPr>
              <a:t>A Synapse workspace (read from Git or live) or a ZIP export, with an optional SQL pool.</a:t>
            </a:r>
            <a:endParaRPr lang="en-US" sz="1250" dirty="0"/>
          </a:p>
        </p:txBody>
      </p:sp>
      <p:sp>
        <p:nvSpPr>
          <p:cNvPr id="16" name="Shape 12"/>
          <p:cNvSpPr/>
          <p:nvPr/>
        </p:nvSpPr>
        <p:spPr>
          <a:xfrm>
            <a:off x="5976976" y="2308860"/>
            <a:ext cx="237744" cy="91"/>
          </a:xfrm>
          <a:prstGeom prst="line">
            <a:avLst/>
          </a:prstGeom>
          <a:noFill/>
          <a:ln w="19050">
            <a:solidFill>
              <a:srgbClr val="5D6B82"/>
            </a:solidFill>
            <a:prstDash val="solid"/>
            <a:tailEnd type="triangle"/>
          </a:ln>
        </p:spPr>
      </p:sp>
      <p:sp>
        <p:nvSpPr>
          <p:cNvPr id="17" name="Shape 13"/>
          <p:cNvSpPr/>
          <p:nvPr/>
        </p:nvSpPr>
        <p:spPr>
          <a:xfrm>
            <a:off x="6260440" y="1508760"/>
            <a:ext cx="2526716" cy="1600200"/>
          </a:xfrm>
          <a:prstGeom prst="roundRect">
            <a:avLst>
              <a:gd name="adj" fmla="val 6857"/>
            </a:avLst>
          </a:prstGeom>
          <a:solidFill>
            <a:schemeClr val="bg2"/>
          </a:solidFill>
          <a:ln/>
        </p:spPr>
      </p:sp>
      <p:sp>
        <p:nvSpPr>
          <p:cNvPr id="18" name="Shape 14"/>
          <p:cNvSpPr/>
          <p:nvPr/>
        </p:nvSpPr>
        <p:spPr>
          <a:xfrm>
            <a:off x="6397600" y="1645920"/>
            <a:ext cx="384048" cy="384048"/>
          </a:xfrm>
          <a:prstGeom prst="ellipse">
            <a:avLst/>
          </a:prstGeom>
          <a:solidFill>
            <a:schemeClr val="accent1"/>
          </a:solidFill>
          <a:ln/>
        </p:spPr>
      </p:sp>
      <p:pic>
        <p:nvPicPr>
          <p:cNvPr id="19" name="Image 2" descr="preencoded.png">    </p:cNvPr>
          <p:cNvPicPr>
            <a:picLocks noChangeAspect="1"/>
          </p:cNvPicPr>
          <p:nvPr/>
        </p:nvPicPr>
        <p:blipFill>
          <a:blip r:embed="rId3"/>
          <a:stretch>
            <a:fillRect/>
          </a:stretch>
        </p:blipFill>
        <p:spPr>
          <a:xfrm>
            <a:off x="6493612" y="1741932"/>
            <a:ext cx="192024" cy="192024"/>
          </a:xfrm>
          <a:prstGeom prst="rect">
            <a:avLst/>
          </a:prstGeom>
        </p:spPr>
      </p:pic>
      <p:sp>
        <p:nvSpPr>
          <p:cNvPr id="20" name="Text 15"/>
          <p:cNvSpPr txBox="1"/>
          <p:nvPr/>
        </p:nvSpPr>
        <p:spPr>
          <a:xfrm>
            <a:off x="6863944" y="1618488"/>
            <a:ext cx="1831772" cy="438912"/>
          </a:xfrm>
          <a:prstGeom prst="rect">
            <a:avLst/>
          </a:prstGeom>
          <a:noFill/>
          <a:ln/>
        </p:spPr>
        <p:txBody>
          <a:bodyPr wrap="square" lIns="0" tIns="0" rIns="0" bIns="0" rtlCol="0" anchor="ctr"/>
          <a:lstStyle/>
          <a:p>
            <a:pPr indent="0" marL="0">
              <a:buNone/>
            </a:pPr>
            <a:r>
              <a:rPr lang="en-US" sz="1350" dirty="0">
                <a:solidFill>
                  <a:schemeClr val="tx2"/>
                </a:solidFill>
                <a:latin typeface="+mj-lt" pitchFamily="34" charset="0"/>
                <a:ea typeface="+mj-lt" pitchFamily="34" charset="-122"/>
                <a:cs typeface="+mj-lt" pitchFamily="34" charset="-120"/>
              </a:rPr>
              <a:t>3  Connect Fabric</a:t>
            </a:r>
            <a:endParaRPr lang="en-US" sz="1350" dirty="0"/>
          </a:p>
        </p:txBody>
      </p:sp>
      <p:sp>
        <p:nvSpPr>
          <p:cNvPr id="21" name="Text 16"/>
          <p:cNvSpPr txBox="1"/>
          <p:nvPr/>
        </p:nvSpPr>
        <p:spPr>
          <a:xfrm>
            <a:off x="6397600" y="2075688"/>
            <a:ext cx="2252396" cy="960120"/>
          </a:xfrm>
          <a:prstGeom prst="rect">
            <a:avLst/>
          </a:prstGeom>
          <a:noFill/>
          <a:ln/>
        </p:spPr>
        <p:txBody>
          <a:bodyPr wrap="square" lIns="0" tIns="0" rIns="0" bIns="0" rtlCol="0" anchor="t"/>
          <a:lstStyle/>
          <a:p>
            <a:pPr indent="0" marL="0">
              <a:buNone/>
            </a:pPr>
            <a:r>
              <a:rPr lang="en-US" sz="1250" dirty="0">
                <a:solidFill>
                  <a:schemeClr val="tx1"/>
                </a:solidFill>
              </a:rPr>
              <a:t>Azure CLI or Fabric CLI; choose the workspace; test it, capacity included.</a:t>
            </a:r>
            <a:endParaRPr lang="en-US" sz="1250" dirty="0"/>
          </a:p>
        </p:txBody>
      </p:sp>
      <p:sp>
        <p:nvSpPr>
          <p:cNvPr id="22" name="Shape 17"/>
          <p:cNvSpPr/>
          <p:nvPr/>
        </p:nvSpPr>
        <p:spPr>
          <a:xfrm>
            <a:off x="8832875" y="2308860"/>
            <a:ext cx="237744" cy="91"/>
          </a:xfrm>
          <a:prstGeom prst="line">
            <a:avLst/>
          </a:prstGeom>
          <a:noFill/>
          <a:ln w="19050">
            <a:solidFill>
              <a:srgbClr val="5D6B82"/>
            </a:solidFill>
            <a:prstDash val="solid"/>
            <a:tailEnd type="triangle"/>
          </a:ln>
        </p:spPr>
      </p:sp>
      <p:sp>
        <p:nvSpPr>
          <p:cNvPr id="23" name="Shape 18"/>
          <p:cNvSpPr/>
          <p:nvPr/>
        </p:nvSpPr>
        <p:spPr>
          <a:xfrm>
            <a:off x="9116339" y="1508760"/>
            <a:ext cx="2526716" cy="1600200"/>
          </a:xfrm>
          <a:prstGeom prst="roundRect">
            <a:avLst>
              <a:gd name="adj" fmla="val 6857"/>
            </a:avLst>
          </a:prstGeom>
          <a:solidFill>
            <a:schemeClr val="bg2"/>
          </a:solidFill>
          <a:ln/>
        </p:spPr>
      </p:sp>
      <p:sp>
        <p:nvSpPr>
          <p:cNvPr id="24" name="Shape 19"/>
          <p:cNvSpPr/>
          <p:nvPr/>
        </p:nvSpPr>
        <p:spPr>
          <a:xfrm>
            <a:off x="9253499" y="1645920"/>
            <a:ext cx="384048" cy="384048"/>
          </a:xfrm>
          <a:prstGeom prst="ellipse">
            <a:avLst/>
          </a:prstGeom>
          <a:solidFill>
            <a:schemeClr val="accent1"/>
          </a:solidFill>
          <a:ln/>
        </p:spPr>
      </p:sp>
      <p:pic>
        <p:nvPicPr>
          <p:cNvPr id="25" name="Image 3" descr="preencoded.png">    </p:cNvPr>
          <p:cNvPicPr>
            <a:picLocks noChangeAspect="1"/>
          </p:cNvPicPr>
          <p:nvPr/>
        </p:nvPicPr>
        <p:blipFill>
          <a:blip r:embed="rId4"/>
          <a:stretch>
            <a:fillRect/>
          </a:stretch>
        </p:blipFill>
        <p:spPr>
          <a:xfrm>
            <a:off x="9349511" y="1741932"/>
            <a:ext cx="192024" cy="192024"/>
          </a:xfrm>
          <a:prstGeom prst="rect">
            <a:avLst/>
          </a:prstGeom>
        </p:spPr>
      </p:pic>
      <p:sp>
        <p:nvSpPr>
          <p:cNvPr id="26" name="Text 20"/>
          <p:cNvSpPr txBox="1"/>
          <p:nvPr/>
        </p:nvSpPr>
        <p:spPr>
          <a:xfrm>
            <a:off x="9719843" y="1618488"/>
            <a:ext cx="1831772" cy="438912"/>
          </a:xfrm>
          <a:prstGeom prst="rect">
            <a:avLst/>
          </a:prstGeom>
          <a:noFill/>
          <a:ln/>
        </p:spPr>
        <p:txBody>
          <a:bodyPr wrap="square" lIns="0" tIns="0" rIns="0" bIns="0" rtlCol="0" anchor="ctr"/>
          <a:lstStyle/>
          <a:p>
            <a:pPr indent="0" marL="0">
              <a:buNone/>
            </a:pPr>
            <a:r>
              <a:rPr lang="en-US" sz="1350" dirty="0">
                <a:solidFill>
                  <a:schemeClr val="tx2"/>
                </a:solidFill>
                <a:latin typeface="+mj-lt" pitchFamily="34" charset="0"/>
                <a:ea typeface="+mj-lt" pitchFamily="34" charset="-122"/>
                <a:cs typeface="+mj-lt" pitchFamily="34" charset="-120"/>
              </a:rPr>
              <a:t>4  Start migration</a:t>
            </a:r>
            <a:endParaRPr lang="en-US" sz="1350" dirty="0"/>
          </a:p>
        </p:txBody>
      </p:sp>
      <p:sp>
        <p:nvSpPr>
          <p:cNvPr id="27" name="Text 21"/>
          <p:cNvSpPr txBox="1"/>
          <p:nvPr/>
        </p:nvSpPr>
        <p:spPr>
          <a:xfrm>
            <a:off x="9253499" y="2075688"/>
            <a:ext cx="2252396" cy="960120"/>
          </a:xfrm>
          <a:prstGeom prst="rect">
            <a:avLst/>
          </a:prstGeom>
          <a:noFill/>
          <a:ln/>
        </p:spPr>
        <p:txBody>
          <a:bodyPr wrap="square" lIns="0" tIns="0" rIns="0" bIns="0" rtlCol="0" anchor="t"/>
          <a:lstStyle/>
          <a:p>
            <a:pPr indent="0" marL="0">
              <a:buNone/>
            </a:pPr>
            <a:r>
              <a:rPr lang="en-US" sz="1250" dirty="0">
                <a:solidFill>
                  <a:schemeClr val="tx1"/>
                </a:solidFill>
              </a:rPr>
              <a:t>Enabled once the route is chosen and both sides pass their tests.</a:t>
            </a:r>
            <a:endParaRPr lang="en-US" sz="1250" dirty="0"/>
          </a:p>
        </p:txBody>
      </p:sp>
      <p:sp>
        <p:nvSpPr>
          <p:cNvPr id="28" name="Shape 22"/>
          <p:cNvSpPr/>
          <p:nvPr/>
        </p:nvSpPr>
        <p:spPr>
          <a:xfrm>
            <a:off x="548640" y="3337560"/>
            <a:ext cx="5449824" cy="2743200"/>
          </a:xfrm>
          <a:prstGeom prst="roundRect">
            <a:avLst>
              <a:gd name="adj" fmla="val 4000"/>
            </a:avLst>
          </a:prstGeom>
          <a:solidFill>
            <a:schemeClr val="bg2"/>
          </a:solidFill>
          <a:ln/>
        </p:spPr>
      </p:sp>
      <p:sp>
        <p:nvSpPr>
          <p:cNvPr id="29" name="Text 23"/>
          <p:cNvSpPr txBox="1"/>
          <p:nvPr/>
        </p:nvSpPr>
        <p:spPr>
          <a:xfrm>
            <a:off x="777240" y="3520440"/>
            <a:ext cx="4992624"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SHOWN AS COMING SOON</a:t>
            </a:r>
            <a:endParaRPr lang="en-US" sz="1100" dirty="0"/>
          </a:p>
        </p:txBody>
      </p:sp>
      <p:sp>
        <p:nvSpPr>
          <p:cNvPr id="30" name="Text 24"/>
          <p:cNvSpPr txBox="1"/>
          <p:nvPr/>
        </p:nvSpPr>
        <p:spPr>
          <a:xfrm>
            <a:off x="749808" y="3840480"/>
            <a:ext cx="5065776" cy="21031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Sources: Azure Data Factory, SQL Server, Azure Databricks, Snowflake, Teradata, Oracle, Amazon Redshift, Google BigQuery</a:t>
            </a:r>
            <a:endParaRPr lang="en-US" sz="1400" dirty="0"/>
          </a:p>
          <a:p>
            <a:pPr marL="177800" indent="-177800">
              <a:spcAft>
                <a:spcPts val="500"/>
              </a:spcAft>
              <a:buSzPct val="100000"/>
              <a:buChar char="•"/>
            </a:pPr>
            <a:r>
              <a:rPr lang="en-US" sz="1300" dirty="0">
                <a:solidFill>
                  <a:schemeClr val="tx1"/>
                </a:solidFill>
              </a:rPr>
              <a:t>Destinations: Azure Databricks, Snowflake, Azure SQL Database, Google BigQuery</a:t>
            </a:r>
            <a:endParaRPr lang="en-US" sz="1400" dirty="0"/>
          </a:p>
          <a:p>
            <a:pPr marL="177800" indent="-177800">
              <a:spcAft>
                <a:spcPts val="500"/>
              </a:spcAft>
              <a:buSzPct val="100000"/>
              <a:buChar char="•"/>
            </a:pPr>
            <a:r>
              <a:rPr lang="en-US" sz="1300" dirty="0">
                <a:solidFill>
                  <a:schemeClr val="tx1"/>
                </a:solidFill>
              </a:rPr>
              <a:t>They are dimmed and cannot be chosen, so the roadmap is visible</a:t>
            </a:r>
            <a:endParaRPr lang="en-US" sz="1400" dirty="0"/>
          </a:p>
        </p:txBody>
      </p:sp>
      <p:sp>
        <p:nvSpPr>
          <p:cNvPr id="31" name="Shape 25"/>
          <p:cNvSpPr/>
          <p:nvPr/>
        </p:nvSpPr>
        <p:spPr>
          <a:xfrm>
            <a:off x="6190488" y="3337560"/>
            <a:ext cx="5449824" cy="2743200"/>
          </a:xfrm>
          <a:prstGeom prst="roundRect">
            <a:avLst>
              <a:gd name="adj" fmla="val 4000"/>
            </a:avLst>
          </a:prstGeom>
          <a:solidFill>
            <a:schemeClr val="bg2"/>
          </a:solidFill>
          <a:ln/>
        </p:spPr>
      </p:sp>
      <p:sp>
        <p:nvSpPr>
          <p:cNvPr id="32" name="Text 26"/>
          <p:cNvSpPr txBox="1"/>
          <p:nvPr/>
        </p:nvSpPr>
        <p:spPr>
          <a:xfrm>
            <a:off x="6419088" y="3520440"/>
            <a:ext cx="4992624"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WHAT THE CARDS TELL YOU</a:t>
            </a:r>
            <a:endParaRPr lang="en-US" sz="1100" dirty="0"/>
          </a:p>
        </p:txBody>
      </p:sp>
      <p:sp>
        <p:nvSpPr>
          <p:cNvPr id="33" name="Text 27"/>
          <p:cNvSpPr txBox="1"/>
          <p:nvPr/>
        </p:nvSpPr>
        <p:spPr>
          <a:xfrm>
            <a:off x="6391656" y="3840480"/>
            <a:ext cx="5065776" cy="21031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Each side shows its state: Checking…, Signing in…, Signed in, Testing…, Connected, Failed, Not connected or No capacity</a:t>
            </a:r>
            <a:endParaRPr lang="en-US" sz="1400" dirty="0"/>
          </a:p>
          <a:p>
            <a:pPr marL="177800" indent="-177800">
              <a:spcAft>
                <a:spcPts val="500"/>
              </a:spcAft>
              <a:buSzPct val="100000"/>
              <a:buChar char="•"/>
            </a:pPr>
            <a:r>
              <a:rPr lang="en-US" sz="1300" dirty="0">
                <a:solidFill>
                  <a:schemeClr val="tx1"/>
                </a:solidFill>
              </a:rPr>
              <a:t>A checklist beside Start says what is still missing</a:t>
            </a:r>
            <a:endParaRPr lang="en-US" sz="1400" dirty="0"/>
          </a:p>
          <a:p>
            <a:pPr marL="177800" indent="-177800">
              <a:spcAft>
                <a:spcPts val="500"/>
              </a:spcAft>
              <a:buSzPct val="100000"/>
              <a:buChar char="•"/>
            </a:pPr>
            <a:r>
              <a:rPr lang="en-US" sz="1300" dirty="0">
                <a:solidFill>
                  <a:schemeClr val="tx1"/>
                </a:solidFill>
              </a:rPr>
              <a:t>Disconnecting the source asks first when discovery results would be lost</a:t>
            </a:r>
            <a:endParaRPr lang="en-US" sz="1400" dirty="0"/>
          </a:p>
          <a:p>
            <a:pPr marL="177800" indent="-177800">
              <a:spcAft>
                <a:spcPts val="500"/>
              </a:spcAft>
              <a:buSzPct val="100000"/>
              <a:buChar char="•"/>
            </a:pPr>
            <a:r>
              <a:rPr lang="en-US" sz="1300" dirty="0">
                <a:solidFill>
                  <a:schemeClr val="tx1"/>
                </a:solidFill>
              </a:rPr>
              <a:t>Once a migration is under way the button reads Continue migration</a:t>
            </a:r>
            <a:endParaRPr lang="en-US" sz="14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03 · CONNECTING BOTH SIDES</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Three ways to read the Synapse definitions</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api/repository_source.py · synapse/</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103120"/>
                <a:gridCol w="3154680"/>
                <a:gridCol w="2880360"/>
                <a:gridCol w="2953512"/>
              </a:tblGrid>
              <a:tr h="347472">
                <a:tc>
                  <a:txBody>
                    <a:bodyPr/>
                    <a:lstStyle/>
                    <a:p>
                      <a:pPr indent="0" marL="0">
                        <a:buNone/>
                      </a:pP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indent="0" marL="0">
                        <a:buNone/>
                      </a:pPr>
                      <a:r>
                        <a:rPr lang="en-US" sz="1250" b="1" dirty="0">
                          <a:solidFill>
                            <a:schemeClr val="bg1"/>
                          </a:solidFill>
                        </a:rPr>
                        <a:t>Git repository (recommended)</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7F70"/>
                    </a:solidFill>
                  </a:tcPr>
                </a:tc>
                <a:tc>
                  <a:txBody>
                    <a:bodyPr/>
                    <a:lstStyle/>
                    <a:p>
                      <a:pPr indent="0" marL="0">
                        <a:buNone/>
                      </a:pPr>
                      <a:r>
                        <a:rPr lang="en-US" sz="1250" b="1" dirty="0">
                          <a:solidFill>
                            <a:schemeClr val="bg1"/>
                          </a:solidFill>
                        </a:rPr>
                        <a:t>Live workspace</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4157D6"/>
                    </a:solidFill>
                  </a:tcPr>
                </a:tc>
                <a:tc>
                  <a:txBody>
                    <a:bodyPr/>
                    <a:lstStyle/>
                    <a:p>
                      <a:pPr indent="0" marL="0">
                        <a:buNone/>
                      </a:pPr>
                      <a:r>
                        <a:rPr lang="en-US" sz="1250" b="1" dirty="0">
                          <a:solidFill>
                            <a:schemeClr val="bg1"/>
                          </a:solidFill>
                        </a:rPr>
                        <a:t>ZIP export</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5D6B82"/>
                    </a:solidFill>
                  </a:tcPr>
                </a:tc>
              </a:tr>
              <a:tr h="512064">
                <a:tc>
                  <a:txBody>
                    <a:bodyPr/>
                    <a:lstStyle/>
                    <a:p>
                      <a:pPr indent="0" marL="0">
                        <a:buNone/>
                      </a:pPr>
                      <a:r>
                        <a:rPr lang="en-US" sz="1250" b="1" dirty="0">
                          <a:solidFill>
                            <a:schemeClr val="tx2"/>
                          </a:solidFill>
                        </a:rPr>
                        <a:t>Reads from</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The collaboration branch, cloned by git on this machine</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What is published, through the Synapse Artifacts API</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An uploaded repository folder, up to 200 MB</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512064">
                <a:tc>
                  <a:txBody>
                    <a:bodyPr/>
                    <a:lstStyle/>
                    <a:p>
                      <a:pPr indent="0" marL="0">
                        <a:buNone/>
                      </a:pPr>
                      <a:r>
                        <a:rPr lang="en-US" sz="1250" b="1" dirty="0">
                          <a:solidFill>
                            <a:schemeClr val="tx2"/>
                          </a:solidFill>
                        </a:rPr>
                        <a:t>Unpublished work</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50" dirty="0">
                          <a:solidFill>
                            <a:schemeClr val="tx1"/>
                          </a:solidFill>
                        </a:rPr>
                        <a:t>Included</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50" dirty="0">
                          <a:solidFill>
                            <a:schemeClr val="tx1"/>
                          </a:solidFill>
                        </a:rPr>
                        <a:t>Not included</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50" dirty="0">
                          <a:solidFill>
                            <a:schemeClr val="tx1"/>
                          </a:solidFill>
                        </a:rPr>
                        <a:t>Included, as exported</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512064">
                <a:tc>
                  <a:txBody>
                    <a:bodyPr/>
                    <a:lstStyle/>
                    <a:p>
                      <a:pPr indent="0" marL="0">
                        <a:buNone/>
                      </a:pPr>
                      <a:r>
                        <a:rPr lang="en-US" sz="1250" b="1" dirty="0">
                          <a:solidFill>
                            <a:schemeClr val="tx2"/>
                          </a:solidFill>
                        </a:rPr>
                        <a:t>Commit recorded</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Yes: branch and commit</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No</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No</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512064">
                <a:tc>
                  <a:txBody>
                    <a:bodyPr/>
                    <a:lstStyle/>
                    <a:p>
                      <a:pPr indent="0" marL="0">
                        <a:buNone/>
                      </a:pPr>
                      <a:r>
                        <a:rPr lang="en-US" sz="1250" b="1" dirty="0">
                          <a:solidFill>
                            <a:schemeClr val="tx2"/>
                          </a:solidFill>
                        </a:rPr>
                        <a:t>Other environments</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50" dirty="0">
                          <a:solidFill>
                            <a:schemeClr val="tx1"/>
                          </a:solidFill>
                        </a:rPr>
                        <a:t>Any branch, plus a parameters file</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50" dirty="0">
                          <a:solidFill>
                            <a:schemeClr val="tx1"/>
                          </a:solidFill>
                        </a:rPr>
                        <a:t>Only the chosen workspace</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50" dirty="0">
                          <a:solidFill>
                            <a:schemeClr val="tx1"/>
                          </a:solidFill>
                        </a:rPr>
                        <a:t>A parameters file</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512064">
                <a:tc>
                  <a:txBody>
                    <a:bodyPr/>
                    <a:lstStyle/>
                    <a:p>
                      <a:pPr indent="0" marL="0">
                        <a:buNone/>
                      </a:pPr>
                      <a:r>
                        <a:rPr lang="en-US" sz="1250" b="1" dirty="0">
                          <a:solidFill>
                            <a:schemeClr val="tx2"/>
                          </a:solidFill>
                        </a:rPr>
                        <a:t>Access needed</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Reader on the resource group, and Git access</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A Synapse role such as Artifact User</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None; sign in only to add the SQL pool</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512064">
                <a:tc>
                  <a:txBody>
                    <a:bodyPr/>
                    <a:lstStyle/>
                    <a:p>
                      <a:pPr indent="0" marL="0">
                        <a:buNone/>
                      </a:pPr>
                      <a:r>
                        <a:rPr lang="en-US" sz="1250" b="1" dirty="0">
                          <a:solidFill>
                            <a:schemeClr val="tx2"/>
                          </a:solidFill>
                        </a:rPr>
                        <a:t>How it is chosen</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50" dirty="0">
                          <a:solidFill>
                            <a:schemeClr val="tx1"/>
                          </a:solidFill>
                        </a:rPr>
                        <a:t>Found from the workspace's own Git settings; nothing typed</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50" dirty="0">
                          <a:solidFill>
                            <a:schemeClr val="tx1"/>
                          </a:solidFill>
                        </a:rPr>
                        <a:t>Used when the workspace has no Git, or if you choose it</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50" dirty="0">
                          <a:solidFill>
                            <a:schemeClr val="tx1"/>
                          </a:solidFill>
                        </a:rPr>
                        <a:t>Upload, then Connect</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bl>
          </a:graphicData>
        </a:graphic>
      </p:graphicFrame>
      <p:sp>
        <p:nvSpPr>
          <p:cNvPr id="6" name="Shape 3"/>
          <p:cNvSpPr/>
          <p:nvPr/>
        </p:nvSpPr>
        <p:spPr>
          <a:xfrm>
            <a:off x="548640" y="5486400"/>
            <a:ext cx="11094415" cy="685800"/>
          </a:xfrm>
          <a:prstGeom prst="roundRect">
            <a:avLst>
              <a:gd name="adj" fmla="val 16000"/>
            </a:avLst>
          </a:prstGeom>
          <a:solidFill>
            <a:schemeClr val="accent1">
              <a:alpha val="13000"/>
            </a:schemeClr>
          </a:solidFill>
          <a:ln/>
        </p:spPr>
      </p:sp>
      <p:sp>
        <p:nvSpPr>
          <p:cNvPr id="7" name="Text 4"/>
          <p:cNvSpPr txBox="1"/>
          <p:nvPr/>
        </p:nvSpPr>
        <p:spPr>
          <a:xfrm>
            <a:off x="777240" y="5486400"/>
            <a:ext cx="10637215" cy="685800"/>
          </a:xfrm>
          <a:prstGeom prst="rect">
            <a:avLst/>
          </a:prstGeom>
          <a:noFill/>
          <a:ln/>
        </p:spPr>
        <p:txBody>
          <a:bodyPr wrap="square" lIns="0" tIns="0" rIns="0" bIns="0" rtlCol="0" anchor="ctr"/>
          <a:lstStyle/>
          <a:p>
            <a:pPr indent="0" marL="0">
              <a:buNone/>
            </a:pPr>
            <a:r>
              <a:rPr lang="en-US" sz="1250" b="1" dirty="0">
                <a:solidFill>
                  <a:schemeClr val="tx2"/>
                </a:solidFill>
              </a:rPr>
              <a:t>Always from the SQL pool:  </a:t>
            </a:r>
            <a:pPr indent="0" marL="0">
              <a:buNone/>
            </a:pPr>
            <a:r>
              <a:rPr lang="en-US" sz="1250" dirty="0">
                <a:solidFill>
                  <a:schemeClr val="tx1"/>
                </a:solidFill>
              </a:rPr>
              <a:t>tables, views, procedures, functions, security and rows. Triggers and integration runtimes come from the repository folders; Spark pools and libraries only from a signed-in workspace.</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03 · CONNECTING BOTH SIDES</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Signing in: one identity per side, kept apart</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connections/azure.py · api/fabric.py</a:t>
            </a:r>
            <a:endParaRPr lang="en-US" sz="1100" dirty="0"/>
          </a:p>
        </p:txBody>
      </p:sp>
      <p:sp>
        <p:nvSpPr>
          <p:cNvPr id="5" name="Shape 3"/>
          <p:cNvSpPr/>
          <p:nvPr/>
        </p:nvSpPr>
        <p:spPr>
          <a:xfrm>
            <a:off x="548640" y="1508760"/>
            <a:ext cx="5449824" cy="3749040"/>
          </a:xfrm>
          <a:prstGeom prst="roundRect">
            <a:avLst>
              <a:gd name="adj" fmla="val 2927"/>
            </a:avLst>
          </a:prstGeom>
          <a:solidFill>
            <a:schemeClr val="accent2">
              <a:alpha val="9000"/>
            </a:schemeClr>
          </a:solidFill>
          <a:ln/>
        </p:spPr>
      </p:sp>
      <p:sp>
        <p:nvSpPr>
          <p:cNvPr id="6" name="Text 4"/>
          <p:cNvSpPr txBox="1"/>
          <p:nvPr/>
        </p:nvSpPr>
        <p:spPr>
          <a:xfrm>
            <a:off x="777240" y="1691640"/>
            <a:ext cx="4992624" cy="237744"/>
          </a:xfrm>
          <a:prstGeom prst="rect">
            <a:avLst/>
          </a:prstGeom>
          <a:noFill/>
          <a:ln/>
        </p:spPr>
        <p:txBody>
          <a:bodyPr wrap="square" lIns="0" tIns="0" rIns="0" bIns="0" rtlCol="0" anchor="t"/>
          <a:lstStyle/>
          <a:p>
            <a:pPr indent="0" marL="0">
              <a:buNone/>
            </a:pPr>
            <a:r>
              <a:rPr lang="en-US" sz="1100" b="1" spc="100" kern="0" dirty="0">
                <a:solidFill>
                  <a:schemeClr val="accent2"/>
                </a:solidFill>
              </a:rPr>
              <a:t>SYNAPSE (AZURE)</a:t>
            </a:r>
            <a:endParaRPr lang="en-US" sz="1100" dirty="0"/>
          </a:p>
        </p:txBody>
      </p:sp>
      <p:sp>
        <p:nvSpPr>
          <p:cNvPr id="7" name="Text 5"/>
          <p:cNvSpPr txBox="1"/>
          <p:nvPr/>
        </p:nvSpPr>
        <p:spPr>
          <a:xfrm>
            <a:off x="749808" y="2011680"/>
            <a:ext cx="5065776" cy="31089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Sign in with Azure opens a Microsoft window on the API machine; 120 seconds to finish</a:t>
            </a:r>
            <a:endParaRPr lang="en-US" sz="1400" dirty="0"/>
          </a:p>
          <a:p>
            <a:pPr marL="177800" indent="-177800">
              <a:spcAft>
                <a:spcPts val="600"/>
              </a:spcAft>
              <a:buSzPct val="100000"/>
              <a:buChar char="•"/>
            </a:pPr>
            <a:r>
              <a:rPr lang="en-US" sz="1300" dirty="0">
                <a:solidFill>
                  <a:schemeClr val="tx1"/>
                </a:solidFill>
              </a:rPr>
              <a:t>Every directory the account belongs to is searched; one that needs its own sign-in gets a button</a:t>
            </a:r>
            <a:endParaRPr lang="en-US" sz="1400" dirty="0"/>
          </a:p>
          <a:p>
            <a:pPr marL="177800" indent="-177800">
              <a:spcAft>
                <a:spcPts val="600"/>
              </a:spcAft>
              <a:buSzPct val="100000"/>
              <a:buChar char="•"/>
            </a:pPr>
            <a:r>
              <a:rPr lang="en-US" sz="1300" dirty="0">
                <a:solidFill>
                  <a:schemeClr val="tx1"/>
                </a:solidFill>
              </a:rPr>
              <a:t>Pick subscription → resource group → workspace → SQL pool; a list with one entry is chosen for you</a:t>
            </a:r>
            <a:endParaRPr lang="en-US" sz="1400" dirty="0"/>
          </a:p>
          <a:p>
            <a:pPr marL="177800" indent="-177800">
              <a:spcAft>
                <a:spcPts val="600"/>
              </a:spcAft>
              <a:buSzPct val="100000"/>
              <a:buChar char="•"/>
            </a:pPr>
            <a:r>
              <a:rPr lang="en-US" sz="1300" dirty="0">
                <a:solidFill>
                  <a:schemeClr val="tx1"/>
                </a:solidFill>
              </a:rPr>
              <a:t>One identity, one token per audience: ARM, SQL, Synapse data plane</a:t>
            </a:r>
            <a:endParaRPr lang="en-US" sz="1400" dirty="0"/>
          </a:p>
          <a:p>
            <a:pPr marL="177800" indent="-177800">
              <a:spcAft>
                <a:spcPts val="600"/>
              </a:spcAft>
              <a:buSzPct val="100000"/>
              <a:buChar char="•"/>
            </a:pPr>
            <a:r>
              <a:rPr lang="en-US" sz="1300" dirty="0">
                <a:solidFill>
                  <a:schemeClr val="tx1"/>
                </a:solidFill>
              </a:rPr>
              <a:t>Tokens live in memory, refresh 5 minutes before expiry, never logged or written</a:t>
            </a:r>
            <a:endParaRPr lang="en-US" sz="1400" dirty="0"/>
          </a:p>
          <a:p>
            <a:pPr marL="177800" indent="-177800">
              <a:spcAft>
                <a:spcPts val="600"/>
              </a:spcAft>
              <a:buSzPct val="100000"/>
              <a:buChar char="•"/>
            </a:pPr>
            <a:r>
              <a:rPr lang="en-US" sz="1300" dirty="0">
                <a:solidFill>
                  <a:schemeClr val="tx1"/>
                </a:solidFill>
              </a:rPr>
              <a:t>Signing out drops the identity; nothing is kept between sign-ins</a:t>
            </a:r>
            <a:endParaRPr lang="en-US" sz="1400" dirty="0"/>
          </a:p>
        </p:txBody>
      </p:sp>
      <p:sp>
        <p:nvSpPr>
          <p:cNvPr id="8" name="Shape 6"/>
          <p:cNvSpPr/>
          <p:nvPr/>
        </p:nvSpPr>
        <p:spPr>
          <a:xfrm>
            <a:off x="6190488" y="1508760"/>
            <a:ext cx="5449824" cy="3749040"/>
          </a:xfrm>
          <a:prstGeom prst="roundRect">
            <a:avLst>
              <a:gd name="adj" fmla="val 2927"/>
            </a:avLst>
          </a:prstGeom>
          <a:solidFill>
            <a:schemeClr val="accent1">
              <a:alpha val="10000"/>
            </a:schemeClr>
          </a:solidFill>
          <a:ln/>
        </p:spPr>
      </p:sp>
      <p:sp>
        <p:nvSpPr>
          <p:cNvPr id="9" name="Text 7"/>
          <p:cNvSpPr txBox="1"/>
          <p:nvPr/>
        </p:nvSpPr>
        <p:spPr>
          <a:xfrm>
            <a:off x="6419088" y="1691640"/>
            <a:ext cx="4992624" cy="237744"/>
          </a:xfrm>
          <a:prstGeom prst="rect">
            <a:avLst/>
          </a:prstGeom>
          <a:noFill/>
          <a:ln/>
        </p:spPr>
        <p:txBody>
          <a:bodyPr wrap="square" lIns="0" tIns="0" rIns="0" bIns="0" rtlCol="0" anchor="t"/>
          <a:lstStyle/>
          <a:p>
            <a:pPr indent="0" marL="0">
              <a:buNone/>
            </a:pPr>
            <a:r>
              <a:rPr lang="en-US" sz="1100" b="1" spc="100" kern="0" dirty="0">
                <a:solidFill>
                  <a:schemeClr val="accent1"/>
                </a:solidFill>
              </a:rPr>
              <a:t>FABRIC</a:t>
            </a:r>
            <a:endParaRPr lang="en-US" sz="1100" dirty="0"/>
          </a:p>
        </p:txBody>
      </p:sp>
      <p:sp>
        <p:nvSpPr>
          <p:cNvPr id="10" name="Text 8"/>
          <p:cNvSpPr txBox="1"/>
          <p:nvPr/>
        </p:nvSpPr>
        <p:spPr>
          <a:xfrm>
            <a:off x="6391656" y="2011680"/>
            <a:ext cx="5065776" cy="31089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Azure CLI: az login, which always prompts; az issues the Fabric API and Warehouse tokens</a:t>
            </a:r>
            <a:endParaRPr lang="en-US" sz="1400" dirty="0"/>
          </a:p>
          <a:p>
            <a:pPr marL="177800" indent="-177800">
              <a:spcAft>
                <a:spcPts val="600"/>
              </a:spcAft>
              <a:buSzPct val="100000"/>
              <a:buChar char="•"/>
            </a:pPr>
            <a:r>
              <a:rPr lang="en-US" sz="1300" dirty="0">
                <a:solidFill>
                  <a:schemeClr val="tx1"/>
                </a:solidFill>
              </a:rPr>
              <a:t>Fabric CLI: fab auth login; every Fabric call then goes through fab api; SQL needs one browser sign-in</a:t>
            </a:r>
            <a:endParaRPr lang="en-US" sz="1400" dirty="0"/>
          </a:p>
          <a:p>
            <a:pPr marL="177800" indent="-177800">
              <a:spcAft>
                <a:spcPts val="600"/>
              </a:spcAft>
              <a:buSzPct val="100000"/>
              <a:buChar char="•"/>
            </a:pPr>
            <a:r>
              <a:rPr lang="en-US" sz="1300" dirty="0">
                <a:solidFill>
                  <a:schemeClr val="tx1"/>
                </a:solidFill>
              </a:rPr>
              <a:t>Choose the workspace from your account's list</a:t>
            </a:r>
            <a:endParaRPr lang="en-US" sz="1400" dirty="0"/>
          </a:p>
          <a:p>
            <a:pPr marL="177800" indent="-177800">
              <a:spcAft>
                <a:spcPts val="600"/>
              </a:spcAft>
              <a:buSzPct val="100000"/>
              <a:buChar char="•"/>
            </a:pPr>
            <a:r>
              <a:rPr lang="en-US" sz="1300" dirty="0">
                <a:solidFill>
                  <a:schemeClr val="tx1"/>
                </a:solidFill>
              </a:rPr>
              <a:t>Test: signed in, API reachable, workspace readable, capacity assigned</a:t>
            </a:r>
            <a:endParaRPr lang="en-US" sz="1400" dirty="0"/>
          </a:p>
          <a:p>
            <a:pPr marL="177800" indent="-177800">
              <a:spcAft>
                <a:spcPts val="600"/>
              </a:spcAft>
              <a:buSzPct val="100000"/>
              <a:buChar char="•"/>
            </a:pPr>
            <a:r>
              <a:rPr lang="en-US" sz="1300" dirty="0">
                <a:solidFill>
                  <a:schemeClr val="tx1"/>
                </a:solidFill>
              </a:rPr>
              <a:t>No capacity means no items can be created, so a run is refused up front</a:t>
            </a:r>
            <a:endParaRPr lang="en-US" sz="1400" dirty="0"/>
          </a:p>
          <a:p>
            <a:pPr marL="177800" indent="-177800">
              <a:spcAft>
                <a:spcPts val="600"/>
              </a:spcAft>
              <a:buSzPct val="100000"/>
              <a:buChar char="•"/>
            </a:pPr>
            <a:r>
              <a:rPr lang="en-US" sz="1300" dirty="0">
                <a:solidFill>
                  <a:schemeClr val="tx1"/>
                </a:solidFill>
              </a:rPr>
              <a:t>After a restart, the chosen workspace is re-verified silently</a:t>
            </a:r>
            <a:endParaRPr lang="en-US" sz="1400" dirty="0"/>
          </a:p>
        </p:txBody>
      </p:sp>
      <p:sp>
        <p:nvSpPr>
          <p:cNvPr id="11" name="Shape 9"/>
          <p:cNvSpPr/>
          <p:nvPr/>
        </p:nvSpPr>
        <p:spPr>
          <a:xfrm>
            <a:off x="548640" y="5486400"/>
            <a:ext cx="11094415" cy="658368"/>
          </a:xfrm>
          <a:prstGeom prst="roundRect">
            <a:avLst>
              <a:gd name="adj" fmla="val 16667"/>
            </a:avLst>
          </a:prstGeom>
          <a:solidFill>
            <a:schemeClr val="accent1">
              <a:alpha val="13000"/>
            </a:schemeClr>
          </a:solidFill>
          <a:ln/>
        </p:spPr>
      </p:sp>
      <p:sp>
        <p:nvSpPr>
          <p:cNvPr id="12" name="Text 10"/>
          <p:cNvSpPr txBox="1"/>
          <p:nvPr/>
        </p:nvSpPr>
        <p:spPr>
          <a:xfrm>
            <a:off x="777240" y="5486400"/>
            <a:ext cx="10637215" cy="658368"/>
          </a:xfrm>
          <a:prstGeom prst="rect">
            <a:avLst/>
          </a:prstGeom>
          <a:noFill/>
          <a:ln/>
        </p:spPr>
        <p:txBody>
          <a:bodyPr wrap="square" lIns="0" tIns="0" rIns="0" bIns="0" rtlCol="0" anchor="ctr"/>
          <a:lstStyle/>
          <a:p>
            <a:pPr indent="0" marL="0">
              <a:buNone/>
            </a:pPr>
            <a:r>
              <a:rPr lang="en-US" sz="1250" b="1" dirty="0">
                <a:solidFill>
                  <a:schemeClr val="tx2"/>
                </a:solidFill>
              </a:rPr>
              <a:t>Two identities, never mixed:  </a:t>
            </a:r>
            <a:pPr indent="0" marL="0">
              <a:buNone/>
            </a:pPr>
            <a:r>
              <a:rPr lang="en-US" sz="1250" dirty="0">
                <a:solidFill>
                  <a:schemeClr val="tx1"/>
                </a:solidFill>
              </a:rPr>
              <a:t>the Synapse sign-in only reads the source; the Fabric sign-in (az or fab) creates everything in Fabric. Tokens are never logged or returned.</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03 · CONNECTING BOTH SIDES</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Git repositories, ZIP exports and environments</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acquisition/providers.py · api/repository_source.py</a:t>
            </a:r>
            <a:endParaRPr lang="en-US" sz="1100" dirty="0"/>
          </a:p>
        </p:txBody>
      </p:sp>
      <p:sp>
        <p:nvSpPr>
          <p:cNvPr id="5" name="Shape 3"/>
          <p:cNvSpPr/>
          <p:nvPr/>
        </p:nvSpPr>
        <p:spPr>
          <a:xfrm>
            <a:off x="548640" y="1508760"/>
            <a:ext cx="3547872" cy="4617720"/>
          </a:xfrm>
          <a:prstGeom prst="roundRect">
            <a:avLst>
              <a:gd name="adj" fmla="val 3093"/>
            </a:avLst>
          </a:prstGeom>
          <a:solidFill>
            <a:schemeClr val="bg2"/>
          </a:solidFill>
          <a:ln/>
        </p:spPr>
      </p:sp>
      <p:sp>
        <p:nvSpPr>
          <p:cNvPr id="6" name="Text 4"/>
          <p:cNvSpPr txBox="1"/>
          <p:nvPr/>
        </p:nvSpPr>
        <p:spPr>
          <a:xfrm>
            <a:off x="777240" y="1691640"/>
            <a:ext cx="3090672"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GIT</a:t>
            </a:r>
            <a:endParaRPr lang="en-US" sz="1100" dirty="0"/>
          </a:p>
        </p:txBody>
      </p:sp>
      <p:sp>
        <p:nvSpPr>
          <p:cNvPr id="7" name="Text 5"/>
          <p:cNvSpPr txBox="1"/>
          <p:nvPr/>
        </p:nvSpPr>
        <p:spPr>
          <a:xfrm>
            <a:off x="749808" y="2011680"/>
            <a:ext cx="3163824" cy="397764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chemeClr val="tx1"/>
                </a:solidFill>
              </a:rPr>
              <a:t>5 providers, told apart by hostname: GitHub, Azure DevOps, GitLab, Bitbucket, any other (generic)</a:t>
            </a:r>
            <a:endParaRPr lang="en-US" sz="1400" dirty="0"/>
          </a:p>
          <a:p>
            <a:pPr marL="177800" indent="-177800">
              <a:spcAft>
                <a:spcPts val="600"/>
              </a:spcAft>
              <a:buSzPct val="100000"/>
              <a:buChar char="•"/>
            </a:pPr>
            <a:r>
              <a:rPr lang="en-US" sz="1250" dirty="0">
                <a:solidFill>
                  <a:schemeClr val="tx1"/>
                </a:solidFill>
              </a:rPr>
              <a:t>HTTPS through your credential helper, or SSH with your key</a:t>
            </a:r>
            <a:endParaRPr lang="en-US" sz="1400" dirty="0"/>
          </a:p>
          <a:p>
            <a:pPr marL="177800" indent="-177800">
              <a:spcAft>
                <a:spcPts val="600"/>
              </a:spcAft>
              <a:buSzPct val="100000"/>
              <a:buChar char="•"/>
            </a:pPr>
            <a:r>
              <a:rPr lang="en-US" sz="1250" dirty="0">
                <a:solidFill>
                  <a:schemeClr val="tx1"/>
                </a:solidFill>
              </a:rPr>
              <a:t>No token field; a URL with credentials in it is refused</a:t>
            </a:r>
            <a:endParaRPr lang="en-US" sz="1400" dirty="0"/>
          </a:p>
          <a:p>
            <a:pPr marL="177800" indent="-177800">
              <a:spcAft>
                <a:spcPts val="600"/>
              </a:spcAft>
              <a:buSzPct val="100000"/>
              <a:buChar char="•"/>
            </a:pPr>
            <a:r>
              <a:rPr lang="en-US" sz="1250" dirty="0">
                <a:solidFill>
                  <a:schemeClr val="tx1"/>
                </a:solidFill>
              </a:rPr>
              <a:t>Probes use git ls-remote and never prompt; public or private is tested, not guessed</a:t>
            </a:r>
            <a:endParaRPr lang="en-US" sz="1400" dirty="0"/>
          </a:p>
          <a:p>
            <a:pPr marL="177800" indent="-177800">
              <a:spcAft>
                <a:spcPts val="600"/>
              </a:spcAft>
              <a:buSzPct val="100000"/>
              <a:buChar char="•"/>
            </a:pPr>
            <a:r>
              <a:rPr lang="en-US" sz="1250" dirty="0">
                <a:solidFill>
                  <a:schemeClr val="tx1"/>
                </a:solidFill>
              </a:rPr>
              <a:t>A clone is reused only if its origin and commit match</a:t>
            </a:r>
            <a:endParaRPr lang="en-US" sz="1400" dirty="0"/>
          </a:p>
        </p:txBody>
      </p:sp>
      <p:sp>
        <p:nvSpPr>
          <p:cNvPr id="8" name="Shape 6"/>
          <p:cNvSpPr/>
          <p:nvPr/>
        </p:nvSpPr>
        <p:spPr>
          <a:xfrm>
            <a:off x="4325112" y="1508760"/>
            <a:ext cx="3547872" cy="4617720"/>
          </a:xfrm>
          <a:prstGeom prst="roundRect">
            <a:avLst>
              <a:gd name="adj" fmla="val 3093"/>
            </a:avLst>
          </a:prstGeom>
          <a:solidFill>
            <a:schemeClr val="bg2"/>
          </a:solidFill>
          <a:ln/>
        </p:spPr>
      </p:sp>
      <p:sp>
        <p:nvSpPr>
          <p:cNvPr id="9" name="Text 7"/>
          <p:cNvSpPr txBox="1"/>
          <p:nvPr/>
        </p:nvSpPr>
        <p:spPr>
          <a:xfrm>
            <a:off x="4553712" y="1691640"/>
            <a:ext cx="3090672"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ZIP EXPORT</a:t>
            </a:r>
            <a:endParaRPr lang="en-US" sz="1100" dirty="0"/>
          </a:p>
        </p:txBody>
      </p:sp>
      <p:sp>
        <p:nvSpPr>
          <p:cNvPr id="10" name="Text 8"/>
          <p:cNvSpPr txBox="1"/>
          <p:nvPr/>
        </p:nvSpPr>
        <p:spPr>
          <a:xfrm>
            <a:off x="4526280" y="2011680"/>
            <a:ext cx="3163824" cy="397764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chemeClr val="tx1"/>
                </a:solidFill>
              </a:rPr>
              <a:t>Up to 200 MB compressed, 1 GB uncompressed, 20,000 files</a:t>
            </a:r>
            <a:endParaRPr lang="en-US" sz="1400" dirty="0"/>
          </a:p>
          <a:p>
            <a:pPr marL="177800" indent="-177800">
              <a:spcAft>
                <a:spcPts val="600"/>
              </a:spcAft>
              <a:buSzPct val="100000"/>
              <a:buChar char="•"/>
            </a:pPr>
            <a:r>
              <a:rPr lang="en-US" sz="1250" dirty="0">
                <a:solidFill>
                  <a:schemeClr val="tx1"/>
                </a:solidFill>
              </a:rPr>
              <a:t>Absolute paths, '..' and symbolic links are refused</a:t>
            </a:r>
            <a:endParaRPr lang="en-US" sz="1400" dirty="0"/>
          </a:p>
          <a:p>
            <a:pPr marL="177800" indent="-177800">
              <a:spcAft>
                <a:spcPts val="600"/>
              </a:spcAft>
              <a:buSzPct val="100000"/>
              <a:buChar char="•"/>
            </a:pPr>
            <a:r>
              <a:rPr lang="en-US" sz="1250" dirty="0">
                <a:solidFill>
                  <a:schemeClr val="tx1"/>
                </a:solidFill>
              </a:rPr>
              <a:t>The folder holding pipeline/, linkedService/ and the rest is found automatically</a:t>
            </a:r>
            <a:endParaRPr lang="en-US" sz="1400" dirty="0"/>
          </a:p>
          <a:p>
            <a:pPr marL="177800" indent="-177800">
              <a:spcAft>
                <a:spcPts val="600"/>
              </a:spcAft>
              <a:buSzPct val="100000"/>
              <a:buChar char="•"/>
            </a:pPr>
            <a:r>
              <a:rPr lang="en-US" sz="1250" dirty="0">
                <a:solidFill>
                  <a:schemeClr val="tx1"/>
                </a:solidFill>
              </a:rPr>
              <a:t>Optionally also read the dedicated SQL pool, with an Azure sign-in</a:t>
            </a:r>
            <a:endParaRPr lang="en-US" sz="1400" dirty="0"/>
          </a:p>
        </p:txBody>
      </p:sp>
      <p:sp>
        <p:nvSpPr>
          <p:cNvPr id="11" name="Shape 9"/>
          <p:cNvSpPr/>
          <p:nvPr/>
        </p:nvSpPr>
        <p:spPr>
          <a:xfrm>
            <a:off x="8092440" y="1508760"/>
            <a:ext cx="3547872" cy="4617720"/>
          </a:xfrm>
          <a:prstGeom prst="roundRect">
            <a:avLst>
              <a:gd name="adj" fmla="val 3093"/>
            </a:avLst>
          </a:prstGeom>
          <a:solidFill>
            <a:schemeClr val="bg2"/>
          </a:solidFill>
          <a:ln/>
        </p:spPr>
      </p:sp>
      <p:sp>
        <p:nvSpPr>
          <p:cNvPr id="12" name="Text 10"/>
          <p:cNvSpPr txBox="1"/>
          <p:nvPr/>
        </p:nvSpPr>
        <p:spPr>
          <a:xfrm>
            <a:off x="8321040" y="1691640"/>
            <a:ext cx="3090672"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ENVIRONMENTS</a:t>
            </a:r>
            <a:endParaRPr lang="en-US" sz="1100" dirty="0"/>
          </a:p>
        </p:txBody>
      </p:sp>
      <p:sp>
        <p:nvSpPr>
          <p:cNvPr id="13" name="Text 11"/>
          <p:cNvSpPr txBox="1"/>
          <p:nvPr/>
        </p:nvSpPr>
        <p:spPr>
          <a:xfrm>
            <a:off x="8293608" y="2011680"/>
            <a:ext cx="3163824" cy="397764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chemeClr val="tx1"/>
                </a:solidFill>
              </a:rPr>
              <a:t>Dev by default; or Test, Prod, or a named environment</a:t>
            </a:r>
            <a:endParaRPr lang="en-US" sz="1400" dirty="0"/>
          </a:p>
          <a:p>
            <a:pPr marL="177800" indent="-177800">
              <a:spcAft>
                <a:spcPts val="600"/>
              </a:spcAft>
              <a:buSzPct val="100000"/>
              <a:buChar char="•"/>
            </a:pPr>
            <a:r>
              <a:rPr lang="en-US" sz="1250" dirty="0">
                <a:solidFill>
                  <a:schemeClr val="tx1"/>
                </a:solidFill>
              </a:rPr>
              <a:t>A parameters file (TemplateParametersForWorkspace.json) replaces linked-service values</a:t>
            </a:r>
            <a:endParaRPr lang="en-US" sz="1400" dirty="0"/>
          </a:p>
          <a:p>
            <a:pPr marL="177800" indent="-177800">
              <a:spcAft>
                <a:spcPts val="600"/>
              </a:spcAft>
              <a:buSzPct val="100000"/>
              <a:buChar char="•"/>
            </a:pPr>
            <a:r>
              <a:rPr lang="en-US" sz="1250" dirty="0">
                <a:solidFill>
                  <a:schemeClr val="tx1"/>
                </a:solidFill>
              </a:rPr>
              <a:t>Names matched: &lt;service&gt;_connectionString and &lt;service&gt;_properties_typeProperties_&lt;property&gt;</a:t>
            </a:r>
            <a:endParaRPr lang="en-US" sz="1400" dirty="0"/>
          </a:p>
          <a:p>
            <a:pPr marL="177800" indent="-177800">
              <a:spcAft>
                <a:spcPts val="600"/>
              </a:spcAft>
              <a:buSzPct val="100000"/>
              <a:buChar char="•"/>
            </a:pPr>
            <a:r>
              <a:rPr lang="en-US" sz="1250" dirty="0">
                <a:solidFill>
                  <a:schemeClr val="tx1"/>
                </a:solidFill>
              </a:rPr>
              <a:t>Applied to a working copy; the repository and the upload never change</a:t>
            </a:r>
            <a:endParaRPr lang="en-US" sz="1400" dirty="0"/>
          </a:p>
          <a:p>
            <a:pPr marL="177800" indent="-177800">
              <a:spcAft>
                <a:spcPts val="600"/>
              </a:spcAft>
              <a:buSzPct val="100000"/>
              <a:buChar char="•"/>
            </a:pPr>
            <a:r>
              <a:rPr lang="en-US" sz="1250" dirty="0">
                <a:solidFill>
                  <a:schemeClr val="tx1"/>
                </a:solidFill>
              </a:rPr>
              <a:t>Unmatched and Key Vault values are listed, not guessed</a:t>
            </a:r>
            <a:endParaRPr lang="en-US" sz="14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03 · CONNECTING BOTH SIDES</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Connection checks and error categories</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connections/validation.py · manager.py</a:t>
            </a:r>
            <a:endParaRPr lang="en-US" sz="1100" dirty="0"/>
          </a:p>
        </p:txBody>
      </p:sp>
      <p:sp>
        <p:nvSpPr>
          <p:cNvPr id="5" name="Shape 3"/>
          <p:cNvSpPr/>
          <p:nvPr/>
        </p:nvSpPr>
        <p:spPr>
          <a:xfrm>
            <a:off x="548640" y="1508760"/>
            <a:ext cx="4480560" cy="804672"/>
          </a:xfrm>
          <a:prstGeom prst="roundRect">
            <a:avLst>
              <a:gd name="adj" fmla="val 13636"/>
            </a:avLst>
          </a:prstGeom>
          <a:solidFill>
            <a:schemeClr val="bg2"/>
          </a:solidFill>
          <a:ln/>
        </p:spPr>
      </p:sp>
      <p:sp>
        <p:nvSpPr>
          <p:cNvPr id="6" name="Shape 4"/>
          <p:cNvSpPr/>
          <p:nvPr/>
        </p:nvSpPr>
        <p:spPr>
          <a:xfrm>
            <a:off x="713232" y="1682496"/>
            <a:ext cx="457200" cy="457200"/>
          </a:xfrm>
          <a:prstGeom prst="ellipse">
            <a:avLst/>
          </a:prstGeom>
          <a:solidFill>
            <a:schemeClr val="accent2"/>
          </a:solidFill>
          <a:ln/>
        </p:spPr>
      </p:sp>
      <p:pic>
        <p:nvPicPr>
          <p:cNvPr id="7" name="Image 0" descr="preencoded.png">    </p:cNvPr>
          <p:cNvPicPr>
            <a:picLocks noChangeAspect="1"/>
          </p:cNvPicPr>
          <p:nvPr/>
        </p:nvPicPr>
        <p:blipFill>
          <a:blip r:embed="rId1"/>
          <a:stretch>
            <a:fillRect/>
          </a:stretch>
        </p:blipFill>
        <p:spPr>
          <a:xfrm>
            <a:off x="827532" y="1796796"/>
            <a:ext cx="228600" cy="228600"/>
          </a:xfrm>
          <a:prstGeom prst="rect">
            <a:avLst/>
          </a:prstGeom>
        </p:spPr>
      </p:pic>
      <p:sp>
        <p:nvSpPr>
          <p:cNvPr id="8" name="Text 5"/>
          <p:cNvSpPr txBox="1"/>
          <p:nvPr/>
        </p:nvSpPr>
        <p:spPr>
          <a:xfrm>
            <a:off x="1325880" y="1581912"/>
            <a:ext cx="3611880" cy="685800"/>
          </a:xfrm>
          <a:prstGeom prst="rect">
            <a:avLst/>
          </a:prstGeom>
          <a:noFill/>
          <a:ln/>
        </p:spPr>
        <p:txBody>
          <a:bodyPr wrap="square" lIns="0" tIns="0" rIns="0" bIns="0" rtlCol="0" anchor="ctr"/>
          <a:lstStyle/>
          <a:p>
            <a:pPr indent="0" marL="0">
              <a:buNone/>
            </a:pPr>
            <a:r>
              <a:rPr lang="en-US" sz="1400" dirty="0">
                <a:solidFill>
                  <a:schemeClr val="tx2"/>
                </a:solidFill>
                <a:latin typeface="+mj-lt" pitchFamily="34" charset="0"/>
                <a:ea typeface="+mj-lt" pitchFamily="34" charset="-122"/>
                <a:cs typeface="+mj-lt" pitchFamily="34" charset="-120"/>
              </a:rPr>
              <a:t>Azure</a:t>
            </a:r>
            <a:endParaRPr lang="en-US" sz="1400" dirty="0"/>
          </a:p>
          <a:p>
            <a:pPr indent="0" marL="0">
              <a:buNone/>
            </a:pPr>
            <a:r>
              <a:rPr lang="en-US" sz="1200" dirty="0">
                <a:solidFill>
                  <a:schemeClr val="accent6"/>
                </a:solidFill>
              </a:rPr>
              <a:t>The subscription can be read</a:t>
            </a:r>
            <a:endParaRPr lang="en-US" sz="1400" dirty="0"/>
          </a:p>
        </p:txBody>
      </p:sp>
      <p:sp>
        <p:nvSpPr>
          <p:cNvPr id="9" name="Shape 6"/>
          <p:cNvSpPr/>
          <p:nvPr/>
        </p:nvSpPr>
        <p:spPr>
          <a:xfrm>
            <a:off x="932688" y="2350008"/>
            <a:ext cx="91" cy="201168"/>
          </a:xfrm>
          <a:prstGeom prst="line">
            <a:avLst/>
          </a:prstGeom>
          <a:noFill/>
          <a:ln w="22225">
            <a:solidFill>
              <a:srgbClr val="5D6B82"/>
            </a:solidFill>
            <a:prstDash val="solid"/>
            <a:tailEnd type="triangle"/>
          </a:ln>
        </p:spPr>
      </p:sp>
      <p:sp>
        <p:nvSpPr>
          <p:cNvPr id="10" name="Shape 7"/>
          <p:cNvSpPr/>
          <p:nvPr/>
        </p:nvSpPr>
        <p:spPr>
          <a:xfrm>
            <a:off x="548640" y="2532888"/>
            <a:ext cx="4480560" cy="804672"/>
          </a:xfrm>
          <a:prstGeom prst="roundRect">
            <a:avLst>
              <a:gd name="adj" fmla="val 13636"/>
            </a:avLst>
          </a:prstGeom>
          <a:solidFill>
            <a:schemeClr val="bg2"/>
          </a:solidFill>
          <a:ln/>
        </p:spPr>
      </p:sp>
      <p:sp>
        <p:nvSpPr>
          <p:cNvPr id="11" name="Shape 8"/>
          <p:cNvSpPr/>
          <p:nvPr/>
        </p:nvSpPr>
        <p:spPr>
          <a:xfrm>
            <a:off x="713232" y="2706624"/>
            <a:ext cx="457200" cy="457200"/>
          </a:xfrm>
          <a:prstGeom prst="ellipse">
            <a:avLst/>
          </a:prstGeom>
          <a:solidFill>
            <a:schemeClr val="accent2"/>
          </a:solidFill>
          <a:ln/>
        </p:spPr>
      </p:sp>
      <p:pic>
        <p:nvPicPr>
          <p:cNvPr id="12" name="Image 1" descr="preencoded.png">    </p:cNvPr>
          <p:cNvPicPr>
            <a:picLocks noChangeAspect="1"/>
          </p:cNvPicPr>
          <p:nvPr/>
        </p:nvPicPr>
        <p:blipFill>
          <a:blip r:embed="rId2"/>
          <a:stretch>
            <a:fillRect/>
          </a:stretch>
        </p:blipFill>
        <p:spPr>
          <a:xfrm>
            <a:off x="827532" y="2820924"/>
            <a:ext cx="228600" cy="228600"/>
          </a:xfrm>
          <a:prstGeom prst="rect">
            <a:avLst/>
          </a:prstGeom>
        </p:spPr>
      </p:pic>
      <p:sp>
        <p:nvSpPr>
          <p:cNvPr id="13" name="Text 9"/>
          <p:cNvSpPr txBox="1"/>
          <p:nvPr/>
        </p:nvSpPr>
        <p:spPr>
          <a:xfrm>
            <a:off x="1325880" y="2606040"/>
            <a:ext cx="3611880" cy="685800"/>
          </a:xfrm>
          <a:prstGeom prst="rect">
            <a:avLst/>
          </a:prstGeom>
          <a:noFill/>
          <a:ln/>
        </p:spPr>
        <p:txBody>
          <a:bodyPr wrap="square" lIns="0" tIns="0" rIns="0" bIns="0" rtlCol="0" anchor="ctr"/>
          <a:lstStyle/>
          <a:p>
            <a:pPr indent="0" marL="0">
              <a:buNone/>
            </a:pPr>
            <a:r>
              <a:rPr lang="en-US" sz="1400" dirty="0">
                <a:solidFill>
                  <a:schemeClr val="tx2"/>
                </a:solidFill>
                <a:latin typeface="+mj-lt" pitchFamily="34" charset="0"/>
                <a:ea typeface="+mj-lt" pitchFamily="34" charset="-122"/>
                <a:cs typeface="+mj-lt" pitchFamily="34" charset="-120"/>
              </a:rPr>
              <a:t>Synapse</a:t>
            </a:r>
            <a:endParaRPr lang="en-US" sz="1400" dirty="0"/>
          </a:p>
          <a:p>
            <a:pPr indent="0" marL="0">
              <a:buNone/>
            </a:pPr>
            <a:r>
              <a:rPr lang="en-US" sz="1200" dirty="0">
                <a:solidFill>
                  <a:schemeClr val="accent6"/>
                </a:solidFill>
              </a:rPr>
              <a:t>Workspace metadata (ARM); the SQL pool is online</a:t>
            </a:r>
            <a:endParaRPr lang="en-US" sz="1400" dirty="0"/>
          </a:p>
        </p:txBody>
      </p:sp>
      <p:sp>
        <p:nvSpPr>
          <p:cNvPr id="14" name="Shape 10"/>
          <p:cNvSpPr/>
          <p:nvPr/>
        </p:nvSpPr>
        <p:spPr>
          <a:xfrm>
            <a:off x="932688" y="3374136"/>
            <a:ext cx="91" cy="201168"/>
          </a:xfrm>
          <a:prstGeom prst="line">
            <a:avLst/>
          </a:prstGeom>
          <a:noFill/>
          <a:ln w="22225">
            <a:solidFill>
              <a:srgbClr val="5D6B82"/>
            </a:solidFill>
            <a:prstDash val="solid"/>
            <a:tailEnd type="triangle"/>
          </a:ln>
        </p:spPr>
      </p:sp>
      <p:sp>
        <p:nvSpPr>
          <p:cNvPr id="15" name="Shape 11"/>
          <p:cNvSpPr/>
          <p:nvPr/>
        </p:nvSpPr>
        <p:spPr>
          <a:xfrm>
            <a:off x="548640" y="3557016"/>
            <a:ext cx="4480560" cy="804672"/>
          </a:xfrm>
          <a:prstGeom prst="roundRect">
            <a:avLst>
              <a:gd name="adj" fmla="val 13636"/>
            </a:avLst>
          </a:prstGeom>
          <a:solidFill>
            <a:schemeClr val="bg2"/>
          </a:solidFill>
          <a:ln/>
        </p:spPr>
      </p:sp>
      <p:sp>
        <p:nvSpPr>
          <p:cNvPr id="16" name="Shape 12"/>
          <p:cNvSpPr/>
          <p:nvPr/>
        </p:nvSpPr>
        <p:spPr>
          <a:xfrm>
            <a:off x="713232" y="3730752"/>
            <a:ext cx="457200" cy="457200"/>
          </a:xfrm>
          <a:prstGeom prst="ellipse">
            <a:avLst/>
          </a:prstGeom>
          <a:solidFill>
            <a:schemeClr val="accent2"/>
          </a:solidFill>
          <a:ln/>
        </p:spPr>
      </p:sp>
      <p:pic>
        <p:nvPicPr>
          <p:cNvPr id="17" name="Image 2" descr="preencoded.png">    </p:cNvPr>
          <p:cNvPicPr>
            <a:picLocks noChangeAspect="1"/>
          </p:cNvPicPr>
          <p:nvPr/>
        </p:nvPicPr>
        <p:blipFill>
          <a:blip r:embed="rId3"/>
          <a:stretch>
            <a:fillRect/>
          </a:stretch>
        </p:blipFill>
        <p:spPr>
          <a:xfrm>
            <a:off x="827532" y="3845052"/>
            <a:ext cx="228600" cy="228600"/>
          </a:xfrm>
          <a:prstGeom prst="rect">
            <a:avLst/>
          </a:prstGeom>
        </p:spPr>
      </p:pic>
      <p:sp>
        <p:nvSpPr>
          <p:cNvPr id="18" name="Text 13"/>
          <p:cNvSpPr txBox="1"/>
          <p:nvPr/>
        </p:nvSpPr>
        <p:spPr>
          <a:xfrm>
            <a:off x="1325880" y="3630168"/>
            <a:ext cx="3611880" cy="685800"/>
          </a:xfrm>
          <a:prstGeom prst="rect">
            <a:avLst/>
          </a:prstGeom>
          <a:noFill/>
          <a:ln/>
        </p:spPr>
        <p:txBody>
          <a:bodyPr wrap="square" lIns="0" tIns="0" rIns="0" bIns="0" rtlCol="0" anchor="ctr"/>
          <a:lstStyle/>
          <a:p>
            <a:pPr indent="0" marL="0">
              <a:buNone/>
            </a:pPr>
            <a:r>
              <a:rPr lang="en-US" sz="1400" dirty="0">
                <a:solidFill>
                  <a:schemeClr val="tx2"/>
                </a:solidFill>
                <a:latin typeface="+mj-lt" pitchFamily="34" charset="0"/>
                <a:ea typeface="+mj-lt" pitchFamily="34" charset="-122"/>
                <a:cs typeface="+mj-lt" pitchFamily="34" charset="-120"/>
              </a:rPr>
              <a:t>SQL</a:t>
            </a:r>
            <a:endParaRPr lang="en-US" sz="1400" dirty="0"/>
          </a:p>
          <a:p>
            <a:pPr indent="0" marL="0">
              <a:buNone/>
            </a:pPr>
            <a:r>
              <a:rPr lang="en-US" sz="1200" dirty="0">
                <a:solidFill>
                  <a:schemeClr val="accent6"/>
                </a:solidFill>
              </a:rPr>
              <a:t>SELECT DB_NAME() over ODBC 18 (Entra token)</a:t>
            </a:r>
            <a:endParaRPr lang="en-US" sz="1400" dirty="0"/>
          </a:p>
        </p:txBody>
      </p:sp>
      <p:sp>
        <p:nvSpPr>
          <p:cNvPr id="19" name="Shape 14"/>
          <p:cNvSpPr/>
          <p:nvPr/>
        </p:nvSpPr>
        <p:spPr>
          <a:xfrm>
            <a:off x="932688" y="4398264"/>
            <a:ext cx="91" cy="201168"/>
          </a:xfrm>
          <a:prstGeom prst="line">
            <a:avLst/>
          </a:prstGeom>
          <a:noFill/>
          <a:ln w="22225">
            <a:solidFill>
              <a:srgbClr val="5D6B82"/>
            </a:solidFill>
            <a:prstDash val="solid"/>
            <a:tailEnd type="triangle"/>
          </a:ln>
        </p:spPr>
      </p:sp>
      <p:sp>
        <p:nvSpPr>
          <p:cNvPr id="20" name="Shape 15"/>
          <p:cNvSpPr/>
          <p:nvPr/>
        </p:nvSpPr>
        <p:spPr>
          <a:xfrm>
            <a:off x="548640" y="4581144"/>
            <a:ext cx="4480560" cy="804672"/>
          </a:xfrm>
          <a:prstGeom prst="roundRect">
            <a:avLst>
              <a:gd name="adj" fmla="val 13636"/>
            </a:avLst>
          </a:prstGeom>
          <a:solidFill>
            <a:schemeClr val="bg2"/>
          </a:solidFill>
          <a:ln/>
        </p:spPr>
      </p:sp>
      <p:sp>
        <p:nvSpPr>
          <p:cNvPr id="21" name="Shape 16"/>
          <p:cNvSpPr/>
          <p:nvPr/>
        </p:nvSpPr>
        <p:spPr>
          <a:xfrm>
            <a:off x="713232" y="4754880"/>
            <a:ext cx="457200" cy="457200"/>
          </a:xfrm>
          <a:prstGeom prst="ellipse">
            <a:avLst/>
          </a:prstGeom>
          <a:solidFill>
            <a:schemeClr val="accent2"/>
          </a:solidFill>
          <a:ln/>
        </p:spPr>
      </p:sp>
      <p:pic>
        <p:nvPicPr>
          <p:cNvPr id="22" name="Image 3" descr="preencoded.png">    </p:cNvPr>
          <p:cNvPicPr>
            <a:picLocks noChangeAspect="1"/>
          </p:cNvPicPr>
          <p:nvPr/>
        </p:nvPicPr>
        <p:blipFill>
          <a:blip r:embed="rId4"/>
          <a:stretch>
            <a:fillRect/>
          </a:stretch>
        </p:blipFill>
        <p:spPr>
          <a:xfrm>
            <a:off x="827532" y="4869180"/>
            <a:ext cx="228600" cy="228600"/>
          </a:xfrm>
          <a:prstGeom prst="rect">
            <a:avLst/>
          </a:prstGeom>
        </p:spPr>
      </p:pic>
      <p:sp>
        <p:nvSpPr>
          <p:cNvPr id="23" name="Text 17"/>
          <p:cNvSpPr txBox="1"/>
          <p:nvPr/>
        </p:nvSpPr>
        <p:spPr>
          <a:xfrm>
            <a:off x="1325880" y="4654296"/>
            <a:ext cx="3611880" cy="685800"/>
          </a:xfrm>
          <a:prstGeom prst="rect">
            <a:avLst/>
          </a:prstGeom>
          <a:noFill/>
          <a:ln/>
        </p:spPr>
        <p:txBody>
          <a:bodyPr wrap="square" lIns="0" tIns="0" rIns="0" bIns="0" rtlCol="0" anchor="ctr"/>
          <a:lstStyle/>
          <a:p>
            <a:pPr indent="0" marL="0">
              <a:buNone/>
            </a:pPr>
            <a:r>
              <a:rPr lang="en-US" sz="1400" dirty="0">
                <a:solidFill>
                  <a:schemeClr val="tx2"/>
                </a:solidFill>
                <a:latin typeface="+mj-lt" pitchFamily="34" charset="0"/>
                <a:ea typeface="+mj-lt" pitchFamily="34" charset="-122"/>
                <a:cs typeface="+mj-lt" pitchFamily="34" charset="-120"/>
              </a:rPr>
              <a:t>Git</a:t>
            </a:r>
            <a:endParaRPr lang="en-US" sz="1400" dirty="0"/>
          </a:p>
          <a:p>
            <a:pPr indent="0" marL="0">
              <a:buNone/>
            </a:pPr>
            <a:r>
              <a:rPr lang="en-US" sz="1200" dirty="0">
                <a:solidFill>
                  <a:schemeClr val="accent6"/>
                </a:solidFill>
              </a:rPr>
              <a:t>git ls-remote reaches the repository</a:t>
            </a:r>
            <a:endParaRPr lang="en-US" sz="1400" dirty="0"/>
          </a:p>
        </p:txBody>
      </p:sp>
      <p:sp>
        <p:nvSpPr>
          <p:cNvPr id="24" name="Text 18"/>
          <p:cNvSpPr txBox="1"/>
          <p:nvPr/>
        </p:nvSpPr>
        <p:spPr>
          <a:xfrm>
            <a:off x="548640" y="5623560"/>
            <a:ext cx="4480560" cy="502920"/>
          </a:xfrm>
          <a:prstGeom prst="rect">
            <a:avLst/>
          </a:prstGeom>
          <a:noFill/>
          <a:ln/>
        </p:spPr>
        <p:txBody>
          <a:bodyPr wrap="square" lIns="0" tIns="0" rIns="0" bIns="0" rtlCol="0" anchor="t"/>
          <a:lstStyle/>
          <a:p>
            <a:pPr indent="0" marL="0">
              <a:buNone/>
            </a:pPr>
            <a:r>
              <a:rPr lang="en-US" sz="1250" dirty="0">
                <a:solidFill>
                  <a:schemeClr val="accent6"/>
                </a:solidFill>
              </a:rPr>
              <a:t>If Azure fails, Synapse and SQL are skipped; Git always runs. A skipped check is not a pass.</a:t>
            </a:r>
            <a:endParaRPr lang="en-US" sz="12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349240" y="1508760"/>
          <a:ext cx="6291072" cy="914400"/>
        </p:xfrm>
        <a:graphic>
          <a:graphicData uri="http://schemas.openxmlformats.org/drawingml/2006/table">
            <a:tbl>
              <a:tblPr/>
              <a:tblGrid>
                <a:gridCol w="2240280"/>
                <a:gridCol w="4050792"/>
              </a:tblGrid>
              <a:tr h="329184">
                <a:tc>
                  <a:txBody>
                    <a:bodyPr/>
                    <a:lstStyle/>
                    <a:p>
                      <a:pPr indent="0" marL="0">
                        <a:buNone/>
                      </a:pPr>
                      <a:r>
                        <a:rPr lang="en-US" sz="1250" b="1" dirty="0">
                          <a:solidFill>
                            <a:schemeClr val="bg1"/>
                          </a:solidFill>
                        </a:rPr>
                        <a:t>Category</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indent="0" marL="0">
                        <a:buNone/>
                      </a:pPr>
                      <a:r>
                        <a:rPr lang="en-US" sz="1250" b="1" dirty="0">
                          <a:solidFill>
                            <a:schemeClr val="bg1"/>
                          </a:solidFill>
                        </a:rPr>
                        <a:t>Typical cause</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r>
              <a:tr h="384048">
                <a:tc>
                  <a:txBody>
                    <a:bodyPr/>
                    <a:lstStyle/>
                    <a:p>
                      <a:pPr indent="0" marL="0">
                        <a:buNone/>
                      </a:pPr>
                      <a:r>
                        <a:rPr lang="en-US" sz="1250" b="1" dirty="0">
                          <a:solidFill>
                            <a:schemeClr val="tx2"/>
                          </a:solidFill>
                        </a:rPr>
                        <a:t>AUTHENTICATION</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Not signed in, or the sign-in expired (401)</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chemeClr val="tx2"/>
                          </a:solidFill>
                        </a:rPr>
                        <a:t>AUTHORIZATION</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50" dirty="0">
                          <a:solidFill>
                            <a:schemeClr val="tx1"/>
                          </a:solidFill>
                        </a:rPr>
                        <a:t>No role on the resource (403)</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84048">
                <a:tc>
                  <a:txBody>
                    <a:bodyPr/>
                    <a:lstStyle/>
                    <a:p>
                      <a:pPr indent="0" marL="0">
                        <a:buNone/>
                      </a:pPr>
                      <a:r>
                        <a:rPr lang="en-US" sz="1250" b="1" dirty="0">
                          <a:solidFill>
                            <a:schemeClr val="tx2"/>
                          </a:solidFill>
                        </a:rPr>
                        <a:t>NOT_FOUND</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The workspace or pool does not exist (404)</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chemeClr val="tx2"/>
                          </a:solidFill>
                        </a:rPr>
                        <a:t>UNAVAILABLE</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50" dirty="0">
                          <a:solidFill>
                            <a:schemeClr val="tx1"/>
                          </a:solidFill>
                        </a:rPr>
                        <a:t>The SQL pool is paused</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84048">
                <a:tc>
                  <a:txBody>
                    <a:bodyPr/>
                    <a:lstStyle/>
                    <a:p>
                      <a:pPr indent="0" marL="0">
                        <a:buNone/>
                      </a:pPr>
                      <a:r>
                        <a:rPr lang="en-US" sz="1250" b="1" dirty="0">
                          <a:solidFill>
                            <a:schemeClr val="tx2"/>
                          </a:solidFill>
                        </a:rPr>
                        <a:t>NETWORK</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Host unreachable, or a 5xx answer</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chemeClr val="tx2"/>
                          </a:solidFill>
                        </a:rPr>
                        <a:t>CONFIGURATION</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50" dirty="0">
                          <a:solidFill>
                            <a:schemeClr val="tx1"/>
                          </a:solidFill>
                        </a:rPr>
                        <a:t>A wrong id or database name (400, 409)</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84048">
                <a:tc>
                  <a:txBody>
                    <a:bodyPr/>
                    <a:lstStyle/>
                    <a:p>
                      <a:pPr indent="0" marL="0">
                        <a:buNone/>
                      </a:pPr>
                      <a:r>
                        <a:rPr lang="en-US" sz="1250" b="1" dirty="0">
                          <a:solidFill>
                            <a:schemeClr val="tx2"/>
                          </a:solidFill>
                        </a:rPr>
                        <a:t>DEPENDENCY</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A missing tool: ODBC driver, git</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chemeClr val="tx2"/>
                          </a:solidFill>
                        </a:rPr>
                        <a:t>UNSUPPORTED</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50" dirty="0">
                          <a:solidFill>
                            <a:schemeClr val="tx1"/>
                          </a:solidFill>
                        </a:rPr>
                        <a:t>The source cannot do what was asked</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84048">
                <a:tc>
                  <a:txBody>
                    <a:bodyPr/>
                    <a:lstStyle/>
                    <a:p>
                      <a:pPr indent="0" marL="0">
                        <a:buNone/>
                      </a:pPr>
                      <a:r>
                        <a:rPr lang="en-US" sz="1250" b="1" dirty="0">
                          <a:solidFill>
                            <a:schemeClr val="tx2"/>
                          </a:solidFill>
                        </a:rPr>
                        <a:t>UNKNOWN</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Anything else, reported as it is</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731520" y="1417320"/>
            <a:ext cx="2743200" cy="1371600"/>
          </a:xfrm>
          <a:prstGeom prst="rect">
            <a:avLst/>
          </a:prstGeom>
          <a:noFill/>
          <a:ln/>
        </p:spPr>
        <p:txBody>
          <a:bodyPr wrap="square" lIns="0" tIns="0" rIns="0" bIns="0" rtlCol="0" anchor="t"/>
          <a:lstStyle/>
          <a:p>
            <a:pPr indent="0" marL="0">
              <a:buNone/>
            </a:pPr>
            <a:r>
              <a:rPr lang="en-US" sz="8800" dirty="0">
                <a:solidFill>
                  <a:schemeClr val="accent5"/>
                </a:solidFill>
                <a:latin typeface="+mj-lt" pitchFamily="34" charset="0"/>
                <a:ea typeface="+mj-lt" pitchFamily="34" charset="-122"/>
                <a:cs typeface="+mj-lt" pitchFamily="34" charset="-120"/>
              </a:rPr>
              <a:t>04</a:t>
            </a:r>
            <a:endParaRPr lang="en-US" sz="8800" dirty="0"/>
          </a:p>
        </p:txBody>
      </p:sp>
      <p:sp>
        <p:nvSpPr>
          <p:cNvPr id="3" name="Shape 1"/>
          <p:cNvSpPr/>
          <p:nvPr/>
        </p:nvSpPr>
        <p:spPr>
          <a:xfrm>
            <a:off x="8549640" y="2011680"/>
            <a:ext cx="2468880" cy="2468880"/>
          </a:xfrm>
          <a:prstGeom prst="ellipse">
            <a:avLst/>
          </a:prstGeom>
          <a:solidFill>
            <a:schemeClr val="accent5">
              <a:alpha val="18000"/>
            </a:schemeClr>
          </a:solidFill>
          <a:ln/>
        </p:spPr>
      </p:sp>
      <p:pic>
        <p:nvPicPr>
          <p:cNvPr id="4" name="Image 0" descr="preencoded.png">    </p:cNvPr>
          <p:cNvPicPr>
            <a:picLocks noChangeAspect="1"/>
          </p:cNvPicPr>
          <p:nvPr/>
        </p:nvPicPr>
        <p:blipFill>
          <a:blip r:embed="rId1"/>
          <a:stretch>
            <a:fillRect/>
          </a:stretch>
        </p:blipFill>
        <p:spPr>
          <a:xfrm>
            <a:off x="9166860" y="2628900"/>
            <a:ext cx="1234440" cy="1234440"/>
          </a:xfrm>
          <a:prstGeom prst="rect">
            <a:avLst/>
          </a:prstGeom>
        </p:spPr>
      </p:pic>
      <p:sp>
        <p:nvSpPr>
          <p:cNvPr id="5" name="Text 0"/>
          <p:cNvSpPr/>
          <p:nvPr>
            <p:ph idx="100" type="title" hasCustomPrompt="1"/>
          </p:nvPr>
        </p:nvSpPr>
        <p:spPr>
          <a:xfrm>
            <a:off x="731520" y="2880360"/>
            <a:ext cx="10515600" cy="914400"/>
          </a:xfrm>
          <a:prstGeom prst="rect">
            <a:avLst/>
          </a:prstGeom>
          <a:noFill/>
          <a:ln/>
        </p:spPr>
        <p:txBody>
          <a:bodyPr wrap="square" lIns="0" tIns="0" rIns="0" bIns="0" rtlCol="0" anchor="ctr"/>
          <a:lstStyle/>
          <a:p>
            <a:pPr algn="l" indent="0" marL="0">
              <a:buNone/>
            </a:pPr>
            <a:r>
              <a:rPr lang="en-US" sz="4000" dirty="0">
                <a:solidFill>
                  <a:schemeClr val="bg1"/>
                </a:solidFill>
              </a:rPr>
              <a:t>The six steps</a:t>
            </a:r>
            <a:endParaRPr lang="en-US" sz="4000" dirty="0"/>
          </a:p>
        </p:txBody>
      </p:sp>
      <p:sp>
        <p:nvSpPr>
          <p:cNvPr id="6" name="Text 0"/>
          <p:cNvSpPr/>
          <p:nvPr>
            <p:ph idx="101" type="body" hasCustomPrompt="1"/>
          </p:nvPr>
        </p:nvSpPr>
        <p:spPr>
          <a:xfrm>
            <a:off x="731520" y="3840480"/>
            <a:ext cx="10515600" cy="548640"/>
          </a:xfrm>
          <a:prstGeom prst="rect">
            <a:avLst/>
          </a:prstGeom>
          <a:noFill/>
          <a:ln/>
        </p:spPr>
        <p:txBody>
          <a:bodyPr wrap="square" lIns="0" tIns="0" rIns="0" bIns="0" rtlCol="0" anchor="t"/>
          <a:lstStyle/>
          <a:p>
            <a:pPr indent="0" marL="0">
              <a:buNone/>
            </a:pPr>
            <a:r>
              <a:rPr lang="en-US" sz="2000" dirty="0">
                <a:solidFill>
                  <a:schemeClr val="accent5"/>
                </a:solidFill>
              </a:rPr>
              <a:t>Discover, Assess, Waves, Plan, Migrate, Validate, then Fabric Git</a:t>
            </a:r>
            <a:endParaRPr lang="en-US" sz="20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FB0C8"/>
                </a:solidFill>
              </a:defRPr>
            </a:lvl1pPr>
          </a:lstStyle>
          <a:p>
            <a:pPr algn="r"/>
            <a:fld id="{F7021451-1387-4CA6-816F-3879F97B5CBC}" type="slidenum">
              <a:rPr b="0" lang="en-US"/>
              <a:t>24</a:t>
            </a:fld>
            <a:endParaRPr lang="en-US"/>
          </a:p>
        </p:txBody>
      </p:sp>
    </p:spTree>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04 · THE SIX STEPS</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One journey: six steps, each confirmed before the next</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frontend/src/components/journey/</a:t>
            </a:r>
            <a:endParaRPr lang="en-US" sz="1100" dirty="0"/>
          </a:p>
        </p:txBody>
      </p:sp>
      <p:sp>
        <p:nvSpPr>
          <p:cNvPr id="5" name="Shape 3"/>
          <p:cNvSpPr/>
          <p:nvPr/>
        </p:nvSpPr>
        <p:spPr>
          <a:xfrm>
            <a:off x="548640" y="1481328"/>
            <a:ext cx="1658569" cy="960120"/>
          </a:xfrm>
          <a:prstGeom prst="roundRect">
            <a:avLst>
              <a:gd name="adj" fmla="val 11429"/>
            </a:avLst>
          </a:prstGeom>
          <a:solidFill>
            <a:schemeClr val="bg2"/>
          </a:solidFill>
          <a:ln/>
        </p:spPr>
      </p:sp>
      <p:sp>
        <p:nvSpPr>
          <p:cNvPr id="6" name="Text 4"/>
          <p:cNvSpPr txBox="1"/>
          <p:nvPr/>
        </p:nvSpPr>
        <p:spPr>
          <a:xfrm>
            <a:off x="685800" y="1591056"/>
            <a:ext cx="1429969" cy="438912"/>
          </a:xfrm>
          <a:prstGeom prst="rect">
            <a:avLst/>
          </a:prstGeom>
          <a:noFill/>
          <a:ln/>
        </p:spPr>
        <p:txBody>
          <a:bodyPr wrap="square" lIns="0" tIns="0" rIns="0" bIns="0" rtlCol="0" anchor="ctr"/>
          <a:lstStyle/>
          <a:p>
            <a:pPr indent="0" marL="0">
              <a:buNone/>
            </a:pPr>
            <a:r>
              <a:rPr lang="en-US" sz="1350" dirty="0">
                <a:solidFill>
                  <a:schemeClr val="tx2"/>
                </a:solidFill>
                <a:latin typeface="+mj-lt" pitchFamily="34" charset="0"/>
                <a:ea typeface="+mj-lt" pitchFamily="34" charset="-122"/>
                <a:cs typeface="+mj-lt" pitchFamily="34" charset="-120"/>
              </a:rPr>
              <a:t>1 Discover</a:t>
            </a:r>
            <a:endParaRPr lang="en-US" sz="1350" dirty="0"/>
          </a:p>
        </p:txBody>
      </p:sp>
      <p:sp>
        <p:nvSpPr>
          <p:cNvPr id="7" name="Text 5"/>
          <p:cNvSpPr txBox="1"/>
          <p:nvPr/>
        </p:nvSpPr>
        <p:spPr>
          <a:xfrm>
            <a:off x="685800" y="2048256"/>
            <a:ext cx="1384249" cy="320040"/>
          </a:xfrm>
          <a:prstGeom prst="rect">
            <a:avLst/>
          </a:prstGeom>
          <a:noFill/>
          <a:ln/>
        </p:spPr>
        <p:txBody>
          <a:bodyPr wrap="square" lIns="0" tIns="0" rIns="0" bIns="0" rtlCol="0" anchor="t"/>
          <a:lstStyle/>
          <a:p>
            <a:pPr indent="0" marL="0">
              <a:buNone/>
            </a:pPr>
            <a:r>
              <a:rPr lang="en-US" sz="1200" dirty="0">
                <a:solidFill>
                  <a:schemeClr val="tx1"/>
                </a:solidFill>
              </a:rPr>
              <a:t>Shows: objects found</a:t>
            </a:r>
            <a:endParaRPr lang="en-US" sz="1200" dirty="0"/>
          </a:p>
        </p:txBody>
      </p:sp>
      <p:sp>
        <p:nvSpPr>
          <p:cNvPr id="8" name="Shape 6"/>
          <p:cNvSpPr/>
          <p:nvPr/>
        </p:nvSpPr>
        <p:spPr>
          <a:xfrm>
            <a:off x="2252929" y="1961388"/>
            <a:ext cx="137160" cy="91"/>
          </a:xfrm>
          <a:prstGeom prst="line">
            <a:avLst/>
          </a:prstGeom>
          <a:noFill/>
          <a:ln w="19050">
            <a:solidFill>
              <a:srgbClr val="5D6B82"/>
            </a:solidFill>
            <a:prstDash val="solid"/>
            <a:tailEnd type="triangle"/>
          </a:ln>
        </p:spPr>
      </p:sp>
      <p:sp>
        <p:nvSpPr>
          <p:cNvPr id="9" name="Shape 7"/>
          <p:cNvSpPr/>
          <p:nvPr/>
        </p:nvSpPr>
        <p:spPr>
          <a:xfrm>
            <a:off x="2435809" y="1481328"/>
            <a:ext cx="1658569" cy="960120"/>
          </a:xfrm>
          <a:prstGeom prst="roundRect">
            <a:avLst>
              <a:gd name="adj" fmla="val 11429"/>
            </a:avLst>
          </a:prstGeom>
          <a:solidFill>
            <a:schemeClr val="bg2"/>
          </a:solidFill>
          <a:ln/>
        </p:spPr>
      </p:sp>
      <p:sp>
        <p:nvSpPr>
          <p:cNvPr id="10" name="Text 8"/>
          <p:cNvSpPr txBox="1"/>
          <p:nvPr/>
        </p:nvSpPr>
        <p:spPr>
          <a:xfrm>
            <a:off x="2572969" y="1591056"/>
            <a:ext cx="1429969" cy="438912"/>
          </a:xfrm>
          <a:prstGeom prst="rect">
            <a:avLst/>
          </a:prstGeom>
          <a:noFill/>
          <a:ln/>
        </p:spPr>
        <p:txBody>
          <a:bodyPr wrap="square" lIns="0" tIns="0" rIns="0" bIns="0" rtlCol="0" anchor="ctr"/>
          <a:lstStyle/>
          <a:p>
            <a:pPr indent="0" marL="0">
              <a:buNone/>
            </a:pPr>
            <a:r>
              <a:rPr lang="en-US" sz="1350" dirty="0">
                <a:solidFill>
                  <a:schemeClr val="tx2"/>
                </a:solidFill>
                <a:latin typeface="+mj-lt" pitchFamily="34" charset="0"/>
                <a:ea typeface="+mj-lt" pitchFamily="34" charset="-122"/>
                <a:cs typeface="+mj-lt" pitchFamily="34" charset="-120"/>
              </a:rPr>
              <a:t>2 Assess</a:t>
            </a:r>
            <a:endParaRPr lang="en-US" sz="1350" dirty="0"/>
          </a:p>
        </p:txBody>
      </p:sp>
      <p:sp>
        <p:nvSpPr>
          <p:cNvPr id="11" name="Text 9"/>
          <p:cNvSpPr txBox="1"/>
          <p:nvPr/>
        </p:nvSpPr>
        <p:spPr>
          <a:xfrm>
            <a:off x="2572969" y="2048256"/>
            <a:ext cx="1384249" cy="320040"/>
          </a:xfrm>
          <a:prstGeom prst="rect">
            <a:avLst/>
          </a:prstGeom>
          <a:noFill/>
          <a:ln/>
        </p:spPr>
        <p:txBody>
          <a:bodyPr wrap="square" lIns="0" tIns="0" rIns="0" bIns="0" rtlCol="0" anchor="t"/>
          <a:lstStyle/>
          <a:p>
            <a:pPr indent="0" marL="0">
              <a:buNone/>
            </a:pPr>
            <a:r>
              <a:rPr lang="en-US" sz="1200" dirty="0">
                <a:solidFill>
                  <a:schemeClr val="tx1"/>
                </a:solidFill>
              </a:rPr>
              <a:t>Shows: % direct</a:t>
            </a:r>
            <a:endParaRPr lang="en-US" sz="1200" dirty="0"/>
          </a:p>
        </p:txBody>
      </p:sp>
      <p:sp>
        <p:nvSpPr>
          <p:cNvPr id="12" name="Shape 10"/>
          <p:cNvSpPr/>
          <p:nvPr/>
        </p:nvSpPr>
        <p:spPr>
          <a:xfrm>
            <a:off x="4140098" y="1961388"/>
            <a:ext cx="137160" cy="91"/>
          </a:xfrm>
          <a:prstGeom prst="line">
            <a:avLst/>
          </a:prstGeom>
          <a:noFill/>
          <a:ln w="19050">
            <a:solidFill>
              <a:srgbClr val="5D6B82"/>
            </a:solidFill>
            <a:prstDash val="solid"/>
            <a:tailEnd type="triangle"/>
          </a:ln>
        </p:spPr>
      </p:sp>
      <p:sp>
        <p:nvSpPr>
          <p:cNvPr id="13" name="Shape 11"/>
          <p:cNvSpPr/>
          <p:nvPr/>
        </p:nvSpPr>
        <p:spPr>
          <a:xfrm>
            <a:off x="4322978" y="1481328"/>
            <a:ext cx="1658569" cy="960120"/>
          </a:xfrm>
          <a:prstGeom prst="roundRect">
            <a:avLst>
              <a:gd name="adj" fmla="val 11429"/>
            </a:avLst>
          </a:prstGeom>
          <a:solidFill>
            <a:schemeClr val="bg2"/>
          </a:solidFill>
          <a:ln/>
        </p:spPr>
      </p:sp>
      <p:sp>
        <p:nvSpPr>
          <p:cNvPr id="14" name="Text 12"/>
          <p:cNvSpPr txBox="1"/>
          <p:nvPr/>
        </p:nvSpPr>
        <p:spPr>
          <a:xfrm>
            <a:off x="4460138" y="1591056"/>
            <a:ext cx="1429969" cy="438912"/>
          </a:xfrm>
          <a:prstGeom prst="rect">
            <a:avLst/>
          </a:prstGeom>
          <a:noFill/>
          <a:ln/>
        </p:spPr>
        <p:txBody>
          <a:bodyPr wrap="square" lIns="0" tIns="0" rIns="0" bIns="0" rtlCol="0" anchor="ctr"/>
          <a:lstStyle/>
          <a:p>
            <a:pPr indent="0" marL="0">
              <a:buNone/>
            </a:pPr>
            <a:r>
              <a:rPr lang="en-US" sz="1350" dirty="0">
                <a:solidFill>
                  <a:schemeClr val="tx2"/>
                </a:solidFill>
                <a:latin typeface="+mj-lt" pitchFamily="34" charset="0"/>
                <a:ea typeface="+mj-lt" pitchFamily="34" charset="-122"/>
                <a:cs typeface="+mj-lt" pitchFamily="34" charset="-120"/>
              </a:rPr>
              <a:t>3 Waves</a:t>
            </a:r>
            <a:endParaRPr lang="en-US" sz="1350" dirty="0"/>
          </a:p>
        </p:txBody>
      </p:sp>
      <p:sp>
        <p:nvSpPr>
          <p:cNvPr id="15" name="Text 13"/>
          <p:cNvSpPr txBox="1"/>
          <p:nvPr/>
        </p:nvSpPr>
        <p:spPr>
          <a:xfrm>
            <a:off x="4460138" y="2048256"/>
            <a:ext cx="1384249" cy="320040"/>
          </a:xfrm>
          <a:prstGeom prst="rect">
            <a:avLst/>
          </a:prstGeom>
          <a:noFill/>
          <a:ln/>
        </p:spPr>
        <p:txBody>
          <a:bodyPr wrap="square" lIns="0" tIns="0" rIns="0" bIns="0" rtlCol="0" anchor="t"/>
          <a:lstStyle/>
          <a:p>
            <a:pPr indent="0" marL="0">
              <a:buNone/>
            </a:pPr>
            <a:r>
              <a:rPr lang="en-US" sz="1200" dirty="0">
                <a:solidFill>
                  <a:schemeClr val="tx1"/>
                </a:solidFill>
              </a:rPr>
              <a:t>Shows: number of waves</a:t>
            </a:r>
            <a:endParaRPr lang="en-US" sz="1200" dirty="0"/>
          </a:p>
        </p:txBody>
      </p:sp>
      <p:sp>
        <p:nvSpPr>
          <p:cNvPr id="16" name="Shape 14"/>
          <p:cNvSpPr/>
          <p:nvPr/>
        </p:nvSpPr>
        <p:spPr>
          <a:xfrm>
            <a:off x="6027268" y="1961388"/>
            <a:ext cx="137160" cy="91"/>
          </a:xfrm>
          <a:prstGeom prst="line">
            <a:avLst/>
          </a:prstGeom>
          <a:noFill/>
          <a:ln w="19050">
            <a:solidFill>
              <a:srgbClr val="5D6B82"/>
            </a:solidFill>
            <a:prstDash val="solid"/>
            <a:tailEnd type="triangle"/>
          </a:ln>
        </p:spPr>
      </p:sp>
      <p:sp>
        <p:nvSpPr>
          <p:cNvPr id="17" name="Shape 15"/>
          <p:cNvSpPr/>
          <p:nvPr/>
        </p:nvSpPr>
        <p:spPr>
          <a:xfrm>
            <a:off x="6210148" y="1481328"/>
            <a:ext cx="1658569" cy="960120"/>
          </a:xfrm>
          <a:prstGeom prst="roundRect">
            <a:avLst>
              <a:gd name="adj" fmla="val 11429"/>
            </a:avLst>
          </a:prstGeom>
          <a:solidFill>
            <a:schemeClr val="bg2"/>
          </a:solidFill>
          <a:ln/>
        </p:spPr>
      </p:sp>
      <p:sp>
        <p:nvSpPr>
          <p:cNvPr id="18" name="Text 16"/>
          <p:cNvSpPr txBox="1"/>
          <p:nvPr/>
        </p:nvSpPr>
        <p:spPr>
          <a:xfrm>
            <a:off x="6347308" y="1591056"/>
            <a:ext cx="1429969" cy="438912"/>
          </a:xfrm>
          <a:prstGeom prst="rect">
            <a:avLst/>
          </a:prstGeom>
          <a:noFill/>
          <a:ln/>
        </p:spPr>
        <p:txBody>
          <a:bodyPr wrap="square" lIns="0" tIns="0" rIns="0" bIns="0" rtlCol="0" anchor="ctr"/>
          <a:lstStyle/>
          <a:p>
            <a:pPr indent="0" marL="0">
              <a:buNone/>
            </a:pPr>
            <a:r>
              <a:rPr lang="en-US" sz="1350" dirty="0">
                <a:solidFill>
                  <a:schemeClr val="tx2"/>
                </a:solidFill>
                <a:latin typeface="+mj-lt" pitchFamily="34" charset="0"/>
                <a:ea typeface="+mj-lt" pitchFamily="34" charset="-122"/>
                <a:cs typeface="+mj-lt" pitchFamily="34" charset="-120"/>
              </a:rPr>
              <a:t>4 Plan</a:t>
            </a:r>
            <a:endParaRPr lang="en-US" sz="1350" dirty="0"/>
          </a:p>
        </p:txBody>
      </p:sp>
      <p:sp>
        <p:nvSpPr>
          <p:cNvPr id="19" name="Text 17"/>
          <p:cNvSpPr txBox="1"/>
          <p:nvPr/>
        </p:nvSpPr>
        <p:spPr>
          <a:xfrm>
            <a:off x="6347308" y="2048256"/>
            <a:ext cx="1384249" cy="320040"/>
          </a:xfrm>
          <a:prstGeom prst="rect">
            <a:avLst/>
          </a:prstGeom>
          <a:noFill/>
          <a:ln/>
        </p:spPr>
        <p:txBody>
          <a:bodyPr wrap="square" lIns="0" tIns="0" rIns="0" bIns="0" rtlCol="0" anchor="t"/>
          <a:lstStyle/>
          <a:p>
            <a:pPr indent="0" marL="0">
              <a:buNone/>
            </a:pPr>
            <a:r>
              <a:rPr lang="en-US" sz="1200" dirty="0">
                <a:solidFill>
                  <a:schemeClr val="tx1"/>
                </a:solidFill>
              </a:rPr>
              <a:t>Shows: readiness</a:t>
            </a:r>
            <a:endParaRPr lang="en-US" sz="1200" dirty="0"/>
          </a:p>
        </p:txBody>
      </p:sp>
      <p:sp>
        <p:nvSpPr>
          <p:cNvPr id="20" name="Shape 18"/>
          <p:cNvSpPr/>
          <p:nvPr/>
        </p:nvSpPr>
        <p:spPr>
          <a:xfrm>
            <a:off x="7914437" y="1961388"/>
            <a:ext cx="137160" cy="91"/>
          </a:xfrm>
          <a:prstGeom prst="line">
            <a:avLst/>
          </a:prstGeom>
          <a:noFill/>
          <a:ln w="19050">
            <a:solidFill>
              <a:srgbClr val="5D6B82"/>
            </a:solidFill>
            <a:prstDash val="solid"/>
            <a:tailEnd type="triangle"/>
          </a:ln>
        </p:spPr>
      </p:sp>
      <p:sp>
        <p:nvSpPr>
          <p:cNvPr id="21" name="Shape 19"/>
          <p:cNvSpPr/>
          <p:nvPr/>
        </p:nvSpPr>
        <p:spPr>
          <a:xfrm>
            <a:off x="8097317" y="1481328"/>
            <a:ext cx="1658569" cy="960120"/>
          </a:xfrm>
          <a:prstGeom prst="roundRect">
            <a:avLst>
              <a:gd name="adj" fmla="val 11429"/>
            </a:avLst>
          </a:prstGeom>
          <a:solidFill>
            <a:schemeClr val="bg2"/>
          </a:solidFill>
          <a:ln/>
        </p:spPr>
      </p:sp>
      <p:sp>
        <p:nvSpPr>
          <p:cNvPr id="22" name="Text 20"/>
          <p:cNvSpPr txBox="1"/>
          <p:nvPr/>
        </p:nvSpPr>
        <p:spPr>
          <a:xfrm>
            <a:off x="8234477" y="1591056"/>
            <a:ext cx="1429969" cy="438912"/>
          </a:xfrm>
          <a:prstGeom prst="rect">
            <a:avLst/>
          </a:prstGeom>
          <a:noFill/>
          <a:ln/>
        </p:spPr>
        <p:txBody>
          <a:bodyPr wrap="square" lIns="0" tIns="0" rIns="0" bIns="0" rtlCol="0" anchor="ctr"/>
          <a:lstStyle/>
          <a:p>
            <a:pPr indent="0" marL="0">
              <a:buNone/>
            </a:pPr>
            <a:r>
              <a:rPr lang="en-US" sz="1350" dirty="0">
                <a:solidFill>
                  <a:schemeClr val="tx2"/>
                </a:solidFill>
                <a:latin typeface="+mj-lt" pitchFamily="34" charset="0"/>
                <a:ea typeface="+mj-lt" pitchFamily="34" charset="-122"/>
                <a:cs typeface="+mj-lt" pitchFamily="34" charset="-120"/>
              </a:rPr>
              <a:t>5 Migrate</a:t>
            </a:r>
            <a:endParaRPr lang="en-US" sz="1350" dirty="0"/>
          </a:p>
        </p:txBody>
      </p:sp>
      <p:sp>
        <p:nvSpPr>
          <p:cNvPr id="23" name="Text 21"/>
          <p:cNvSpPr txBox="1"/>
          <p:nvPr/>
        </p:nvSpPr>
        <p:spPr>
          <a:xfrm>
            <a:off x="8234477" y="2048256"/>
            <a:ext cx="1384249" cy="320040"/>
          </a:xfrm>
          <a:prstGeom prst="rect">
            <a:avLst/>
          </a:prstGeom>
          <a:noFill/>
          <a:ln/>
        </p:spPr>
        <p:txBody>
          <a:bodyPr wrap="square" lIns="0" tIns="0" rIns="0" bIns="0" rtlCol="0" anchor="t"/>
          <a:lstStyle/>
          <a:p>
            <a:pPr indent="0" marL="0">
              <a:buNone/>
            </a:pPr>
            <a:r>
              <a:rPr lang="en-US" sz="1200" dirty="0">
                <a:solidFill>
                  <a:schemeClr val="tx1"/>
                </a:solidFill>
              </a:rPr>
              <a:t>Shows: objects migrated</a:t>
            </a:r>
            <a:endParaRPr lang="en-US" sz="1200" dirty="0"/>
          </a:p>
        </p:txBody>
      </p:sp>
      <p:sp>
        <p:nvSpPr>
          <p:cNvPr id="24" name="Shape 22"/>
          <p:cNvSpPr/>
          <p:nvPr/>
        </p:nvSpPr>
        <p:spPr>
          <a:xfrm>
            <a:off x="9801606" y="1961388"/>
            <a:ext cx="137160" cy="91"/>
          </a:xfrm>
          <a:prstGeom prst="line">
            <a:avLst/>
          </a:prstGeom>
          <a:noFill/>
          <a:ln w="19050">
            <a:solidFill>
              <a:srgbClr val="5D6B82"/>
            </a:solidFill>
            <a:prstDash val="solid"/>
            <a:tailEnd type="triangle"/>
          </a:ln>
        </p:spPr>
      </p:sp>
      <p:sp>
        <p:nvSpPr>
          <p:cNvPr id="25" name="Shape 23"/>
          <p:cNvSpPr/>
          <p:nvPr/>
        </p:nvSpPr>
        <p:spPr>
          <a:xfrm>
            <a:off x="9984486" y="1481328"/>
            <a:ext cx="1658569" cy="960120"/>
          </a:xfrm>
          <a:prstGeom prst="roundRect">
            <a:avLst>
              <a:gd name="adj" fmla="val 11429"/>
            </a:avLst>
          </a:prstGeom>
          <a:solidFill>
            <a:schemeClr val="bg2"/>
          </a:solidFill>
          <a:ln/>
        </p:spPr>
      </p:sp>
      <p:sp>
        <p:nvSpPr>
          <p:cNvPr id="26" name="Text 24"/>
          <p:cNvSpPr txBox="1"/>
          <p:nvPr/>
        </p:nvSpPr>
        <p:spPr>
          <a:xfrm>
            <a:off x="10121646" y="1591056"/>
            <a:ext cx="1429969" cy="438912"/>
          </a:xfrm>
          <a:prstGeom prst="rect">
            <a:avLst/>
          </a:prstGeom>
          <a:noFill/>
          <a:ln/>
        </p:spPr>
        <p:txBody>
          <a:bodyPr wrap="square" lIns="0" tIns="0" rIns="0" bIns="0" rtlCol="0" anchor="ctr"/>
          <a:lstStyle/>
          <a:p>
            <a:pPr indent="0" marL="0">
              <a:buNone/>
            </a:pPr>
            <a:r>
              <a:rPr lang="en-US" sz="1350" dirty="0">
                <a:solidFill>
                  <a:schemeClr val="tx2"/>
                </a:solidFill>
                <a:latin typeface="+mj-lt" pitchFamily="34" charset="0"/>
                <a:ea typeface="+mj-lt" pitchFamily="34" charset="-122"/>
                <a:cs typeface="+mj-lt" pitchFamily="34" charset="-120"/>
              </a:rPr>
              <a:t>6 Validate</a:t>
            </a:r>
            <a:endParaRPr lang="en-US" sz="1350" dirty="0"/>
          </a:p>
        </p:txBody>
      </p:sp>
      <p:sp>
        <p:nvSpPr>
          <p:cNvPr id="27" name="Text 25"/>
          <p:cNvSpPr txBox="1"/>
          <p:nvPr/>
        </p:nvSpPr>
        <p:spPr>
          <a:xfrm>
            <a:off x="10121646" y="2048256"/>
            <a:ext cx="1384249" cy="320040"/>
          </a:xfrm>
          <a:prstGeom prst="rect">
            <a:avLst/>
          </a:prstGeom>
          <a:noFill/>
          <a:ln/>
        </p:spPr>
        <p:txBody>
          <a:bodyPr wrap="square" lIns="0" tIns="0" rIns="0" bIns="0" rtlCol="0" anchor="t"/>
          <a:lstStyle/>
          <a:p>
            <a:pPr indent="0" marL="0">
              <a:buNone/>
            </a:pPr>
            <a:r>
              <a:rPr lang="en-US" sz="1200" dirty="0">
                <a:solidFill>
                  <a:schemeClr val="tx1"/>
                </a:solidFill>
              </a:rPr>
              <a:t>Shows: matches</a:t>
            </a:r>
            <a:endParaRPr lang="en-US" sz="1200" dirty="0"/>
          </a:p>
        </p:txBody>
      </p:sp>
      <p:sp>
        <p:nvSpPr>
          <p:cNvPr id="28" name="Shape 26"/>
          <p:cNvSpPr/>
          <p:nvPr/>
        </p:nvSpPr>
        <p:spPr>
          <a:xfrm>
            <a:off x="548640" y="2697480"/>
            <a:ext cx="1508760" cy="329184"/>
          </a:xfrm>
          <a:prstGeom prst="roundRect">
            <a:avLst>
              <a:gd name="adj" fmla="val 50000"/>
            </a:avLst>
          </a:prstGeom>
          <a:solidFill>
            <a:schemeClr val="accent6">
              <a:alpha val="85000"/>
            </a:schemeClr>
          </a:solidFill>
          <a:ln/>
        </p:spPr>
      </p:sp>
      <p:sp>
        <p:nvSpPr>
          <p:cNvPr id="29" name="Text 27"/>
          <p:cNvSpPr txBox="1"/>
          <p:nvPr/>
        </p:nvSpPr>
        <p:spPr>
          <a:xfrm>
            <a:off x="548640" y="2697480"/>
            <a:ext cx="1508760" cy="329184"/>
          </a:xfrm>
          <a:prstGeom prst="rect">
            <a:avLst/>
          </a:prstGeom>
          <a:noFill/>
          <a:ln/>
        </p:spPr>
        <p:txBody>
          <a:bodyPr wrap="square" lIns="0" tIns="0" rIns="0" bIns="0" rtlCol="0" anchor="ctr"/>
          <a:lstStyle/>
          <a:p>
            <a:pPr algn="ctr" indent="0" marL="0">
              <a:buNone/>
            </a:pPr>
            <a:r>
              <a:rPr lang="en-US" sz="1100" b="1" dirty="0">
                <a:solidFill>
                  <a:schemeClr val="bg1"/>
                </a:solidFill>
              </a:rPr>
              <a:t>To do</a:t>
            </a:r>
            <a:endParaRPr lang="en-US" sz="1100" dirty="0"/>
          </a:p>
        </p:txBody>
      </p:sp>
      <p:sp>
        <p:nvSpPr>
          <p:cNvPr id="30" name="Text 28"/>
          <p:cNvSpPr txBox="1"/>
          <p:nvPr/>
        </p:nvSpPr>
        <p:spPr>
          <a:xfrm>
            <a:off x="2148840" y="2679192"/>
            <a:ext cx="1261872" cy="384048"/>
          </a:xfrm>
          <a:prstGeom prst="rect">
            <a:avLst/>
          </a:prstGeom>
          <a:noFill/>
          <a:ln/>
        </p:spPr>
        <p:txBody>
          <a:bodyPr wrap="square" lIns="0" tIns="0" rIns="0" bIns="0" rtlCol="0" anchor="ctr"/>
          <a:lstStyle/>
          <a:p>
            <a:pPr indent="0" marL="0">
              <a:buNone/>
            </a:pPr>
            <a:r>
              <a:rPr lang="en-US" sz="1100" dirty="0">
                <a:solidFill>
                  <a:schemeClr val="tx1"/>
                </a:solidFill>
              </a:rPr>
              <a:t>Not started yet</a:t>
            </a:r>
            <a:endParaRPr lang="en-US" sz="1100" dirty="0"/>
          </a:p>
        </p:txBody>
      </p:sp>
      <p:sp>
        <p:nvSpPr>
          <p:cNvPr id="31" name="Shape 29"/>
          <p:cNvSpPr/>
          <p:nvPr/>
        </p:nvSpPr>
        <p:spPr>
          <a:xfrm>
            <a:off x="3474720" y="2697480"/>
            <a:ext cx="1508760" cy="329184"/>
          </a:xfrm>
          <a:prstGeom prst="roundRect">
            <a:avLst>
              <a:gd name="adj" fmla="val 50000"/>
            </a:avLst>
          </a:prstGeom>
          <a:solidFill>
            <a:schemeClr val="accent1">
              <a:alpha val="85000"/>
            </a:schemeClr>
          </a:solidFill>
          <a:ln/>
        </p:spPr>
      </p:sp>
      <p:sp>
        <p:nvSpPr>
          <p:cNvPr id="32" name="Text 30"/>
          <p:cNvSpPr txBox="1"/>
          <p:nvPr/>
        </p:nvSpPr>
        <p:spPr>
          <a:xfrm>
            <a:off x="3474720" y="2697480"/>
            <a:ext cx="1508760" cy="329184"/>
          </a:xfrm>
          <a:prstGeom prst="rect">
            <a:avLst/>
          </a:prstGeom>
          <a:noFill/>
          <a:ln/>
        </p:spPr>
        <p:txBody>
          <a:bodyPr wrap="square" lIns="0" tIns="0" rIns="0" bIns="0" rtlCol="0" anchor="ctr"/>
          <a:lstStyle/>
          <a:p>
            <a:pPr algn="ctr" indent="0" marL="0">
              <a:buNone/>
            </a:pPr>
            <a:r>
              <a:rPr lang="en-US" sz="1100" b="1" dirty="0">
                <a:solidFill>
                  <a:schemeClr val="bg1"/>
                </a:solidFill>
              </a:rPr>
              <a:t>Running</a:t>
            </a:r>
            <a:endParaRPr lang="en-US" sz="1100" dirty="0"/>
          </a:p>
        </p:txBody>
      </p:sp>
      <p:sp>
        <p:nvSpPr>
          <p:cNvPr id="33" name="Text 31"/>
          <p:cNvSpPr txBox="1"/>
          <p:nvPr/>
        </p:nvSpPr>
        <p:spPr>
          <a:xfrm>
            <a:off x="5074920" y="2679192"/>
            <a:ext cx="1261872" cy="384048"/>
          </a:xfrm>
          <a:prstGeom prst="rect">
            <a:avLst/>
          </a:prstGeom>
          <a:noFill/>
          <a:ln/>
        </p:spPr>
        <p:txBody>
          <a:bodyPr wrap="square" lIns="0" tIns="0" rIns="0" bIns="0" rtlCol="0" anchor="ctr"/>
          <a:lstStyle/>
          <a:p>
            <a:pPr indent="0" marL="0">
              <a:buNone/>
            </a:pPr>
            <a:r>
              <a:rPr lang="en-US" sz="1100" dirty="0">
                <a:solidFill>
                  <a:schemeClr val="tx1"/>
                </a:solidFill>
              </a:rPr>
              <a:t>Working now</a:t>
            </a:r>
            <a:endParaRPr lang="en-US" sz="1100" dirty="0"/>
          </a:p>
        </p:txBody>
      </p:sp>
      <p:sp>
        <p:nvSpPr>
          <p:cNvPr id="34" name="Shape 32"/>
          <p:cNvSpPr/>
          <p:nvPr/>
        </p:nvSpPr>
        <p:spPr>
          <a:xfrm>
            <a:off x="548640" y="3319272"/>
            <a:ext cx="1508760" cy="329184"/>
          </a:xfrm>
          <a:prstGeom prst="roundRect">
            <a:avLst>
              <a:gd name="adj" fmla="val 50000"/>
            </a:avLst>
          </a:prstGeom>
          <a:solidFill>
            <a:schemeClr val="accent3">
              <a:alpha val="85000"/>
            </a:schemeClr>
          </a:solidFill>
          <a:ln/>
        </p:spPr>
      </p:sp>
      <p:sp>
        <p:nvSpPr>
          <p:cNvPr id="35" name="Text 33"/>
          <p:cNvSpPr txBox="1"/>
          <p:nvPr/>
        </p:nvSpPr>
        <p:spPr>
          <a:xfrm>
            <a:off x="548640" y="3319272"/>
            <a:ext cx="1508760" cy="329184"/>
          </a:xfrm>
          <a:prstGeom prst="rect">
            <a:avLst/>
          </a:prstGeom>
          <a:noFill/>
          <a:ln/>
        </p:spPr>
        <p:txBody>
          <a:bodyPr wrap="square" lIns="0" tIns="0" rIns="0" bIns="0" rtlCol="0" anchor="ctr"/>
          <a:lstStyle/>
          <a:p>
            <a:pPr algn="ctr" indent="0" marL="0">
              <a:buNone/>
            </a:pPr>
            <a:r>
              <a:rPr lang="en-US" sz="1100" b="1" dirty="0">
                <a:solidFill>
                  <a:schemeClr val="bg1"/>
                </a:solidFill>
              </a:rPr>
              <a:t>Paused</a:t>
            </a:r>
            <a:endParaRPr lang="en-US" sz="1100" dirty="0"/>
          </a:p>
        </p:txBody>
      </p:sp>
      <p:sp>
        <p:nvSpPr>
          <p:cNvPr id="36" name="Text 34"/>
          <p:cNvSpPr txBox="1"/>
          <p:nvPr/>
        </p:nvSpPr>
        <p:spPr>
          <a:xfrm>
            <a:off x="2148840" y="3300984"/>
            <a:ext cx="1261872" cy="384048"/>
          </a:xfrm>
          <a:prstGeom prst="rect">
            <a:avLst/>
          </a:prstGeom>
          <a:noFill/>
          <a:ln/>
        </p:spPr>
        <p:txBody>
          <a:bodyPr wrap="square" lIns="0" tIns="0" rIns="0" bIns="0" rtlCol="0" anchor="ctr"/>
          <a:lstStyle/>
          <a:p>
            <a:pPr indent="0" marL="0">
              <a:buNone/>
            </a:pPr>
            <a:r>
              <a:rPr lang="en-US" sz="1100" dirty="0">
                <a:solidFill>
                  <a:schemeClr val="tx1"/>
                </a:solidFill>
              </a:rPr>
              <a:t>The run is paused</a:t>
            </a:r>
            <a:endParaRPr lang="en-US" sz="1100" dirty="0"/>
          </a:p>
        </p:txBody>
      </p:sp>
      <p:sp>
        <p:nvSpPr>
          <p:cNvPr id="37" name="Shape 35"/>
          <p:cNvSpPr/>
          <p:nvPr/>
        </p:nvSpPr>
        <p:spPr>
          <a:xfrm>
            <a:off x="3474720" y="3319272"/>
            <a:ext cx="1508760" cy="329184"/>
          </a:xfrm>
          <a:prstGeom prst="roundRect">
            <a:avLst>
              <a:gd name="adj" fmla="val 50000"/>
            </a:avLst>
          </a:prstGeom>
          <a:solidFill>
            <a:schemeClr val="accent4">
              <a:alpha val="85000"/>
            </a:schemeClr>
          </a:solidFill>
          <a:ln/>
        </p:spPr>
      </p:sp>
      <p:sp>
        <p:nvSpPr>
          <p:cNvPr id="38" name="Text 36"/>
          <p:cNvSpPr txBox="1"/>
          <p:nvPr/>
        </p:nvSpPr>
        <p:spPr>
          <a:xfrm>
            <a:off x="3474720" y="3319272"/>
            <a:ext cx="1508760" cy="329184"/>
          </a:xfrm>
          <a:prstGeom prst="rect">
            <a:avLst/>
          </a:prstGeom>
          <a:noFill/>
          <a:ln/>
        </p:spPr>
        <p:txBody>
          <a:bodyPr wrap="square" lIns="0" tIns="0" rIns="0" bIns="0" rtlCol="0" anchor="ctr"/>
          <a:lstStyle/>
          <a:p>
            <a:pPr algn="ctr" indent="0" marL="0">
              <a:buNone/>
            </a:pPr>
            <a:r>
              <a:rPr lang="en-US" sz="1100" b="1" dirty="0">
                <a:solidFill>
                  <a:schemeClr val="bg1"/>
                </a:solidFill>
              </a:rPr>
              <a:t>Needs attention</a:t>
            </a:r>
            <a:endParaRPr lang="en-US" sz="1100" dirty="0"/>
          </a:p>
        </p:txBody>
      </p:sp>
      <p:sp>
        <p:nvSpPr>
          <p:cNvPr id="39" name="Text 37"/>
          <p:cNvSpPr txBox="1"/>
          <p:nvPr/>
        </p:nvSpPr>
        <p:spPr>
          <a:xfrm>
            <a:off x="5074920" y="3300984"/>
            <a:ext cx="1261872" cy="384048"/>
          </a:xfrm>
          <a:prstGeom prst="rect">
            <a:avLst/>
          </a:prstGeom>
          <a:noFill/>
          <a:ln/>
        </p:spPr>
        <p:txBody>
          <a:bodyPr wrap="square" lIns="0" tIns="0" rIns="0" bIns="0" rtlCol="0" anchor="ctr"/>
          <a:lstStyle/>
          <a:p>
            <a:pPr indent="0" marL="0">
              <a:buNone/>
            </a:pPr>
            <a:r>
              <a:rPr lang="en-US" sz="1100" dirty="0">
                <a:solidFill>
                  <a:schemeClr val="tx1"/>
                </a:solidFill>
              </a:rPr>
              <a:t>Finished with warnings or failures</a:t>
            </a:r>
            <a:endParaRPr lang="en-US" sz="1100" dirty="0"/>
          </a:p>
        </p:txBody>
      </p:sp>
      <p:sp>
        <p:nvSpPr>
          <p:cNvPr id="40" name="Shape 38"/>
          <p:cNvSpPr/>
          <p:nvPr/>
        </p:nvSpPr>
        <p:spPr>
          <a:xfrm>
            <a:off x="548640" y="3941064"/>
            <a:ext cx="1508760" cy="329184"/>
          </a:xfrm>
          <a:prstGeom prst="roundRect">
            <a:avLst>
              <a:gd name="adj" fmla="val 50000"/>
            </a:avLst>
          </a:prstGeom>
          <a:solidFill>
            <a:schemeClr val="accent2">
              <a:alpha val="85000"/>
            </a:schemeClr>
          </a:solidFill>
          <a:ln/>
        </p:spPr>
      </p:sp>
      <p:sp>
        <p:nvSpPr>
          <p:cNvPr id="41" name="Text 39"/>
          <p:cNvSpPr txBox="1"/>
          <p:nvPr/>
        </p:nvSpPr>
        <p:spPr>
          <a:xfrm>
            <a:off x="548640" y="3941064"/>
            <a:ext cx="1508760" cy="329184"/>
          </a:xfrm>
          <a:prstGeom prst="rect">
            <a:avLst/>
          </a:prstGeom>
          <a:noFill/>
          <a:ln/>
        </p:spPr>
        <p:txBody>
          <a:bodyPr wrap="square" lIns="0" tIns="0" rIns="0" bIns="0" rtlCol="0" anchor="ctr"/>
          <a:lstStyle/>
          <a:p>
            <a:pPr algn="ctr" indent="0" marL="0">
              <a:buNone/>
            </a:pPr>
            <a:r>
              <a:rPr lang="en-US" sz="1100" b="1" dirty="0">
                <a:solidFill>
                  <a:schemeClr val="bg1"/>
                </a:solidFill>
              </a:rPr>
              <a:t>Ready to confirm</a:t>
            </a:r>
            <a:endParaRPr lang="en-US" sz="1100" dirty="0"/>
          </a:p>
        </p:txBody>
      </p:sp>
      <p:sp>
        <p:nvSpPr>
          <p:cNvPr id="42" name="Text 40"/>
          <p:cNvSpPr txBox="1"/>
          <p:nvPr/>
        </p:nvSpPr>
        <p:spPr>
          <a:xfrm>
            <a:off x="2148840" y="3922776"/>
            <a:ext cx="1261872" cy="384048"/>
          </a:xfrm>
          <a:prstGeom prst="rect">
            <a:avLst/>
          </a:prstGeom>
          <a:noFill/>
          <a:ln/>
        </p:spPr>
        <p:txBody>
          <a:bodyPr wrap="square" lIns="0" tIns="0" rIns="0" bIns="0" rtlCol="0" anchor="ctr"/>
          <a:lstStyle/>
          <a:p>
            <a:pPr indent="0" marL="0">
              <a:buNone/>
            </a:pPr>
            <a:r>
              <a:rPr lang="en-US" sz="1100" dirty="0">
                <a:solidFill>
                  <a:schemeClr val="tx1"/>
                </a:solidFill>
              </a:rPr>
              <a:t>Finished; waiting for you</a:t>
            </a:r>
            <a:endParaRPr lang="en-US" sz="1100" dirty="0"/>
          </a:p>
        </p:txBody>
      </p:sp>
      <p:sp>
        <p:nvSpPr>
          <p:cNvPr id="43" name="Shape 41"/>
          <p:cNvSpPr/>
          <p:nvPr/>
        </p:nvSpPr>
        <p:spPr>
          <a:xfrm>
            <a:off x="3474720" y="3941064"/>
            <a:ext cx="1508760" cy="329184"/>
          </a:xfrm>
          <a:prstGeom prst="roundRect">
            <a:avLst>
              <a:gd name="adj" fmla="val 50000"/>
            </a:avLst>
          </a:prstGeom>
          <a:solidFill>
            <a:schemeClr val="accent1">
              <a:alpha val="85000"/>
            </a:schemeClr>
          </a:solidFill>
          <a:ln/>
        </p:spPr>
      </p:sp>
      <p:sp>
        <p:nvSpPr>
          <p:cNvPr id="44" name="Text 42"/>
          <p:cNvSpPr txBox="1"/>
          <p:nvPr/>
        </p:nvSpPr>
        <p:spPr>
          <a:xfrm>
            <a:off x="3474720" y="3941064"/>
            <a:ext cx="1508760" cy="329184"/>
          </a:xfrm>
          <a:prstGeom prst="rect">
            <a:avLst/>
          </a:prstGeom>
          <a:noFill/>
          <a:ln/>
        </p:spPr>
        <p:txBody>
          <a:bodyPr wrap="square" lIns="0" tIns="0" rIns="0" bIns="0" rtlCol="0" anchor="ctr"/>
          <a:lstStyle/>
          <a:p>
            <a:pPr algn="ctr" indent="0" marL="0">
              <a:buNone/>
            </a:pPr>
            <a:r>
              <a:rPr lang="en-US" sz="1100" b="1" dirty="0">
                <a:solidFill>
                  <a:schemeClr val="bg1"/>
                </a:solidFill>
              </a:rPr>
              <a:t>Done</a:t>
            </a:r>
            <a:endParaRPr lang="en-US" sz="1100" dirty="0"/>
          </a:p>
        </p:txBody>
      </p:sp>
      <p:sp>
        <p:nvSpPr>
          <p:cNvPr id="45" name="Text 43"/>
          <p:cNvSpPr txBox="1"/>
          <p:nvPr/>
        </p:nvSpPr>
        <p:spPr>
          <a:xfrm>
            <a:off x="5074920" y="3922776"/>
            <a:ext cx="1261872" cy="384048"/>
          </a:xfrm>
          <a:prstGeom prst="rect">
            <a:avLst/>
          </a:prstGeom>
          <a:noFill/>
          <a:ln/>
        </p:spPr>
        <p:txBody>
          <a:bodyPr wrap="square" lIns="0" tIns="0" rIns="0" bIns="0" rtlCol="0" anchor="ctr"/>
          <a:lstStyle/>
          <a:p>
            <a:pPr indent="0" marL="0">
              <a:buNone/>
            </a:pPr>
            <a:r>
              <a:rPr lang="en-US" sz="1100" dirty="0">
                <a:solidFill>
                  <a:schemeClr val="tx1"/>
                </a:solidFill>
              </a:rPr>
              <a:t>Confirmed</a:t>
            </a:r>
            <a:endParaRPr lang="en-US" sz="1100" dirty="0"/>
          </a:p>
        </p:txBody>
      </p:sp>
      <p:sp>
        <p:nvSpPr>
          <p:cNvPr id="46" name="Shape 44"/>
          <p:cNvSpPr/>
          <p:nvPr/>
        </p:nvSpPr>
        <p:spPr>
          <a:xfrm>
            <a:off x="548640" y="4562856"/>
            <a:ext cx="1508760" cy="329184"/>
          </a:xfrm>
          <a:prstGeom prst="roundRect">
            <a:avLst>
              <a:gd name="adj" fmla="val 50000"/>
            </a:avLst>
          </a:prstGeom>
          <a:solidFill>
            <a:schemeClr val="accent3">
              <a:alpha val="85000"/>
            </a:schemeClr>
          </a:solidFill>
          <a:ln/>
        </p:spPr>
      </p:sp>
      <p:sp>
        <p:nvSpPr>
          <p:cNvPr id="47" name="Text 45"/>
          <p:cNvSpPr txBox="1"/>
          <p:nvPr/>
        </p:nvSpPr>
        <p:spPr>
          <a:xfrm>
            <a:off x="548640" y="4562856"/>
            <a:ext cx="1508760" cy="329184"/>
          </a:xfrm>
          <a:prstGeom prst="rect">
            <a:avLst/>
          </a:prstGeom>
          <a:noFill/>
          <a:ln/>
        </p:spPr>
        <p:txBody>
          <a:bodyPr wrap="square" lIns="0" tIns="0" rIns="0" bIns="0" rtlCol="0" anchor="ctr"/>
          <a:lstStyle/>
          <a:p>
            <a:pPr algn="ctr" indent="0" marL="0">
              <a:buNone/>
            </a:pPr>
            <a:r>
              <a:rPr lang="en-US" sz="1100" b="1" dirty="0">
                <a:solidFill>
                  <a:schemeClr val="bg1"/>
                </a:solidFill>
              </a:rPr>
              <a:t>Run again</a:t>
            </a:r>
            <a:endParaRPr lang="en-US" sz="1100" dirty="0"/>
          </a:p>
        </p:txBody>
      </p:sp>
      <p:sp>
        <p:nvSpPr>
          <p:cNvPr id="48" name="Text 46"/>
          <p:cNvSpPr txBox="1"/>
          <p:nvPr/>
        </p:nvSpPr>
        <p:spPr>
          <a:xfrm>
            <a:off x="2148840" y="4544568"/>
            <a:ext cx="1261872" cy="384048"/>
          </a:xfrm>
          <a:prstGeom prst="rect">
            <a:avLst/>
          </a:prstGeom>
          <a:noFill/>
          <a:ln/>
        </p:spPr>
        <p:txBody>
          <a:bodyPr wrap="square" lIns="0" tIns="0" rIns="0" bIns="0" rtlCol="0" anchor="ctr"/>
          <a:lstStyle/>
          <a:p>
            <a:pPr indent="0" marL="0">
              <a:buNone/>
            </a:pPr>
            <a:r>
              <a:rPr lang="en-US" sz="1100" dirty="0">
                <a:solidFill>
                  <a:schemeClr val="tx1"/>
                </a:solidFill>
              </a:rPr>
              <a:t>Its results are gone (restart, sign-out)</a:t>
            </a:r>
            <a:endParaRPr lang="en-US" sz="1100" dirty="0"/>
          </a:p>
        </p:txBody>
      </p:sp>
      <p:sp>
        <p:nvSpPr>
          <p:cNvPr id="49" name="Shape 47"/>
          <p:cNvSpPr/>
          <p:nvPr/>
        </p:nvSpPr>
        <p:spPr>
          <a:xfrm>
            <a:off x="3474720" y="4562856"/>
            <a:ext cx="1508760" cy="329184"/>
          </a:xfrm>
          <a:prstGeom prst="roundRect">
            <a:avLst>
              <a:gd name="adj" fmla="val 50000"/>
            </a:avLst>
          </a:prstGeom>
          <a:solidFill>
            <a:schemeClr val="accent6">
              <a:alpha val="85000"/>
            </a:schemeClr>
          </a:solidFill>
          <a:ln/>
        </p:spPr>
      </p:sp>
      <p:sp>
        <p:nvSpPr>
          <p:cNvPr id="50" name="Text 48"/>
          <p:cNvSpPr txBox="1"/>
          <p:nvPr/>
        </p:nvSpPr>
        <p:spPr>
          <a:xfrm>
            <a:off x="3474720" y="4562856"/>
            <a:ext cx="1508760" cy="329184"/>
          </a:xfrm>
          <a:prstGeom prst="rect">
            <a:avLst/>
          </a:prstGeom>
          <a:noFill/>
          <a:ln/>
        </p:spPr>
        <p:txBody>
          <a:bodyPr wrap="square" lIns="0" tIns="0" rIns="0" bIns="0" rtlCol="0" anchor="ctr"/>
          <a:lstStyle/>
          <a:p>
            <a:pPr algn="ctr" indent="0" marL="0">
              <a:buNone/>
            </a:pPr>
            <a:r>
              <a:rPr lang="en-US" sz="1100" b="1" dirty="0">
                <a:solidFill>
                  <a:schemeClr val="bg1"/>
                </a:solidFill>
              </a:rPr>
              <a:t>Locked</a:t>
            </a:r>
            <a:endParaRPr lang="en-US" sz="1100" dirty="0"/>
          </a:p>
        </p:txBody>
      </p:sp>
      <p:sp>
        <p:nvSpPr>
          <p:cNvPr id="51" name="Text 49"/>
          <p:cNvSpPr txBox="1"/>
          <p:nvPr/>
        </p:nvSpPr>
        <p:spPr>
          <a:xfrm>
            <a:off x="5074920" y="4544568"/>
            <a:ext cx="1261872" cy="384048"/>
          </a:xfrm>
          <a:prstGeom prst="rect">
            <a:avLst/>
          </a:prstGeom>
          <a:noFill/>
          <a:ln/>
        </p:spPr>
        <p:txBody>
          <a:bodyPr wrap="square" lIns="0" tIns="0" rIns="0" bIns="0" rtlCol="0" anchor="ctr"/>
          <a:lstStyle/>
          <a:p>
            <a:pPr indent="0" marL="0">
              <a:buNone/>
            </a:pPr>
            <a:r>
              <a:rPr lang="en-US" sz="1100" dirty="0">
                <a:solidFill>
                  <a:schemeClr val="tx1"/>
                </a:solidFill>
              </a:rPr>
              <a:t>An earlier step is not confirmed</a:t>
            </a:r>
            <a:endParaRPr lang="en-US" sz="1100" dirty="0"/>
          </a:p>
        </p:txBody>
      </p:sp>
      <p:sp>
        <p:nvSpPr>
          <p:cNvPr id="52" name="Shape 50"/>
          <p:cNvSpPr/>
          <p:nvPr/>
        </p:nvSpPr>
        <p:spPr>
          <a:xfrm>
            <a:off x="6537960" y="2670048"/>
            <a:ext cx="5102352" cy="3456432"/>
          </a:xfrm>
          <a:prstGeom prst="roundRect">
            <a:avLst>
              <a:gd name="adj" fmla="val 3175"/>
            </a:avLst>
          </a:prstGeom>
          <a:solidFill>
            <a:schemeClr val="bg2"/>
          </a:solidFill>
          <a:ln/>
        </p:spPr>
      </p:sp>
      <p:sp>
        <p:nvSpPr>
          <p:cNvPr id="53" name="Text 51"/>
          <p:cNvSpPr txBox="1"/>
          <p:nvPr/>
        </p:nvSpPr>
        <p:spPr>
          <a:xfrm>
            <a:off x="6766560" y="2852928"/>
            <a:ext cx="4645152"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RULES</a:t>
            </a:r>
            <a:endParaRPr lang="en-US" sz="1100" dirty="0"/>
          </a:p>
        </p:txBody>
      </p:sp>
      <p:sp>
        <p:nvSpPr>
          <p:cNvPr id="54" name="Text 52"/>
          <p:cNvSpPr txBox="1"/>
          <p:nvPr/>
        </p:nvSpPr>
        <p:spPr>
          <a:xfrm>
            <a:off x="6739128" y="3172968"/>
            <a:ext cx="4718304" cy="2816352"/>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chemeClr val="tx1"/>
                </a:solidFill>
              </a:rPr>
              <a:t>Confirm with 'Looks good, continue', or 'Continue anyway' when something needs a look</a:t>
            </a:r>
            <a:endParaRPr lang="en-US" sz="1400" dirty="0"/>
          </a:p>
          <a:p>
            <a:pPr marL="177800" indent="-177800">
              <a:spcAft>
                <a:spcPts val="600"/>
              </a:spcAft>
              <a:buSzPct val="100000"/>
              <a:buChar char="•"/>
            </a:pPr>
            <a:r>
              <a:rPr lang="en-US" sz="1250" dirty="0">
                <a:solidFill>
                  <a:schemeClr val="tx1"/>
                </a:solidFill>
              </a:rPr>
              <a:t>Plan cannot be confirmed while a risk is blocking</a:t>
            </a:r>
            <a:endParaRPr lang="en-US" sz="1400" dirty="0"/>
          </a:p>
          <a:p>
            <a:pPr marL="177800" indent="-177800">
              <a:spcAft>
                <a:spcPts val="600"/>
              </a:spcAft>
              <a:buSzPct val="100000"/>
              <a:buChar char="•"/>
            </a:pPr>
            <a:r>
              <a:rPr lang="en-US" sz="1250" dirty="0">
                <a:solidFill>
                  <a:schemeClr val="tx1"/>
                </a:solidFill>
              </a:rPr>
              <a:t>Reset step clears that step and every later one: inventory, plan, credentials, run record, validation</a:t>
            </a:r>
            <a:endParaRPr lang="en-US" sz="1400" dirty="0"/>
          </a:p>
          <a:p>
            <a:pPr marL="177800" indent="-177800">
              <a:spcAft>
                <a:spcPts val="600"/>
              </a:spcAft>
              <a:buSzPct val="100000"/>
              <a:buChar char="•"/>
            </a:pPr>
            <a:r>
              <a:rPr lang="en-US" sz="1250" dirty="0">
                <a:solidFill>
                  <a:schemeClr val="tx1"/>
                </a:solidFill>
              </a:rPr>
              <a:t>Reset never touches the connections, Synapse, or anything already created in Fabric</a:t>
            </a:r>
            <a:endParaRPr lang="en-US" sz="1400" dirty="0"/>
          </a:p>
          <a:p>
            <a:pPr marL="177800" indent="-177800">
              <a:spcAft>
                <a:spcPts val="600"/>
              </a:spcAft>
              <a:buSzPct val="100000"/>
              <a:buChar char="•"/>
            </a:pPr>
            <a:r>
              <a:rPr lang="en-US" sz="1250" dirty="0">
                <a:solidFill>
                  <a:schemeClr val="tx1"/>
                </a:solidFill>
              </a:rPr>
              <a:t>Confirmations are kept per project in this browser</a:t>
            </a:r>
            <a:endParaRPr lang="en-US" sz="1400" dirty="0"/>
          </a:p>
        </p:txBody>
      </p:sp>
      <p:sp>
        <p:nvSpPr>
          <p:cNvPr id="55" name="Text 53"/>
          <p:cNvSpPr txBox="1"/>
          <p:nvPr/>
        </p:nvSpPr>
        <p:spPr>
          <a:xfrm>
            <a:off x="548640" y="5257800"/>
            <a:ext cx="5760720" cy="822960"/>
          </a:xfrm>
          <a:prstGeom prst="rect">
            <a:avLst/>
          </a:prstGeom>
          <a:noFill/>
          <a:ln/>
        </p:spPr>
        <p:txBody>
          <a:bodyPr wrap="square" lIns="0" tIns="0" rIns="0" bIns="0" rtlCol="0" anchor="t"/>
          <a:lstStyle/>
          <a:p>
            <a:pPr indent="0" marL="0">
              <a:buNone/>
            </a:pPr>
            <a:r>
              <a:rPr lang="en-US" sz="1250" dirty="0">
                <a:solidFill>
                  <a:schemeClr val="accent6"/>
                </a:solidFill>
              </a:rPr>
              <a:t>Each box shows its key number and state; clicking a box opens its details, and the address follows the step.</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04 · THE SIX STEPS</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Discover: what is read, and from where</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source_strategy.py</a:t>
            </a:r>
            <a:endParaRPr lang="en-US" sz="1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6629400" cy="914400"/>
        </p:xfrm>
        <a:graphic>
          <a:graphicData uri="http://schemas.openxmlformats.org/drawingml/2006/table">
            <a:tbl>
              <a:tblPr/>
              <a:tblGrid>
                <a:gridCol w="2697480"/>
                <a:gridCol w="1874520"/>
                <a:gridCol w="2057400"/>
              </a:tblGrid>
              <a:tr h="347472">
                <a:tc>
                  <a:txBody>
                    <a:bodyPr/>
                    <a:lstStyle/>
                    <a:p>
                      <a:pPr indent="0" marL="0">
                        <a:buNone/>
                      </a:pPr>
                      <a:r>
                        <a:rPr lang="en-US" sz="1250" b="1" dirty="0">
                          <a:solidFill>
                            <a:schemeClr val="bg1"/>
                          </a:solidFill>
                        </a:rPr>
                        <a:t>P0 artifact</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indent="0" marL="0">
                        <a:buNone/>
                      </a:pPr>
                      <a:r>
                        <a:rPr lang="en-US" sz="1250" b="1" dirty="0">
                          <a:solidFill>
                            <a:schemeClr val="bg1"/>
                          </a:solidFill>
                        </a:rPr>
                        <a:t>Primary source</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4157D6"/>
                    </a:solidFill>
                  </a:tcPr>
                </a:tc>
                <a:tc>
                  <a:txBody>
                    <a:bodyPr/>
                    <a:lstStyle/>
                    <a:p>
                      <a:pPr indent="0" marL="0">
                        <a:buNone/>
                      </a:pPr>
                      <a:r>
                        <a:rPr lang="en-US" sz="1250" b="1" dirty="0">
                          <a:solidFill>
                            <a:schemeClr val="bg1"/>
                          </a:solidFill>
                        </a:rPr>
                        <a:t>Also read from</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r>
              <a:tr h="365760">
                <a:tc>
                  <a:txBody>
                    <a:bodyPr/>
                    <a:lstStyle/>
                    <a:p>
                      <a:pPr indent="0" marL="0">
                        <a:buNone/>
                      </a:pPr>
                      <a:r>
                        <a:rPr lang="en-US" sz="1250" b="1" dirty="0">
                          <a:solidFill>
                            <a:schemeClr val="tx2"/>
                          </a:solidFill>
                        </a:rPr>
                        <a:t>Dedicated SQL table</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SQL pool</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Azure</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65760">
                <a:tc>
                  <a:txBody>
                    <a:bodyPr/>
                    <a:lstStyle/>
                    <a:p>
                      <a:pPr indent="0" marL="0">
                        <a:buNone/>
                      </a:pPr>
                      <a:r>
                        <a:rPr lang="en-US" sz="1250" b="1" dirty="0">
                          <a:solidFill>
                            <a:schemeClr val="tx2"/>
                          </a:solidFill>
                        </a:rPr>
                        <a:t>SQL view</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50" dirty="0">
                          <a:solidFill>
                            <a:schemeClr val="tx1"/>
                          </a:solidFill>
                        </a:rPr>
                        <a:t>SQL pool</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50" dirty="0">
                          <a:solidFill>
                            <a:schemeClr val="tx1"/>
                          </a:solidFill>
                        </a:rPr>
                        <a:t>Azure</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65760">
                <a:tc>
                  <a:txBody>
                    <a:bodyPr/>
                    <a:lstStyle/>
                    <a:p>
                      <a:pPr indent="0" marL="0">
                        <a:buNone/>
                      </a:pPr>
                      <a:r>
                        <a:rPr lang="en-US" sz="1250" b="1" dirty="0">
                          <a:solidFill>
                            <a:schemeClr val="tx2"/>
                          </a:solidFill>
                        </a:rPr>
                        <a:t>Stored procedure</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SQL pool</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Azure</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65760">
                <a:tc>
                  <a:txBody>
                    <a:bodyPr/>
                    <a:lstStyle/>
                    <a:p>
                      <a:pPr indent="0" marL="0">
                        <a:buNone/>
                      </a:pPr>
                      <a:r>
                        <a:rPr lang="en-US" sz="1250" b="1" dirty="0">
                          <a:solidFill>
                            <a:schemeClr val="tx2"/>
                          </a:solidFill>
                        </a:rPr>
                        <a:t>SQL script</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50" dirty="0">
                          <a:solidFill>
                            <a:schemeClr val="tx1"/>
                          </a:solidFill>
                        </a:rPr>
                        <a:t>Git repository</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50" dirty="0">
                          <a:solidFill>
                            <a:schemeClr val="tx1"/>
                          </a:solidFill>
                        </a:rPr>
                        <a:t>Live API, SQL</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65760">
                <a:tc>
                  <a:txBody>
                    <a:bodyPr/>
                    <a:lstStyle/>
                    <a:p>
                      <a:pPr indent="0" marL="0">
                        <a:buNone/>
                      </a:pPr>
                      <a:r>
                        <a:rPr lang="en-US" sz="1250" b="1" dirty="0">
                          <a:solidFill>
                            <a:schemeClr val="tx2"/>
                          </a:solidFill>
                        </a:rPr>
                        <a:t>Pipeline</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Git repository</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Live API, Azure</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65760">
                <a:tc>
                  <a:txBody>
                    <a:bodyPr/>
                    <a:lstStyle/>
                    <a:p>
                      <a:pPr indent="0" marL="0">
                        <a:buNone/>
                      </a:pPr>
                      <a:r>
                        <a:rPr lang="en-US" sz="1250" b="1" dirty="0">
                          <a:solidFill>
                            <a:schemeClr val="tx2"/>
                          </a:solidFill>
                        </a:rPr>
                        <a:t>Dataset</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50" dirty="0">
                          <a:solidFill>
                            <a:schemeClr val="tx1"/>
                          </a:solidFill>
                        </a:rPr>
                        <a:t>Git repository</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50" dirty="0">
                          <a:solidFill>
                            <a:schemeClr val="tx1"/>
                          </a:solidFill>
                        </a:rPr>
                        <a:t>Live API, SQL, Azure</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65760">
                <a:tc>
                  <a:txBody>
                    <a:bodyPr/>
                    <a:lstStyle/>
                    <a:p>
                      <a:pPr indent="0" marL="0">
                        <a:buNone/>
                      </a:pPr>
                      <a:r>
                        <a:rPr lang="en-US" sz="1250" b="1" dirty="0">
                          <a:solidFill>
                            <a:schemeClr val="tx2"/>
                          </a:solidFill>
                        </a:rPr>
                        <a:t>Linked service</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Git repository</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Live API, Azure</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65760">
                <a:tc>
                  <a:txBody>
                    <a:bodyPr/>
                    <a:lstStyle/>
                    <a:p>
                      <a:pPr indent="0" marL="0">
                        <a:buNone/>
                      </a:pPr>
                      <a:r>
                        <a:rPr lang="en-US" sz="1250" b="1" dirty="0">
                          <a:solidFill>
                            <a:schemeClr val="tx2"/>
                          </a:solidFill>
                        </a:rPr>
                        <a:t>Notebook</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50" dirty="0">
                          <a:solidFill>
                            <a:schemeClr val="tx1"/>
                          </a:solidFill>
                        </a:rPr>
                        <a:t>Git repository</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50" dirty="0">
                          <a:solidFill>
                            <a:schemeClr val="tx1"/>
                          </a:solidFill>
                        </a:rPr>
                        <a:t>Live API, Azure</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65760">
                <a:tc>
                  <a:txBody>
                    <a:bodyPr/>
                    <a:lstStyle/>
                    <a:p>
                      <a:pPr indent="0" marL="0">
                        <a:buNone/>
                      </a:pPr>
                      <a:r>
                        <a:rPr lang="en-US" sz="1250" b="1" dirty="0">
                          <a:solidFill>
                            <a:schemeClr val="tx2"/>
                          </a:solidFill>
                        </a:rPr>
                        <a:t>Spark job definition</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Git repository</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Live API, Azure</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bl>
          </a:graphicData>
        </a:graphic>
      </p:graphicFrame>
      <p:sp>
        <p:nvSpPr>
          <p:cNvPr id="6" name="Shape 3"/>
          <p:cNvSpPr/>
          <p:nvPr/>
        </p:nvSpPr>
        <p:spPr>
          <a:xfrm>
            <a:off x="7406640" y="1481328"/>
            <a:ext cx="4233672" cy="3657600"/>
          </a:xfrm>
          <a:prstGeom prst="roundRect">
            <a:avLst>
              <a:gd name="adj" fmla="val 3000"/>
            </a:avLst>
          </a:prstGeom>
          <a:solidFill>
            <a:schemeClr val="bg2"/>
          </a:solidFill>
          <a:ln/>
        </p:spPr>
      </p:sp>
      <p:sp>
        <p:nvSpPr>
          <p:cNvPr id="7" name="Text 4"/>
          <p:cNvSpPr txBox="1"/>
          <p:nvPr/>
        </p:nvSpPr>
        <p:spPr>
          <a:xfrm>
            <a:off x="7635240" y="1664208"/>
            <a:ext cx="3776472"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ALSO DISCOVERED</a:t>
            </a:r>
            <a:endParaRPr lang="en-US" sz="1100" dirty="0"/>
          </a:p>
        </p:txBody>
      </p:sp>
      <p:sp>
        <p:nvSpPr>
          <p:cNvPr id="8" name="Text 5"/>
          <p:cNvSpPr txBox="1"/>
          <p:nvPr/>
        </p:nvSpPr>
        <p:spPr>
          <a:xfrm>
            <a:off x="7607808" y="1984248"/>
            <a:ext cx="3849624" cy="30175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chemeClr val="tx1"/>
                </a:solidFill>
              </a:rPr>
              <a:t>SQL pool: functions, roles, users, permissions, masks, external tables, schemas</a:t>
            </a:r>
            <a:endParaRPr lang="en-US" sz="1400" dirty="0"/>
          </a:p>
          <a:p>
            <a:pPr marL="177800" indent="-177800">
              <a:spcAft>
                <a:spcPts val="600"/>
              </a:spcAft>
              <a:buSzPct val="100000"/>
              <a:buChar char="•"/>
            </a:pPr>
            <a:r>
              <a:rPr lang="en-US" sz="1250" dirty="0">
                <a:solidFill>
                  <a:schemeClr val="tx1"/>
                </a:solidFill>
              </a:rPr>
              <a:t>Azure: SQL pools, Spark pools, libraries, integration runtimes</a:t>
            </a:r>
            <a:endParaRPr lang="en-US" sz="1400" dirty="0"/>
          </a:p>
          <a:p>
            <a:pPr marL="177800" indent="-177800">
              <a:spcAft>
                <a:spcPts val="600"/>
              </a:spcAft>
              <a:buSzPct val="100000"/>
              <a:buChar char="•"/>
            </a:pPr>
            <a:r>
              <a:rPr lang="en-US" sz="1250" dirty="0">
                <a:solidFill>
                  <a:schemeClr val="tx1"/>
                </a:solidFill>
              </a:rPr>
              <a:t>Git or the live API: triggers</a:t>
            </a:r>
            <a:endParaRPr lang="en-US" sz="1400" dirty="0"/>
          </a:p>
          <a:p>
            <a:pPr marL="177800" indent="-177800">
              <a:spcAft>
                <a:spcPts val="600"/>
              </a:spcAft>
              <a:buSzPct val="100000"/>
              <a:buChar char="•"/>
            </a:pPr>
            <a:r>
              <a:rPr lang="en-US" sz="1250" dirty="0">
                <a:solidFill>
                  <a:schemeClr val="tx1"/>
                </a:solidFill>
              </a:rPr>
              <a:t>Derived: storage references (account and container)</a:t>
            </a:r>
            <a:endParaRPr lang="en-US" sz="1400" dirty="0"/>
          </a:p>
          <a:p>
            <a:pPr marL="177800" indent="-177800">
              <a:spcAft>
                <a:spcPts val="600"/>
              </a:spcAft>
              <a:buSzPct val="100000"/>
              <a:buChar char="•"/>
            </a:pPr>
            <a:r>
              <a:rPr lang="en-US" sz="1250" dirty="0">
                <a:solidFill>
                  <a:schemeClr val="tx1"/>
                </a:solidFill>
              </a:rPr>
              <a:t>Not yet: lake databases, serverless databases, networking</a:t>
            </a:r>
            <a:endParaRPr lang="en-US" sz="1400" dirty="0"/>
          </a:p>
        </p:txBody>
      </p:sp>
      <p:sp>
        <p:nvSpPr>
          <p:cNvPr id="9" name="Shape 6"/>
          <p:cNvSpPr/>
          <p:nvPr/>
        </p:nvSpPr>
        <p:spPr>
          <a:xfrm>
            <a:off x="548640" y="5349240"/>
            <a:ext cx="11094415" cy="731520"/>
          </a:xfrm>
          <a:prstGeom prst="roundRect">
            <a:avLst>
              <a:gd name="adj" fmla="val 15000"/>
            </a:avLst>
          </a:prstGeom>
          <a:solidFill>
            <a:schemeClr val="accent2">
              <a:alpha val="13000"/>
            </a:schemeClr>
          </a:solidFill>
          <a:ln/>
        </p:spPr>
      </p:sp>
      <p:sp>
        <p:nvSpPr>
          <p:cNvPr id="10" name="Text 7"/>
          <p:cNvSpPr txBox="1"/>
          <p:nvPr/>
        </p:nvSpPr>
        <p:spPr>
          <a:xfrm>
            <a:off x="777240" y="5349240"/>
            <a:ext cx="10637215" cy="731520"/>
          </a:xfrm>
          <a:prstGeom prst="rect">
            <a:avLst/>
          </a:prstGeom>
          <a:noFill/>
          <a:ln/>
        </p:spPr>
        <p:txBody>
          <a:bodyPr wrap="square" lIns="0" tIns="0" rIns="0" bIns="0" rtlCol="0" anchor="ctr"/>
          <a:lstStyle/>
          <a:p>
            <a:pPr indent="0" marL="0">
              <a:buNone/>
            </a:pPr>
            <a:r>
              <a:rPr lang="en-US" sz="1250" b="1" dirty="0">
                <a:solidFill>
                  <a:schemeClr val="tx2"/>
                </a:solidFill>
              </a:rPr>
              <a:t>Source-aware:  </a:t>
            </a:r>
            <a:pPr indent="0" marL="0">
              <a:buNone/>
            </a:pPr>
            <a:r>
              <a:rPr lang="en-US" sz="1250" dirty="0">
                <a:solidFill>
                  <a:schemeClr val="tx1"/>
                </a:solidFill>
              </a:rPr>
              <a:t>Git holds definitions only: no physical schema, published state or runtime settings, and none are invented from a committed file. Each fact keeps the source that said it.</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26</a:t>
            </a:fld>
            <a:endParaRPr lang="en-US"/>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04 · THE SIX STEPS</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Discover: the engine, from three sources to one record each</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discovery.py · records.py</a:t>
            </a:r>
            <a:endParaRPr lang="en-US" sz="1100" dirty="0"/>
          </a:p>
        </p:txBody>
      </p:sp>
      <p:sp>
        <p:nvSpPr>
          <p:cNvPr id="5" name="Shape 3"/>
          <p:cNvSpPr/>
          <p:nvPr/>
        </p:nvSpPr>
        <p:spPr>
          <a:xfrm>
            <a:off x="548640" y="1481328"/>
            <a:ext cx="3511296" cy="1508760"/>
          </a:xfrm>
          <a:prstGeom prst="roundRect">
            <a:avLst>
              <a:gd name="adj" fmla="val 7273"/>
            </a:avLst>
          </a:prstGeom>
          <a:solidFill>
            <a:schemeClr val="accent2">
              <a:alpha val="9000"/>
            </a:schemeClr>
          </a:solidFill>
          <a:ln/>
        </p:spPr>
      </p:sp>
      <p:sp>
        <p:nvSpPr>
          <p:cNvPr id="6" name="Shape 4"/>
          <p:cNvSpPr/>
          <p:nvPr/>
        </p:nvSpPr>
        <p:spPr>
          <a:xfrm>
            <a:off x="731520" y="1645920"/>
            <a:ext cx="420624" cy="420624"/>
          </a:xfrm>
          <a:prstGeom prst="ellipse">
            <a:avLst/>
          </a:prstGeom>
          <a:solidFill>
            <a:schemeClr val="accent2"/>
          </a:solidFill>
          <a:ln/>
        </p:spPr>
      </p:sp>
      <p:pic>
        <p:nvPicPr>
          <p:cNvPr id="7" name="Image 0" descr="preencoded.png">    </p:cNvPr>
          <p:cNvPicPr>
            <a:picLocks noChangeAspect="1"/>
          </p:cNvPicPr>
          <p:nvPr/>
        </p:nvPicPr>
        <p:blipFill>
          <a:blip r:embed="rId1"/>
          <a:stretch>
            <a:fillRect/>
          </a:stretch>
        </p:blipFill>
        <p:spPr>
          <a:xfrm>
            <a:off x="836676" y="1751076"/>
            <a:ext cx="210312" cy="210312"/>
          </a:xfrm>
          <a:prstGeom prst="rect">
            <a:avLst/>
          </a:prstGeom>
        </p:spPr>
      </p:pic>
      <p:sp>
        <p:nvSpPr>
          <p:cNvPr id="8" name="Text 5"/>
          <p:cNvSpPr txBox="1"/>
          <p:nvPr/>
        </p:nvSpPr>
        <p:spPr>
          <a:xfrm>
            <a:off x="1280160" y="1627632"/>
            <a:ext cx="2651760" cy="457200"/>
          </a:xfrm>
          <a:prstGeom prst="rect">
            <a:avLst/>
          </a:prstGeom>
          <a:noFill/>
          <a:ln/>
        </p:spPr>
        <p:txBody>
          <a:bodyPr wrap="square" lIns="0" tIns="0" rIns="0" bIns="0" rtlCol="0" anchor="ctr"/>
          <a:lstStyle/>
          <a:p>
            <a:pPr indent="0" marL="0">
              <a:buNone/>
            </a:pPr>
            <a:r>
              <a:rPr lang="en-US" sz="1450" dirty="0">
                <a:solidFill>
                  <a:schemeClr val="tx2"/>
                </a:solidFill>
                <a:latin typeface="+mj-lt" pitchFamily="34" charset="0"/>
                <a:ea typeface="+mj-lt" pitchFamily="34" charset="-122"/>
                <a:cs typeface="+mj-lt" pitchFamily="34" charset="-120"/>
              </a:rPr>
              <a:t>Git repository</a:t>
            </a:r>
            <a:endParaRPr lang="en-US" sz="1450" dirty="0"/>
          </a:p>
        </p:txBody>
      </p:sp>
      <p:sp>
        <p:nvSpPr>
          <p:cNvPr id="9" name="Text 6"/>
          <p:cNvSpPr txBox="1"/>
          <p:nvPr/>
        </p:nvSpPr>
        <p:spPr>
          <a:xfrm>
            <a:off x="731520" y="2148840"/>
            <a:ext cx="3154680" cy="804672"/>
          </a:xfrm>
          <a:prstGeom prst="rect">
            <a:avLst/>
          </a:prstGeom>
          <a:noFill/>
          <a:ln/>
        </p:spPr>
        <p:txBody>
          <a:bodyPr wrap="square" lIns="0" tIns="0" rIns="0" bIns="0" rtlCol="0" anchor="t"/>
          <a:lstStyle/>
          <a:p>
            <a:pPr indent="0" marL="0">
              <a:buNone/>
            </a:pPr>
            <a:r>
              <a:rPr lang="en-US" sz="1200" dirty="0">
                <a:solidFill>
                  <a:schemeClr val="tx1"/>
                </a:solidFill>
              </a:rPr>
              <a:t>Clone at an exact commit → walk the files (sorted, SHA-256 each) → detect each artifact by path and JSON shape</a:t>
            </a:r>
            <a:endParaRPr lang="en-US" sz="1200" dirty="0"/>
          </a:p>
        </p:txBody>
      </p:sp>
      <p:sp>
        <p:nvSpPr>
          <p:cNvPr id="10" name="Shape 7"/>
          <p:cNvSpPr/>
          <p:nvPr/>
        </p:nvSpPr>
        <p:spPr>
          <a:xfrm>
            <a:off x="2304288" y="3017520"/>
            <a:ext cx="91" cy="228600"/>
          </a:xfrm>
          <a:prstGeom prst="line">
            <a:avLst/>
          </a:prstGeom>
          <a:noFill/>
          <a:ln w="22225">
            <a:solidFill>
              <a:srgbClr val="5D6B82"/>
            </a:solidFill>
            <a:prstDash val="solid"/>
            <a:tailEnd type="triangle"/>
          </a:ln>
        </p:spPr>
      </p:sp>
      <p:sp>
        <p:nvSpPr>
          <p:cNvPr id="11" name="Shape 8"/>
          <p:cNvSpPr/>
          <p:nvPr/>
        </p:nvSpPr>
        <p:spPr>
          <a:xfrm>
            <a:off x="4338828" y="1481328"/>
            <a:ext cx="3511296" cy="1508760"/>
          </a:xfrm>
          <a:prstGeom prst="roundRect">
            <a:avLst>
              <a:gd name="adj" fmla="val 7273"/>
            </a:avLst>
          </a:prstGeom>
          <a:solidFill>
            <a:schemeClr val="accent2">
              <a:alpha val="9000"/>
            </a:schemeClr>
          </a:solidFill>
          <a:ln/>
        </p:spPr>
      </p:sp>
      <p:sp>
        <p:nvSpPr>
          <p:cNvPr id="12" name="Shape 9"/>
          <p:cNvSpPr/>
          <p:nvPr/>
        </p:nvSpPr>
        <p:spPr>
          <a:xfrm>
            <a:off x="4521708" y="1645920"/>
            <a:ext cx="420624" cy="420624"/>
          </a:xfrm>
          <a:prstGeom prst="ellipse">
            <a:avLst/>
          </a:prstGeom>
          <a:solidFill>
            <a:schemeClr val="accent2"/>
          </a:solidFill>
          <a:ln/>
        </p:spPr>
      </p:sp>
      <p:pic>
        <p:nvPicPr>
          <p:cNvPr id="13" name="Image 1" descr="preencoded.png">    </p:cNvPr>
          <p:cNvPicPr>
            <a:picLocks noChangeAspect="1"/>
          </p:cNvPicPr>
          <p:nvPr/>
        </p:nvPicPr>
        <p:blipFill>
          <a:blip r:embed="rId2"/>
          <a:stretch>
            <a:fillRect/>
          </a:stretch>
        </p:blipFill>
        <p:spPr>
          <a:xfrm>
            <a:off x="4626864" y="1751076"/>
            <a:ext cx="210312" cy="210312"/>
          </a:xfrm>
          <a:prstGeom prst="rect">
            <a:avLst/>
          </a:prstGeom>
        </p:spPr>
      </p:pic>
      <p:sp>
        <p:nvSpPr>
          <p:cNvPr id="14" name="Text 10"/>
          <p:cNvSpPr txBox="1"/>
          <p:nvPr/>
        </p:nvSpPr>
        <p:spPr>
          <a:xfrm>
            <a:off x="5070348" y="1627632"/>
            <a:ext cx="2651760" cy="457200"/>
          </a:xfrm>
          <a:prstGeom prst="rect">
            <a:avLst/>
          </a:prstGeom>
          <a:noFill/>
          <a:ln/>
        </p:spPr>
        <p:txBody>
          <a:bodyPr wrap="square" lIns="0" tIns="0" rIns="0" bIns="0" rtlCol="0" anchor="ctr"/>
          <a:lstStyle/>
          <a:p>
            <a:pPr indent="0" marL="0">
              <a:buNone/>
            </a:pPr>
            <a:r>
              <a:rPr lang="en-US" sz="1450" dirty="0">
                <a:solidFill>
                  <a:schemeClr val="tx2"/>
                </a:solidFill>
                <a:latin typeface="+mj-lt" pitchFamily="34" charset="0"/>
                <a:ea typeface="+mj-lt" pitchFamily="34" charset="-122"/>
                <a:cs typeface="+mj-lt" pitchFamily="34" charset="-120"/>
              </a:rPr>
              <a:t>Live workspace</a:t>
            </a:r>
            <a:endParaRPr lang="en-US" sz="1450" dirty="0"/>
          </a:p>
        </p:txBody>
      </p:sp>
      <p:sp>
        <p:nvSpPr>
          <p:cNvPr id="15" name="Text 11"/>
          <p:cNvSpPr txBox="1"/>
          <p:nvPr/>
        </p:nvSpPr>
        <p:spPr>
          <a:xfrm>
            <a:off x="4521708" y="2148840"/>
            <a:ext cx="3154680" cy="804672"/>
          </a:xfrm>
          <a:prstGeom prst="rect">
            <a:avLst/>
          </a:prstGeom>
          <a:noFill/>
          <a:ln/>
        </p:spPr>
        <p:txBody>
          <a:bodyPr wrap="square" lIns="0" tIns="0" rIns="0" bIns="0" rtlCol="0" anchor="t"/>
          <a:lstStyle/>
          <a:p>
            <a:pPr indent="0" marL="0">
              <a:buNone/>
            </a:pPr>
            <a:r>
              <a:rPr lang="en-US" sz="1200" dirty="0">
                <a:solidFill>
                  <a:schemeClr val="tx1"/>
                </a:solidFill>
              </a:rPr>
              <a:t>Synapse Artifacts API: 6 GET routes (pipelines, datasets, linked services, notebooks, SQL scripts, Spark jobs), paged</a:t>
            </a:r>
            <a:endParaRPr lang="en-US" sz="1200" dirty="0"/>
          </a:p>
        </p:txBody>
      </p:sp>
      <p:sp>
        <p:nvSpPr>
          <p:cNvPr id="16" name="Shape 12"/>
          <p:cNvSpPr/>
          <p:nvPr/>
        </p:nvSpPr>
        <p:spPr>
          <a:xfrm>
            <a:off x="6094476" y="3017520"/>
            <a:ext cx="91" cy="228600"/>
          </a:xfrm>
          <a:prstGeom prst="line">
            <a:avLst/>
          </a:prstGeom>
          <a:noFill/>
          <a:ln w="22225">
            <a:solidFill>
              <a:srgbClr val="5D6B82"/>
            </a:solidFill>
            <a:prstDash val="solid"/>
            <a:tailEnd type="triangle"/>
          </a:ln>
        </p:spPr>
      </p:sp>
      <p:sp>
        <p:nvSpPr>
          <p:cNvPr id="17" name="Shape 13"/>
          <p:cNvSpPr/>
          <p:nvPr/>
        </p:nvSpPr>
        <p:spPr>
          <a:xfrm>
            <a:off x="8129016" y="1481328"/>
            <a:ext cx="3511296" cy="1508760"/>
          </a:xfrm>
          <a:prstGeom prst="roundRect">
            <a:avLst>
              <a:gd name="adj" fmla="val 7273"/>
            </a:avLst>
          </a:prstGeom>
          <a:solidFill>
            <a:schemeClr val="accent2">
              <a:alpha val="9000"/>
            </a:schemeClr>
          </a:solidFill>
          <a:ln/>
        </p:spPr>
      </p:sp>
      <p:sp>
        <p:nvSpPr>
          <p:cNvPr id="18" name="Shape 14"/>
          <p:cNvSpPr/>
          <p:nvPr/>
        </p:nvSpPr>
        <p:spPr>
          <a:xfrm>
            <a:off x="8311896" y="1645920"/>
            <a:ext cx="420624" cy="420624"/>
          </a:xfrm>
          <a:prstGeom prst="ellipse">
            <a:avLst/>
          </a:prstGeom>
          <a:solidFill>
            <a:schemeClr val="accent2"/>
          </a:solidFill>
          <a:ln/>
        </p:spPr>
      </p:sp>
      <p:pic>
        <p:nvPicPr>
          <p:cNvPr id="19" name="Image 2" descr="preencoded.png">    </p:cNvPr>
          <p:cNvPicPr>
            <a:picLocks noChangeAspect="1"/>
          </p:cNvPicPr>
          <p:nvPr/>
        </p:nvPicPr>
        <p:blipFill>
          <a:blip r:embed="rId3"/>
          <a:stretch>
            <a:fillRect/>
          </a:stretch>
        </p:blipFill>
        <p:spPr>
          <a:xfrm>
            <a:off x="8417052" y="1751076"/>
            <a:ext cx="210312" cy="210312"/>
          </a:xfrm>
          <a:prstGeom prst="rect">
            <a:avLst/>
          </a:prstGeom>
        </p:spPr>
      </p:pic>
      <p:sp>
        <p:nvSpPr>
          <p:cNvPr id="20" name="Text 15"/>
          <p:cNvSpPr txBox="1"/>
          <p:nvPr/>
        </p:nvSpPr>
        <p:spPr>
          <a:xfrm>
            <a:off x="8860536" y="1627632"/>
            <a:ext cx="2651760" cy="457200"/>
          </a:xfrm>
          <a:prstGeom prst="rect">
            <a:avLst/>
          </a:prstGeom>
          <a:noFill/>
          <a:ln/>
        </p:spPr>
        <p:txBody>
          <a:bodyPr wrap="square" lIns="0" tIns="0" rIns="0" bIns="0" rtlCol="0" anchor="ctr"/>
          <a:lstStyle/>
          <a:p>
            <a:pPr indent="0" marL="0">
              <a:buNone/>
            </a:pPr>
            <a:r>
              <a:rPr lang="en-US" sz="1450" dirty="0">
                <a:solidFill>
                  <a:schemeClr val="tx2"/>
                </a:solidFill>
                <a:latin typeface="+mj-lt" pitchFamily="34" charset="0"/>
                <a:ea typeface="+mj-lt" pitchFamily="34" charset="-122"/>
                <a:cs typeface="+mj-lt" pitchFamily="34" charset="-120"/>
              </a:rPr>
              <a:t>Dedicated SQL pool</a:t>
            </a:r>
            <a:endParaRPr lang="en-US" sz="1450" dirty="0"/>
          </a:p>
        </p:txBody>
      </p:sp>
      <p:sp>
        <p:nvSpPr>
          <p:cNvPr id="21" name="Text 16"/>
          <p:cNvSpPr txBox="1"/>
          <p:nvPr/>
        </p:nvSpPr>
        <p:spPr>
          <a:xfrm>
            <a:off x="8311896" y="2148840"/>
            <a:ext cx="3154680" cy="804672"/>
          </a:xfrm>
          <a:prstGeom prst="rect">
            <a:avLst/>
          </a:prstGeom>
          <a:noFill/>
          <a:ln/>
        </p:spPr>
        <p:txBody>
          <a:bodyPr wrap="square" lIns="0" tIns="0" rIns="0" bIns="0" rtlCol="0" anchor="t"/>
          <a:lstStyle/>
          <a:p>
            <a:pPr indent="0" marL="0">
              <a:buNone/>
            </a:pPr>
            <a:r>
              <a:rPr lang="en-US" sz="1200" dirty="0">
                <a:solidFill>
                  <a:schemeClr val="tx1"/>
                </a:solidFill>
              </a:rPr>
              <a:t>16 registered SELECT queries: tables, columns, distribution, indexes, modules, functions, security, masks</a:t>
            </a:r>
            <a:endParaRPr lang="en-US" sz="1200" dirty="0"/>
          </a:p>
        </p:txBody>
      </p:sp>
      <p:sp>
        <p:nvSpPr>
          <p:cNvPr id="22" name="Shape 17"/>
          <p:cNvSpPr/>
          <p:nvPr/>
        </p:nvSpPr>
        <p:spPr>
          <a:xfrm>
            <a:off x="9884664" y="3017520"/>
            <a:ext cx="91" cy="228600"/>
          </a:xfrm>
          <a:prstGeom prst="line">
            <a:avLst/>
          </a:prstGeom>
          <a:noFill/>
          <a:ln w="22225">
            <a:solidFill>
              <a:srgbClr val="5D6B82"/>
            </a:solidFill>
            <a:prstDash val="solid"/>
            <a:tailEnd type="triangle"/>
          </a:ln>
        </p:spPr>
      </p:sp>
      <p:sp>
        <p:nvSpPr>
          <p:cNvPr id="23" name="Shape 18"/>
          <p:cNvSpPr/>
          <p:nvPr/>
        </p:nvSpPr>
        <p:spPr>
          <a:xfrm>
            <a:off x="548640" y="3273552"/>
            <a:ext cx="11094415" cy="640080"/>
          </a:xfrm>
          <a:prstGeom prst="roundRect">
            <a:avLst>
              <a:gd name="adj" fmla="val 17143"/>
            </a:avLst>
          </a:prstGeom>
          <a:solidFill>
            <a:schemeClr val="bg2"/>
          </a:solidFill>
          <a:ln/>
        </p:spPr>
      </p:sp>
      <p:sp>
        <p:nvSpPr>
          <p:cNvPr id="24" name="Text 19"/>
          <p:cNvSpPr txBox="1"/>
          <p:nvPr/>
        </p:nvSpPr>
        <p:spPr>
          <a:xfrm>
            <a:off x="777240" y="3273552"/>
            <a:ext cx="10637215" cy="640080"/>
          </a:xfrm>
          <a:prstGeom prst="rect">
            <a:avLst/>
          </a:prstGeom>
          <a:noFill/>
          <a:ln/>
        </p:spPr>
        <p:txBody>
          <a:bodyPr wrap="square" lIns="0" tIns="0" rIns="0" bIns="0" rtlCol="0" anchor="ctr"/>
          <a:lstStyle/>
          <a:p>
            <a:pPr indent="0" marL="0">
              <a:buNone/>
            </a:pPr>
            <a:r>
              <a:rPr lang="en-US" sz="1300" b="1" dirty="0">
                <a:solidFill>
                  <a:schemeClr val="tx2"/>
                </a:solidFill>
              </a:rPr>
              <a:t>6 extractors:  </a:t>
            </a:r>
            <a:pPr indent="0" marL="0">
              <a:buNone/>
            </a:pPr>
            <a:r>
              <a:rPr lang="en-US" sz="1300" dirty="0">
                <a:solidFill>
                  <a:schemeClr val="tx1"/>
                </a:solidFill>
              </a:rPr>
              <a:t>parse each artifact the same way, whether it came from Git or the live API: pipeline, dataset, linked service, notebook, Spark job, SQL script</a:t>
            </a:r>
            <a:endParaRPr lang="en-US" sz="1300" dirty="0"/>
          </a:p>
        </p:txBody>
      </p:sp>
      <p:sp>
        <p:nvSpPr>
          <p:cNvPr id="25" name="Shape 20"/>
          <p:cNvSpPr/>
          <p:nvPr/>
        </p:nvSpPr>
        <p:spPr>
          <a:xfrm>
            <a:off x="6099048" y="3913632"/>
            <a:ext cx="91" cy="173736"/>
          </a:xfrm>
          <a:prstGeom prst="line">
            <a:avLst/>
          </a:prstGeom>
          <a:noFill/>
          <a:ln w="22225">
            <a:solidFill>
              <a:srgbClr val="5D6B82"/>
            </a:solidFill>
            <a:prstDash val="solid"/>
            <a:tailEnd type="triangle"/>
          </a:ln>
        </p:spPr>
      </p:sp>
      <p:sp>
        <p:nvSpPr>
          <p:cNvPr id="26" name="Shape 21"/>
          <p:cNvSpPr/>
          <p:nvPr/>
        </p:nvSpPr>
        <p:spPr>
          <a:xfrm>
            <a:off x="548640" y="4096512"/>
            <a:ext cx="11094415" cy="640080"/>
          </a:xfrm>
          <a:prstGeom prst="roundRect">
            <a:avLst>
              <a:gd name="adj" fmla="val 17143"/>
            </a:avLst>
          </a:prstGeom>
          <a:solidFill>
            <a:schemeClr val="bg2"/>
          </a:solidFill>
          <a:ln/>
        </p:spPr>
      </p:sp>
      <p:sp>
        <p:nvSpPr>
          <p:cNvPr id="27" name="Text 22"/>
          <p:cNvSpPr txBox="1"/>
          <p:nvPr/>
        </p:nvSpPr>
        <p:spPr>
          <a:xfrm>
            <a:off x="777240" y="4096512"/>
            <a:ext cx="10637215" cy="640080"/>
          </a:xfrm>
          <a:prstGeom prst="rect">
            <a:avLst/>
          </a:prstGeom>
          <a:noFill/>
          <a:ln/>
        </p:spPr>
        <p:txBody>
          <a:bodyPr wrap="square" lIns="0" tIns="0" rIns="0" bIns="0" rtlCol="0" anchor="ctr"/>
          <a:lstStyle/>
          <a:p>
            <a:pPr indent="0" marL="0">
              <a:buNone/>
            </a:pPr>
            <a:r>
              <a:rPr lang="en-US" sz="1300" b="1" dirty="0">
                <a:solidFill>
                  <a:schemeClr val="tx2"/>
                </a:solidFill>
              </a:rPr>
              <a:t>Identity resolution and drift:  </a:t>
            </a:r>
            <a:pPr indent="0" marL="0">
              <a:buNone/>
            </a:pPr>
            <a:r>
              <a:rPr lang="en-US" sz="1300" dirty="0">
                <a:solidFill>
                  <a:schemeClr val="tx1"/>
                </a:solidFill>
              </a:rPr>
              <a:t>merge a Git copy and a live copy only when the workspace's Git settings prove they are the same; compare them for drift</a:t>
            </a:r>
            <a:endParaRPr lang="en-US" sz="1300" dirty="0"/>
          </a:p>
        </p:txBody>
      </p:sp>
      <p:sp>
        <p:nvSpPr>
          <p:cNvPr id="28" name="Shape 23"/>
          <p:cNvSpPr/>
          <p:nvPr/>
        </p:nvSpPr>
        <p:spPr>
          <a:xfrm>
            <a:off x="6099048" y="4736592"/>
            <a:ext cx="91" cy="173736"/>
          </a:xfrm>
          <a:prstGeom prst="line">
            <a:avLst/>
          </a:prstGeom>
          <a:noFill/>
          <a:ln w="22225">
            <a:solidFill>
              <a:srgbClr val="5D6B82"/>
            </a:solidFill>
            <a:prstDash val="solid"/>
            <a:tailEnd type="triangle"/>
          </a:ln>
        </p:spPr>
      </p:sp>
      <p:sp>
        <p:nvSpPr>
          <p:cNvPr id="29" name="Shape 24"/>
          <p:cNvSpPr/>
          <p:nvPr/>
        </p:nvSpPr>
        <p:spPr>
          <a:xfrm>
            <a:off x="548640" y="4919472"/>
            <a:ext cx="11094415" cy="640080"/>
          </a:xfrm>
          <a:prstGeom prst="roundRect">
            <a:avLst>
              <a:gd name="adj" fmla="val 17143"/>
            </a:avLst>
          </a:prstGeom>
          <a:solidFill>
            <a:schemeClr val="accent1">
              <a:alpha val="12000"/>
            </a:schemeClr>
          </a:solidFill>
          <a:ln/>
        </p:spPr>
      </p:sp>
      <p:sp>
        <p:nvSpPr>
          <p:cNvPr id="30" name="Text 25"/>
          <p:cNvSpPr txBox="1"/>
          <p:nvPr/>
        </p:nvSpPr>
        <p:spPr>
          <a:xfrm>
            <a:off x="777240" y="4919472"/>
            <a:ext cx="10637215" cy="640080"/>
          </a:xfrm>
          <a:prstGeom prst="rect">
            <a:avLst/>
          </a:prstGeom>
          <a:noFill/>
          <a:ln/>
        </p:spPr>
        <p:txBody>
          <a:bodyPr wrap="square" lIns="0" tIns="0" rIns="0" bIns="0" rtlCol="0" anchor="ctr"/>
          <a:lstStyle/>
          <a:p>
            <a:pPr indent="0" marL="0">
              <a:buNone/>
            </a:pPr>
            <a:r>
              <a:rPr lang="en-US" sz="1300" b="1" dirty="0">
                <a:solidFill>
                  <a:schemeClr val="tx2"/>
                </a:solidFill>
              </a:rPr>
              <a:t>Unified Discovery Records:  </a:t>
            </a:r>
            <a:pPr indent="0" marL="0">
              <a:buNone/>
            </a:pPr>
            <a:r>
              <a:rPr lang="en-US" sz="1300" dirty="0">
                <a:solidFill>
                  <a:schemeClr val="tx1"/>
                </a:solidFill>
              </a:rPr>
              <a:t>one record per object, with provenance on every facet → Fabric mapping, dependency waves, the inventory</a:t>
            </a:r>
            <a:endParaRPr lang="en-US" sz="1300" dirty="0"/>
          </a:p>
        </p:txBody>
      </p:sp>
      <p:sp>
        <p:nvSpPr>
          <p:cNvPr id="31" name="Shape 26"/>
          <p:cNvSpPr/>
          <p:nvPr/>
        </p:nvSpPr>
        <p:spPr>
          <a:xfrm>
            <a:off x="548640" y="5779008"/>
            <a:ext cx="11094415" cy="411480"/>
          </a:xfrm>
          <a:prstGeom prst="roundRect">
            <a:avLst>
              <a:gd name="adj" fmla="val 26667"/>
            </a:avLst>
          </a:prstGeom>
          <a:solidFill>
            <a:schemeClr val="accent1">
              <a:alpha val="13000"/>
            </a:schemeClr>
          </a:solidFill>
          <a:ln/>
        </p:spPr>
      </p:sp>
      <p:sp>
        <p:nvSpPr>
          <p:cNvPr id="32" name="Text 27"/>
          <p:cNvSpPr txBox="1"/>
          <p:nvPr/>
        </p:nvSpPr>
        <p:spPr>
          <a:xfrm>
            <a:off x="777240" y="5779008"/>
            <a:ext cx="10637215" cy="411480"/>
          </a:xfrm>
          <a:prstGeom prst="rect">
            <a:avLst/>
          </a:prstGeom>
          <a:noFill/>
          <a:ln/>
        </p:spPr>
        <p:txBody>
          <a:bodyPr wrap="square" lIns="0" tIns="0" rIns="0" bIns="0" rtlCol="0" anchor="ctr"/>
          <a:lstStyle/>
          <a:p>
            <a:pPr indent="0" marL="0">
              <a:buNone/>
            </a:pPr>
            <a:r>
              <a:rPr lang="en-US" sz="1250" b="1" dirty="0">
                <a:solidFill>
                  <a:schemeClr val="tx2"/>
                </a:solidFill>
              </a:rPr>
              <a:t>Guarantees:  </a:t>
            </a:r>
            <a:pPr indent="0" marL="0">
              <a:buNone/>
            </a:pPr>
            <a:r>
              <a:rPr lang="en-US" sz="1250" dirty="0">
                <a:solidFill>
                  <a:schemeClr val="tx1"/>
                </a:solidFill>
              </a:rPr>
              <a:t>deterministic (same commit, same output), read-only, no LLM, and no field that could carry a secret.</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27</a:t>
            </a:fld>
            <a:endParaRPr lang="en-US"/>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04 · THE SIX STEPS</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Discover: what each extractor pulls out</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extractors/</a:t>
            </a:r>
            <a:endParaRPr lang="en-US" sz="1100" dirty="0"/>
          </a:p>
        </p:txBody>
      </p:sp>
      <p:sp>
        <p:nvSpPr>
          <p:cNvPr id="5" name="Shape 3"/>
          <p:cNvSpPr/>
          <p:nvPr/>
        </p:nvSpPr>
        <p:spPr>
          <a:xfrm>
            <a:off x="548640" y="1481328"/>
            <a:ext cx="3515258" cy="1810512"/>
          </a:xfrm>
          <a:prstGeom prst="roundRect">
            <a:avLst>
              <a:gd name="adj" fmla="val 6061"/>
            </a:avLst>
          </a:prstGeom>
          <a:solidFill>
            <a:schemeClr val="bg2"/>
          </a:solidFill>
          <a:ln/>
        </p:spPr>
      </p:sp>
      <p:sp>
        <p:nvSpPr>
          <p:cNvPr id="6" name="Shape 4"/>
          <p:cNvSpPr/>
          <p:nvPr/>
        </p:nvSpPr>
        <p:spPr>
          <a:xfrm>
            <a:off x="749808" y="1664208"/>
            <a:ext cx="457200" cy="45720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864108" y="1778508"/>
            <a:ext cx="228600" cy="228600"/>
          </a:xfrm>
          <a:prstGeom prst="rect">
            <a:avLst/>
          </a:prstGeom>
        </p:spPr>
      </p:pic>
      <p:sp>
        <p:nvSpPr>
          <p:cNvPr id="8" name="Text 5"/>
          <p:cNvSpPr txBox="1"/>
          <p:nvPr/>
        </p:nvSpPr>
        <p:spPr>
          <a:xfrm>
            <a:off x="1335024" y="1636776"/>
            <a:ext cx="2555138" cy="512064"/>
          </a:xfrm>
          <a:prstGeom prst="rect">
            <a:avLst/>
          </a:prstGeom>
          <a:noFill/>
          <a:ln/>
        </p:spPr>
        <p:txBody>
          <a:bodyPr wrap="square" lIns="0" tIns="0" rIns="0" bIns="0" rtlCol="0" anchor="ctr"/>
          <a:lstStyle/>
          <a:p>
            <a:pPr indent="0" marL="0">
              <a:buNone/>
            </a:pPr>
            <a:r>
              <a:rPr lang="en-US" sz="1550" dirty="0">
                <a:solidFill>
                  <a:schemeClr val="tx2"/>
                </a:solidFill>
                <a:latin typeface="+mj-lt" pitchFamily="34" charset="0"/>
                <a:ea typeface="+mj-lt" pitchFamily="34" charset="-122"/>
                <a:cs typeface="+mj-lt" pitchFamily="34" charset="-120"/>
              </a:rPr>
              <a:t>Pipelines</a:t>
            </a:r>
            <a:endParaRPr lang="en-US" sz="1550" dirty="0"/>
          </a:p>
        </p:txBody>
      </p:sp>
      <p:sp>
        <p:nvSpPr>
          <p:cNvPr id="9" name="Text 6"/>
          <p:cNvSpPr txBox="1"/>
          <p:nvPr/>
        </p:nvSpPr>
        <p:spPr>
          <a:xfrm>
            <a:off x="749808" y="2231136"/>
            <a:ext cx="3131210" cy="969264"/>
          </a:xfrm>
          <a:prstGeom prst="rect">
            <a:avLst/>
          </a:prstGeom>
          <a:noFill/>
          <a:ln/>
        </p:spPr>
        <p:txBody>
          <a:bodyPr wrap="square" lIns="0" tIns="0" rIns="0" bIns="0" rtlCol="0" anchor="t"/>
          <a:lstStyle/>
          <a:p>
            <a:pPr indent="0" marL="0">
              <a:buNone/>
            </a:pPr>
            <a:r>
              <a:rPr lang="en-US" sz="1250" dirty="0">
                <a:solidFill>
                  <a:schemeClr val="tx1"/>
                </a:solidFill>
              </a:rPr>
              <a:t>24 activity types recognised; containers kept as a tree; dependsOn, policies, Copy settings, embedded SQL, parameters, variables.</a:t>
            </a:r>
            <a:endParaRPr lang="en-US" sz="1250" dirty="0"/>
          </a:p>
        </p:txBody>
      </p:sp>
      <p:sp>
        <p:nvSpPr>
          <p:cNvPr id="10" name="Shape 7"/>
          <p:cNvSpPr/>
          <p:nvPr/>
        </p:nvSpPr>
        <p:spPr>
          <a:xfrm>
            <a:off x="4338218" y="1481328"/>
            <a:ext cx="3515258" cy="1810512"/>
          </a:xfrm>
          <a:prstGeom prst="roundRect">
            <a:avLst>
              <a:gd name="adj" fmla="val 6061"/>
            </a:avLst>
          </a:prstGeom>
          <a:solidFill>
            <a:schemeClr val="bg2"/>
          </a:solidFill>
          <a:ln/>
        </p:spPr>
      </p:sp>
      <p:sp>
        <p:nvSpPr>
          <p:cNvPr id="11" name="Shape 8"/>
          <p:cNvSpPr/>
          <p:nvPr/>
        </p:nvSpPr>
        <p:spPr>
          <a:xfrm>
            <a:off x="4539386" y="1664208"/>
            <a:ext cx="457200" cy="457200"/>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4653686" y="1778508"/>
            <a:ext cx="228600" cy="228600"/>
          </a:xfrm>
          <a:prstGeom prst="rect">
            <a:avLst/>
          </a:prstGeom>
        </p:spPr>
      </p:pic>
      <p:sp>
        <p:nvSpPr>
          <p:cNvPr id="13" name="Text 9"/>
          <p:cNvSpPr txBox="1"/>
          <p:nvPr/>
        </p:nvSpPr>
        <p:spPr>
          <a:xfrm>
            <a:off x="5124602" y="1636776"/>
            <a:ext cx="2555138" cy="512064"/>
          </a:xfrm>
          <a:prstGeom prst="rect">
            <a:avLst/>
          </a:prstGeom>
          <a:noFill/>
          <a:ln/>
        </p:spPr>
        <p:txBody>
          <a:bodyPr wrap="square" lIns="0" tIns="0" rIns="0" bIns="0" rtlCol="0" anchor="ctr"/>
          <a:lstStyle/>
          <a:p>
            <a:pPr indent="0" marL="0">
              <a:buNone/>
            </a:pPr>
            <a:r>
              <a:rPr lang="en-US" sz="1550" dirty="0">
                <a:solidFill>
                  <a:schemeClr val="tx2"/>
                </a:solidFill>
                <a:latin typeface="+mj-lt" pitchFamily="34" charset="0"/>
                <a:ea typeface="+mj-lt" pitchFamily="34" charset="-122"/>
                <a:cs typeface="+mj-lt" pitchFamily="34" charset="-120"/>
              </a:rPr>
              <a:t>Notebooks</a:t>
            </a:r>
            <a:endParaRPr lang="en-US" sz="1550" dirty="0"/>
          </a:p>
        </p:txBody>
      </p:sp>
      <p:sp>
        <p:nvSpPr>
          <p:cNvPr id="14" name="Text 10"/>
          <p:cNvSpPr txBox="1"/>
          <p:nvPr/>
        </p:nvSpPr>
        <p:spPr>
          <a:xfrm>
            <a:off x="4539386" y="2231136"/>
            <a:ext cx="3131210" cy="969264"/>
          </a:xfrm>
          <a:prstGeom prst="rect">
            <a:avLst/>
          </a:prstGeom>
          <a:noFill/>
          <a:ln/>
        </p:spPr>
        <p:txBody>
          <a:bodyPr wrap="square" lIns="0" tIns="0" rIns="0" bIns="0" rtlCol="0" anchor="t"/>
          <a:lstStyle/>
          <a:p>
            <a:pPr indent="0" marL="0">
              <a:buNone/>
            </a:pPr>
            <a:r>
              <a:rPr lang="en-US" sz="1250" dirty="0">
                <a:solidFill>
                  <a:schemeClr val="tx1"/>
                </a:solidFill>
              </a:rPr>
              <a:t>Language from the notebook's own metadata; cells verbatim; 23 code rules (mssparkutils, synapsesql, TokenLibrary…), 25 magics, packages.</a:t>
            </a:r>
            <a:endParaRPr lang="en-US" sz="1250" dirty="0"/>
          </a:p>
        </p:txBody>
      </p:sp>
      <p:sp>
        <p:nvSpPr>
          <p:cNvPr id="15" name="Shape 11"/>
          <p:cNvSpPr/>
          <p:nvPr/>
        </p:nvSpPr>
        <p:spPr>
          <a:xfrm>
            <a:off x="8127797" y="1481328"/>
            <a:ext cx="3515258" cy="1810512"/>
          </a:xfrm>
          <a:prstGeom prst="roundRect">
            <a:avLst>
              <a:gd name="adj" fmla="val 6061"/>
            </a:avLst>
          </a:prstGeom>
          <a:solidFill>
            <a:schemeClr val="bg2"/>
          </a:solidFill>
          <a:ln/>
        </p:spPr>
      </p:sp>
      <p:sp>
        <p:nvSpPr>
          <p:cNvPr id="16" name="Shape 12"/>
          <p:cNvSpPr/>
          <p:nvPr/>
        </p:nvSpPr>
        <p:spPr>
          <a:xfrm>
            <a:off x="8328965" y="1664208"/>
            <a:ext cx="457200" cy="457200"/>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8443265" y="1778508"/>
            <a:ext cx="228600" cy="228600"/>
          </a:xfrm>
          <a:prstGeom prst="rect">
            <a:avLst/>
          </a:prstGeom>
        </p:spPr>
      </p:pic>
      <p:sp>
        <p:nvSpPr>
          <p:cNvPr id="18" name="Text 13"/>
          <p:cNvSpPr txBox="1"/>
          <p:nvPr/>
        </p:nvSpPr>
        <p:spPr>
          <a:xfrm>
            <a:off x="8914181" y="1636776"/>
            <a:ext cx="2555138" cy="512064"/>
          </a:xfrm>
          <a:prstGeom prst="rect">
            <a:avLst/>
          </a:prstGeom>
          <a:noFill/>
          <a:ln/>
        </p:spPr>
        <p:txBody>
          <a:bodyPr wrap="square" lIns="0" tIns="0" rIns="0" bIns="0" rtlCol="0" anchor="ctr"/>
          <a:lstStyle/>
          <a:p>
            <a:pPr indent="0" marL="0">
              <a:buNone/>
            </a:pPr>
            <a:r>
              <a:rPr lang="en-US" sz="1550" dirty="0">
                <a:solidFill>
                  <a:schemeClr val="tx2"/>
                </a:solidFill>
                <a:latin typeface="+mj-lt" pitchFamily="34" charset="0"/>
                <a:ea typeface="+mj-lt" pitchFamily="34" charset="-122"/>
                <a:cs typeface="+mj-lt" pitchFamily="34" charset="-120"/>
              </a:rPr>
              <a:t>Datasets</a:t>
            </a:r>
            <a:endParaRPr lang="en-US" sz="1550" dirty="0"/>
          </a:p>
        </p:txBody>
      </p:sp>
      <p:sp>
        <p:nvSpPr>
          <p:cNvPr id="19" name="Text 14"/>
          <p:cNvSpPr txBox="1"/>
          <p:nvPr/>
        </p:nvSpPr>
        <p:spPr>
          <a:xfrm>
            <a:off x="8328965" y="2231136"/>
            <a:ext cx="3131210" cy="969264"/>
          </a:xfrm>
          <a:prstGeom prst="rect">
            <a:avLst/>
          </a:prstGeom>
          <a:noFill/>
          <a:ln/>
        </p:spPr>
        <p:txBody>
          <a:bodyPr wrap="square" lIns="0" tIns="0" rIns="0" bIns="0" rtlCol="0" anchor="t"/>
          <a:lstStyle/>
          <a:p>
            <a:pPr indent="0" marL="0">
              <a:buNone/>
            </a:pPr>
            <a:r>
              <a:rPr lang="en-US" sz="1250" dirty="0">
                <a:solidFill>
                  <a:schemeClr val="tx1"/>
                </a:solidFill>
              </a:rPr>
              <a:t>13 types (files and SQL tables): location, declared schema, format settings, parameters, linked service.</a:t>
            </a:r>
            <a:endParaRPr lang="en-US" sz="1250" dirty="0"/>
          </a:p>
        </p:txBody>
      </p:sp>
      <p:sp>
        <p:nvSpPr>
          <p:cNvPr id="20" name="Shape 15"/>
          <p:cNvSpPr/>
          <p:nvPr/>
        </p:nvSpPr>
        <p:spPr>
          <a:xfrm>
            <a:off x="548640" y="3493008"/>
            <a:ext cx="3515258" cy="1810512"/>
          </a:xfrm>
          <a:prstGeom prst="roundRect">
            <a:avLst>
              <a:gd name="adj" fmla="val 6061"/>
            </a:avLst>
          </a:prstGeom>
          <a:solidFill>
            <a:schemeClr val="bg2"/>
          </a:solidFill>
          <a:ln/>
        </p:spPr>
      </p:sp>
      <p:sp>
        <p:nvSpPr>
          <p:cNvPr id="21" name="Shape 16"/>
          <p:cNvSpPr/>
          <p:nvPr/>
        </p:nvSpPr>
        <p:spPr>
          <a:xfrm>
            <a:off x="749808" y="3675888"/>
            <a:ext cx="457200" cy="457200"/>
          </a:xfrm>
          <a:prstGeom prst="ellipse">
            <a:avLst/>
          </a:prstGeom>
          <a:solidFill>
            <a:schemeClr val="accent1"/>
          </a:solidFill>
          <a:ln/>
        </p:spPr>
      </p:sp>
      <p:pic>
        <p:nvPicPr>
          <p:cNvPr id="22" name="Image 3" descr="preencoded.png">    </p:cNvPr>
          <p:cNvPicPr>
            <a:picLocks noChangeAspect="1"/>
          </p:cNvPicPr>
          <p:nvPr/>
        </p:nvPicPr>
        <p:blipFill>
          <a:blip r:embed="rId4"/>
          <a:stretch>
            <a:fillRect/>
          </a:stretch>
        </p:blipFill>
        <p:spPr>
          <a:xfrm>
            <a:off x="864108" y="3790188"/>
            <a:ext cx="228600" cy="228600"/>
          </a:xfrm>
          <a:prstGeom prst="rect">
            <a:avLst/>
          </a:prstGeom>
        </p:spPr>
      </p:pic>
      <p:sp>
        <p:nvSpPr>
          <p:cNvPr id="23" name="Text 17"/>
          <p:cNvSpPr txBox="1"/>
          <p:nvPr/>
        </p:nvSpPr>
        <p:spPr>
          <a:xfrm>
            <a:off x="1335024" y="3648456"/>
            <a:ext cx="2555138" cy="512064"/>
          </a:xfrm>
          <a:prstGeom prst="rect">
            <a:avLst/>
          </a:prstGeom>
          <a:noFill/>
          <a:ln/>
        </p:spPr>
        <p:txBody>
          <a:bodyPr wrap="square" lIns="0" tIns="0" rIns="0" bIns="0" rtlCol="0" anchor="ctr"/>
          <a:lstStyle/>
          <a:p>
            <a:pPr indent="0" marL="0">
              <a:buNone/>
            </a:pPr>
            <a:r>
              <a:rPr lang="en-US" sz="1550" dirty="0">
                <a:solidFill>
                  <a:schemeClr val="tx2"/>
                </a:solidFill>
                <a:latin typeface="+mj-lt" pitchFamily="34" charset="0"/>
                <a:ea typeface="+mj-lt" pitchFamily="34" charset="-122"/>
                <a:cs typeface="+mj-lt" pitchFamily="34" charset="-120"/>
              </a:rPr>
              <a:t>Linked services</a:t>
            </a:r>
            <a:endParaRPr lang="en-US" sz="1550" dirty="0"/>
          </a:p>
        </p:txBody>
      </p:sp>
      <p:sp>
        <p:nvSpPr>
          <p:cNvPr id="24" name="Text 18"/>
          <p:cNvSpPr txBox="1"/>
          <p:nvPr/>
        </p:nvSpPr>
        <p:spPr>
          <a:xfrm>
            <a:off x="749808" y="4242816"/>
            <a:ext cx="3131210" cy="969264"/>
          </a:xfrm>
          <a:prstGeom prst="rect">
            <a:avLst/>
          </a:prstGeom>
          <a:noFill/>
          <a:ln/>
        </p:spPr>
        <p:txBody>
          <a:bodyPr wrap="square" lIns="0" tIns="0" rIns="0" bIns="0" rtlCol="0" anchor="t"/>
          <a:lstStyle/>
          <a:p>
            <a:pPr indent="0" marL="0">
              <a:buNone/>
            </a:pPr>
            <a:r>
              <a:rPr lang="en-US" sz="1250" dirty="0">
                <a:solidFill>
                  <a:schemeClr val="tx1"/>
                </a:solidFill>
              </a:rPr>
              <a:t>14 types: endpoint, server, database, how it authenticates (never the secret), integration runtime.</a:t>
            </a:r>
            <a:endParaRPr lang="en-US" sz="1250" dirty="0"/>
          </a:p>
        </p:txBody>
      </p:sp>
      <p:sp>
        <p:nvSpPr>
          <p:cNvPr id="25" name="Shape 19"/>
          <p:cNvSpPr/>
          <p:nvPr/>
        </p:nvSpPr>
        <p:spPr>
          <a:xfrm>
            <a:off x="4338218" y="3493008"/>
            <a:ext cx="3515258" cy="1810512"/>
          </a:xfrm>
          <a:prstGeom prst="roundRect">
            <a:avLst>
              <a:gd name="adj" fmla="val 6061"/>
            </a:avLst>
          </a:prstGeom>
          <a:solidFill>
            <a:schemeClr val="bg2"/>
          </a:solidFill>
          <a:ln/>
        </p:spPr>
      </p:sp>
      <p:sp>
        <p:nvSpPr>
          <p:cNvPr id="26" name="Shape 20"/>
          <p:cNvSpPr/>
          <p:nvPr/>
        </p:nvSpPr>
        <p:spPr>
          <a:xfrm>
            <a:off x="4539386" y="3675888"/>
            <a:ext cx="457200" cy="457200"/>
          </a:xfrm>
          <a:prstGeom prst="ellipse">
            <a:avLst/>
          </a:prstGeom>
          <a:solidFill>
            <a:schemeClr val="accent1"/>
          </a:solidFill>
          <a:ln/>
        </p:spPr>
      </p:sp>
      <p:pic>
        <p:nvPicPr>
          <p:cNvPr id="27" name="Image 4" descr="preencoded.png">    </p:cNvPr>
          <p:cNvPicPr>
            <a:picLocks noChangeAspect="1"/>
          </p:cNvPicPr>
          <p:nvPr/>
        </p:nvPicPr>
        <p:blipFill>
          <a:blip r:embed="rId5"/>
          <a:stretch>
            <a:fillRect/>
          </a:stretch>
        </p:blipFill>
        <p:spPr>
          <a:xfrm>
            <a:off x="4653686" y="3790188"/>
            <a:ext cx="228600" cy="228600"/>
          </a:xfrm>
          <a:prstGeom prst="rect">
            <a:avLst/>
          </a:prstGeom>
        </p:spPr>
      </p:pic>
      <p:sp>
        <p:nvSpPr>
          <p:cNvPr id="28" name="Text 21"/>
          <p:cNvSpPr txBox="1"/>
          <p:nvPr/>
        </p:nvSpPr>
        <p:spPr>
          <a:xfrm>
            <a:off x="5124602" y="3648456"/>
            <a:ext cx="2555138" cy="512064"/>
          </a:xfrm>
          <a:prstGeom prst="rect">
            <a:avLst/>
          </a:prstGeom>
          <a:noFill/>
          <a:ln/>
        </p:spPr>
        <p:txBody>
          <a:bodyPr wrap="square" lIns="0" tIns="0" rIns="0" bIns="0" rtlCol="0" anchor="ctr"/>
          <a:lstStyle/>
          <a:p>
            <a:pPr indent="0" marL="0">
              <a:buNone/>
            </a:pPr>
            <a:r>
              <a:rPr lang="en-US" sz="1550" dirty="0">
                <a:solidFill>
                  <a:schemeClr val="tx2"/>
                </a:solidFill>
                <a:latin typeface="+mj-lt" pitchFamily="34" charset="0"/>
                <a:ea typeface="+mj-lt" pitchFamily="34" charset="-122"/>
                <a:cs typeface="+mj-lt" pitchFamily="34" charset="-120"/>
              </a:rPr>
              <a:t>Spark job definitions</a:t>
            </a:r>
            <a:endParaRPr lang="en-US" sz="1550" dirty="0"/>
          </a:p>
        </p:txBody>
      </p:sp>
      <p:sp>
        <p:nvSpPr>
          <p:cNvPr id="29" name="Text 22"/>
          <p:cNvSpPr txBox="1"/>
          <p:nvPr/>
        </p:nvSpPr>
        <p:spPr>
          <a:xfrm>
            <a:off x="4539386" y="4242816"/>
            <a:ext cx="3131210" cy="969264"/>
          </a:xfrm>
          <a:prstGeom prst="rect">
            <a:avLst/>
          </a:prstGeom>
          <a:noFill/>
          <a:ln/>
        </p:spPr>
        <p:txBody>
          <a:bodyPr wrap="square" lIns="0" tIns="0" rIns="0" bIns="0" rtlCol="0" anchor="t"/>
          <a:lstStyle/>
          <a:p>
            <a:pPr indent="0" marL="0">
              <a:buNone/>
            </a:pPr>
            <a:r>
              <a:rPr lang="en-US" sz="1250" dirty="0">
                <a:solidFill>
                  <a:schemeClr val="tx1"/>
                </a:solidFill>
              </a:rPr>
              <a:t>Main file, class, arguments, jars and files, sizing, target pool; secret-named settings withheld.</a:t>
            </a:r>
            <a:endParaRPr lang="en-US" sz="1250" dirty="0"/>
          </a:p>
        </p:txBody>
      </p:sp>
      <p:sp>
        <p:nvSpPr>
          <p:cNvPr id="30" name="Shape 23"/>
          <p:cNvSpPr/>
          <p:nvPr/>
        </p:nvSpPr>
        <p:spPr>
          <a:xfrm>
            <a:off x="8127797" y="3493008"/>
            <a:ext cx="3515258" cy="1810512"/>
          </a:xfrm>
          <a:prstGeom prst="roundRect">
            <a:avLst>
              <a:gd name="adj" fmla="val 6061"/>
            </a:avLst>
          </a:prstGeom>
          <a:solidFill>
            <a:schemeClr val="bg2"/>
          </a:solidFill>
          <a:ln/>
        </p:spPr>
      </p:sp>
      <p:sp>
        <p:nvSpPr>
          <p:cNvPr id="31" name="Shape 24"/>
          <p:cNvSpPr/>
          <p:nvPr/>
        </p:nvSpPr>
        <p:spPr>
          <a:xfrm>
            <a:off x="8328965" y="3675888"/>
            <a:ext cx="457200" cy="457200"/>
          </a:xfrm>
          <a:prstGeom prst="ellipse">
            <a:avLst/>
          </a:prstGeom>
          <a:solidFill>
            <a:schemeClr val="accent1"/>
          </a:solidFill>
          <a:ln/>
        </p:spPr>
      </p:sp>
      <p:pic>
        <p:nvPicPr>
          <p:cNvPr id="32" name="Image 5" descr="preencoded.png">    </p:cNvPr>
          <p:cNvPicPr>
            <a:picLocks noChangeAspect="1"/>
          </p:cNvPicPr>
          <p:nvPr/>
        </p:nvPicPr>
        <p:blipFill>
          <a:blip r:embed="rId6"/>
          <a:stretch>
            <a:fillRect/>
          </a:stretch>
        </p:blipFill>
        <p:spPr>
          <a:xfrm>
            <a:off x="8443265" y="3790188"/>
            <a:ext cx="228600" cy="228600"/>
          </a:xfrm>
          <a:prstGeom prst="rect">
            <a:avLst/>
          </a:prstGeom>
        </p:spPr>
      </p:pic>
      <p:sp>
        <p:nvSpPr>
          <p:cNvPr id="33" name="Text 25"/>
          <p:cNvSpPr txBox="1"/>
          <p:nvPr/>
        </p:nvSpPr>
        <p:spPr>
          <a:xfrm>
            <a:off x="8914181" y="3648456"/>
            <a:ext cx="2555138" cy="512064"/>
          </a:xfrm>
          <a:prstGeom prst="rect">
            <a:avLst/>
          </a:prstGeom>
          <a:noFill/>
          <a:ln/>
        </p:spPr>
        <p:txBody>
          <a:bodyPr wrap="square" lIns="0" tIns="0" rIns="0" bIns="0" rtlCol="0" anchor="ctr"/>
          <a:lstStyle/>
          <a:p>
            <a:pPr indent="0" marL="0">
              <a:buNone/>
            </a:pPr>
            <a:r>
              <a:rPr lang="en-US" sz="1550" dirty="0">
                <a:solidFill>
                  <a:schemeClr val="tx2"/>
                </a:solidFill>
                <a:latin typeface="+mj-lt" pitchFamily="34" charset="0"/>
                <a:ea typeface="+mj-lt" pitchFamily="34" charset="-122"/>
                <a:cs typeface="+mj-lt" pitchFamily="34" charset="-120"/>
              </a:rPr>
              <a:t>SQL scripts</a:t>
            </a:r>
            <a:endParaRPr lang="en-US" sz="1550" dirty="0"/>
          </a:p>
        </p:txBody>
      </p:sp>
      <p:sp>
        <p:nvSpPr>
          <p:cNvPr id="34" name="Text 26"/>
          <p:cNvSpPr txBox="1"/>
          <p:nvPr/>
        </p:nvSpPr>
        <p:spPr>
          <a:xfrm>
            <a:off x="8328965" y="4242816"/>
            <a:ext cx="3131210" cy="969264"/>
          </a:xfrm>
          <a:prstGeom prst="rect">
            <a:avLst/>
          </a:prstGeom>
          <a:noFill/>
          <a:ln/>
        </p:spPr>
        <p:txBody>
          <a:bodyPr wrap="square" lIns="0" tIns="0" rIns="0" bIns="0" rtlCol="0" anchor="t"/>
          <a:lstStyle/>
          <a:p>
            <a:pPr indent="0" marL="0">
              <a:buNone/>
            </a:pPr>
            <a:r>
              <a:rPr lang="en-US" sz="1250" dirty="0">
                <a:solidFill>
                  <a:schemeClr val="tx1"/>
                </a:solidFill>
              </a:rPr>
              <a:t>Query text, connection (dedicated or serverless), objects used, features, dynamic SQL, cross-database names.</a:t>
            </a:r>
            <a:endParaRPr lang="en-US" sz="1250" dirty="0"/>
          </a:p>
        </p:txBody>
      </p:sp>
      <p:sp>
        <p:nvSpPr>
          <p:cNvPr id="35" name="Shape 27"/>
          <p:cNvSpPr/>
          <p:nvPr/>
        </p:nvSpPr>
        <p:spPr>
          <a:xfrm>
            <a:off x="548640" y="5486400"/>
            <a:ext cx="11094415" cy="685800"/>
          </a:xfrm>
          <a:prstGeom prst="roundRect">
            <a:avLst>
              <a:gd name="adj" fmla="val 16000"/>
            </a:avLst>
          </a:prstGeom>
          <a:solidFill>
            <a:schemeClr val="accent2">
              <a:alpha val="13000"/>
            </a:schemeClr>
          </a:solidFill>
          <a:ln/>
        </p:spPr>
      </p:sp>
      <p:sp>
        <p:nvSpPr>
          <p:cNvPr id="36" name="Text 28"/>
          <p:cNvSpPr txBox="1"/>
          <p:nvPr/>
        </p:nvSpPr>
        <p:spPr>
          <a:xfrm>
            <a:off x="777240" y="5486400"/>
            <a:ext cx="10637215" cy="685800"/>
          </a:xfrm>
          <a:prstGeom prst="rect">
            <a:avLst/>
          </a:prstGeom>
          <a:noFill/>
          <a:ln/>
        </p:spPr>
        <p:txBody>
          <a:bodyPr wrap="square" lIns="0" tIns="0" rIns="0" bIns="0" rtlCol="0" anchor="ctr"/>
          <a:lstStyle/>
          <a:p>
            <a:pPr indent="0" marL="0">
              <a:buNone/>
            </a:pPr>
            <a:r>
              <a:rPr lang="en-US" sz="1250" b="1" dirty="0">
                <a:solidFill>
                  <a:schemeClr val="tx2"/>
                </a:solidFill>
              </a:rPr>
              <a:t>Shared SQL scanning:  </a:t>
            </a:r>
            <a:pPr indent="0" marL="0">
              <a:buNone/>
            </a:pPr>
            <a:r>
              <a:rPr lang="en-US" sz="1250" dirty="0">
                <a:solidFill>
                  <a:schemeClr val="tx1"/>
                </a:solidFill>
              </a:rPr>
              <a:t>21 object patterns, 21 feature detectors (distribution, CCI, COPY INTO, CTAS…), 3 dynamic-SQL patterns and 3 secret patterns. Strings and comments are blanked first.</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28</a:t>
            </a:fld>
            <a:endParaRPr lang="en-US"/>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04 · THE SIX STEPS</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Discover: identity, drift and the unified record</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records.py · discovery_models.py</a:t>
            </a:r>
            <a:endParaRPr lang="en-US" sz="1100" dirty="0"/>
          </a:p>
        </p:txBody>
      </p:sp>
      <p:sp>
        <p:nvSpPr>
          <p:cNvPr id="5" name="Shape 3"/>
          <p:cNvSpPr/>
          <p:nvPr/>
        </p:nvSpPr>
        <p:spPr>
          <a:xfrm>
            <a:off x="548640" y="1481328"/>
            <a:ext cx="3547872" cy="3977640"/>
          </a:xfrm>
          <a:prstGeom prst="roundRect">
            <a:avLst>
              <a:gd name="adj" fmla="val 3093"/>
            </a:avLst>
          </a:prstGeom>
          <a:solidFill>
            <a:schemeClr val="bg2"/>
          </a:solidFill>
          <a:ln/>
        </p:spPr>
      </p:sp>
      <p:sp>
        <p:nvSpPr>
          <p:cNvPr id="6" name="Text 4"/>
          <p:cNvSpPr txBox="1"/>
          <p:nvPr/>
        </p:nvSpPr>
        <p:spPr>
          <a:xfrm>
            <a:off x="777240" y="1664208"/>
            <a:ext cx="3090672"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IDENTITY</a:t>
            </a:r>
            <a:endParaRPr lang="en-US" sz="1100" dirty="0"/>
          </a:p>
        </p:txBody>
      </p:sp>
      <p:sp>
        <p:nvSpPr>
          <p:cNvPr id="7" name="Text 5"/>
          <p:cNvSpPr txBox="1"/>
          <p:nvPr/>
        </p:nvSpPr>
        <p:spPr>
          <a:xfrm>
            <a:off x="749808" y="1984248"/>
            <a:ext cx="3163824" cy="333756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chemeClr val="tx1"/>
                </a:solidFill>
              </a:rPr>
              <a:t>A Git copy and a live copy with the same name merge only on proof</a:t>
            </a:r>
            <a:endParaRPr lang="en-US" sz="1400" dirty="0"/>
          </a:p>
          <a:p>
            <a:pPr marL="177800" indent="-177800">
              <a:spcAft>
                <a:spcPts val="600"/>
              </a:spcAft>
              <a:buSzPct val="100000"/>
              <a:buChar char="•"/>
            </a:pPr>
            <a:r>
              <a:rPr lang="en-US" sz="1250" dirty="0">
                <a:solidFill>
                  <a:schemeClr val="tx1"/>
                </a:solidFill>
              </a:rPr>
              <a:t>Proof: the workspace's Git settings, read from Azure, name the repository that was scanned</a:t>
            </a:r>
            <a:endParaRPr lang="en-US" sz="1400" dirty="0"/>
          </a:p>
          <a:p>
            <a:pPr marL="177800" indent="-177800">
              <a:spcAft>
                <a:spcPts val="600"/>
              </a:spcAft>
              <a:buSzPct val="100000"/>
              <a:buChar char="•"/>
            </a:pPr>
            <a:r>
              <a:rPr lang="en-US" sz="1250" dirty="0">
                <a:solidFill>
                  <a:schemeClr val="tx1"/>
                </a:solidFill>
              </a:rPr>
              <a:t>PROVEN: one record, definition from Git, the live copy as its runtime facet</a:t>
            </a:r>
            <a:endParaRPr lang="en-US" sz="1400" dirty="0"/>
          </a:p>
          <a:p>
            <a:pPr marL="177800" indent="-177800">
              <a:spcAft>
                <a:spcPts val="600"/>
              </a:spcAft>
              <a:buSzPct val="100000"/>
              <a:buChar char="•"/>
            </a:pPr>
            <a:r>
              <a:rPr lang="en-US" sz="1250" dirty="0">
                <a:solidFill>
                  <a:schemeClr val="tx1"/>
                </a:solidFill>
              </a:rPr>
              <a:t>Otherwise: two records, each marked 'may be the same artifact'</a:t>
            </a:r>
            <a:endParaRPr lang="en-US" sz="1400" dirty="0"/>
          </a:p>
        </p:txBody>
      </p:sp>
      <p:sp>
        <p:nvSpPr>
          <p:cNvPr id="8" name="Shape 6"/>
          <p:cNvSpPr/>
          <p:nvPr/>
        </p:nvSpPr>
        <p:spPr>
          <a:xfrm>
            <a:off x="4325112" y="1481328"/>
            <a:ext cx="3547872" cy="3977640"/>
          </a:xfrm>
          <a:prstGeom prst="roundRect">
            <a:avLst>
              <a:gd name="adj" fmla="val 3093"/>
            </a:avLst>
          </a:prstGeom>
          <a:solidFill>
            <a:schemeClr val="bg2"/>
          </a:solidFill>
          <a:ln/>
        </p:spPr>
      </p:sp>
      <p:sp>
        <p:nvSpPr>
          <p:cNvPr id="9" name="Text 7"/>
          <p:cNvSpPr txBox="1"/>
          <p:nvPr/>
        </p:nvSpPr>
        <p:spPr>
          <a:xfrm>
            <a:off x="4553712" y="1664208"/>
            <a:ext cx="3108960"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DRIFT (GIT VS PUBLISHED)</a:t>
            </a:r>
            <a:endParaRPr lang="en-US" sz="1100" dirty="0"/>
          </a:p>
        </p:txBody>
      </p:sp>
      <p:sp>
        <p:nvSpPr>
          <p:cNvPr id="10" name="Shape 8"/>
          <p:cNvSpPr/>
          <p:nvPr/>
        </p:nvSpPr>
        <p:spPr>
          <a:xfrm>
            <a:off x="4553712" y="2029968"/>
            <a:ext cx="2286000" cy="274320"/>
          </a:xfrm>
          <a:prstGeom prst="roundRect">
            <a:avLst>
              <a:gd name="adj" fmla="val 50000"/>
            </a:avLst>
          </a:prstGeom>
          <a:solidFill>
            <a:schemeClr val="accent1"/>
          </a:solidFill>
          <a:ln/>
        </p:spPr>
      </p:sp>
      <p:sp>
        <p:nvSpPr>
          <p:cNvPr id="11" name="Text 9"/>
          <p:cNvSpPr txBox="1"/>
          <p:nvPr/>
        </p:nvSpPr>
        <p:spPr>
          <a:xfrm>
            <a:off x="4553712" y="2029968"/>
            <a:ext cx="2286000" cy="274320"/>
          </a:xfrm>
          <a:prstGeom prst="rect">
            <a:avLst/>
          </a:prstGeom>
          <a:noFill/>
          <a:ln/>
        </p:spPr>
        <p:txBody>
          <a:bodyPr wrap="square" lIns="0" tIns="0" rIns="0" bIns="0" rtlCol="0" anchor="ctr"/>
          <a:lstStyle/>
          <a:p>
            <a:pPr algn="ctr" indent="0" marL="0">
              <a:buNone/>
            </a:pPr>
            <a:r>
              <a:rPr lang="en-US" sz="1000" b="1" dirty="0">
                <a:solidFill>
                  <a:schemeClr val="bg1"/>
                </a:solidFill>
              </a:rPr>
              <a:t>IN_SYNC</a:t>
            </a:r>
            <a:endParaRPr lang="en-US" sz="1000" dirty="0"/>
          </a:p>
        </p:txBody>
      </p:sp>
      <p:sp>
        <p:nvSpPr>
          <p:cNvPr id="12" name="Text 10"/>
          <p:cNvSpPr txBox="1"/>
          <p:nvPr/>
        </p:nvSpPr>
        <p:spPr>
          <a:xfrm>
            <a:off x="4553712" y="2322576"/>
            <a:ext cx="3108960" cy="274320"/>
          </a:xfrm>
          <a:prstGeom prst="rect">
            <a:avLst/>
          </a:prstGeom>
          <a:noFill/>
          <a:ln/>
        </p:spPr>
        <p:txBody>
          <a:bodyPr wrap="square" lIns="0" tIns="0" rIns="0" bIns="0" rtlCol="0" anchor="t"/>
          <a:lstStyle/>
          <a:p>
            <a:pPr indent="0" marL="0">
              <a:buNone/>
            </a:pPr>
            <a:r>
              <a:rPr lang="en-US" sz="1150" dirty="0">
                <a:solidFill>
                  <a:schemeClr val="tx1"/>
                </a:solidFill>
              </a:rPr>
              <a:t>Both copies agree</a:t>
            </a:r>
            <a:endParaRPr lang="en-US" sz="1150" dirty="0"/>
          </a:p>
        </p:txBody>
      </p:sp>
      <p:sp>
        <p:nvSpPr>
          <p:cNvPr id="13" name="Shape 11"/>
          <p:cNvSpPr/>
          <p:nvPr/>
        </p:nvSpPr>
        <p:spPr>
          <a:xfrm>
            <a:off x="4553712" y="2651760"/>
            <a:ext cx="2286000" cy="274320"/>
          </a:xfrm>
          <a:prstGeom prst="roundRect">
            <a:avLst>
              <a:gd name="adj" fmla="val 50000"/>
            </a:avLst>
          </a:prstGeom>
          <a:solidFill>
            <a:schemeClr val="accent4"/>
          </a:solidFill>
          <a:ln/>
        </p:spPr>
      </p:sp>
      <p:sp>
        <p:nvSpPr>
          <p:cNvPr id="14" name="Text 12"/>
          <p:cNvSpPr txBox="1"/>
          <p:nvPr/>
        </p:nvSpPr>
        <p:spPr>
          <a:xfrm>
            <a:off x="4553712" y="2651760"/>
            <a:ext cx="2286000" cy="274320"/>
          </a:xfrm>
          <a:prstGeom prst="rect">
            <a:avLst/>
          </a:prstGeom>
          <a:noFill/>
          <a:ln/>
        </p:spPr>
        <p:txBody>
          <a:bodyPr wrap="square" lIns="0" tIns="0" rIns="0" bIns="0" rtlCol="0" anchor="ctr"/>
          <a:lstStyle/>
          <a:p>
            <a:pPr algn="ctr" indent="0" marL="0">
              <a:buNone/>
            </a:pPr>
            <a:r>
              <a:rPr lang="en-US" sz="1000" b="1" dirty="0">
                <a:solidFill>
                  <a:schemeClr val="bg1"/>
                </a:solidFill>
              </a:rPr>
              <a:t>DRIFTED</a:t>
            </a:r>
            <a:endParaRPr lang="en-US" sz="1000" dirty="0"/>
          </a:p>
        </p:txBody>
      </p:sp>
      <p:sp>
        <p:nvSpPr>
          <p:cNvPr id="15" name="Text 13"/>
          <p:cNvSpPr txBox="1"/>
          <p:nvPr/>
        </p:nvSpPr>
        <p:spPr>
          <a:xfrm>
            <a:off x="4553712" y="2944368"/>
            <a:ext cx="3108960" cy="274320"/>
          </a:xfrm>
          <a:prstGeom prst="rect">
            <a:avLst/>
          </a:prstGeom>
          <a:noFill/>
          <a:ln/>
        </p:spPr>
        <p:txBody>
          <a:bodyPr wrap="square" lIns="0" tIns="0" rIns="0" bIns="0" rtlCol="0" anchor="t"/>
          <a:lstStyle/>
          <a:p>
            <a:pPr indent="0" marL="0">
              <a:buNone/>
            </a:pPr>
            <a:r>
              <a:rPr lang="en-US" sz="1150" dirty="0">
                <a:solidFill>
                  <a:schemeClr val="tx1"/>
                </a:solidFill>
              </a:rPr>
              <a:t>They differ (top-level properties listed)</a:t>
            </a:r>
            <a:endParaRPr lang="en-US" sz="1150" dirty="0"/>
          </a:p>
        </p:txBody>
      </p:sp>
      <p:sp>
        <p:nvSpPr>
          <p:cNvPr id="16" name="Shape 14"/>
          <p:cNvSpPr/>
          <p:nvPr/>
        </p:nvSpPr>
        <p:spPr>
          <a:xfrm>
            <a:off x="4553712" y="3273552"/>
            <a:ext cx="2286000" cy="274320"/>
          </a:xfrm>
          <a:prstGeom prst="roundRect">
            <a:avLst>
              <a:gd name="adj" fmla="val 50000"/>
            </a:avLst>
          </a:prstGeom>
          <a:solidFill>
            <a:schemeClr val="accent3"/>
          </a:solidFill>
          <a:ln/>
        </p:spPr>
      </p:sp>
      <p:sp>
        <p:nvSpPr>
          <p:cNvPr id="17" name="Text 15"/>
          <p:cNvSpPr txBox="1"/>
          <p:nvPr/>
        </p:nvSpPr>
        <p:spPr>
          <a:xfrm>
            <a:off x="4553712" y="3273552"/>
            <a:ext cx="2286000" cy="274320"/>
          </a:xfrm>
          <a:prstGeom prst="rect">
            <a:avLst/>
          </a:prstGeom>
          <a:noFill/>
          <a:ln/>
        </p:spPr>
        <p:txBody>
          <a:bodyPr wrap="square" lIns="0" tIns="0" rIns="0" bIns="0" rtlCol="0" anchor="ctr"/>
          <a:lstStyle/>
          <a:p>
            <a:pPr algn="ctr" indent="0" marL="0">
              <a:buNone/>
            </a:pPr>
            <a:r>
              <a:rPr lang="en-US" sz="1000" b="1" dirty="0">
                <a:solidFill>
                  <a:schemeClr val="bg1"/>
                </a:solidFill>
              </a:rPr>
              <a:t>NOT_PUBLISHED</a:t>
            </a:r>
            <a:endParaRPr lang="en-US" sz="1000" dirty="0"/>
          </a:p>
        </p:txBody>
      </p:sp>
      <p:sp>
        <p:nvSpPr>
          <p:cNvPr id="18" name="Text 16"/>
          <p:cNvSpPr txBox="1"/>
          <p:nvPr/>
        </p:nvSpPr>
        <p:spPr>
          <a:xfrm>
            <a:off x="4553712" y="3566160"/>
            <a:ext cx="3108960" cy="274320"/>
          </a:xfrm>
          <a:prstGeom prst="rect">
            <a:avLst/>
          </a:prstGeom>
          <a:noFill/>
          <a:ln/>
        </p:spPr>
        <p:txBody>
          <a:bodyPr wrap="square" lIns="0" tIns="0" rIns="0" bIns="0" rtlCol="0" anchor="t"/>
          <a:lstStyle/>
          <a:p>
            <a:pPr indent="0" marL="0">
              <a:buNone/>
            </a:pPr>
            <a:r>
              <a:rPr lang="en-US" sz="1150" dirty="0">
                <a:solidFill>
                  <a:schemeClr val="tx1"/>
                </a:solidFill>
              </a:rPr>
              <a:t>Only in Git</a:t>
            </a:r>
            <a:endParaRPr lang="en-US" sz="1150" dirty="0"/>
          </a:p>
        </p:txBody>
      </p:sp>
      <p:sp>
        <p:nvSpPr>
          <p:cNvPr id="19" name="Shape 17"/>
          <p:cNvSpPr/>
          <p:nvPr/>
        </p:nvSpPr>
        <p:spPr>
          <a:xfrm>
            <a:off x="4553712" y="3895344"/>
            <a:ext cx="2286000" cy="274320"/>
          </a:xfrm>
          <a:prstGeom prst="roundRect">
            <a:avLst>
              <a:gd name="adj" fmla="val 50000"/>
            </a:avLst>
          </a:prstGeom>
          <a:solidFill>
            <a:schemeClr val="accent3"/>
          </a:solidFill>
          <a:ln/>
        </p:spPr>
      </p:sp>
      <p:sp>
        <p:nvSpPr>
          <p:cNvPr id="20" name="Text 18"/>
          <p:cNvSpPr txBox="1"/>
          <p:nvPr/>
        </p:nvSpPr>
        <p:spPr>
          <a:xfrm>
            <a:off x="4553712" y="3895344"/>
            <a:ext cx="2286000" cy="274320"/>
          </a:xfrm>
          <a:prstGeom prst="rect">
            <a:avLst/>
          </a:prstGeom>
          <a:noFill/>
          <a:ln/>
        </p:spPr>
        <p:txBody>
          <a:bodyPr wrap="square" lIns="0" tIns="0" rIns="0" bIns="0" rtlCol="0" anchor="ctr"/>
          <a:lstStyle/>
          <a:p>
            <a:pPr algn="ctr" indent="0" marL="0">
              <a:buNone/>
            </a:pPr>
            <a:r>
              <a:rPr lang="en-US" sz="1000" b="1" dirty="0">
                <a:solidFill>
                  <a:schemeClr val="bg1"/>
                </a:solidFill>
              </a:rPr>
              <a:t>NOT_IN_SOURCE_CONTROL</a:t>
            </a:r>
            <a:endParaRPr lang="en-US" sz="1000" dirty="0"/>
          </a:p>
        </p:txBody>
      </p:sp>
      <p:sp>
        <p:nvSpPr>
          <p:cNvPr id="21" name="Text 19"/>
          <p:cNvSpPr txBox="1"/>
          <p:nvPr/>
        </p:nvSpPr>
        <p:spPr>
          <a:xfrm>
            <a:off x="4553712" y="4187952"/>
            <a:ext cx="3108960" cy="274320"/>
          </a:xfrm>
          <a:prstGeom prst="rect">
            <a:avLst/>
          </a:prstGeom>
          <a:noFill/>
          <a:ln/>
        </p:spPr>
        <p:txBody>
          <a:bodyPr wrap="square" lIns="0" tIns="0" rIns="0" bIns="0" rtlCol="0" anchor="t"/>
          <a:lstStyle/>
          <a:p>
            <a:pPr indent="0" marL="0">
              <a:buNone/>
            </a:pPr>
            <a:r>
              <a:rPr lang="en-US" sz="1150" dirty="0">
                <a:solidFill>
                  <a:schemeClr val="tx1"/>
                </a:solidFill>
              </a:rPr>
              <a:t>Only in the workspace</a:t>
            </a:r>
            <a:endParaRPr lang="en-US" sz="1150" dirty="0"/>
          </a:p>
        </p:txBody>
      </p:sp>
      <p:sp>
        <p:nvSpPr>
          <p:cNvPr id="22" name="Shape 20"/>
          <p:cNvSpPr/>
          <p:nvPr/>
        </p:nvSpPr>
        <p:spPr>
          <a:xfrm>
            <a:off x="4553712" y="4517136"/>
            <a:ext cx="2286000" cy="274320"/>
          </a:xfrm>
          <a:prstGeom prst="roundRect">
            <a:avLst>
              <a:gd name="adj" fmla="val 50000"/>
            </a:avLst>
          </a:prstGeom>
          <a:solidFill>
            <a:schemeClr val="accent6"/>
          </a:solidFill>
          <a:ln/>
        </p:spPr>
      </p:sp>
      <p:sp>
        <p:nvSpPr>
          <p:cNvPr id="23" name="Text 21"/>
          <p:cNvSpPr txBox="1"/>
          <p:nvPr/>
        </p:nvSpPr>
        <p:spPr>
          <a:xfrm>
            <a:off x="4553712" y="4517136"/>
            <a:ext cx="2286000" cy="274320"/>
          </a:xfrm>
          <a:prstGeom prst="rect">
            <a:avLst/>
          </a:prstGeom>
          <a:noFill/>
          <a:ln/>
        </p:spPr>
        <p:txBody>
          <a:bodyPr wrap="square" lIns="0" tIns="0" rIns="0" bIns="0" rtlCol="0" anchor="ctr"/>
          <a:lstStyle/>
          <a:p>
            <a:pPr algn="ctr" indent="0" marL="0">
              <a:buNone/>
            </a:pPr>
            <a:r>
              <a:rPr lang="en-US" sz="1000" b="1" dirty="0">
                <a:solidFill>
                  <a:schemeClr val="bg1"/>
                </a:solidFill>
              </a:rPr>
              <a:t>UNKNOWN</a:t>
            </a:r>
            <a:endParaRPr lang="en-US" sz="1000" dirty="0"/>
          </a:p>
        </p:txBody>
      </p:sp>
      <p:sp>
        <p:nvSpPr>
          <p:cNvPr id="24" name="Text 22"/>
          <p:cNvSpPr txBox="1"/>
          <p:nvPr/>
        </p:nvSpPr>
        <p:spPr>
          <a:xfrm>
            <a:off x="4553712" y="4809744"/>
            <a:ext cx="3108960" cy="274320"/>
          </a:xfrm>
          <a:prstGeom prst="rect">
            <a:avLst/>
          </a:prstGeom>
          <a:noFill/>
          <a:ln/>
        </p:spPr>
        <p:txBody>
          <a:bodyPr wrap="square" lIns="0" tIns="0" rIns="0" bIns="0" rtlCol="0" anchor="t"/>
          <a:lstStyle/>
          <a:p>
            <a:pPr indent="0" marL="0">
              <a:buNone/>
            </a:pPr>
            <a:r>
              <a:rPr lang="en-US" sz="1150" dirty="0">
                <a:solidFill>
                  <a:schemeClr val="tx1"/>
                </a:solidFill>
              </a:rPr>
              <a:t>A side could not be read</a:t>
            </a:r>
            <a:endParaRPr lang="en-US" sz="1150" dirty="0"/>
          </a:p>
        </p:txBody>
      </p:sp>
      <p:sp>
        <p:nvSpPr>
          <p:cNvPr id="25" name="Shape 23"/>
          <p:cNvSpPr/>
          <p:nvPr/>
        </p:nvSpPr>
        <p:spPr>
          <a:xfrm>
            <a:off x="8092440" y="1481328"/>
            <a:ext cx="3547872" cy="3977640"/>
          </a:xfrm>
          <a:prstGeom prst="roundRect">
            <a:avLst>
              <a:gd name="adj" fmla="val 3093"/>
            </a:avLst>
          </a:prstGeom>
          <a:solidFill>
            <a:schemeClr val="bg2"/>
          </a:solidFill>
          <a:ln/>
        </p:spPr>
      </p:sp>
      <p:sp>
        <p:nvSpPr>
          <p:cNvPr id="26" name="Text 24"/>
          <p:cNvSpPr txBox="1"/>
          <p:nvPr/>
        </p:nvSpPr>
        <p:spPr>
          <a:xfrm>
            <a:off x="8321040" y="1664208"/>
            <a:ext cx="3090672"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UNIFIED DISCOVERY RECORD</a:t>
            </a:r>
            <a:endParaRPr lang="en-US" sz="1100" dirty="0"/>
          </a:p>
        </p:txBody>
      </p:sp>
      <p:sp>
        <p:nvSpPr>
          <p:cNvPr id="27" name="Text 25"/>
          <p:cNvSpPr txBox="1"/>
          <p:nvPr/>
        </p:nvSpPr>
        <p:spPr>
          <a:xfrm>
            <a:off x="8293608" y="1984248"/>
            <a:ext cx="3163824" cy="333756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chemeClr val="tx1"/>
                </a:solidFill>
              </a:rPr>
              <a:t>Identity: artifact, name, schema; ids synapse://type/name or sql://db/schema/name</a:t>
            </a:r>
            <a:endParaRPr lang="en-US" sz="1400" dirty="0"/>
          </a:p>
          <a:p>
            <a:pPr marL="177800" indent="-177800">
              <a:spcAft>
                <a:spcPts val="600"/>
              </a:spcAft>
              <a:buSzPct val="100000"/>
              <a:buChar char="•"/>
            </a:pPr>
            <a:r>
              <a:rPr lang="en-US" sz="1250" dirty="0">
                <a:solidFill>
                  <a:schemeClr val="tx1"/>
                </a:solidFill>
              </a:rPr>
              <a:t>Facets: definition, runtime, infrastructure, dependency, security</a:t>
            </a:r>
            <a:endParaRPr lang="en-US" sz="1400" dirty="0"/>
          </a:p>
          <a:p>
            <a:pPr marL="177800" indent="-177800">
              <a:spcAft>
                <a:spcPts val="600"/>
              </a:spcAft>
              <a:buSzPct val="100000"/>
              <a:buChar char="•"/>
            </a:pPr>
            <a:r>
              <a:rPr lang="en-US" sz="1250" dirty="0">
                <a:solidFill>
                  <a:schemeClr val="tx1"/>
                </a:solidFill>
              </a:rPr>
              <a:t>Provenance per facet: source, path or API route, SHA-256, commit</a:t>
            </a:r>
            <a:endParaRPr lang="en-US" sz="1400" dirty="0"/>
          </a:p>
          <a:p>
            <a:pPr marL="177800" indent="-177800">
              <a:spcAft>
                <a:spcPts val="600"/>
              </a:spcAft>
              <a:buSzPct val="100000"/>
              <a:buChar char="•"/>
            </a:pPr>
            <a:r>
              <a:rPr lang="en-US" sz="1250" dirty="0">
                <a:solidFill>
                  <a:schemeClr val="tx1"/>
                </a:solidFill>
              </a:rPr>
              <a:t>Issues per record, with a code</a:t>
            </a:r>
            <a:endParaRPr lang="en-US" sz="1400" dirty="0"/>
          </a:p>
        </p:txBody>
      </p:sp>
      <p:sp>
        <p:nvSpPr>
          <p:cNvPr id="28" name="Shape 26"/>
          <p:cNvSpPr/>
          <p:nvPr/>
        </p:nvSpPr>
        <p:spPr>
          <a:xfrm>
            <a:off x="548640" y="5623560"/>
            <a:ext cx="11094415" cy="548640"/>
          </a:xfrm>
          <a:prstGeom prst="roundRect">
            <a:avLst>
              <a:gd name="adj" fmla="val 20000"/>
            </a:avLst>
          </a:prstGeom>
          <a:solidFill>
            <a:schemeClr val="accent1">
              <a:alpha val="13000"/>
            </a:schemeClr>
          </a:solidFill>
          <a:ln/>
        </p:spPr>
      </p:sp>
      <p:sp>
        <p:nvSpPr>
          <p:cNvPr id="29" name="Text 27"/>
          <p:cNvSpPr txBox="1"/>
          <p:nvPr/>
        </p:nvSpPr>
        <p:spPr>
          <a:xfrm>
            <a:off x="777240" y="5623560"/>
            <a:ext cx="10637215" cy="548640"/>
          </a:xfrm>
          <a:prstGeom prst="rect">
            <a:avLst/>
          </a:prstGeom>
          <a:noFill/>
          <a:ln/>
        </p:spPr>
        <p:txBody>
          <a:bodyPr wrap="square" lIns="0" tIns="0" rIns="0" bIns="0" rtlCol="0" anchor="ctr"/>
          <a:lstStyle/>
          <a:p>
            <a:pPr indent="0" marL="0">
              <a:buNone/>
            </a:pPr>
            <a:r>
              <a:rPr lang="en-US" sz="1250" b="1" dirty="0">
                <a:solidFill>
                  <a:schemeClr val="tx2"/>
                </a:solidFill>
              </a:rPr>
              <a:t>Unknown is never zero:  </a:t>
            </a:r>
            <a:pPr indent="0" marL="0">
              <a:buNone/>
            </a:pPr>
            <a:r>
              <a:rPr lang="en-US" sz="1250" dirty="0">
                <a:solidFill>
                  <a:schemeClr val="tx1"/>
                </a:solidFill>
              </a:rPr>
              <a:t>a source that could not be read is reported as an issue, never as an empty count.</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29</a:t>
            </a:fld>
            <a:endParaRPr lang="en-US"/>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04 · THE SIX STEPS</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Discover: what you see in the app</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components/discovery/ · journey/WorkspaceExplorer.tsx</a:t>
            </a:r>
            <a:endParaRPr lang="en-US" sz="1100" dirty="0"/>
          </a:p>
        </p:txBody>
      </p:sp>
      <p:sp>
        <p:nvSpPr>
          <p:cNvPr id="5" name="Shape 3"/>
          <p:cNvSpPr/>
          <p:nvPr/>
        </p:nvSpPr>
        <p:spPr>
          <a:xfrm>
            <a:off x="548640" y="1481328"/>
            <a:ext cx="3515258" cy="1874520"/>
          </a:xfrm>
          <a:prstGeom prst="roundRect">
            <a:avLst>
              <a:gd name="adj" fmla="val 5854"/>
            </a:avLst>
          </a:prstGeom>
          <a:solidFill>
            <a:schemeClr val="bg2"/>
          </a:solidFill>
          <a:ln/>
        </p:spPr>
      </p:sp>
      <p:sp>
        <p:nvSpPr>
          <p:cNvPr id="6" name="Shape 4"/>
          <p:cNvSpPr/>
          <p:nvPr/>
        </p:nvSpPr>
        <p:spPr>
          <a:xfrm>
            <a:off x="749808" y="1664208"/>
            <a:ext cx="457200" cy="45720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864108" y="1778508"/>
            <a:ext cx="228600" cy="228600"/>
          </a:xfrm>
          <a:prstGeom prst="rect">
            <a:avLst/>
          </a:prstGeom>
        </p:spPr>
      </p:pic>
      <p:sp>
        <p:nvSpPr>
          <p:cNvPr id="8" name="Text 5"/>
          <p:cNvSpPr txBox="1"/>
          <p:nvPr/>
        </p:nvSpPr>
        <p:spPr>
          <a:xfrm>
            <a:off x="1335024" y="1636776"/>
            <a:ext cx="2555138" cy="512064"/>
          </a:xfrm>
          <a:prstGeom prst="rect">
            <a:avLst/>
          </a:prstGeom>
          <a:noFill/>
          <a:ln/>
        </p:spPr>
        <p:txBody>
          <a:bodyPr wrap="square" lIns="0" tIns="0" rIns="0" bIns="0" rtlCol="0" anchor="ctr"/>
          <a:lstStyle/>
          <a:p>
            <a:pPr indent="0" marL="0">
              <a:buNone/>
            </a:pPr>
            <a:r>
              <a:rPr lang="en-US" sz="1550" dirty="0">
                <a:solidFill>
                  <a:schemeClr val="tx2"/>
                </a:solidFill>
                <a:latin typeface="+mj-lt" pitchFamily="34" charset="0"/>
                <a:ea typeface="+mj-lt" pitchFamily="34" charset="-122"/>
                <a:cs typeface="+mj-lt" pitchFamily="34" charset="-120"/>
              </a:rPr>
              <a:t>Summary row</a:t>
            </a:r>
            <a:endParaRPr lang="en-US" sz="1550" dirty="0"/>
          </a:p>
        </p:txBody>
      </p:sp>
      <p:sp>
        <p:nvSpPr>
          <p:cNvPr id="9" name="Text 6"/>
          <p:cNvSpPr txBox="1"/>
          <p:nvPr/>
        </p:nvSpPr>
        <p:spPr>
          <a:xfrm>
            <a:off x="749808" y="2231136"/>
            <a:ext cx="3131210" cy="1033272"/>
          </a:xfrm>
          <a:prstGeom prst="rect">
            <a:avLst/>
          </a:prstGeom>
          <a:noFill/>
          <a:ln/>
        </p:spPr>
        <p:txBody>
          <a:bodyPr wrap="square" lIns="0" tIns="0" rIns="0" bIns="0" rtlCol="0" anchor="t"/>
          <a:lstStyle/>
          <a:p>
            <a:pPr indent="0" marL="0">
              <a:buNone/>
            </a:pPr>
            <a:r>
              <a:rPr lang="en-US" sz="1250" dirty="0">
                <a:solidFill>
                  <a:schemeClr val="tx1"/>
                </a:solidFill>
              </a:rPr>
              <a:t>Objects, object types, with a Fabric mapping, manual or review, warnings. Each number opens what it counts.</a:t>
            </a:r>
            <a:endParaRPr lang="en-US" sz="1250" dirty="0"/>
          </a:p>
        </p:txBody>
      </p:sp>
      <p:sp>
        <p:nvSpPr>
          <p:cNvPr id="10" name="Shape 7"/>
          <p:cNvSpPr/>
          <p:nvPr/>
        </p:nvSpPr>
        <p:spPr>
          <a:xfrm>
            <a:off x="4338218" y="1481328"/>
            <a:ext cx="3515258" cy="1874520"/>
          </a:xfrm>
          <a:prstGeom prst="roundRect">
            <a:avLst>
              <a:gd name="adj" fmla="val 5854"/>
            </a:avLst>
          </a:prstGeom>
          <a:solidFill>
            <a:schemeClr val="bg2"/>
          </a:solidFill>
          <a:ln/>
        </p:spPr>
      </p:sp>
      <p:sp>
        <p:nvSpPr>
          <p:cNvPr id="11" name="Shape 8"/>
          <p:cNvSpPr/>
          <p:nvPr/>
        </p:nvSpPr>
        <p:spPr>
          <a:xfrm>
            <a:off x="4539386" y="1664208"/>
            <a:ext cx="457200" cy="457200"/>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4653686" y="1778508"/>
            <a:ext cx="228600" cy="228600"/>
          </a:xfrm>
          <a:prstGeom prst="rect">
            <a:avLst/>
          </a:prstGeom>
        </p:spPr>
      </p:pic>
      <p:sp>
        <p:nvSpPr>
          <p:cNvPr id="13" name="Text 9"/>
          <p:cNvSpPr txBox="1"/>
          <p:nvPr/>
        </p:nvSpPr>
        <p:spPr>
          <a:xfrm>
            <a:off x="5124602" y="1636776"/>
            <a:ext cx="2555138" cy="512064"/>
          </a:xfrm>
          <a:prstGeom prst="rect">
            <a:avLst/>
          </a:prstGeom>
          <a:noFill/>
          <a:ln/>
        </p:spPr>
        <p:txBody>
          <a:bodyPr wrap="square" lIns="0" tIns="0" rIns="0" bIns="0" rtlCol="0" anchor="ctr"/>
          <a:lstStyle/>
          <a:p>
            <a:pPr indent="0" marL="0">
              <a:buNone/>
            </a:pPr>
            <a:r>
              <a:rPr lang="en-US" sz="1550" dirty="0">
                <a:solidFill>
                  <a:schemeClr val="tx2"/>
                </a:solidFill>
                <a:latin typeface="+mj-lt" pitchFamily="34" charset="0"/>
                <a:ea typeface="+mj-lt" pitchFamily="34" charset="-122"/>
                <a:cs typeface="+mj-lt" pitchFamily="34" charset="-120"/>
              </a:rPr>
              <a:t>Overview</a:t>
            </a:r>
            <a:endParaRPr lang="en-US" sz="1550" dirty="0"/>
          </a:p>
        </p:txBody>
      </p:sp>
      <p:sp>
        <p:nvSpPr>
          <p:cNvPr id="14" name="Text 10"/>
          <p:cNvSpPr txBox="1"/>
          <p:nvPr/>
        </p:nvSpPr>
        <p:spPr>
          <a:xfrm>
            <a:off x="4539386" y="2231136"/>
            <a:ext cx="3131210" cy="1033272"/>
          </a:xfrm>
          <a:prstGeom prst="rect">
            <a:avLst/>
          </a:prstGeom>
          <a:noFill/>
          <a:ln/>
        </p:spPr>
        <p:txBody>
          <a:bodyPr wrap="square" lIns="0" tIns="0" rIns="0" bIns="0" rtlCol="0" anchor="t"/>
          <a:lstStyle/>
          <a:p>
            <a:pPr indent="0" marL="0">
              <a:buNone/>
            </a:pPr>
            <a:r>
              <a:rPr lang="en-US" sz="1250" dirty="0">
                <a:solidFill>
                  <a:schemeClr val="tx1"/>
                </a:solidFill>
              </a:rPr>
              <a:t>A tile per object type with its count; click one to open the inventory filtered to that type.</a:t>
            </a:r>
            <a:endParaRPr lang="en-US" sz="1250" dirty="0"/>
          </a:p>
        </p:txBody>
      </p:sp>
      <p:sp>
        <p:nvSpPr>
          <p:cNvPr id="15" name="Shape 11"/>
          <p:cNvSpPr/>
          <p:nvPr/>
        </p:nvSpPr>
        <p:spPr>
          <a:xfrm>
            <a:off x="8127797" y="1481328"/>
            <a:ext cx="3515258" cy="1874520"/>
          </a:xfrm>
          <a:prstGeom prst="roundRect">
            <a:avLst>
              <a:gd name="adj" fmla="val 5854"/>
            </a:avLst>
          </a:prstGeom>
          <a:solidFill>
            <a:schemeClr val="bg2"/>
          </a:solidFill>
          <a:ln/>
        </p:spPr>
      </p:sp>
      <p:sp>
        <p:nvSpPr>
          <p:cNvPr id="16" name="Shape 12"/>
          <p:cNvSpPr/>
          <p:nvPr/>
        </p:nvSpPr>
        <p:spPr>
          <a:xfrm>
            <a:off x="8328965" y="1664208"/>
            <a:ext cx="457200" cy="457200"/>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8443265" y="1778508"/>
            <a:ext cx="228600" cy="228600"/>
          </a:xfrm>
          <a:prstGeom prst="rect">
            <a:avLst/>
          </a:prstGeom>
        </p:spPr>
      </p:pic>
      <p:sp>
        <p:nvSpPr>
          <p:cNvPr id="18" name="Text 13"/>
          <p:cNvSpPr txBox="1"/>
          <p:nvPr/>
        </p:nvSpPr>
        <p:spPr>
          <a:xfrm>
            <a:off x="8914181" y="1636776"/>
            <a:ext cx="2555138" cy="512064"/>
          </a:xfrm>
          <a:prstGeom prst="rect">
            <a:avLst/>
          </a:prstGeom>
          <a:noFill/>
          <a:ln/>
        </p:spPr>
        <p:txBody>
          <a:bodyPr wrap="square" lIns="0" tIns="0" rIns="0" bIns="0" rtlCol="0" anchor="ctr"/>
          <a:lstStyle/>
          <a:p>
            <a:pPr indent="0" marL="0">
              <a:buNone/>
            </a:pPr>
            <a:r>
              <a:rPr lang="en-US" sz="1550" dirty="0">
                <a:solidFill>
                  <a:schemeClr val="tx2"/>
                </a:solidFill>
                <a:latin typeface="+mj-lt" pitchFamily="34" charset="0"/>
                <a:ea typeface="+mj-lt" pitchFamily="34" charset="-122"/>
                <a:cs typeface="+mj-lt" pitchFamily="34" charset="-120"/>
              </a:rPr>
              <a:t>Inventory</a:t>
            </a:r>
            <a:endParaRPr lang="en-US" sz="1550" dirty="0"/>
          </a:p>
        </p:txBody>
      </p:sp>
      <p:sp>
        <p:nvSpPr>
          <p:cNvPr id="19" name="Text 14"/>
          <p:cNvSpPr txBox="1"/>
          <p:nvPr/>
        </p:nvSpPr>
        <p:spPr>
          <a:xfrm>
            <a:off x="8328965" y="2231136"/>
            <a:ext cx="3131210" cy="1033272"/>
          </a:xfrm>
          <a:prstGeom prst="rect">
            <a:avLst/>
          </a:prstGeom>
          <a:noFill/>
          <a:ln/>
        </p:spPr>
        <p:txBody>
          <a:bodyPr wrap="square" lIns="0" tIns="0" rIns="0" bIns="0" rtlCol="0" anchor="t"/>
          <a:lstStyle/>
          <a:p>
            <a:pPr indent="0" marL="0">
              <a:buNone/>
            </a:pPr>
            <a:r>
              <a:rPr lang="en-US" sz="1250" dirty="0">
                <a:solidFill>
                  <a:schemeClr val="tx1"/>
                </a:solidFill>
              </a:rPr>
              <a:t>8 groups, search, 5 filters with counts, 9 columns (7 sortable), 25, 50 or 100 rows a page.</a:t>
            </a:r>
            <a:endParaRPr lang="en-US" sz="1250" dirty="0"/>
          </a:p>
        </p:txBody>
      </p:sp>
      <p:sp>
        <p:nvSpPr>
          <p:cNvPr id="20" name="Shape 15"/>
          <p:cNvSpPr/>
          <p:nvPr/>
        </p:nvSpPr>
        <p:spPr>
          <a:xfrm>
            <a:off x="548640" y="3557016"/>
            <a:ext cx="3515258" cy="1874520"/>
          </a:xfrm>
          <a:prstGeom prst="roundRect">
            <a:avLst>
              <a:gd name="adj" fmla="val 5854"/>
            </a:avLst>
          </a:prstGeom>
          <a:solidFill>
            <a:schemeClr val="bg2"/>
          </a:solidFill>
          <a:ln/>
        </p:spPr>
      </p:sp>
      <p:sp>
        <p:nvSpPr>
          <p:cNvPr id="21" name="Shape 16"/>
          <p:cNvSpPr/>
          <p:nvPr/>
        </p:nvSpPr>
        <p:spPr>
          <a:xfrm>
            <a:off x="749808" y="3739896"/>
            <a:ext cx="457200" cy="457200"/>
          </a:xfrm>
          <a:prstGeom prst="ellipse">
            <a:avLst/>
          </a:prstGeom>
          <a:solidFill>
            <a:schemeClr val="accent1"/>
          </a:solidFill>
          <a:ln/>
        </p:spPr>
      </p:sp>
      <p:pic>
        <p:nvPicPr>
          <p:cNvPr id="22" name="Image 3" descr="preencoded.png">    </p:cNvPr>
          <p:cNvPicPr>
            <a:picLocks noChangeAspect="1"/>
          </p:cNvPicPr>
          <p:nvPr/>
        </p:nvPicPr>
        <p:blipFill>
          <a:blip r:embed="rId4"/>
          <a:stretch>
            <a:fillRect/>
          </a:stretch>
        </p:blipFill>
        <p:spPr>
          <a:xfrm>
            <a:off x="864108" y="3854196"/>
            <a:ext cx="228600" cy="228600"/>
          </a:xfrm>
          <a:prstGeom prst="rect">
            <a:avLst/>
          </a:prstGeom>
        </p:spPr>
      </p:pic>
      <p:sp>
        <p:nvSpPr>
          <p:cNvPr id="23" name="Text 17"/>
          <p:cNvSpPr txBox="1"/>
          <p:nvPr/>
        </p:nvSpPr>
        <p:spPr>
          <a:xfrm>
            <a:off x="1335024" y="3712464"/>
            <a:ext cx="2555138" cy="512064"/>
          </a:xfrm>
          <a:prstGeom prst="rect">
            <a:avLst/>
          </a:prstGeom>
          <a:noFill/>
          <a:ln/>
        </p:spPr>
        <p:txBody>
          <a:bodyPr wrap="square" lIns="0" tIns="0" rIns="0" bIns="0" rtlCol="0" anchor="ctr"/>
          <a:lstStyle/>
          <a:p>
            <a:pPr indent="0" marL="0">
              <a:buNone/>
            </a:pPr>
            <a:r>
              <a:rPr lang="en-US" sz="1550" dirty="0">
                <a:solidFill>
                  <a:schemeClr val="tx2"/>
                </a:solidFill>
                <a:latin typeface="+mj-lt" pitchFamily="34" charset="0"/>
                <a:ea typeface="+mj-lt" pitchFamily="34" charset="-122"/>
                <a:cs typeface="+mj-lt" pitchFamily="34" charset="-120"/>
              </a:rPr>
              <a:t>Object details</a:t>
            </a:r>
            <a:endParaRPr lang="en-US" sz="1550" dirty="0"/>
          </a:p>
        </p:txBody>
      </p:sp>
      <p:sp>
        <p:nvSpPr>
          <p:cNvPr id="24" name="Text 18"/>
          <p:cNvSpPr txBox="1"/>
          <p:nvPr/>
        </p:nvSpPr>
        <p:spPr>
          <a:xfrm>
            <a:off x="749808" y="4306824"/>
            <a:ext cx="3131210" cy="1033272"/>
          </a:xfrm>
          <a:prstGeom prst="rect">
            <a:avLst/>
          </a:prstGeom>
          <a:noFill/>
          <a:ln/>
        </p:spPr>
        <p:txBody>
          <a:bodyPr wrap="square" lIns="0" tIns="0" rIns="0" bIns="0" rtlCol="0" anchor="t"/>
          <a:lstStyle/>
          <a:p>
            <a:pPr indent="0" marL="0">
              <a:buNone/>
            </a:pPr>
            <a:r>
              <a:rPr lang="en-US" sz="1250" dirty="0">
                <a:solidFill>
                  <a:schemeClr val="tx1"/>
                </a:solidFill>
              </a:rPr>
              <a:t>Overview, Dependencies, Source metadata, Activities, Access, LLM transform, Raw metadata.</a:t>
            </a:r>
            <a:endParaRPr lang="en-US" sz="1250" dirty="0"/>
          </a:p>
        </p:txBody>
      </p:sp>
      <p:sp>
        <p:nvSpPr>
          <p:cNvPr id="25" name="Shape 19"/>
          <p:cNvSpPr/>
          <p:nvPr/>
        </p:nvSpPr>
        <p:spPr>
          <a:xfrm>
            <a:off x="4338218" y="3557016"/>
            <a:ext cx="3515258" cy="1874520"/>
          </a:xfrm>
          <a:prstGeom prst="roundRect">
            <a:avLst>
              <a:gd name="adj" fmla="val 5854"/>
            </a:avLst>
          </a:prstGeom>
          <a:solidFill>
            <a:schemeClr val="bg2"/>
          </a:solidFill>
          <a:ln/>
        </p:spPr>
      </p:sp>
      <p:sp>
        <p:nvSpPr>
          <p:cNvPr id="26" name="Shape 20"/>
          <p:cNvSpPr/>
          <p:nvPr/>
        </p:nvSpPr>
        <p:spPr>
          <a:xfrm>
            <a:off x="4539386" y="3739896"/>
            <a:ext cx="457200" cy="457200"/>
          </a:xfrm>
          <a:prstGeom prst="ellipse">
            <a:avLst/>
          </a:prstGeom>
          <a:solidFill>
            <a:schemeClr val="accent1"/>
          </a:solidFill>
          <a:ln/>
        </p:spPr>
      </p:sp>
      <p:pic>
        <p:nvPicPr>
          <p:cNvPr id="27" name="Image 4" descr="preencoded.png">    </p:cNvPr>
          <p:cNvPicPr>
            <a:picLocks noChangeAspect="1"/>
          </p:cNvPicPr>
          <p:nvPr/>
        </p:nvPicPr>
        <p:blipFill>
          <a:blip r:embed="rId5"/>
          <a:stretch>
            <a:fillRect/>
          </a:stretch>
        </p:blipFill>
        <p:spPr>
          <a:xfrm>
            <a:off x="4653686" y="3854196"/>
            <a:ext cx="228600" cy="228600"/>
          </a:xfrm>
          <a:prstGeom prst="rect">
            <a:avLst/>
          </a:prstGeom>
        </p:spPr>
      </p:pic>
      <p:sp>
        <p:nvSpPr>
          <p:cNvPr id="28" name="Text 21"/>
          <p:cNvSpPr txBox="1"/>
          <p:nvPr/>
        </p:nvSpPr>
        <p:spPr>
          <a:xfrm>
            <a:off x="5124602" y="3712464"/>
            <a:ext cx="2555138" cy="512064"/>
          </a:xfrm>
          <a:prstGeom prst="rect">
            <a:avLst/>
          </a:prstGeom>
          <a:noFill/>
          <a:ln/>
        </p:spPr>
        <p:txBody>
          <a:bodyPr wrap="square" lIns="0" tIns="0" rIns="0" bIns="0" rtlCol="0" anchor="ctr"/>
          <a:lstStyle/>
          <a:p>
            <a:pPr indent="0" marL="0">
              <a:buNone/>
            </a:pPr>
            <a:r>
              <a:rPr lang="en-US" sz="1550" dirty="0">
                <a:solidFill>
                  <a:schemeClr val="tx2"/>
                </a:solidFill>
                <a:latin typeface="+mj-lt" pitchFamily="34" charset="0"/>
                <a:ea typeface="+mj-lt" pitchFamily="34" charset="-122"/>
                <a:cs typeface="+mj-lt" pitchFamily="34" charset="-120"/>
              </a:rPr>
              <a:t>Workspace explorer</a:t>
            </a:r>
            <a:endParaRPr lang="en-US" sz="1550" dirty="0"/>
          </a:p>
        </p:txBody>
      </p:sp>
      <p:sp>
        <p:nvSpPr>
          <p:cNvPr id="29" name="Text 22"/>
          <p:cNvSpPr txBox="1"/>
          <p:nvPr/>
        </p:nvSpPr>
        <p:spPr>
          <a:xfrm>
            <a:off x="4539386" y="4306824"/>
            <a:ext cx="3131210" cy="1033272"/>
          </a:xfrm>
          <a:prstGeom prst="rect">
            <a:avLst/>
          </a:prstGeom>
          <a:noFill/>
          <a:ln/>
        </p:spPr>
        <p:txBody>
          <a:bodyPr wrap="square" lIns="0" tIns="0" rIns="0" bIns="0" rtlCol="0" anchor="t"/>
          <a:lstStyle/>
          <a:p>
            <a:pPr indent="0" marL="0">
              <a:buNone/>
            </a:pPr>
            <a:r>
              <a:rPr lang="en-US" sz="1250" dirty="0">
                <a:solidFill>
                  <a:schemeClr val="tx1"/>
                </a:solidFill>
              </a:rPr>
              <a:t>The Synapse Git folder tree plus the SQL pool by schema; counts and a name filter.</a:t>
            </a:r>
            <a:endParaRPr lang="en-US" sz="1250" dirty="0"/>
          </a:p>
        </p:txBody>
      </p:sp>
      <p:sp>
        <p:nvSpPr>
          <p:cNvPr id="30" name="Shape 23"/>
          <p:cNvSpPr/>
          <p:nvPr/>
        </p:nvSpPr>
        <p:spPr>
          <a:xfrm>
            <a:off x="8127797" y="3557016"/>
            <a:ext cx="3515258" cy="1874520"/>
          </a:xfrm>
          <a:prstGeom prst="roundRect">
            <a:avLst>
              <a:gd name="adj" fmla="val 5854"/>
            </a:avLst>
          </a:prstGeom>
          <a:solidFill>
            <a:schemeClr val="bg2"/>
          </a:solidFill>
          <a:ln/>
        </p:spPr>
      </p:sp>
      <p:sp>
        <p:nvSpPr>
          <p:cNvPr id="31" name="Shape 24"/>
          <p:cNvSpPr/>
          <p:nvPr/>
        </p:nvSpPr>
        <p:spPr>
          <a:xfrm>
            <a:off x="8328965" y="3739896"/>
            <a:ext cx="457200" cy="457200"/>
          </a:xfrm>
          <a:prstGeom prst="ellipse">
            <a:avLst/>
          </a:prstGeom>
          <a:solidFill>
            <a:schemeClr val="accent1"/>
          </a:solidFill>
          <a:ln/>
        </p:spPr>
      </p:sp>
      <p:pic>
        <p:nvPicPr>
          <p:cNvPr id="32" name="Image 5" descr="preencoded.png">    </p:cNvPr>
          <p:cNvPicPr>
            <a:picLocks noChangeAspect="1"/>
          </p:cNvPicPr>
          <p:nvPr/>
        </p:nvPicPr>
        <p:blipFill>
          <a:blip r:embed="rId6"/>
          <a:stretch>
            <a:fillRect/>
          </a:stretch>
        </p:blipFill>
        <p:spPr>
          <a:xfrm>
            <a:off x="8443265" y="3854196"/>
            <a:ext cx="228600" cy="228600"/>
          </a:xfrm>
          <a:prstGeom prst="rect">
            <a:avLst/>
          </a:prstGeom>
        </p:spPr>
      </p:pic>
      <p:sp>
        <p:nvSpPr>
          <p:cNvPr id="33" name="Text 25"/>
          <p:cNvSpPr txBox="1"/>
          <p:nvPr/>
        </p:nvSpPr>
        <p:spPr>
          <a:xfrm>
            <a:off x="8914181" y="3712464"/>
            <a:ext cx="2555138" cy="512064"/>
          </a:xfrm>
          <a:prstGeom prst="rect">
            <a:avLst/>
          </a:prstGeom>
          <a:noFill/>
          <a:ln/>
        </p:spPr>
        <p:txBody>
          <a:bodyPr wrap="square" lIns="0" tIns="0" rIns="0" bIns="0" rtlCol="0" anchor="ctr"/>
          <a:lstStyle/>
          <a:p>
            <a:pPr indent="0" marL="0">
              <a:buNone/>
            </a:pPr>
            <a:r>
              <a:rPr lang="en-US" sz="1550" dirty="0">
                <a:solidFill>
                  <a:schemeClr val="tx2"/>
                </a:solidFill>
                <a:latin typeface="+mj-lt" pitchFamily="34" charset="0"/>
                <a:ea typeface="+mj-lt" pitchFamily="34" charset="-122"/>
                <a:cs typeface="+mj-lt" pitchFamily="34" charset="-120"/>
              </a:rPr>
              <a:t>Export</a:t>
            </a:r>
            <a:endParaRPr lang="en-US" sz="1550" dirty="0"/>
          </a:p>
        </p:txBody>
      </p:sp>
      <p:sp>
        <p:nvSpPr>
          <p:cNvPr id="34" name="Text 26"/>
          <p:cNvSpPr txBox="1"/>
          <p:nvPr/>
        </p:nvSpPr>
        <p:spPr>
          <a:xfrm>
            <a:off x="8328965" y="4306824"/>
            <a:ext cx="3131210" cy="1033272"/>
          </a:xfrm>
          <a:prstGeom prst="rect">
            <a:avLst/>
          </a:prstGeom>
          <a:noFill/>
          <a:ln/>
        </p:spPr>
        <p:txBody>
          <a:bodyPr wrap="square" lIns="0" tIns="0" rIns="0" bIns="0" rtlCol="0" anchor="t"/>
          <a:lstStyle/>
          <a:p>
            <a:pPr indent="0" marL="0">
              <a:buNone/>
            </a:pPr>
            <a:r>
              <a:rPr lang="en-US" sz="1250" dirty="0">
                <a:solidFill>
                  <a:schemeClr val="tx1"/>
                </a:solidFill>
              </a:rPr>
              <a:t>The whole inventory as JSON, sanitised, from the top bar.</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30</a:t>
            </a:fld>
            <a:endParaRPr lang="en-US"/>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04 · THE SIX STEPS</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Assess: where each object lands, and how much work it is</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mapping/synapse_fabric_mapping.py</a:t>
            </a:r>
            <a:endParaRPr lang="en-US" sz="11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6858000" cy="914400"/>
        </p:xfrm>
        <a:graphic>
          <a:graphicData uri="http://schemas.openxmlformats.org/drawingml/2006/table">
            <a:tbl>
              <a:tblPr/>
              <a:tblGrid>
                <a:gridCol w="1508760"/>
                <a:gridCol w="2880360"/>
                <a:gridCol w="2468880"/>
              </a:tblGrid>
              <a:tr h="347472">
                <a:tc>
                  <a:txBody>
                    <a:bodyPr/>
                    <a:lstStyle/>
                    <a:p>
                      <a:pPr indent="0" marL="0">
                        <a:buNone/>
                      </a:pPr>
                      <a:r>
                        <a:rPr lang="en-US" sz="1250" b="1" dirty="0">
                          <a:solidFill>
                            <a:schemeClr val="bg1"/>
                          </a:solidFill>
                        </a:rPr>
                        <a:t>Class</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indent="0" marL="0">
                        <a:buNone/>
                      </a:pPr>
                      <a:r>
                        <a:rPr lang="en-US" sz="1250" b="1" dirty="0">
                          <a:solidFill>
                            <a:schemeClr val="bg1"/>
                          </a:solidFill>
                        </a:rPr>
                        <a:t>Meaning</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indent="0" marL="0">
                        <a:buNone/>
                      </a:pPr>
                      <a:r>
                        <a:rPr lang="en-US" sz="1250" b="1" dirty="0">
                          <a:solidFill>
                            <a:schemeClr val="bg1"/>
                          </a:solidFill>
                        </a:rPr>
                        <a:t>Mapping path</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r>
              <a:tr h="530352">
                <a:tc>
                  <a:txBody>
                    <a:bodyPr/>
                    <a:lstStyle/>
                    <a:p>
                      <a:pPr indent="0" marL="0">
                        <a:buNone/>
                      </a:pPr>
                      <a:r>
                        <a:rPr lang="en-US" sz="1250" b="1" dirty="0">
                          <a:solidFill>
                            <a:schemeClr val="accent1"/>
                          </a:solidFill>
                        </a:rPr>
                        <a:t>DIRECT</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A matching Fabric component exists</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Direct target</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530352">
                <a:tc>
                  <a:txBody>
                    <a:bodyPr/>
                    <a:lstStyle/>
                    <a:p>
                      <a:pPr indent="0" marL="0">
                        <a:buNone/>
                      </a:pPr>
                      <a:r>
                        <a:rPr lang="en-US" sz="1250" b="1" dirty="0">
                          <a:solidFill>
                            <a:schemeClr val="accent2"/>
                          </a:solidFill>
                        </a:rPr>
                        <a:t>TRANSFORM</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50" dirty="0">
                          <a:solidFill>
                            <a:schemeClr val="tx1"/>
                          </a:solidFill>
                        </a:rPr>
                        <a:t>Code or settings change on the way</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50" dirty="0">
                          <a:solidFill>
                            <a:schemeClr val="tx1"/>
                          </a:solidFill>
                        </a:rPr>
                        <a:t>Target with transformation or refactoring</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530352">
                <a:tc>
                  <a:txBody>
                    <a:bodyPr/>
                    <a:lstStyle/>
                    <a:p>
                      <a:pPr indent="0" marL="0">
                        <a:buNone/>
                      </a:pPr>
                      <a:r>
                        <a:rPr lang="en-US" sz="1250" b="1" dirty="0">
                          <a:solidFill>
                            <a:schemeClr val="accent3"/>
                          </a:solidFill>
                        </a:rPr>
                        <a:t>RECONFIGURE</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Same idea, configured differently</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Requires reconfiguration</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530352">
                <a:tc>
                  <a:txBody>
                    <a:bodyPr/>
                    <a:lstStyle/>
                    <a:p>
                      <a:pPr indent="0" marL="0">
                        <a:buNone/>
                      </a:pPr>
                      <a:r>
                        <a:rPr lang="en-US" sz="1250" b="1" dirty="0">
                          <a:solidFill>
                            <a:schemeClr val="accent4"/>
                          </a:solidFill>
                        </a:rPr>
                        <a:t>MANUAL</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50" dirty="0">
                          <a:solidFill>
                            <a:schemeClr val="tx1"/>
                          </a:solidFill>
                        </a:rPr>
                        <a:t>Needs a person</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50" dirty="0">
                          <a:solidFill>
                            <a:schemeClr val="tx1"/>
                          </a:solidFill>
                        </a:rPr>
                        <a:t>Manual / special handling</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530352">
                <a:tc>
                  <a:txBody>
                    <a:bodyPr/>
                    <a:lstStyle/>
                    <a:p>
                      <a:pPr indent="0" marL="0">
                        <a:buNone/>
                      </a:pPr>
                      <a:r>
                        <a:rPr lang="en-US" sz="1250" b="1" dirty="0">
                          <a:solidFill>
                            <a:schemeClr val="accent6"/>
                          </a:solidFill>
                        </a:rPr>
                        <a:t>REVIEW</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No reliable one-to-one mapping</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Requires assessment</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bl>
          </a:graphicData>
        </a:graphic>
      </p:graphicFrame>
      <p:sp>
        <p:nvSpPr>
          <p:cNvPr id="6" name="Shape 3"/>
          <p:cNvSpPr/>
          <p:nvPr/>
        </p:nvSpPr>
        <p:spPr>
          <a:xfrm>
            <a:off x="7680960" y="1481328"/>
            <a:ext cx="3959352" cy="3035808"/>
          </a:xfrm>
          <a:prstGeom prst="roundRect">
            <a:avLst>
              <a:gd name="adj" fmla="val 3614"/>
            </a:avLst>
          </a:prstGeom>
          <a:solidFill>
            <a:schemeClr val="bg2"/>
          </a:solidFill>
          <a:ln/>
        </p:spPr>
      </p:sp>
      <p:sp>
        <p:nvSpPr>
          <p:cNvPr id="7" name="Text 4"/>
          <p:cNvSpPr txBox="1"/>
          <p:nvPr/>
        </p:nvSpPr>
        <p:spPr>
          <a:xfrm>
            <a:off x="7909560" y="1664208"/>
            <a:ext cx="3502152"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WORKSTREAMS (7)</a:t>
            </a:r>
            <a:endParaRPr lang="en-US" sz="1100" dirty="0"/>
          </a:p>
        </p:txBody>
      </p:sp>
      <p:sp>
        <p:nvSpPr>
          <p:cNvPr id="8" name="Text 5"/>
          <p:cNvSpPr txBox="1"/>
          <p:nvPr/>
        </p:nvSpPr>
        <p:spPr>
          <a:xfrm>
            <a:off x="7882128" y="1984248"/>
            <a:ext cx="3575304" cy="2395728"/>
          </a:xfrm>
          <a:prstGeom prst="rect">
            <a:avLst/>
          </a:prstGeom>
          <a:noFill/>
          <a:ln/>
        </p:spPr>
        <p:txBody>
          <a:bodyPr wrap="square" lIns="0" tIns="0" rIns="0" bIns="0" rtlCol="0" anchor="t"/>
          <a:lstStyle/>
          <a:p>
            <a:pPr marL="177800" indent="-177800">
              <a:spcAft>
                <a:spcPts val="300"/>
              </a:spcAft>
              <a:buSzPct val="100000"/>
              <a:buChar char="•"/>
            </a:pPr>
            <a:r>
              <a:rPr lang="en-US" sz="1250" dirty="0">
                <a:solidFill>
                  <a:schemeClr val="tx1"/>
                </a:solidFill>
              </a:rPr>
              <a:t>Data Warehouse</a:t>
            </a:r>
            <a:endParaRPr lang="en-US" sz="1400" dirty="0"/>
          </a:p>
          <a:p>
            <a:pPr marL="177800" indent="-177800">
              <a:spcAft>
                <a:spcPts val="300"/>
              </a:spcAft>
              <a:buSzPct val="100000"/>
              <a:buChar char="•"/>
            </a:pPr>
            <a:r>
              <a:rPr lang="en-US" sz="1250" dirty="0">
                <a:solidFill>
                  <a:schemeClr val="tx1"/>
                </a:solidFill>
              </a:rPr>
              <a:t>Data Engineering</a:t>
            </a:r>
            <a:endParaRPr lang="en-US" sz="1400" dirty="0"/>
          </a:p>
          <a:p>
            <a:pPr marL="177800" indent="-177800">
              <a:spcAft>
                <a:spcPts val="300"/>
              </a:spcAft>
              <a:buSzPct val="100000"/>
              <a:buChar char="•"/>
            </a:pPr>
            <a:r>
              <a:rPr lang="en-US" sz="1250" dirty="0">
                <a:solidFill>
                  <a:schemeClr val="tx1"/>
                </a:solidFill>
              </a:rPr>
              <a:t>Data Factory</a:t>
            </a:r>
            <a:endParaRPr lang="en-US" sz="1400" dirty="0"/>
          </a:p>
          <a:p>
            <a:pPr marL="177800" indent="-177800">
              <a:spcAft>
                <a:spcPts val="300"/>
              </a:spcAft>
              <a:buSzPct val="100000"/>
              <a:buChar char="•"/>
            </a:pPr>
            <a:r>
              <a:rPr lang="en-US" sz="1250" dirty="0">
                <a:solidFill>
                  <a:schemeClr val="tx1"/>
                </a:solidFill>
              </a:rPr>
              <a:t>OneLake / Storage</a:t>
            </a:r>
            <a:endParaRPr lang="en-US" sz="1400" dirty="0"/>
          </a:p>
          <a:p>
            <a:pPr marL="177800" indent="-177800">
              <a:spcAft>
                <a:spcPts val="300"/>
              </a:spcAft>
              <a:buSzPct val="100000"/>
              <a:buChar char="•"/>
            </a:pPr>
            <a:r>
              <a:rPr lang="en-US" sz="1250" dirty="0">
                <a:solidFill>
                  <a:schemeClr val="tx1"/>
                </a:solidFill>
              </a:rPr>
              <a:t>Connections</a:t>
            </a:r>
            <a:endParaRPr lang="en-US" sz="1400" dirty="0"/>
          </a:p>
          <a:p>
            <a:pPr marL="177800" indent="-177800">
              <a:spcAft>
                <a:spcPts val="300"/>
              </a:spcAft>
              <a:buSzPct val="100000"/>
              <a:buChar char="•"/>
            </a:pPr>
            <a:r>
              <a:rPr lang="en-US" sz="1250" dirty="0">
                <a:solidFill>
                  <a:schemeClr val="tx1"/>
                </a:solidFill>
              </a:rPr>
              <a:t>Security &amp; Governance</a:t>
            </a:r>
            <a:endParaRPr lang="en-US" sz="1400" dirty="0"/>
          </a:p>
          <a:p>
            <a:pPr marL="177800" indent="-177800">
              <a:spcAft>
                <a:spcPts val="300"/>
              </a:spcAft>
              <a:buSzPct val="100000"/>
              <a:buChar char="•"/>
            </a:pPr>
            <a:r>
              <a:rPr lang="en-US" sz="1250" dirty="0">
                <a:solidFill>
                  <a:schemeClr val="tx1"/>
                </a:solidFill>
              </a:rPr>
              <a:t>Unassigned</a:t>
            </a:r>
            <a:endParaRPr lang="en-US" sz="1400" dirty="0"/>
          </a:p>
        </p:txBody>
      </p:sp>
      <p:sp>
        <p:nvSpPr>
          <p:cNvPr id="9" name="Shape 6"/>
          <p:cNvSpPr/>
          <p:nvPr/>
        </p:nvSpPr>
        <p:spPr>
          <a:xfrm>
            <a:off x="548640" y="4800600"/>
            <a:ext cx="11094415" cy="1325880"/>
          </a:xfrm>
          <a:prstGeom prst="roundRect">
            <a:avLst>
              <a:gd name="adj" fmla="val 8276"/>
            </a:avLst>
          </a:prstGeom>
          <a:solidFill>
            <a:schemeClr val="accent1">
              <a:alpha val="13000"/>
            </a:schemeClr>
          </a:solidFill>
          <a:ln/>
        </p:spPr>
      </p:sp>
      <p:sp>
        <p:nvSpPr>
          <p:cNvPr id="10" name="Text 7"/>
          <p:cNvSpPr txBox="1"/>
          <p:nvPr/>
        </p:nvSpPr>
        <p:spPr>
          <a:xfrm>
            <a:off x="777240" y="4800600"/>
            <a:ext cx="10637215" cy="1325880"/>
          </a:xfrm>
          <a:prstGeom prst="rect">
            <a:avLst/>
          </a:prstGeom>
          <a:noFill/>
          <a:ln/>
        </p:spPr>
        <p:txBody>
          <a:bodyPr wrap="square" lIns="0" tIns="0" rIns="0" bIns="0" rtlCol="0" anchor="ctr"/>
          <a:lstStyle/>
          <a:p>
            <a:pPr indent="0" marL="0">
              <a:buNone/>
            </a:pPr>
            <a:r>
              <a:rPr lang="en-US" sz="1250" b="1" dirty="0">
                <a:solidFill>
                  <a:schemeClr val="tx2"/>
                </a:solidFill>
              </a:rPr>
              <a:t>How it decides:  </a:t>
            </a:r>
            <a:pPr indent="0" marL="0">
              <a:buNone/>
            </a:pPr>
            <a:r>
              <a:rPr lang="en-US" sz="1250" dirty="0">
                <a:solidFill>
                  <a:schemeClr val="tx1"/>
                </a:solidFill>
              </a:rPr>
              <a:t>a fixed table keyed by object type covers 24 component types and 21 pipeline activities. A notebook with Synapse-only code moves to refactoring. Nothing here says an object will migrate: that is the planner's job. Tabs: By workstream, Objects, Component mapping, LLM transforms.</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31</a:t>
            </a:fld>
            <a:endParaRPr lang="en-US"/>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04 · THE SIX STEPS</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Waves: nothing is created before what it needs</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mapping/waves.py</a:t>
            </a:r>
            <a:endParaRPr lang="en-US" sz="11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6675120" cy="914400"/>
        </p:xfrm>
        <a:graphic>
          <a:graphicData uri="http://schemas.openxmlformats.org/drawingml/2006/table">
            <a:tbl>
              <a:tblPr/>
              <a:tblGrid>
                <a:gridCol w="822960"/>
                <a:gridCol w="1554480"/>
                <a:gridCol w="4297680"/>
              </a:tblGrid>
              <a:tr h="347472">
                <a:tc>
                  <a:txBody>
                    <a:bodyPr/>
                    <a:lstStyle/>
                    <a:p>
                      <a:pPr indent="0" marL="0">
                        <a:buNone/>
                      </a:pPr>
                      <a:r>
                        <a:rPr lang="en-US" sz="1250" b="1" dirty="0">
                          <a:solidFill>
                            <a:schemeClr val="bg1"/>
                          </a:solidFill>
                        </a:rPr>
                        <a:t>Wave</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indent="0" marL="0">
                        <a:buNone/>
                      </a:pPr>
                      <a:r>
                        <a:rPr lang="en-US" sz="1250" b="1" dirty="0">
                          <a:solidFill>
                            <a:schemeClr val="bg1"/>
                          </a:solidFill>
                        </a:rPr>
                        <a:t>Role</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indent="0" marL="0">
                        <a:buNone/>
                      </a:pPr>
                      <a:r>
                        <a:rPr lang="en-US" sz="1250" b="1" dirty="0">
                          <a:solidFill>
                            <a:schemeClr val="bg1"/>
                          </a:solidFill>
                        </a:rPr>
                        <a:t>Object types (their earliest wave)</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r>
              <a:tr h="868680">
                <a:tc>
                  <a:txBody>
                    <a:bodyPr/>
                    <a:lstStyle/>
                    <a:p>
                      <a:pPr indent="0" marL="0">
                        <a:buNone/>
                      </a:pPr>
                      <a:r>
                        <a:rPr lang="en-US" sz="1250" b="1" dirty="0">
                          <a:solidFill>
                            <a:schemeClr val="tx2"/>
                          </a:solidFill>
                        </a:rPr>
                        <a:t>1</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Foundations</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Linked services, integration runtimes, storage references, SQL pools, serverless SQL, Spark pools, libraries, schemas, security, networking</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548640">
                <a:tc>
                  <a:txBody>
                    <a:bodyPr/>
                    <a:lstStyle/>
                    <a:p>
                      <a:pPr indent="0" marL="0">
                        <a:buNone/>
                      </a:pPr>
                      <a:r>
                        <a:rPr lang="en-US" sz="1250" b="1" dirty="0">
                          <a:solidFill>
                            <a:schemeClr val="tx2"/>
                          </a:solidFill>
                        </a:rPr>
                        <a:t>2</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50" dirty="0">
                          <a:solidFill>
                            <a:schemeClr val="tx1"/>
                          </a:solidFill>
                        </a:rPr>
                        <a:t>Data</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50" dirty="0">
                          <a:solidFill>
                            <a:schemeClr val="tx1"/>
                          </a:solidFill>
                        </a:rPr>
                        <a:t>Tables, external tables, datasets, lake databases</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548640">
                <a:tc>
                  <a:txBody>
                    <a:bodyPr/>
                    <a:lstStyle/>
                    <a:p>
                      <a:pPr indent="0" marL="0">
                        <a:buNone/>
                      </a:pPr>
                      <a:r>
                        <a:rPr lang="en-US" sz="1250" b="1" dirty="0">
                          <a:solidFill>
                            <a:schemeClr val="tx2"/>
                          </a:solidFill>
                        </a:rPr>
                        <a:t>3</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Logic</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Views, stored procedures, functions, SQL scripts</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548640">
                <a:tc>
                  <a:txBody>
                    <a:bodyPr/>
                    <a:lstStyle/>
                    <a:p>
                      <a:pPr indent="0" marL="0">
                        <a:buNone/>
                      </a:pPr>
                      <a:r>
                        <a:rPr lang="en-US" sz="1250" b="1" dirty="0">
                          <a:solidFill>
                            <a:schemeClr val="tx2"/>
                          </a:solidFill>
                        </a:rPr>
                        <a:t>4</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50" dirty="0">
                          <a:solidFill>
                            <a:schemeClr val="tx1"/>
                          </a:solidFill>
                        </a:rPr>
                        <a:t>Processing</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50" dirty="0">
                          <a:solidFill>
                            <a:schemeClr val="tx1"/>
                          </a:solidFill>
                        </a:rPr>
                        <a:t>Notebooks, Spark job definitions, pipelines</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411480">
                <a:tc>
                  <a:txBody>
                    <a:bodyPr/>
                    <a:lstStyle/>
                    <a:p>
                      <a:pPr indent="0" marL="0">
                        <a:buNone/>
                      </a:pPr>
                      <a:r>
                        <a:rPr lang="en-US" sz="1250" b="1" dirty="0">
                          <a:solidFill>
                            <a:schemeClr val="tx2"/>
                          </a:solidFill>
                        </a:rPr>
                        <a:t>5</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Scheduling</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Triggers</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bl>
          </a:graphicData>
        </a:graphic>
      </p:graphicFrame>
      <p:sp>
        <p:nvSpPr>
          <p:cNvPr id="6" name="Shape 3"/>
          <p:cNvSpPr/>
          <p:nvPr/>
        </p:nvSpPr>
        <p:spPr>
          <a:xfrm>
            <a:off x="7452360" y="1481328"/>
            <a:ext cx="4187952" cy="3273552"/>
          </a:xfrm>
          <a:prstGeom prst="roundRect">
            <a:avLst>
              <a:gd name="adj" fmla="val 3352"/>
            </a:avLst>
          </a:prstGeom>
          <a:solidFill>
            <a:schemeClr val="bg2"/>
          </a:solidFill>
          <a:ln/>
        </p:spPr>
      </p:sp>
      <p:sp>
        <p:nvSpPr>
          <p:cNvPr id="7" name="Text 4"/>
          <p:cNvSpPr txBox="1"/>
          <p:nvPr/>
        </p:nvSpPr>
        <p:spPr>
          <a:xfrm>
            <a:off x="7680960" y="1664208"/>
            <a:ext cx="3730752"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RULES AND THE GRAPH</a:t>
            </a:r>
            <a:endParaRPr lang="en-US" sz="1100" dirty="0"/>
          </a:p>
        </p:txBody>
      </p:sp>
      <p:sp>
        <p:nvSpPr>
          <p:cNvPr id="8" name="Text 5"/>
          <p:cNvSpPr txBox="1"/>
          <p:nvPr/>
        </p:nvSpPr>
        <p:spPr>
          <a:xfrm>
            <a:off x="7653528" y="1984248"/>
            <a:ext cx="3803904" cy="2633472"/>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1"/>
                </a:solidFill>
              </a:rPr>
              <a:t>An object moves later when something it needs sits in the same or a later wave</a:t>
            </a:r>
            <a:endParaRPr lang="en-US" sz="1400" dirty="0"/>
          </a:p>
          <a:p>
            <a:pPr marL="177800" indent="-177800">
              <a:spcAft>
                <a:spcPts val="400"/>
              </a:spcAft>
              <a:buSzPct val="100000"/>
              <a:buChar char="•"/>
            </a:pPr>
            <a:r>
              <a:rPr lang="en-US" sz="1200" dirty="0">
                <a:solidFill>
                  <a:schemeClr val="tx1"/>
                </a:solidFill>
              </a:rPr>
              <a:t>A cycle is broken by ignoring the edge that closes it</a:t>
            </a:r>
            <a:endParaRPr lang="en-US" sz="1400" dirty="0"/>
          </a:p>
          <a:p>
            <a:pPr marL="177800" indent="-177800">
              <a:spcAft>
                <a:spcPts val="400"/>
              </a:spcAft>
              <a:buSzPct val="100000"/>
              <a:buChar char="•"/>
            </a:pPr>
            <a:r>
              <a:rPr lang="en-US" sz="1200" dirty="0">
                <a:solidFill>
                  <a:schemeClr val="tx1"/>
                </a:solidFill>
              </a:rPr>
              <a:t>Only observed dependencies count; names are never inspected</a:t>
            </a:r>
            <a:endParaRPr lang="en-US" sz="1400" dirty="0"/>
          </a:p>
          <a:p>
            <a:pPr marL="177800" indent="-177800">
              <a:spcAft>
                <a:spcPts val="400"/>
              </a:spcAft>
              <a:buSzPct val="100000"/>
              <a:buChar char="•"/>
            </a:pPr>
            <a:r>
              <a:rPr lang="en-US" sz="1200" dirty="0">
                <a:solidFill>
                  <a:schemeClr val="tx1"/>
                </a:solidFill>
              </a:rPr>
              <a:t>Graph: a column per wave, zoom 0.15× to 2.5×, fit, full screen; filters; up to 250 nodes</a:t>
            </a:r>
            <a:endParaRPr lang="en-US" sz="1400" dirty="0"/>
          </a:p>
        </p:txBody>
      </p:sp>
      <p:sp>
        <p:nvSpPr>
          <p:cNvPr id="9" name="Shape 6"/>
          <p:cNvSpPr/>
          <p:nvPr/>
        </p:nvSpPr>
        <p:spPr>
          <a:xfrm>
            <a:off x="548640" y="4983480"/>
            <a:ext cx="11094415" cy="1097280"/>
          </a:xfrm>
          <a:prstGeom prst="roundRect">
            <a:avLst>
              <a:gd name="adj" fmla="val 10000"/>
            </a:avLst>
          </a:prstGeom>
          <a:solidFill>
            <a:schemeClr val="accent2">
              <a:alpha val="13000"/>
            </a:schemeClr>
          </a:solidFill>
          <a:ln/>
        </p:spPr>
      </p:sp>
      <p:sp>
        <p:nvSpPr>
          <p:cNvPr id="10" name="Text 7"/>
          <p:cNvSpPr txBox="1"/>
          <p:nvPr/>
        </p:nvSpPr>
        <p:spPr>
          <a:xfrm>
            <a:off x="777240" y="4983480"/>
            <a:ext cx="10637215" cy="1097280"/>
          </a:xfrm>
          <a:prstGeom prst="rect">
            <a:avLst/>
          </a:prstGeom>
          <a:noFill/>
          <a:ln/>
        </p:spPr>
        <p:txBody>
          <a:bodyPr wrap="square" lIns="0" tIns="0" rIns="0" bIns="0" rtlCol="0" anchor="ctr"/>
          <a:lstStyle/>
          <a:p>
            <a:pPr indent="0" marL="0">
              <a:buNone/>
            </a:pPr>
            <a:r>
              <a:rPr lang="en-US" sz="1250" b="1" dirty="0">
                <a:solidFill>
                  <a:schemeClr val="tx2"/>
                </a:solidFill>
              </a:rPr>
              <a:t>Inside a wave, the run orders by kind:  </a:t>
            </a:r>
            <a:pPr indent="0" marL="0">
              <a:buNone/>
            </a:pPr>
            <a:r>
              <a:rPr lang="en-US" sz="1250" dirty="0">
                <a:solidFill>
                  <a:schemeClr val="tx1"/>
                </a:solidFill>
              </a:rPr>
              <a:t>Warehouse → schemas → connections → tables → functions → views → procedures → security → table data → datasets → Spark → notebooks → SQL scripts → Spark jobs → pipelines → shortcuts → schedules.</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32</a:t>
            </a:fld>
            <a:endParaRPr lang="en-US"/>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04 · THE SIX STEPS</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Plan: a deterministic planner scores the move</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migration/planner.py</a:t>
            </a:r>
            <a:endParaRPr lang="en-US" sz="1100" dirty="0"/>
          </a:p>
        </p:txBody>
      </p:sp>
      <p:sp>
        <p:nvSpPr>
          <p:cNvPr id="5" name="Shape 3"/>
          <p:cNvSpPr/>
          <p:nvPr/>
        </p:nvSpPr>
        <p:spPr>
          <a:xfrm>
            <a:off x="548640" y="1481328"/>
            <a:ext cx="3520440" cy="3886200"/>
          </a:xfrm>
          <a:prstGeom prst="roundRect">
            <a:avLst>
              <a:gd name="adj" fmla="val 3117"/>
            </a:avLst>
          </a:prstGeom>
          <a:solidFill>
            <a:schemeClr val="bg2"/>
          </a:solidFill>
          <a:ln/>
        </p:spPr>
      </p:sp>
      <p:sp>
        <p:nvSpPr>
          <p:cNvPr id="6" name="Text 4"/>
          <p:cNvSpPr txBox="1"/>
          <p:nvPr/>
        </p:nvSpPr>
        <p:spPr>
          <a:xfrm>
            <a:off x="777240" y="1664208"/>
            <a:ext cx="3063240"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STRATEGY PER OBJECT</a:t>
            </a:r>
            <a:endParaRPr lang="en-US" sz="1100" dirty="0"/>
          </a:p>
        </p:txBody>
      </p:sp>
      <p:sp>
        <p:nvSpPr>
          <p:cNvPr id="7" name="Text 5"/>
          <p:cNvSpPr txBox="1"/>
          <p:nvPr/>
        </p:nvSpPr>
        <p:spPr>
          <a:xfrm>
            <a:off x="749808" y="1984248"/>
            <a:ext cx="3136392" cy="32461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chemeClr val="tx1"/>
                </a:solidFill>
              </a:rPr>
              <a:t>Automated: this tool creates it</a:t>
            </a:r>
            <a:endParaRPr lang="en-US" sz="1400" dirty="0"/>
          </a:p>
          <a:p>
            <a:pPr marL="177800" indent="-177800">
              <a:spcAft>
                <a:spcPts val="600"/>
              </a:spcAft>
              <a:buSzPct val="100000"/>
              <a:buChar char="•"/>
            </a:pPr>
            <a:r>
              <a:rPr lang="en-US" sz="1250" dirty="0">
                <a:solidFill>
                  <a:schemeClr val="tx1"/>
                </a:solidFill>
              </a:rPr>
              <a:t>Manual setup: no automatic equivalent</a:t>
            </a:r>
            <a:endParaRPr lang="en-US" sz="1400" dirty="0"/>
          </a:p>
          <a:p>
            <a:pPr marL="177800" indent="-177800">
              <a:spcAft>
                <a:spcPts val="600"/>
              </a:spcAft>
              <a:buSzPct val="100000"/>
              <a:buChar char="•"/>
            </a:pPr>
            <a:r>
              <a:rPr lang="en-US" sz="1250" dirty="0">
                <a:solidFill>
                  <a:schemeClr val="tx1"/>
                </a:solidFill>
              </a:rPr>
              <a:t>Assess first: how it is used decides its target</a:t>
            </a:r>
            <a:endParaRPr lang="en-US" sz="1400" dirty="0"/>
          </a:p>
          <a:p>
            <a:pPr marL="177800" indent="-177800">
              <a:spcAft>
                <a:spcPts val="600"/>
              </a:spcAft>
              <a:buSzPct val="100000"/>
              <a:buChar char="•"/>
            </a:pPr>
            <a:r>
              <a:rPr lang="en-US" sz="1250" dirty="0">
                <a:solidFill>
                  <a:schemeClr val="tx1"/>
                </a:solidFill>
              </a:rPr>
              <a:t>Later session: mapped, but this build cannot create it</a:t>
            </a:r>
            <a:endParaRPr lang="en-US" sz="1400" dirty="0"/>
          </a:p>
          <a:p>
            <a:pPr marL="177800" indent="-177800">
              <a:spcAft>
                <a:spcPts val="600"/>
              </a:spcAft>
              <a:buSzPct val="100000"/>
              <a:buChar char="•"/>
            </a:pPr>
            <a:r>
              <a:rPr lang="en-US" sz="1250" dirty="0">
                <a:solidFill>
                  <a:schemeClr val="tx1"/>
                </a:solidFill>
              </a:rPr>
              <a:t>Not selected: its stage is switched off</a:t>
            </a:r>
            <a:endParaRPr lang="en-US" sz="1400" dirty="0"/>
          </a:p>
        </p:txBody>
      </p:sp>
      <p:sp>
        <p:nvSpPr>
          <p:cNvPr id="8" name="Shape 6"/>
          <p:cNvSpPr/>
          <p:nvPr/>
        </p:nvSpPr>
        <p:spPr>
          <a:xfrm>
            <a:off x="4297680" y="1481328"/>
            <a:ext cx="3749040" cy="3886200"/>
          </a:xfrm>
          <a:prstGeom prst="roundRect">
            <a:avLst>
              <a:gd name="adj" fmla="val 2927"/>
            </a:avLst>
          </a:prstGeom>
          <a:solidFill>
            <a:schemeClr val="bg2"/>
          </a:solidFill>
          <a:ln/>
        </p:spPr>
      </p:sp>
      <p:graphicFrame>
        <p:nvGraphicFramePr>
          <p:cNvPr id="9" name="Chart 0" descr=""/>
          <p:cNvGraphicFramePr/>
          <p:nvPr/>
        </p:nvGraphicFramePr>
        <p:xfrm>
          <a:off x="4389120" y="1572768"/>
          <a:ext cx="3566160" cy="292608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4526280" y="4526280"/>
            <a:ext cx="3337560" cy="731520"/>
          </a:xfrm>
          <a:prstGeom prst="rect">
            <a:avLst/>
          </a:prstGeom>
          <a:noFill/>
          <a:ln/>
        </p:spPr>
        <p:txBody>
          <a:bodyPr wrap="square" lIns="0" tIns="0" rIns="0" bIns="0" rtlCol="0" anchor="t"/>
          <a:lstStyle/>
          <a:p>
            <a:pPr indent="0" marL="0">
              <a:buNone/>
            </a:pPr>
            <a:r>
              <a:rPr lang="en-US" sz="1200" dirty="0">
                <a:solidFill>
                  <a:schemeClr val="accent6"/>
                </a:solidFill>
              </a:rPr>
              <a:t>Readiness starts at 100 and is kept between 0 and 100. One blocking risk keeps Plan and Migrate locked.</a:t>
            </a:r>
            <a:endParaRPr lang="en-US" sz="1200" dirty="0"/>
          </a:p>
        </p:txBody>
      </p:sp>
      <p:sp>
        <p:nvSpPr>
          <p:cNvPr id="11" name="Shape 8"/>
          <p:cNvSpPr/>
          <p:nvPr/>
        </p:nvSpPr>
        <p:spPr>
          <a:xfrm>
            <a:off x="8229600" y="1481328"/>
            <a:ext cx="3410712" cy="3886200"/>
          </a:xfrm>
          <a:prstGeom prst="roundRect">
            <a:avLst>
              <a:gd name="adj" fmla="val 3217"/>
            </a:avLst>
          </a:prstGeom>
          <a:solidFill>
            <a:schemeClr val="bg2"/>
          </a:solidFill>
          <a:ln/>
        </p:spPr>
      </p:sp>
      <p:sp>
        <p:nvSpPr>
          <p:cNvPr id="12" name="Text 9"/>
          <p:cNvSpPr txBox="1"/>
          <p:nvPr/>
        </p:nvSpPr>
        <p:spPr>
          <a:xfrm>
            <a:off x="8458200" y="1664208"/>
            <a:ext cx="2953512"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EFFORT MODEL</a:t>
            </a:r>
            <a:endParaRPr lang="en-US" sz="1100" dirty="0"/>
          </a:p>
        </p:txBody>
      </p:sp>
      <p:sp>
        <p:nvSpPr>
          <p:cNvPr id="13" name="Text 10"/>
          <p:cNvSpPr txBox="1"/>
          <p:nvPr/>
        </p:nvSpPr>
        <p:spPr>
          <a:xfrm>
            <a:off x="8430768" y="1984248"/>
            <a:ext cx="3026664" cy="32461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chemeClr val="tx1"/>
                </a:solidFill>
              </a:rPr>
              <a:t>Hours by hand: pipeline 4, Spark job 3, notebook, procedure, runtime 2, most others 1, trigger 0.5, schema 0.25</a:t>
            </a:r>
            <a:endParaRPr lang="en-US" sz="1400" dirty="0"/>
          </a:p>
          <a:p>
            <a:pPr marL="177800" indent="-177800">
              <a:spcAft>
                <a:spcPts val="600"/>
              </a:spcAft>
              <a:buSzPct val="100000"/>
              <a:buChar char="•"/>
            </a:pPr>
            <a:r>
              <a:rPr lang="en-US" sz="1250" dirty="0">
                <a:solidFill>
                  <a:schemeClr val="tx1"/>
                </a:solidFill>
              </a:rPr>
              <a:t>Automated objects: 25% of that, for review</a:t>
            </a:r>
            <a:endParaRPr lang="en-US" sz="1400" dirty="0"/>
          </a:p>
          <a:p>
            <a:pPr marL="177800" indent="-177800">
              <a:spcAft>
                <a:spcPts val="600"/>
              </a:spcAft>
              <a:buSzPct val="100000"/>
              <a:buChar char="•"/>
            </a:pPr>
            <a:r>
              <a:rPr lang="en-US" sz="1250" dirty="0">
                <a:solidFill>
                  <a:schemeClr val="tx1"/>
                </a:solidFill>
              </a:rPr>
              <a:t>Manual objects: 1.5 times</a:t>
            </a:r>
            <a:endParaRPr lang="en-US" sz="1400" dirty="0"/>
          </a:p>
          <a:p>
            <a:pPr marL="177800" indent="-177800">
              <a:spcAft>
                <a:spcPts val="600"/>
              </a:spcAft>
              <a:buSzPct val="100000"/>
              <a:buChar char="•"/>
            </a:pPr>
            <a:r>
              <a:rPr lang="en-US" sz="1250" dirty="0">
                <a:solidFill>
                  <a:schemeClr val="tx1"/>
                </a:solidFill>
              </a:rPr>
              <a:t>8 hours per working day</a:t>
            </a:r>
            <a:endParaRPr lang="en-US" sz="1400" dirty="0"/>
          </a:p>
        </p:txBody>
      </p:sp>
      <p:sp>
        <p:nvSpPr>
          <p:cNvPr id="14" name="Shape 11"/>
          <p:cNvSpPr/>
          <p:nvPr/>
        </p:nvSpPr>
        <p:spPr>
          <a:xfrm>
            <a:off x="548640" y="5532120"/>
            <a:ext cx="11094415" cy="594360"/>
          </a:xfrm>
          <a:prstGeom prst="roundRect">
            <a:avLst>
              <a:gd name="adj" fmla="val 18462"/>
            </a:avLst>
          </a:prstGeom>
          <a:solidFill>
            <a:schemeClr val="accent1">
              <a:alpha val="13000"/>
            </a:schemeClr>
          </a:solidFill>
          <a:ln/>
        </p:spPr>
      </p:sp>
      <p:sp>
        <p:nvSpPr>
          <p:cNvPr id="15" name="Text 12"/>
          <p:cNvSpPr txBox="1"/>
          <p:nvPr/>
        </p:nvSpPr>
        <p:spPr>
          <a:xfrm>
            <a:off x="777240" y="5532120"/>
            <a:ext cx="10637215" cy="594360"/>
          </a:xfrm>
          <a:prstGeom prst="rect">
            <a:avLst/>
          </a:prstGeom>
          <a:noFill/>
          <a:ln/>
        </p:spPr>
        <p:txBody>
          <a:bodyPr wrap="square" lIns="0" tIns="0" rIns="0" bIns="0" rtlCol="0" anchor="ctr"/>
          <a:lstStyle/>
          <a:p>
            <a:pPr indent="0" marL="0">
              <a:buNone/>
            </a:pPr>
            <a:r>
              <a:rPr lang="en-US" sz="1250" b="1" dirty="0">
                <a:solidFill>
                  <a:schemeClr val="tx2"/>
                </a:solidFill>
              </a:rPr>
              <a:t>Also:  </a:t>
            </a:r>
            <a:pPr indent="0" marL="0">
              <a:buNone/>
            </a:pPr>
            <a:r>
              <a:rPr lang="en-US" sz="1250" dirty="0">
                <a:solidFill>
                  <a:schemeClr val="tx1"/>
                </a:solidFill>
              </a:rPr>
              <a:t>an object with 5 or more dependents is a hub (HIGH_BLAST_RADIUS); a SHA-256 fingerprint identifies the plan; the last 20 scoring runs are kept.</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33</a:t>
            </a:fld>
            <a:endParaRPr lang="en-US"/>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04 · THE SIX STEPS</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Plan: findings raised before anything is written</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migration/preflight.py</a:t>
            </a:r>
            <a:endParaRPr lang="en-US" sz="11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965960"/>
                <a:gridCol w="6355080"/>
                <a:gridCol w="2770632"/>
              </a:tblGrid>
              <a:tr h="310896">
                <a:tc>
                  <a:txBody>
                    <a:bodyPr/>
                    <a:lstStyle/>
                    <a:p>
                      <a:pPr indent="0" marL="0">
                        <a:buNone/>
                      </a:pPr>
                      <a:r>
                        <a:rPr lang="en-US" sz="1100" b="1" dirty="0">
                          <a:solidFill>
                            <a:schemeClr val="bg1"/>
                          </a:solidFill>
                        </a:rPr>
                        <a:t>Area</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indent="0" marL="0">
                        <a:buNone/>
                      </a:pPr>
                      <a:r>
                        <a:rPr lang="en-US" sz="1100" b="1" dirty="0">
                          <a:solidFill>
                            <a:schemeClr val="bg1"/>
                          </a:solidFill>
                        </a:rPr>
                        <a:t>Finding codes</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indent="0" marL="0">
                        <a:buNone/>
                      </a:pPr>
                      <a:r>
                        <a:rPr lang="en-US" sz="1100" b="1" dirty="0">
                          <a:solidFill>
                            <a:schemeClr val="bg1"/>
                          </a:solidFill>
                        </a:rPr>
                        <a:t>Severity</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r>
              <a:tr h="347472">
                <a:tc>
                  <a:txBody>
                    <a:bodyPr/>
                    <a:lstStyle/>
                    <a:p>
                      <a:pPr indent="0" marL="0">
                        <a:buNone/>
                      </a:pPr>
                      <a:r>
                        <a:rPr lang="en-US" sz="1100" b="1" dirty="0">
                          <a:solidFill>
                            <a:schemeClr val="tx2"/>
                          </a:solidFill>
                        </a:rPr>
                        <a:t>Dependencies</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DEPENDENCY_LATER · DEPENDENCY_NOT_PLANNED · HIGH_BLAST_RADIUS · NOT_AUTOMATED</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Blocking · High · Medium · Low</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47472">
                <a:tc>
                  <a:txBody>
                    <a:bodyPr/>
                    <a:lstStyle/>
                    <a:p>
                      <a:pPr indent="0" marL="0">
                        <a:buNone/>
                      </a:pPr>
                      <a:r>
                        <a:rPr lang="en-US" sz="1100" b="1" dirty="0">
                          <a:solidFill>
                            <a:schemeClr val="tx2"/>
                          </a:solidFill>
                        </a:rPr>
                        <a:t>Target and machine</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00" dirty="0">
                          <a:solidFill>
                            <a:schemeClr val="tx1"/>
                          </a:solidFill>
                        </a:rPr>
                        <a:t>TARGET_NOT_READY (no target, capacity, ODBC driver or source) · TARGET_WARNING</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00" dirty="0">
                          <a:solidFill>
                            <a:schemeClr val="tx1"/>
                          </a:solidFill>
                        </a:rPr>
                        <a:t>Blocking · Medium</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47472">
                <a:tc>
                  <a:txBody>
                    <a:bodyPr/>
                    <a:lstStyle/>
                    <a:p>
                      <a:pPr indent="0" marL="0">
                        <a:buNone/>
                      </a:pPr>
                      <a:r>
                        <a:rPr lang="en-US" sz="1100" b="1" dirty="0">
                          <a:solidFill>
                            <a:schemeClr val="tx2"/>
                          </a:solidFill>
                        </a:rPr>
                        <a:t>Tables</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UNSUPPORTED_TYPE · MASK_UNSUPPORTED · DEFINITION_UNREADABLE · TYPE_CONVERSION</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Blocking · Blocking · High · Low</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47472">
                <a:tc>
                  <a:txBody>
                    <a:bodyPr/>
                    <a:lstStyle/>
                    <a:p>
                      <a:pPr indent="0" marL="0">
                        <a:buNone/>
                      </a:pPr>
                      <a:r>
                        <a:rPr lang="en-US" sz="1100" b="1" dirty="0">
                          <a:solidFill>
                            <a:schemeClr val="tx2"/>
                          </a:solidFill>
                        </a:rPr>
                        <a:t>SQL code</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00" dirty="0">
                          <a:solidFill>
                            <a:schemeClr val="tx1"/>
                          </a:solidFill>
                        </a:rPr>
                        <a:t>DEFINITION_UNREADABLE (encrypted) · SYNAPSE_TSQL · TSQL_CONVERTED</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00" dirty="0">
                          <a:solidFill>
                            <a:schemeClr val="tx1"/>
                          </a:solidFill>
                        </a:rPr>
                        <a:t>Blocking · Medium · Low</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47472">
                <a:tc>
                  <a:txBody>
                    <a:bodyPr/>
                    <a:lstStyle/>
                    <a:p>
                      <a:pPr indent="0" marL="0">
                        <a:buNone/>
                      </a:pPr>
                      <a:r>
                        <a:rPr lang="en-US" sz="1100" b="1" dirty="0">
                          <a:solidFill>
                            <a:schemeClr val="tx2"/>
                          </a:solidFill>
                        </a:rPr>
                        <a:t>Security</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SECURITY_REVIEW · SECURITY_DENY · NEEDS_PERSON</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Low or Medium · Low · Medium</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47472">
                <a:tc>
                  <a:txBody>
                    <a:bodyPr/>
                    <a:lstStyle/>
                    <a:p>
                      <a:pPr indent="0" marL="0">
                        <a:buNone/>
                      </a:pPr>
                      <a:r>
                        <a:rPr lang="en-US" sz="1100" b="1" dirty="0">
                          <a:solidFill>
                            <a:schemeClr val="tx2"/>
                          </a:solidFill>
                        </a:rPr>
                        <a:t>Data</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00" dirty="0">
                          <a:solidFill>
                            <a:schemeClr val="tx1"/>
                          </a:solidFill>
                        </a:rPr>
                        <a:t>DATA_UNSUPPORTED · FILTER_INVALID · SYNC_APPEND_ONLY</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00" dirty="0">
                          <a:solidFill>
                            <a:schemeClr val="tx1"/>
                          </a:solidFill>
                        </a:rPr>
                        <a:t>High · High · Medium</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47472">
                <a:tc>
                  <a:txBody>
                    <a:bodyPr/>
                    <a:lstStyle/>
                    <a:p>
                      <a:pPr indent="0" marL="0">
                        <a:buNone/>
                      </a:pPr>
                      <a:r>
                        <a:rPr lang="en-US" sz="1100" b="1" dirty="0">
                          <a:solidFill>
                            <a:schemeClr val="tx2"/>
                          </a:solidFill>
                        </a:rPr>
                        <a:t>Spark and notebooks</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NEEDS_REWRITE · NOTEBOOK_REVIEW · SPARK_SETTINGS</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High · Medium · Low</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47472">
                <a:tc>
                  <a:txBody>
                    <a:bodyPr/>
                    <a:lstStyle/>
                    <a:p>
                      <a:pPr indent="0" marL="0">
                        <a:buNone/>
                      </a:pPr>
                      <a:r>
                        <a:rPr lang="en-US" sz="1100" b="1" dirty="0">
                          <a:solidFill>
                            <a:schemeClr val="tx2"/>
                          </a:solidFill>
                        </a:rPr>
                        <a:t>Pipelines, schedules</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00" dirty="0">
                          <a:solidFill>
                            <a:schemeClr val="tx1"/>
                          </a:solidFill>
                        </a:rPr>
                        <a:t>NEEDS_REWRITE · DEPENDENCY_UNRESOLVED · RECREATE_BY_HAND</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00" dirty="0">
                          <a:solidFill>
                            <a:schemeClr val="tx1"/>
                          </a:solidFill>
                        </a:rPr>
                        <a:t>High · High · Medium</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47472">
                <a:tc>
                  <a:txBody>
                    <a:bodyPr/>
                    <a:lstStyle/>
                    <a:p>
                      <a:pPr indent="0" marL="0">
                        <a:buNone/>
                      </a:pPr>
                      <a:r>
                        <a:rPr lang="en-US" sz="1100" b="1" dirty="0">
                          <a:solidFill>
                            <a:schemeClr val="tx2"/>
                          </a:solidFill>
                        </a:rPr>
                        <a:t>Connections</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CONNECTION_BY_HAND · NEEDS_CREDENTIALS</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Medium · Medium</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47472">
                <a:tc>
                  <a:txBody>
                    <a:bodyPr/>
                    <a:lstStyle/>
                    <a:p>
                      <a:pPr indent="0" marL="0">
                        <a:buNone/>
                      </a:pPr>
                      <a:r>
                        <a:rPr lang="en-US" sz="1100" b="1" dirty="0">
                          <a:solidFill>
                            <a:schemeClr val="tx2"/>
                          </a:solidFill>
                        </a:rPr>
                        <a:t>Storage</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00" dirty="0">
                          <a:solidFill>
                            <a:schemeClr val="tx1"/>
                          </a:solidFill>
                        </a:rPr>
                        <a:t>EXTERNAL_STORAGE · DEPENDS_ON_STORAGE · STORAGE_ROUTED · SERVERLESS_SQL</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00" dirty="0">
                          <a:solidFill>
                            <a:schemeClr val="tx1"/>
                          </a:solidFill>
                        </a:rPr>
                        <a:t>Medium · Medium · Low · Low/Medium</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47472">
                <a:tc>
                  <a:txBody>
                    <a:bodyPr/>
                    <a:lstStyle/>
                    <a:p>
                      <a:pPr indent="0" marL="0">
                        <a:buNone/>
                      </a:pPr>
                      <a:r>
                        <a:rPr lang="en-US" sz="1100" b="1" dirty="0">
                          <a:solidFill>
                            <a:schemeClr val="tx2"/>
                          </a:solidFill>
                        </a:rPr>
                        <a:t>LLM drafts</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LLM_TRANSFORM: the object uses an accepted draft</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Low</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5733288"/>
            <a:ext cx="11094415" cy="457200"/>
          </a:xfrm>
          <a:prstGeom prst="rect">
            <a:avLst/>
          </a:prstGeom>
          <a:noFill/>
          <a:ln/>
        </p:spPr>
        <p:txBody>
          <a:bodyPr wrap="square" lIns="0" tIns="0" rIns="0" bIns="0" rtlCol="0" anchor="t"/>
          <a:lstStyle/>
          <a:p>
            <a:pPr indent="0" marL="0">
              <a:buNone/>
            </a:pPr>
            <a:r>
              <a:rPr lang="en-US" sz="1200" dirty="0">
                <a:solidFill>
                  <a:schemeClr val="accent6"/>
                </a:solidFill>
              </a:rPr>
              <a:t>Findings reuse the very converters the run uses, so what is predicted is what the run does. EXTERNAL_STORAGE is High for a Spark job's main file; SERVERLESS_SQL is Medium when the script reads storage that is not routed.</a:t>
            </a:r>
            <a:endParaRPr lang="en-US" sz="12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34</a:t>
            </a:fld>
            <a:endParaRPr lang="en-US"/>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04 · THE SIX STEPS</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Plan: 11 stages, each switched on or off</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migration/capabilities.py</a:t>
            </a:r>
            <a:endParaRPr lang="en-US" sz="11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411480"/>
                <a:gridCol w="2103120"/>
                <a:gridCol w="2697480"/>
                <a:gridCol w="2697480"/>
                <a:gridCol w="1600200"/>
                <a:gridCol w="1581912"/>
              </a:tblGrid>
              <a:tr h="310896">
                <a:tc>
                  <a:txBody>
                    <a:bodyPr/>
                    <a:lstStyle/>
                    <a:p>
                      <a:pPr indent="0" marL="0">
                        <a:buNone/>
                      </a:pPr>
                      <a:r>
                        <a:rPr lang="en-US" sz="1150" b="1" dirty="0">
                          <a:solidFill>
                            <a:schemeClr val="bg1"/>
                          </a:solidFill>
                        </a:rPr>
                        <a: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indent="0" marL="0">
                        <a:buNone/>
                      </a:pPr>
                      <a:r>
                        <a:rPr lang="en-US" sz="1150" b="1" dirty="0">
                          <a:solidFill>
                            <a:schemeClr val="bg1"/>
                          </a:solidFill>
                        </a:rPr>
                        <a:t>Stage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indent="0" marL="0">
                        <a:buNone/>
                      </a:pPr>
                      <a:r>
                        <a:rPr lang="en-US" sz="1150" b="1" dirty="0">
                          <a:solidFill>
                            <a:schemeClr val="bg1"/>
                          </a:solidFill>
                        </a:rPr>
                        <a:t>Synapse objects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indent="0" marL="0">
                        <a:buNone/>
                      </a:pPr>
                      <a:r>
                        <a:rPr lang="en-US" sz="1150" b="1" dirty="0">
                          <a:solidFill>
                            <a:schemeClr val="bg1"/>
                          </a:solidFill>
                        </a:rPr>
                        <a:t>Creates in Fabric</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indent="0" marL="0">
                        <a:buNone/>
                      </a:pPr>
                      <a:r>
                        <a:rPr lang="en-US" sz="1150" b="1" dirty="0">
                          <a:solidFill>
                            <a:schemeClr val="bg1"/>
                          </a:solidFill>
                        </a:rPr>
                        <a:t>Needs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indent="0" marL="0">
                        <a:buNone/>
                      </a:pPr>
                      <a:r>
                        <a:rPr lang="en-US" sz="1150" b="1" dirty="0">
                          <a:solidFill>
                            <a:schemeClr val="bg1"/>
                          </a:solidFill>
                        </a:rPr>
                        <a:t>Options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r>
              <a:tr h="457200">
                <a:tc>
                  <a:txBody>
                    <a:bodyPr/>
                    <a:lstStyle/>
                    <a:p>
                      <a:pPr indent="0" marL="0">
                        <a:buNone/>
                      </a:pPr>
                      <a:r>
                        <a:rPr lang="en-US" sz="1150" b="1" dirty="0">
                          <a:solidFill>
                            <a:schemeClr val="tx2"/>
                          </a:solidFill>
                        </a:rPr>
                        <a:t>1</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Warehouse &amp; schema</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Pool, schema, table, function, view, procedure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Warehouse and its objects (tables empty)</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Collation (3)</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chemeClr val="tx2"/>
                          </a:solidFill>
                        </a:rPr>
                        <a:t>2</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Table data</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Table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Data pipelines; the rows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Warehouse, credentials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Run (2), rows (2), re-read (3)</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24612">
                <a:tc>
                  <a:txBody>
                    <a:bodyPr/>
                    <a:lstStyle/>
                    <a:p>
                      <a:pPr indent="0" marL="0">
                        <a:buNone/>
                      </a:pPr>
                      <a:r>
                        <a:rPr lang="en-US" sz="1150" b="1" dirty="0">
                          <a:solidFill>
                            <a:schemeClr val="tx2"/>
                          </a:solidFill>
                        </a:rPr>
                        <a:t>3</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Roles &amp; permissions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Security object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Roles, members, permissions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Warehouse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24612">
                <a:tc>
                  <a:txBody>
                    <a:bodyPr/>
                    <a:lstStyle/>
                    <a:p>
                      <a:pPr indent="0" marL="0">
                        <a:buNone/>
                      </a:pPr>
                      <a:r>
                        <a:rPr lang="en-US" sz="1150" b="1" dirty="0">
                          <a:solidFill>
                            <a:schemeClr val="tx2"/>
                          </a:solidFill>
                        </a:rPr>
                        <a:t>4</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Spark pool &amp; environment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Spark pool</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Spark pool, Environment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24612">
                <a:tc>
                  <a:txBody>
                    <a:bodyPr/>
                    <a:lstStyle/>
                    <a:p>
                      <a:pPr indent="0" marL="0">
                        <a:buNone/>
                      </a:pPr>
                      <a:r>
                        <a:rPr lang="en-US" sz="1150" b="1" dirty="0">
                          <a:solidFill>
                            <a:schemeClr val="tx2"/>
                          </a:solidFill>
                        </a:rPr>
                        <a:t>5</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Notebooks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Notebook</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Notebooks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24612">
                <a:tc>
                  <a:txBody>
                    <a:bodyPr/>
                    <a:lstStyle/>
                    <a:p>
                      <a:pPr indent="0" marL="0">
                        <a:buNone/>
                      </a:pPr>
                      <a:r>
                        <a:rPr lang="en-US" sz="1150" b="1" dirty="0">
                          <a:solidFill>
                            <a:schemeClr val="tx2"/>
                          </a:solidFill>
                        </a:rPr>
                        <a:t>6</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Connections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Linked service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Fabric connections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Credentials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24612">
                <a:tc>
                  <a:txBody>
                    <a:bodyPr/>
                    <a:lstStyle/>
                    <a:p>
                      <a:pPr indent="0" marL="0">
                        <a:buNone/>
                      </a:pPr>
                      <a:r>
                        <a:rPr lang="en-US" sz="1150" b="1" dirty="0">
                          <a:solidFill>
                            <a:schemeClr val="tx2"/>
                          </a:solidFill>
                        </a:rPr>
                        <a:t>7</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Pipelines &amp; datasets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Pipeline, dataset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Data pipelines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Stages 1, 5, 6</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24612">
                <a:tc>
                  <a:txBody>
                    <a:bodyPr/>
                    <a:lstStyle/>
                    <a:p>
                      <a:pPr indent="0" marL="0">
                        <a:buNone/>
                      </a:pPr>
                      <a:r>
                        <a:rPr lang="en-US" sz="1150" b="1" dirty="0">
                          <a:solidFill>
                            <a:schemeClr val="tx2"/>
                          </a:solidFill>
                        </a:rPr>
                        <a:t>8</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Spark job definitions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Spark job definition</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Spark job definitions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24612">
                <a:tc>
                  <a:txBody>
                    <a:bodyPr/>
                    <a:lstStyle/>
                    <a:p>
                      <a:pPr indent="0" marL="0">
                        <a:buNone/>
                      </a:pPr>
                      <a:r>
                        <a:rPr lang="en-US" sz="1150" b="1" dirty="0">
                          <a:solidFill>
                            <a:schemeClr val="tx2"/>
                          </a:solidFill>
                        </a:rPr>
                        <a:t>9</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SQL scripts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SQL script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Notebooks with a T-SQL cell</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Warehouse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24612">
                <a:tc>
                  <a:txBody>
                    <a:bodyPr/>
                    <a:lstStyle/>
                    <a:p>
                      <a:pPr indent="0" marL="0">
                        <a:buNone/>
                      </a:pPr>
                      <a:r>
                        <a:rPr lang="en-US" sz="1150" b="1" dirty="0">
                          <a:solidFill>
                            <a:schemeClr val="tx2"/>
                          </a:solidFill>
                        </a:rPr>
                        <a:t>10</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Schedules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Trigger</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Pipeline schedules, switched off</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Pipelines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24612">
                <a:tc>
                  <a:txBody>
                    <a:bodyPr/>
                    <a:lstStyle/>
                    <a:p>
                      <a:pPr indent="0" marL="0">
                        <a:buNone/>
                      </a:pPr>
                      <a:r>
                        <a:rPr lang="en-US" sz="1150" b="1" dirty="0">
                          <a:solidFill>
                            <a:schemeClr val="tx2"/>
                          </a:solidFill>
                        </a:rPr>
                        <a:t>11</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External tables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External table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Lakehouse and shortcuts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Connections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5733288"/>
            <a:ext cx="11094415" cy="530352"/>
          </a:xfrm>
          <a:prstGeom prst="roundRect">
            <a:avLst>
              <a:gd name="adj" fmla="val 20690"/>
            </a:avLst>
          </a:prstGeom>
          <a:solidFill>
            <a:schemeClr val="accent1">
              <a:alpha val="13000"/>
            </a:schemeClr>
          </a:solidFill>
          <a:ln/>
        </p:spPr>
      </p:sp>
      <p:sp>
        <p:nvSpPr>
          <p:cNvPr id="7" name="Text 4"/>
          <p:cNvSpPr txBox="1"/>
          <p:nvPr/>
        </p:nvSpPr>
        <p:spPr>
          <a:xfrm>
            <a:off x="777240" y="5733288"/>
            <a:ext cx="10637215" cy="530352"/>
          </a:xfrm>
          <a:prstGeom prst="rect">
            <a:avLst/>
          </a:prstGeom>
          <a:noFill/>
          <a:ln/>
        </p:spPr>
        <p:txBody>
          <a:bodyPr wrap="square" lIns="0" tIns="0" rIns="0" bIns="0" rtlCol="0" anchor="ctr"/>
          <a:lstStyle/>
          <a:p>
            <a:pPr indent="0" marL="0">
              <a:buNone/>
            </a:pPr>
            <a:r>
              <a:rPr lang="en-US" sz="1250" b="1" dirty="0">
                <a:solidFill>
                  <a:schemeClr val="tx2"/>
                </a:solidFill>
              </a:rPr>
              <a:t>Run options:  </a:t>
            </a:r>
            <a:pPr indent="0" marL="0">
              <a:buNone/>
            </a:pPr>
            <a:r>
              <a:rPr lang="en-US" sz="1250" dirty="0">
                <a:solidFill>
                  <a:schemeClr val="tx1"/>
                </a:solidFill>
              </a:rPr>
              <a:t>scope (automated only, or everything with the rest listed as deferred) · stop at a wave with failures · update objects already in Fabric · commit to Fabric Git (on).</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35</a:t>
            </a:fld>
            <a:endParaRPr lang="en-US"/>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04 · THE SIX STEPS</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Plan: credentials, date filters and storage routes</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components/migrate/</a:t>
            </a:r>
            <a:endParaRPr lang="en-US" sz="1100" dirty="0"/>
          </a:p>
        </p:txBody>
      </p:sp>
      <p:sp>
        <p:nvSpPr>
          <p:cNvPr id="5" name="Shape 3"/>
          <p:cNvSpPr/>
          <p:nvPr/>
        </p:nvSpPr>
        <p:spPr>
          <a:xfrm>
            <a:off x="548640" y="1481328"/>
            <a:ext cx="3547872" cy="3429000"/>
          </a:xfrm>
          <a:prstGeom prst="roundRect">
            <a:avLst>
              <a:gd name="adj" fmla="val 3200"/>
            </a:avLst>
          </a:prstGeom>
          <a:solidFill>
            <a:schemeClr val="bg2"/>
          </a:solidFill>
          <a:ln/>
        </p:spPr>
      </p:sp>
      <p:sp>
        <p:nvSpPr>
          <p:cNvPr id="6" name="Text 4"/>
          <p:cNvSpPr txBox="1"/>
          <p:nvPr/>
        </p:nvSpPr>
        <p:spPr>
          <a:xfrm>
            <a:off x="777240" y="1664208"/>
            <a:ext cx="3090672"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CREDENTIALS</a:t>
            </a:r>
            <a:endParaRPr lang="en-US" sz="1100" dirty="0"/>
          </a:p>
        </p:txBody>
      </p:sp>
      <p:sp>
        <p:nvSpPr>
          <p:cNvPr id="7" name="Text 5"/>
          <p:cNvSpPr txBox="1"/>
          <p:nvPr/>
        </p:nvSpPr>
        <p:spPr>
          <a:xfrm>
            <a:off x="749808" y="1984248"/>
            <a:ext cx="3163824" cy="27889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chemeClr val="tx1"/>
                </a:solidFill>
              </a:rPr>
              <a:t>Asked per linked service, and for the connection the data pipelines read the pool through</a:t>
            </a:r>
            <a:endParaRPr lang="en-US" sz="1400" dirty="0"/>
          </a:p>
          <a:p>
            <a:pPr marL="177800" indent="-177800">
              <a:spcAft>
                <a:spcPts val="600"/>
              </a:spcAft>
              <a:buSzPct val="100000"/>
              <a:buChar char="•"/>
            </a:pPr>
            <a:r>
              <a:rPr lang="en-US" sz="1250" dirty="0">
                <a:solidFill>
                  <a:schemeClr val="tx1"/>
                </a:solidFill>
              </a:rPr>
              <a:t>SQL: 5 choices; storage: 7 (detailed in section 05)</a:t>
            </a:r>
            <a:endParaRPr lang="en-US" sz="1400" dirty="0"/>
          </a:p>
          <a:p>
            <a:pPr marL="177800" indent="-177800">
              <a:spcAft>
                <a:spcPts val="600"/>
              </a:spcAft>
              <a:buSzPct val="100000"/>
              <a:buChar char="•"/>
            </a:pPr>
            <a:r>
              <a:rPr lang="en-US" sz="1250" dirty="0">
                <a:solidFill>
                  <a:schemeClr val="tx1"/>
                </a:solidFill>
              </a:rPr>
              <a:t>Workspace identity and Key Vault references are offered first: no secret passes through the tool</a:t>
            </a:r>
            <a:endParaRPr lang="en-US" sz="1400" dirty="0"/>
          </a:p>
          <a:p>
            <a:pPr marL="177800" indent="-177800">
              <a:spcAft>
                <a:spcPts val="600"/>
              </a:spcAft>
              <a:buSzPct val="100000"/>
              <a:buChar char="•"/>
            </a:pPr>
            <a:r>
              <a:rPr lang="en-US" sz="1250" dirty="0">
                <a:solidFill>
                  <a:schemeClr val="tx1"/>
                </a:solidFill>
              </a:rPr>
              <a:t>Typed secrets: held in memory for the run, never written to disk, logged, returned, or saved in the browser</a:t>
            </a:r>
            <a:endParaRPr lang="en-US" sz="1400" dirty="0"/>
          </a:p>
        </p:txBody>
      </p:sp>
      <p:sp>
        <p:nvSpPr>
          <p:cNvPr id="8" name="Shape 6"/>
          <p:cNvSpPr/>
          <p:nvPr/>
        </p:nvSpPr>
        <p:spPr>
          <a:xfrm>
            <a:off x="4325112" y="1481328"/>
            <a:ext cx="3547872" cy="3429000"/>
          </a:xfrm>
          <a:prstGeom prst="roundRect">
            <a:avLst>
              <a:gd name="adj" fmla="val 3200"/>
            </a:avLst>
          </a:prstGeom>
          <a:solidFill>
            <a:schemeClr val="bg2"/>
          </a:solidFill>
          <a:ln/>
        </p:spPr>
      </p:sp>
      <p:sp>
        <p:nvSpPr>
          <p:cNvPr id="9" name="Text 7"/>
          <p:cNvSpPr txBox="1"/>
          <p:nvPr/>
        </p:nvSpPr>
        <p:spPr>
          <a:xfrm>
            <a:off x="4553712" y="1664208"/>
            <a:ext cx="3090672"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DATE FILTERS</a:t>
            </a:r>
            <a:endParaRPr lang="en-US" sz="1100" dirty="0"/>
          </a:p>
        </p:txBody>
      </p:sp>
      <p:sp>
        <p:nvSpPr>
          <p:cNvPr id="10" name="Text 8"/>
          <p:cNvSpPr txBox="1"/>
          <p:nvPr/>
        </p:nvSpPr>
        <p:spPr>
          <a:xfrm>
            <a:off x="4526280" y="1984248"/>
            <a:ext cx="3163824" cy="27889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chemeClr val="tx1"/>
                </a:solidFill>
              </a:rPr>
              <a:t>Per table: date column, from, until, keep in sync, change column, key columns</a:t>
            </a:r>
            <a:endParaRPr lang="en-US" sz="1400" dirty="0"/>
          </a:p>
          <a:p>
            <a:pPr marL="177800" indent="-177800">
              <a:spcAft>
                <a:spcPts val="600"/>
              </a:spcAft>
              <a:buSzPct val="100000"/>
              <a:buChar char="•"/>
            </a:pPr>
            <a:r>
              <a:rPr lang="en-US" sz="1250" dirty="0">
                <a:solidFill>
                  <a:schemeClr val="tx1"/>
                </a:solidFill>
              </a:rPr>
              <a:t>Bulk: the same filter on every table with a given column</a:t>
            </a:r>
            <a:endParaRPr lang="en-US" sz="1400" dirty="0"/>
          </a:p>
          <a:p>
            <a:pPr marL="177800" indent="-177800">
              <a:spcAft>
                <a:spcPts val="600"/>
              </a:spcAft>
              <a:buSzPct val="100000"/>
              <a:buChar char="•"/>
            </a:pPr>
            <a:r>
              <a:rPr lang="en-US" sz="1250" dirty="0">
                <a:solidFill>
                  <a:schemeClr val="tx1"/>
                </a:solidFill>
              </a:rPr>
              <a:t>Dates are fixed in the plan, so every run copies the same rows</a:t>
            </a:r>
            <a:endParaRPr lang="en-US" sz="1400" dirty="0"/>
          </a:p>
          <a:p>
            <a:pPr marL="177800" indent="-177800">
              <a:spcAft>
                <a:spcPts val="600"/>
              </a:spcAft>
              <a:buSzPct val="100000"/>
              <a:buChar char="•"/>
            </a:pPr>
            <a:r>
              <a:rPr lang="en-US" sz="1250" dirty="0">
                <a:solidFill>
                  <a:schemeClr val="tx1"/>
                </a:solidFill>
              </a:rPr>
              <a:t>Blocked: a non-date column, no dates at all, from after until, sync with an end date; warned: sync without keys</a:t>
            </a:r>
            <a:endParaRPr lang="en-US" sz="1400" dirty="0"/>
          </a:p>
        </p:txBody>
      </p:sp>
      <p:sp>
        <p:nvSpPr>
          <p:cNvPr id="11" name="Shape 9"/>
          <p:cNvSpPr/>
          <p:nvPr/>
        </p:nvSpPr>
        <p:spPr>
          <a:xfrm>
            <a:off x="8092440" y="1481328"/>
            <a:ext cx="3547872" cy="3429000"/>
          </a:xfrm>
          <a:prstGeom prst="roundRect">
            <a:avLst>
              <a:gd name="adj" fmla="val 3200"/>
            </a:avLst>
          </a:prstGeom>
          <a:solidFill>
            <a:schemeClr val="bg2"/>
          </a:solidFill>
          <a:ln/>
        </p:spPr>
      </p:sp>
      <p:sp>
        <p:nvSpPr>
          <p:cNvPr id="12" name="Text 10"/>
          <p:cNvSpPr txBox="1"/>
          <p:nvPr/>
        </p:nvSpPr>
        <p:spPr>
          <a:xfrm>
            <a:off x="8321040" y="1664208"/>
            <a:ext cx="3090672"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EXTERNAL STORAGE → ONELAKE</a:t>
            </a:r>
            <a:endParaRPr lang="en-US" sz="1100" dirty="0"/>
          </a:p>
        </p:txBody>
      </p:sp>
      <p:sp>
        <p:nvSpPr>
          <p:cNvPr id="13" name="Text 11"/>
          <p:cNvSpPr txBox="1"/>
          <p:nvPr/>
        </p:nvSpPr>
        <p:spPr>
          <a:xfrm>
            <a:off x="8293608" y="1984248"/>
            <a:ext cx="3163824" cy="27889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chemeClr val="tx1"/>
                </a:solidFill>
              </a:rPr>
              <a:t>Lists every storage location (account, container) the code reads directly</a:t>
            </a:r>
            <a:endParaRPr lang="en-US" sz="1400" dirty="0"/>
          </a:p>
          <a:p>
            <a:pPr marL="177800" indent="-177800">
              <a:spcAft>
                <a:spcPts val="600"/>
              </a:spcAft>
              <a:buSzPct val="100000"/>
              <a:buChar char="•"/>
            </a:pPr>
            <a:r>
              <a:rPr lang="en-US" sz="1250" dirty="0">
                <a:solidFill>
                  <a:schemeClr val="tx1"/>
                </a:solidFill>
              </a:rPr>
              <a:t>Each is routed through a Fabric connection: an existing one, or one the Connections stage makes</a:t>
            </a:r>
            <a:endParaRPr lang="en-US" sz="1400" dirty="0"/>
          </a:p>
          <a:p>
            <a:pPr marL="177800" indent="-177800">
              <a:spcAft>
                <a:spcPts val="600"/>
              </a:spcAft>
              <a:buSzPct val="100000"/>
              <a:buChar char="•"/>
            </a:pPr>
            <a:r>
              <a:rPr lang="en-US" sz="1250" dirty="0">
                <a:solidFill>
                  <a:schemeClr val="tx1"/>
                </a:solidFill>
              </a:rPr>
              <a:t>Ticked by default; up to 50 routes</a:t>
            </a:r>
            <a:endParaRPr lang="en-US" sz="1400" dirty="0"/>
          </a:p>
          <a:p>
            <a:pPr marL="177800" indent="-177800">
              <a:spcAft>
                <a:spcPts val="600"/>
              </a:spcAft>
              <a:buSzPct val="100000"/>
              <a:buChar char="•"/>
            </a:pPr>
            <a:r>
              <a:rPr lang="en-US" sz="1250" dirty="0">
                <a:solidFill>
                  <a:schemeClr val="tx1"/>
                </a:solidFill>
              </a:rPr>
              <a:t>An unrouted location stays an EXTERNAL_STORAGE risk</a:t>
            </a:r>
            <a:endParaRPr lang="en-US" sz="1400" dirty="0"/>
          </a:p>
        </p:txBody>
      </p:sp>
      <p:sp>
        <p:nvSpPr>
          <p:cNvPr id="14" name="Shape 12"/>
          <p:cNvSpPr/>
          <p:nvPr/>
        </p:nvSpPr>
        <p:spPr>
          <a:xfrm>
            <a:off x="548640" y="5138928"/>
            <a:ext cx="11094415" cy="868680"/>
          </a:xfrm>
          <a:prstGeom prst="roundRect">
            <a:avLst>
              <a:gd name="adj" fmla="val 12632"/>
            </a:avLst>
          </a:prstGeom>
          <a:solidFill>
            <a:schemeClr val="accent1">
              <a:alpha val="13000"/>
            </a:schemeClr>
          </a:solidFill>
          <a:ln/>
        </p:spPr>
      </p:sp>
      <p:sp>
        <p:nvSpPr>
          <p:cNvPr id="15" name="Text 13"/>
          <p:cNvSpPr txBox="1"/>
          <p:nvPr/>
        </p:nvSpPr>
        <p:spPr>
          <a:xfrm>
            <a:off x="777240" y="5138928"/>
            <a:ext cx="10637215" cy="868680"/>
          </a:xfrm>
          <a:prstGeom prst="rect">
            <a:avLst/>
          </a:prstGeom>
          <a:noFill/>
          <a:ln/>
        </p:spPr>
        <p:txBody>
          <a:bodyPr wrap="square" lIns="0" tIns="0" rIns="0" bIns="0" rtlCol="0" anchor="ctr"/>
          <a:lstStyle/>
          <a:p>
            <a:pPr indent="0" marL="0">
              <a:buNone/>
            </a:pPr>
            <a:r>
              <a:rPr lang="en-US" sz="1250" b="1" dirty="0">
                <a:solidFill>
                  <a:schemeClr val="tx2"/>
                </a:solidFill>
              </a:rPr>
              <a:t>Configuration only:  </a:t>
            </a:r>
            <a:pPr indent="0" marL="0">
              <a:buNone/>
            </a:pPr>
            <a:r>
              <a:rPr lang="en-US" sz="1250" dirty="0">
                <a:solidFill>
                  <a:schemeClr val="tx1"/>
                </a:solidFill>
              </a:rPr>
              <a:t>nothing runs from Plan. Each of these is explained item by item in section 05: Connections and credentials, Date filters, Keep in sync, Storage routing.</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36</a:t>
            </a:fld>
            <a:endParaRPr lang="en-US"/>
          </a:p>
        </p:txBody>
      </p:sp>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04 · THE SIX STEPS</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Migrate: how a run works</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migration/runner.py · api/migration.py</a:t>
            </a:r>
            <a:endParaRPr lang="en-US" sz="1100" dirty="0"/>
          </a:p>
        </p:txBody>
      </p:sp>
      <p:sp>
        <p:nvSpPr>
          <p:cNvPr id="5" name="Shape 3"/>
          <p:cNvSpPr/>
          <p:nvPr/>
        </p:nvSpPr>
        <p:spPr>
          <a:xfrm>
            <a:off x="548640" y="1481328"/>
            <a:ext cx="3977640" cy="4023360"/>
          </a:xfrm>
          <a:prstGeom prst="roundRect">
            <a:avLst>
              <a:gd name="adj" fmla="val 2759"/>
            </a:avLst>
          </a:prstGeom>
          <a:solidFill>
            <a:schemeClr val="bg2"/>
          </a:solidFill>
          <a:ln/>
        </p:spPr>
      </p:sp>
      <p:sp>
        <p:nvSpPr>
          <p:cNvPr id="6" name="Text 4"/>
          <p:cNvSpPr txBox="1"/>
          <p:nvPr/>
        </p:nvSpPr>
        <p:spPr>
          <a:xfrm>
            <a:off x="777240" y="1664208"/>
            <a:ext cx="3520440"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A RUN, STEP BY STEP</a:t>
            </a:r>
            <a:endParaRPr lang="en-US" sz="1100" dirty="0"/>
          </a:p>
        </p:txBody>
      </p:sp>
      <p:sp>
        <p:nvSpPr>
          <p:cNvPr id="7" name="Text 5"/>
          <p:cNvSpPr txBox="1"/>
          <p:nvPr/>
        </p:nvSpPr>
        <p:spPr>
          <a:xfrm>
            <a:off x="749808" y="1984248"/>
            <a:ext cx="3593592" cy="338328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Pre-run checks: target, capacity, ODBC driver, Synapse source</a:t>
            </a:r>
            <a:endParaRPr lang="en-US" sz="1400" dirty="0"/>
          </a:p>
          <a:p>
            <a:pPr marL="177800" indent="-177800">
              <a:spcAft>
                <a:spcPts val="500"/>
              </a:spcAft>
              <a:buSzPct val="100000"/>
              <a:buChar char="•"/>
            </a:pPr>
            <a:r>
              <a:rPr lang="en-US" sz="1250" dirty="0">
                <a:solidFill>
                  <a:schemeClr val="tx1"/>
                </a:solidFill>
              </a:rPr>
              <a:t>Plan entries become run items; a switched-off stage's items become deferred (scope: everything)</a:t>
            </a:r>
            <a:endParaRPr lang="en-US" sz="1400" dirty="0"/>
          </a:p>
          <a:p>
            <a:pPr marL="177800" indent="-177800">
              <a:spcAft>
                <a:spcPts val="500"/>
              </a:spcAft>
              <a:buSzPct val="100000"/>
              <a:buChar char="•"/>
            </a:pPr>
            <a:r>
              <a:rPr lang="en-US" sz="1250" dirty="0">
                <a:solidFill>
                  <a:schemeClr val="tx1"/>
                </a:solidFill>
              </a:rPr>
              <a:t>Items are ordered by wave, then by kind</a:t>
            </a:r>
            <a:endParaRPr lang="en-US" sz="1400" dirty="0"/>
          </a:p>
          <a:p>
            <a:pPr marL="177800" indent="-177800">
              <a:spcAft>
                <a:spcPts val="500"/>
              </a:spcAft>
              <a:buSzPct val="100000"/>
              <a:buChar char="•"/>
            </a:pPr>
            <a:r>
              <a:rPr lang="en-US" sz="1250" dirty="0">
                <a:solidFill>
                  <a:schemeClr val="tx1"/>
                </a:solidFill>
              </a:rPr>
              <a:t>Each item's handler creates it in Fabric and records status, step, target and notes</a:t>
            </a:r>
            <a:endParaRPr lang="en-US" sz="1400" dirty="0"/>
          </a:p>
          <a:p>
            <a:pPr marL="177800" indent="-177800">
              <a:spcAft>
                <a:spcPts val="500"/>
              </a:spcAft>
              <a:buSzPct val="100000"/>
              <a:buChar char="•"/>
            </a:pPr>
            <a:r>
              <a:rPr lang="en-US" sz="1250" dirty="0">
                <a:solidFill>
                  <a:schemeClr val="tx1"/>
                </a:solidFill>
              </a:rPr>
              <a:t>The first table of a wave loads the whole wave with one pipeline</a:t>
            </a:r>
            <a:endParaRPr lang="en-US" sz="1400" dirty="0"/>
          </a:p>
          <a:p>
            <a:pPr marL="177800" indent="-177800">
              <a:spcAft>
                <a:spcPts val="500"/>
              </a:spcAft>
              <a:buSzPct val="100000"/>
              <a:buChar char="•"/>
            </a:pPr>
            <a:r>
              <a:rPr lang="en-US" sz="1250" dirty="0">
                <a:solidFill>
                  <a:schemeClr val="tx1"/>
                </a:solidFill>
              </a:rPr>
              <a:t>When the run completes, it is committed to Fabric Git on its own thread</a:t>
            </a:r>
            <a:endParaRPr lang="en-US" sz="1400" dirty="0"/>
          </a:p>
        </p:txBody>
      </p:sp>
      <p:sp>
        <p:nvSpPr>
          <p:cNvPr id="8" name="Shape 6"/>
          <p:cNvSpPr/>
          <p:nvPr/>
        </p:nvSpPr>
        <p:spPr>
          <a:xfrm>
            <a:off x="4709160" y="1481328"/>
            <a:ext cx="3246120" cy="4023360"/>
          </a:xfrm>
          <a:prstGeom prst="roundRect">
            <a:avLst>
              <a:gd name="adj" fmla="val 3380"/>
            </a:avLst>
          </a:prstGeom>
          <a:solidFill>
            <a:schemeClr val="bg2"/>
          </a:solidFill>
          <a:ln/>
        </p:spPr>
      </p:sp>
      <p:sp>
        <p:nvSpPr>
          <p:cNvPr id="9" name="Text 7"/>
          <p:cNvSpPr txBox="1"/>
          <p:nvPr/>
        </p:nvSpPr>
        <p:spPr>
          <a:xfrm>
            <a:off x="4937760" y="1664208"/>
            <a:ext cx="2788920"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STATUSES</a:t>
            </a:r>
            <a:endParaRPr lang="en-US" sz="1100" dirty="0"/>
          </a:p>
        </p:txBody>
      </p:sp>
      <p:sp>
        <p:nvSpPr>
          <p:cNvPr id="10" name="Text 8"/>
          <p:cNvSpPr txBox="1"/>
          <p:nvPr/>
        </p:nvSpPr>
        <p:spPr>
          <a:xfrm>
            <a:off x="4910328" y="1984248"/>
            <a:ext cx="2862072" cy="338328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PENDING: waiting</a:t>
            </a:r>
            <a:endParaRPr lang="en-US" sz="1400" dirty="0"/>
          </a:p>
          <a:p>
            <a:pPr marL="177800" indent="-177800">
              <a:spcAft>
                <a:spcPts val="500"/>
              </a:spcAft>
              <a:buSzPct val="100000"/>
              <a:buChar char="•"/>
            </a:pPr>
            <a:r>
              <a:rPr lang="en-US" sz="1250" dirty="0">
                <a:solidFill>
                  <a:schemeClr val="tx1"/>
                </a:solidFill>
              </a:rPr>
              <a:t>IN PROGRESS: being created</a:t>
            </a:r>
            <a:endParaRPr lang="en-US" sz="1400" dirty="0"/>
          </a:p>
          <a:p>
            <a:pPr marL="177800" indent="-177800">
              <a:spcAft>
                <a:spcPts val="500"/>
              </a:spcAft>
              <a:buSzPct val="100000"/>
              <a:buChar char="•"/>
            </a:pPr>
            <a:r>
              <a:rPr lang="en-US" sz="1250" dirty="0">
                <a:solidFill>
                  <a:schemeClr val="tx1"/>
                </a:solidFill>
              </a:rPr>
              <a:t>COMPLETED: created or updated</a:t>
            </a:r>
            <a:endParaRPr lang="en-US" sz="1400" dirty="0"/>
          </a:p>
          <a:p>
            <a:pPr marL="177800" indent="-177800">
              <a:spcAft>
                <a:spcPts val="500"/>
              </a:spcAft>
              <a:buSzPct val="100000"/>
              <a:buChar char="•"/>
            </a:pPr>
            <a:r>
              <a:rPr lang="en-US" sz="1250" dirty="0">
                <a:solidFill>
                  <a:schemeClr val="tx1"/>
                </a:solidFill>
              </a:rPr>
              <a:t>SKIPPED: already in Fabric</a:t>
            </a:r>
            <a:endParaRPr lang="en-US" sz="1400" dirty="0"/>
          </a:p>
          <a:p>
            <a:pPr marL="177800" indent="-177800">
              <a:spcAft>
                <a:spcPts val="500"/>
              </a:spcAft>
              <a:buSzPct val="100000"/>
              <a:buChar char="•"/>
            </a:pPr>
            <a:r>
              <a:rPr lang="en-US" sz="1250" dirty="0">
                <a:solidFill>
                  <a:schemeClr val="tx1"/>
                </a:solidFill>
              </a:rPr>
              <a:t>FAILED: the reason is shown</a:t>
            </a:r>
            <a:endParaRPr lang="en-US" sz="1400" dirty="0"/>
          </a:p>
          <a:p>
            <a:pPr marL="177800" indent="-177800">
              <a:spcAft>
                <a:spcPts val="500"/>
              </a:spcAft>
              <a:buSzPct val="100000"/>
              <a:buChar char="•"/>
            </a:pPr>
            <a:r>
              <a:rPr lang="en-US" sz="1250" dirty="0">
                <a:solidFill>
                  <a:schemeClr val="tx1"/>
                </a:solidFill>
              </a:rPr>
              <a:t>DEFERRED: left for a person, with the reason</a:t>
            </a:r>
            <a:endParaRPr lang="en-US" sz="1400" dirty="0"/>
          </a:p>
        </p:txBody>
      </p:sp>
      <p:sp>
        <p:nvSpPr>
          <p:cNvPr id="11" name="Shape 9"/>
          <p:cNvSpPr/>
          <p:nvPr/>
        </p:nvSpPr>
        <p:spPr>
          <a:xfrm>
            <a:off x="8138160" y="1481328"/>
            <a:ext cx="3502152" cy="4023360"/>
          </a:xfrm>
          <a:prstGeom prst="roundRect">
            <a:avLst>
              <a:gd name="adj" fmla="val 3133"/>
            </a:avLst>
          </a:prstGeom>
          <a:solidFill>
            <a:schemeClr val="bg2"/>
          </a:solidFill>
          <a:ln/>
        </p:spPr>
      </p:sp>
      <p:sp>
        <p:nvSpPr>
          <p:cNvPr id="12" name="Text 10"/>
          <p:cNvSpPr txBox="1"/>
          <p:nvPr/>
        </p:nvSpPr>
        <p:spPr>
          <a:xfrm>
            <a:off x="8366760" y="1664208"/>
            <a:ext cx="3044952"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CONTROLS</a:t>
            </a:r>
            <a:endParaRPr lang="en-US" sz="1100" dirty="0"/>
          </a:p>
        </p:txBody>
      </p:sp>
      <p:sp>
        <p:nvSpPr>
          <p:cNvPr id="13" name="Text 11"/>
          <p:cNvSpPr txBox="1"/>
          <p:nvPr/>
        </p:nvSpPr>
        <p:spPr>
          <a:xfrm>
            <a:off x="8339328" y="1984248"/>
            <a:ext cx="3118104" cy="338328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Every stage that is on, or one stage on its own</a:t>
            </a:r>
            <a:endParaRPr lang="en-US" sz="1400" dirty="0"/>
          </a:p>
          <a:p>
            <a:pPr marL="177800" indent="-177800">
              <a:spcAft>
                <a:spcPts val="500"/>
              </a:spcAft>
              <a:buSzPct val="100000"/>
              <a:buChar char="•"/>
            </a:pPr>
            <a:r>
              <a:rPr lang="en-US" sz="1250" dirty="0">
                <a:solidFill>
                  <a:schemeClr val="tx1"/>
                </a:solidFill>
              </a:rPr>
              <a:t>Pause after the current object; Resume</a:t>
            </a:r>
            <a:endParaRPr lang="en-US" sz="1400" dirty="0"/>
          </a:p>
          <a:p>
            <a:pPr marL="177800" indent="-177800">
              <a:spcAft>
                <a:spcPts val="500"/>
              </a:spcAft>
              <a:buSzPct val="100000"/>
              <a:buChar char="•"/>
            </a:pPr>
            <a:r>
              <a:rPr lang="en-US" sz="1250" dirty="0">
                <a:solidFill>
                  <a:schemeClr val="tx1"/>
                </a:solidFill>
              </a:rPr>
              <a:t>Retry failed: only failed items run again, with the run's settings</a:t>
            </a:r>
            <a:endParaRPr lang="en-US" sz="1400" dirty="0"/>
          </a:p>
          <a:p>
            <a:pPr marL="177800" indent="-177800">
              <a:spcAft>
                <a:spcPts val="500"/>
              </a:spcAft>
              <a:buSzPct val="100000"/>
              <a:buChar char="•"/>
            </a:pPr>
            <a:r>
              <a:rPr lang="en-US" sz="1250" dirty="0">
                <a:solidFill>
                  <a:schemeClr val="tx1"/>
                </a:solidFill>
              </a:rPr>
              <a:t>Stop before a wave when an earlier wave failed</a:t>
            </a:r>
            <a:endParaRPr lang="en-US" sz="1400" dirty="0"/>
          </a:p>
          <a:p>
            <a:pPr marL="177800" indent="-177800">
              <a:spcAft>
                <a:spcPts val="500"/>
              </a:spcAft>
              <a:buSzPct val="100000"/>
              <a:buChar char="•"/>
            </a:pPr>
            <a:r>
              <a:rPr lang="en-US" sz="1250" dirty="0">
                <a:solidFill>
                  <a:schemeClr val="tx1"/>
                </a:solidFill>
              </a:rPr>
              <a:t>A workspace-level error fails the rest at once</a:t>
            </a:r>
            <a:endParaRPr lang="en-US" sz="1400" dirty="0"/>
          </a:p>
          <a:p>
            <a:pPr marL="177800" indent="-177800">
              <a:spcAft>
                <a:spcPts val="500"/>
              </a:spcAft>
              <a:buSzPct val="100000"/>
              <a:buChar char="•"/>
            </a:pPr>
            <a:r>
              <a:rPr lang="en-US" sz="1250" dirty="0">
                <a:solidFill>
                  <a:schemeClr val="tx1"/>
                </a:solidFill>
              </a:rPr>
              <a:t>One run at a time</a:t>
            </a:r>
            <a:endParaRPr lang="en-US" sz="1400" dirty="0"/>
          </a:p>
        </p:txBody>
      </p:sp>
      <p:sp>
        <p:nvSpPr>
          <p:cNvPr id="14" name="Shape 12"/>
          <p:cNvSpPr/>
          <p:nvPr/>
        </p:nvSpPr>
        <p:spPr>
          <a:xfrm>
            <a:off x="548640" y="5650992"/>
            <a:ext cx="11094415" cy="548640"/>
          </a:xfrm>
          <a:prstGeom prst="roundRect">
            <a:avLst>
              <a:gd name="adj" fmla="val 20000"/>
            </a:avLst>
          </a:prstGeom>
          <a:solidFill>
            <a:schemeClr val="accent1">
              <a:alpha val="13000"/>
            </a:schemeClr>
          </a:solidFill>
          <a:ln/>
        </p:spPr>
      </p:sp>
      <p:sp>
        <p:nvSpPr>
          <p:cNvPr id="15" name="Text 13"/>
          <p:cNvSpPr txBox="1"/>
          <p:nvPr/>
        </p:nvSpPr>
        <p:spPr>
          <a:xfrm>
            <a:off x="777240" y="5650992"/>
            <a:ext cx="10637215" cy="548640"/>
          </a:xfrm>
          <a:prstGeom prst="rect">
            <a:avLst/>
          </a:prstGeom>
          <a:noFill/>
          <a:ln/>
        </p:spPr>
        <p:txBody>
          <a:bodyPr wrap="square" lIns="0" tIns="0" rIns="0" bIns="0" rtlCol="0" anchor="ctr"/>
          <a:lstStyle/>
          <a:p>
            <a:pPr indent="0" marL="0">
              <a:buNone/>
            </a:pPr>
            <a:r>
              <a:rPr lang="en-US" sz="1250" b="1" dirty="0">
                <a:solidFill>
                  <a:schemeClr val="tx2"/>
                </a:solidFill>
              </a:rPr>
              <a:t>On screen:  </a:t>
            </a:r>
            <a:pPr indent="0" marL="0">
              <a:buNone/>
            </a:pPr>
            <a:r>
              <a:rPr lang="en-US" sz="1250" dirty="0">
                <a:solidFill>
                  <a:schemeClr val="tx1"/>
                </a:solidFill>
              </a:rPr>
              <a:t>pre-run checks, six counters, a card per wave, a results table (first 500 rows), logs and the Fabric Git result.</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37</a:t>
            </a:fld>
            <a:endParaRPr lang="en-US"/>
          </a:p>
        </p:txBody>
      </p:sp>
    </p:spTree>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04 · THE SIX STEPS</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Validate: compare both sides, then prove it runs</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migration/validation.py · runtime_checks.py</a:t>
            </a:r>
            <a:endParaRPr lang="en-US" sz="11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6400800" cy="914400"/>
        </p:xfrm>
        <a:graphic>
          <a:graphicData uri="http://schemas.openxmlformats.org/drawingml/2006/table">
            <a:tbl>
              <a:tblPr/>
              <a:tblGrid>
                <a:gridCol w="1920240"/>
                <a:gridCol w="4480560"/>
              </a:tblGrid>
              <a:tr h="310896">
                <a:tc>
                  <a:txBody>
                    <a:bodyPr/>
                    <a:lstStyle/>
                    <a:p>
                      <a:pPr indent="0" marL="0">
                        <a:buNone/>
                      </a:pPr>
                      <a:r>
                        <a:rPr lang="en-US" sz="1200" b="1" dirty="0">
                          <a:solidFill>
                            <a:schemeClr val="bg1"/>
                          </a:solidFill>
                        </a:rPr>
                        <a:t>Category</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indent="0" marL="0">
                        <a:buNone/>
                      </a:pPr>
                      <a:r>
                        <a:rPr lang="en-US" sz="1200" b="1" dirty="0">
                          <a:solidFill>
                            <a:schemeClr val="bg1"/>
                          </a:solidFill>
                        </a:rPr>
                        <a:t>What is compared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r>
              <a:tr h="393192">
                <a:tc>
                  <a:txBody>
                    <a:bodyPr/>
                    <a:lstStyle/>
                    <a:p>
                      <a:pPr indent="0" marL="0">
                        <a:buNone/>
                      </a:pPr>
                      <a:r>
                        <a:rPr lang="en-US" sz="1200" b="1" dirty="0">
                          <a:solidFill>
                            <a:schemeClr val="tx2"/>
                          </a:solidFill>
                        </a:rPr>
                        <a:t>Tables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Column names and types (a designed change is REVIEW); every mask in place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93192">
                <a:tc>
                  <a:txBody>
                    <a:bodyPr/>
                    <a:lstStyle/>
                    <a:p>
                      <a:pPr indent="0" marL="0">
                        <a:buNone/>
                      </a:pPr>
                      <a:r>
                        <a:rPr lang="en-US" sz="1200" b="1" dirty="0">
                          <a:solidFill>
                            <a:schemeClr val="tx2"/>
                          </a:solidFill>
                        </a:rPr>
                        <a:t>Data Count</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Rows on both sides, same filter; synced tables in step</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93192">
                <a:tc>
                  <a:txBody>
                    <a:bodyPr/>
                    <a:lstStyle/>
                    <a:p>
                      <a:pPr indent="0" marL="0">
                        <a:buNone/>
                      </a:pPr>
                      <a:r>
                        <a:rPr lang="en-US" sz="1200" b="1" dirty="0">
                          <a:solidFill>
                            <a:schemeClr val="tx2"/>
                          </a:solidFill>
                        </a:rPr>
                        <a:t>Functions, views, procedures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Present; definition text agrees, comments ignored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93192">
                <a:tc>
                  <a:txBody>
                    <a:bodyPr/>
                    <a:lstStyle/>
                    <a:p>
                      <a:pPr indent="0" marL="0">
                        <a:buNone/>
                      </a:pPr>
                      <a:r>
                        <a:rPr lang="en-US" sz="1200" b="1" dirty="0">
                          <a:solidFill>
                            <a:schemeClr val="tx2"/>
                          </a:solidFill>
                        </a:rPr>
                        <a:t>Security</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Roles, members, GRANT and DENY permissions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93192">
                <a:tc>
                  <a:txBody>
                    <a:bodyPr/>
                    <a:lstStyle/>
                    <a:p>
                      <a:pPr indent="0" marL="0">
                        <a:buNone/>
                      </a:pPr>
                      <a:r>
                        <a:rPr lang="en-US" sz="1200" b="1" dirty="0">
                          <a:solidFill>
                            <a:schemeClr val="tx2"/>
                          </a:solidFill>
                        </a:rPr>
                        <a:t>Notebooks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Present, with the same number of cells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93192">
                <a:tc>
                  <a:txBody>
                    <a:bodyPr/>
                    <a:lstStyle/>
                    <a:p>
                      <a:pPr indent="0" marL="0">
                        <a:buNone/>
                      </a:pPr>
                      <a:r>
                        <a:rPr lang="en-US" sz="1200" b="1" dirty="0">
                          <a:solidFill>
                            <a:schemeClr val="tx2"/>
                          </a:solidFill>
                        </a:rPr>
                        <a:t>Pipelines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Present, with the same number of activities, nested included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93192">
                <a:tc>
                  <a:txBody>
                    <a:bodyPr/>
                    <a:lstStyle/>
                    <a:p>
                      <a:pPr indent="0" marL="0">
                        <a:buNone/>
                      </a:pPr>
                      <a:r>
                        <a:rPr lang="en-US" sz="1200" b="1" dirty="0">
                          <a:solidFill>
                            <a:schemeClr val="tx2"/>
                          </a:solidFill>
                        </a:rPr>
                        <a:t>Spark</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Custom pool and Environment, same node size and scale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93192">
                <a:tc>
                  <a:txBody>
                    <a:bodyPr/>
                    <a:lstStyle/>
                    <a:p>
                      <a:pPr indent="0" marL="0">
                        <a:buNone/>
                      </a:pPr>
                      <a:r>
                        <a:rPr lang="en-US" sz="1200" b="1" dirty="0">
                          <a:solidFill>
                            <a:schemeClr val="tx2"/>
                          </a:solidFill>
                        </a:rPr>
                        <a:t>Warehouse, schemas, others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Present in Fabric; manual items listed for review</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bl>
          </a:graphicData>
        </a:graphic>
      </p:graphicFrame>
      <p:sp>
        <p:nvSpPr>
          <p:cNvPr id="6" name="Shape 3"/>
          <p:cNvSpPr/>
          <p:nvPr/>
        </p:nvSpPr>
        <p:spPr>
          <a:xfrm>
            <a:off x="7178040" y="1481328"/>
            <a:ext cx="4462272" cy="3566160"/>
          </a:xfrm>
          <a:prstGeom prst="roundRect">
            <a:avLst>
              <a:gd name="adj" fmla="val 3077"/>
            </a:avLst>
          </a:prstGeom>
          <a:solidFill>
            <a:schemeClr val="bg2"/>
          </a:solidFill>
          <a:ln/>
        </p:spPr>
      </p:sp>
      <p:sp>
        <p:nvSpPr>
          <p:cNvPr id="7" name="Text 4"/>
          <p:cNvSpPr txBox="1"/>
          <p:nvPr/>
        </p:nvSpPr>
        <p:spPr>
          <a:xfrm>
            <a:off x="7406640" y="1664208"/>
            <a:ext cx="4005072"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DOES IT RUN IN FABRIC?</a:t>
            </a:r>
            <a:endParaRPr lang="en-US" sz="1100" dirty="0"/>
          </a:p>
        </p:txBody>
      </p:sp>
      <p:sp>
        <p:nvSpPr>
          <p:cNvPr id="8" name="Text 5"/>
          <p:cNvSpPr txBox="1"/>
          <p:nvPr/>
        </p:nvSpPr>
        <p:spPr>
          <a:xfrm>
            <a:off x="7379208" y="1984248"/>
            <a:ext cx="4078224" cy="29260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chemeClr val="tx1"/>
                </a:solidFill>
              </a:rPr>
              <a:t>Tables and views: SELECT TOP (1) in the Warehouse</a:t>
            </a:r>
            <a:endParaRPr lang="en-US" sz="1400" dirty="0"/>
          </a:p>
          <a:p>
            <a:pPr marL="177800" indent="-177800">
              <a:spcAft>
                <a:spcPts val="600"/>
              </a:spcAft>
              <a:buSzPct val="100000"/>
              <a:buChar char="•"/>
            </a:pPr>
            <a:r>
              <a:rPr lang="en-US" sz="1250" dirty="0">
                <a:solidFill>
                  <a:schemeClr val="tx1"/>
                </a:solidFill>
              </a:rPr>
              <a:t>Procedures: compiled (sp_describe_first_result_set), or run inside a transaction that is rolled back</a:t>
            </a:r>
            <a:endParaRPr lang="en-US" sz="1400" dirty="0"/>
          </a:p>
          <a:p>
            <a:pPr marL="177800" indent="-177800">
              <a:spcAft>
                <a:spcPts val="600"/>
              </a:spcAft>
              <a:buSzPct val="100000"/>
              <a:buChar char="•"/>
            </a:pPr>
            <a:r>
              <a:rPr lang="en-US" sz="1250" dirty="0">
                <a:solidFill>
                  <a:schemeClr val="tx1"/>
                </a:solidFill>
              </a:rPr>
              <a:t>Pipelines, notebooks, SQL scripts, Spark jobs: their last run, or run now (3 at a time, 1 to 240 minutes)</a:t>
            </a:r>
            <a:endParaRPr lang="en-US" sz="1400" dirty="0"/>
          </a:p>
          <a:p>
            <a:pPr marL="177800" indent="-177800">
              <a:spcAft>
                <a:spcPts val="600"/>
              </a:spcAft>
              <a:buSzPct val="100000"/>
              <a:buChar char="•"/>
            </a:pPr>
            <a:r>
              <a:rPr lang="en-US" sz="1250" dirty="0">
                <a:solidFill>
                  <a:schemeClr val="tx1"/>
                </a:solidFill>
              </a:rPr>
              <a:t>PASS, FAIL, NOT RUN or NOT CHECKED</a:t>
            </a:r>
            <a:endParaRPr lang="en-US" sz="1400" dirty="0"/>
          </a:p>
        </p:txBody>
      </p:sp>
      <p:sp>
        <p:nvSpPr>
          <p:cNvPr id="9" name="Shape 6"/>
          <p:cNvSpPr/>
          <p:nvPr/>
        </p:nvSpPr>
        <p:spPr>
          <a:xfrm>
            <a:off x="548640" y="5193792"/>
            <a:ext cx="11094415" cy="914400"/>
          </a:xfrm>
          <a:prstGeom prst="roundRect">
            <a:avLst>
              <a:gd name="adj" fmla="val 12000"/>
            </a:avLst>
          </a:prstGeom>
          <a:solidFill>
            <a:schemeClr val="accent1">
              <a:alpha val="13000"/>
            </a:schemeClr>
          </a:solidFill>
          <a:ln/>
        </p:spPr>
      </p:sp>
      <p:sp>
        <p:nvSpPr>
          <p:cNvPr id="10" name="Text 7"/>
          <p:cNvSpPr txBox="1"/>
          <p:nvPr/>
        </p:nvSpPr>
        <p:spPr>
          <a:xfrm>
            <a:off x="777240" y="5193792"/>
            <a:ext cx="10637215" cy="914400"/>
          </a:xfrm>
          <a:prstGeom prst="rect">
            <a:avLst/>
          </a:prstGeom>
          <a:noFill/>
          <a:ln/>
        </p:spPr>
        <p:txBody>
          <a:bodyPr wrap="square" lIns="0" tIns="0" rIns="0" bIns="0" rtlCol="0" anchor="ctr"/>
          <a:lstStyle/>
          <a:p>
            <a:pPr indent="0" marL="0">
              <a:buNone/>
            </a:pPr>
            <a:r>
              <a:rPr lang="en-US" sz="1250" b="1" dirty="0">
                <a:solidFill>
                  <a:schemeClr val="tx2"/>
                </a:solidFill>
              </a:rPr>
              <a:t>Verdicts:  </a:t>
            </a:r>
            <a:pPr indent="0" marL="0">
              <a:buNone/>
            </a:pPr>
            <a:r>
              <a:rPr lang="en-US" sz="1250" dirty="0">
                <a:solidFill>
                  <a:schemeClr val="tx1"/>
                </a:solidFill>
              </a:rPr>
              <a:t>MATCH, REVIEW (differs by design, or not proven to run) or MISMATCH. A failed run makes a row a MISMATCH; never run turns a MATCH into REVIEW. A check that could not run is REVIEW, never a match. 17 categories in all.</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38</a:t>
            </a:fld>
            <a:endParaRPr lang="en-US"/>
          </a:p>
        </p:txBody>
      </p:sp>
    </p:spTree>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04 · THE SIX STEPS</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After the run: Fabric Git and a pull request</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migration/fabric_git.py</a:t>
            </a:r>
            <a:endParaRPr lang="en-US" sz="1100" dirty="0"/>
          </a:p>
        </p:txBody>
      </p:sp>
      <p:sp>
        <p:nvSpPr>
          <p:cNvPr id="5" name="Shape 3"/>
          <p:cNvSpPr/>
          <p:nvPr/>
        </p:nvSpPr>
        <p:spPr>
          <a:xfrm>
            <a:off x="548640" y="1481328"/>
            <a:ext cx="4754880" cy="3429000"/>
          </a:xfrm>
          <a:prstGeom prst="roundRect">
            <a:avLst>
              <a:gd name="adj" fmla="val 3200"/>
            </a:avLst>
          </a:prstGeom>
          <a:solidFill>
            <a:schemeClr val="bg2"/>
          </a:solidFill>
          <a:ln/>
        </p:spPr>
      </p:sp>
      <p:sp>
        <p:nvSpPr>
          <p:cNvPr id="6" name="Text 4"/>
          <p:cNvSpPr txBox="1"/>
          <p:nvPr/>
        </p:nvSpPr>
        <p:spPr>
          <a:xfrm>
            <a:off x="777240" y="1664208"/>
            <a:ext cx="4297680"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SET UP ONCE, BY HAND</a:t>
            </a:r>
            <a:endParaRPr lang="en-US" sz="1100" dirty="0"/>
          </a:p>
        </p:txBody>
      </p:sp>
      <p:sp>
        <p:nvSpPr>
          <p:cNvPr id="7" name="Text 5"/>
          <p:cNvSpPr txBox="1"/>
          <p:nvPr/>
        </p:nvSpPr>
        <p:spPr>
          <a:xfrm>
            <a:off x="749808" y="1984248"/>
            <a:ext cx="4370832" cy="27889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chemeClr val="tx1"/>
                </a:solidFill>
              </a:rPr>
              <a:t>A repository for Fabric with dev, main and prod; protect main and prod</a:t>
            </a:r>
            <a:endParaRPr lang="en-US" sz="1400" dirty="0"/>
          </a:p>
          <a:p>
            <a:pPr marL="177800" indent="-177800">
              <a:spcAft>
                <a:spcPts val="600"/>
              </a:spcAft>
              <a:buSzPct val="100000"/>
              <a:buChar char="•"/>
            </a:pPr>
            <a:r>
              <a:rPr lang="en-US" sz="1250" dirty="0">
                <a:solidFill>
                  <a:schemeClr val="tx1"/>
                </a:solidFill>
              </a:rPr>
              <a:t>Tenant setting: users can sync workspace items with Git</a:t>
            </a:r>
            <a:endParaRPr lang="en-US" sz="1400" dirty="0"/>
          </a:p>
          <a:p>
            <a:pPr marL="177800" indent="-177800">
              <a:spcAft>
                <a:spcPts val="600"/>
              </a:spcAft>
              <a:buSzPct val="100000"/>
              <a:buChar char="•"/>
            </a:pPr>
            <a:r>
              <a:rPr lang="en-US" sz="1250" dirty="0">
                <a:solidFill>
                  <a:schemeClr val="tx1"/>
                </a:solidFill>
              </a:rPr>
              <a:t>Connect the Dev workspace: provider, repository, branch dev, folder fabric</a:t>
            </a:r>
            <a:endParaRPr lang="en-US" sz="1400" dirty="0"/>
          </a:p>
          <a:p>
            <a:pPr marL="177800" indent="-177800">
              <a:spcAft>
                <a:spcPts val="600"/>
              </a:spcAft>
              <a:buSzPct val="100000"/>
              <a:buChar char="•"/>
            </a:pPr>
            <a:r>
              <a:rPr lang="en-US" sz="1250" dirty="0">
                <a:solidFill>
                  <a:schemeClr val="tx1"/>
                </a:solidFill>
              </a:rPr>
              <a:t>az login as the same account (Azure DevOps sign-in is set automatically; GitHub is connected once in Fabric)</a:t>
            </a:r>
            <a:endParaRPr lang="en-US" sz="1400" dirty="0"/>
          </a:p>
        </p:txBody>
      </p:sp>
      <p:sp>
        <p:nvSpPr>
          <p:cNvPr id="8" name="Shape 6"/>
          <p:cNvSpPr/>
          <p:nvPr/>
        </p:nvSpPr>
        <p:spPr>
          <a:xfrm>
            <a:off x="5486400" y="1481328"/>
            <a:ext cx="6153912" cy="3429000"/>
          </a:xfrm>
          <a:prstGeom prst="roundRect">
            <a:avLst>
              <a:gd name="adj" fmla="val 3200"/>
            </a:avLst>
          </a:prstGeom>
          <a:solidFill>
            <a:schemeClr val="bg2"/>
          </a:solidFill>
          <a:ln/>
        </p:spPr>
      </p:sp>
      <p:sp>
        <p:nvSpPr>
          <p:cNvPr id="9" name="Text 7"/>
          <p:cNvSpPr txBox="1"/>
          <p:nvPr/>
        </p:nvSpPr>
        <p:spPr>
          <a:xfrm>
            <a:off x="5715000" y="1664208"/>
            <a:ext cx="5696712"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AFTER EACH RUN</a:t>
            </a:r>
            <a:endParaRPr lang="en-US" sz="1100" dirty="0"/>
          </a:p>
        </p:txBody>
      </p:sp>
      <p:sp>
        <p:nvSpPr>
          <p:cNvPr id="10" name="Text 8"/>
          <p:cNvSpPr txBox="1"/>
          <p:nvPr/>
        </p:nvSpPr>
        <p:spPr>
          <a:xfrm>
            <a:off x="5687568" y="1984248"/>
            <a:ext cx="5769864" cy="278892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Selective commit of what the workspace added or changed: 'Synapse to Fabric migration run 00N: X object(s) created in &lt;workspace&gt;'</a:t>
            </a:r>
            <a:endParaRPr lang="en-US" sz="1400" dirty="0"/>
          </a:p>
          <a:p>
            <a:pPr marL="177800" indent="-177800">
              <a:spcAft>
                <a:spcPts val="500"/>
              </a:spcAft>
              <a:buSzPct val="100000"/>
              <a:buChar char="•"/>
            </a:pPr>
            <a:r>
              <a:rPr lang="en-US" sz="1250" dirty="0">
                <a:solidFill>
                  <a:schemeClr val="tx1"/>
                </a:solidFill>
              </a:rPr>
              <a:t>Left out: the load_&lt;warehouse&gt;_wave_&lt;n&gt; and sync_&lt;warehouse&gt; pipelines, and deletions</a:t>
            </a:r>
            <a:endParaRPr lang="en-US" sz="1400" dirty="0"/>
          </a:p>
          <a:p>
            <a:pPr marL="177800" indent="-177800">
              <a:spcAft>
                <a:spcPts val="500"/>
              </a:spcAft>
              <a:buSzPct val="100000"/>
              <a:buChar char="•"/>
            </a:pPr>
            <a:r>
              <a:rPr lang="en-US" sz="1250" dirty="0">
                <a:solidFill>
                  <a:schemeClr val="tx1"/>
                </a:solidFill>
              </a:rPr>
              <a:t>Stops, with the fix, on incoming changes or conflicts; a moved head is retried once; too large is split</a:t>
            </a:r>
            <a:endParaRPr lang="en-US" sz="1400" dirty="0"/>
          </a:p>
          <a:p>
            <a:pPr marL="177800" indent="-177800">
              <a:spcAft>
                <a:spcPts val="500"/>
              </a:spcAft>
              <a:buSzPct val="100000"/>
              <a:buChar char="•"/>
            </a:pPr>
            <a:r>
              <a:rPr lang="en-US" sz="1250" dirty="0">
                <a:solidFill>
                  <a:schemeClr val="tx1"/>
                </a:solidFill>
              </a:rPr>
              <a:t>Never fails the run; Commit now retries; the link opens a pull request from dev into main</a:t>
            </a:r>
            <a:endParaRPr lang="en-US" sz="1400" dirty="0"/>
          </a:p>
        </p:txBody>
      </p:sp>
      <p:sp>
        <p:nvSpPr>
          <p:cNvPr id="11" name="Shape 9"/>
          <p:cNvSpPr/>
          <p:nvPr/>
        </p:nvSpPr>
        <p:spPr>
          <a:xfrm>
            <a:off x="548640" y="5120640"/>
            <a:ext cx="1999427" cy="960120"/>
          </a:xfrm>
          <a:prstGeom prst="roundRect">
            <a:avLst>
              <a:gd name="adj" fmla="val 11429"/>
            </a:avLst>
          </a:prstGeom>
          <a:solidFill>
            <a:schemeClr val="bg2"/>
          </a:solidFill>
          <a:ln/>
        </p:spPr>
      </p:sp>
      <p:sp>
        <p:nvSpPr>
          <p:cNvPr id="12" name="Text 10"/>
          <p:cNvSpPr txBox="1"/>
          <p:nvPr/>
        </p:nvSpPr>
        <p:spPr>
          <a:xfrm>
            <a:off x="685800" y="5230368"/>
            <a:ext cx="1770827" cy="438912"/>
          </a:xfrm>
          <a:prstGeom prst="rect">
            <a:avLst/>
          </a:prstGeom>
          <a:noFill/>
          <a:ln/>
        </p:spPr>
        <p:txBody>
          <a:bodyPr wrap="square" lIns="0" tIns="0" rIns="0" bIns="0" rtlCol="0" anchor="ctr"/>
          <a:lstStyle/>
          <a:p>
            <a:pPr indent="0" marL="0">
              <a:buNone/>
            </a:pPr>
            <a:r>
              <a:rPr lang="en-US" sz="1350" dirty="0">
                <a:solidFill>
                  <a:schemeClr val="tx2"/>
                </a:solidFill>
                <a:latin typeface="+mj-lt" pitchFamily="34" charset="0"/>
                <a:ea typeface="+mj-lt" pitchFamily="34" charset="-122"/>
                <a:cs typeface="+mj-lt" pitchFamily="34" charset="-120"/>
              </a:rPr>
              <a:t>Synapse Git</a:t>
            </a:r>
            <a:endParaRPr lang="en-US" sz="1350" dirty="0"/>
          </a:p>
        </p:txBody>
      </p:sp>
      <p:sp>
        <p:nvSpPr>
          <p:cNvPr id="13" name="Text 11"/>
          <p:cNvSpPr txBox="1"/>
          <p:nvPr/>
        </p:nvSpPr>
        <p:spPr>
          <a:xfrm>
            <a:off x="685800" y="5687568"/>
            <a:ext cx="1725107" cy="320040"/>
          </a:xfrm>
          <a:prstGeom prst="rect">
            <a:avLst/>
          </a:prstGeom>
          <a:noFill/>
          <a:ln/>
        </p:spPr>
        <p:txBody>
          <a:bodyPr wrap="square" lIns="0" tIns="0" rIns="0" bIns="0" rtlCol="0" anchor="t"/>
          <a:lstStyle/>
          <a:p>
            <a:pPr indent="0" marL="0">
              <a:buNone/>
            </a:pPr>
            <a:r>
              <a:rPr lang="en-US" sz="1150" dirty="0">
                <a:solidFill>
                  <a:schemeClr val="tx1"/>
                </a:solidFill>
              </a:rPr>
              <a:t>environment, branch</a:t>
            </a:r>
            <a:endParaRPr lang="en-US" sz="1150" dirty="0"/>
          </a:p>
        </p:txBody>
      </p:sp>
      <p:sp>
        <p:nvSpPr>
          <p:cNvPr id="14" name="Shape 12"/>
          <p:cNvSpPr/>
          <p:nvPr/>
        </p:nvSpPr>
        <p:spPr>
          <a:xfrm>
            <a:off x="2593787" y="5600700"/>
            <a:ext cx="182880" cy="91"/>
          </a:xfrm>
          <a:prstGeom prst="line">
            <a:avLst/>
          </a:prstGeom>
          <a:noFill/>
          <a:ln w="19050">
            <a:solidFill>
              <a:srgbClr val="5D6B82"/>
            </a:solidFill>
            <a:prstDash val="solid"/>
            <a:tailEnd type="triangle"/>
          </a:ln>
        </p:spPr>
      </p:sp>
      <p:sp>
        <p:nvSpPr>
          <p:cNvPr id="15" name="Shape 13"/>
          <p:cNvSpPr/>
          <p:nvPr/>
        </p:nvSpPr>
        <p:spPr>
          <a:xfrm>
            <a:off x="2822387" y="5120640"/>
            <a:ext cx="1999427" cy="960120"/>
          </a:xfrm>
          <a:prstGeom prst="roundRect">
            <a:avLst>
              <a:gd name="adj" fmla="val 11429"/>
            </a:avLst>
          </a:prstGeom>
          <a:solidFill>
            <a:schemeClr val="bg2"/>
          </a:solidFill>
          <a:ln/>
        </p:spPr>
      </p:sp>
      <p:sp>
        <p:nvSpPr>
          <p:cNvPr id="16" name="Text 14"/>
          <p:cNvSpPr txBox="1"/>
          <p:nvPr/>
        </p:nvSpPr>
        <p:spPr>
          <a:xfrm>
            <a:off x="2959547" y="5230368"/>
            <a:ext cx="1770827" cy="438912"/>
          </a:xfrm>
          <a:prstGeom prst="rect">
            <a:avLst/>
          </a:prstGeom>
          <a:noFill/>
          <a:ln/>
        </p:spPr>
        <p:txBody>
          <a:bodyPr wrap="square" lIns="0" tIns="0" rIns="0" bIns="0" rtlCol="0" anchor="ctr"/>
          <a:lstStyle/>
          <a:p>
            <a:pPr indent="0" marL="0">
              <a:buNone/>
            </a:pPr>
            <a:r>
              <a:rPr lang="en-US" sz="1350" dirty="0">
                <a:solidFill>
                  <a:schemeClr val="tx2"/>
                </a:solidFill>
                <a:latin typeface="+mj-lt" pitchFamily="34" charset="0"/>
                <a:ea typeface="+mj-lt" pitchFamily="34" charset="-122"/>
                <a:cs typeface="+mj-lt" pitchFamily="34" charset="-120"/>
              </a:rPr>
              <a:t>This migration</a:t>
            </a:r>
            <a:endParaRPr lang="en-US" sz="1350" dirty="0"/>
          </a:p>
        </p:txBody>
      </p:sp>
      <p:sp>
        <p:nvSpPr>
          <p:cNvPr id="17" name="Text 15"/>
          <p:cNvSpPr txBox="1"/>
          <p:nvPr/>
        </p:nvSpPr>
        <p:spPr>
          <a:xfrm>
            <a:off x="2959547" y="5687568"/>
            <a:ext cx="1725107" cy="320040"/>
          </a:xfrm>
          <a:prstGeom prst="rect">
            <a:avLst/>
          </a:prstGeom>
          <a:noFill/>
          <a:ln/>
        </p:spPr>
        <p:txBody>
          <a:bodyPr wrap="square" lIns="0" tIns="0" rIns="0" bIns="0" rtlCol="0" anchor="t"/>
          <a:lstStyle/>
          <a:p>
            <a:pPr indent="0" marL="0">
              <a:buNone/>
            </a:pPr>
            <a:r>
              <a:rPr lang="en-US" sz="1150" dirty="0">
                <a:solidFill>
                  <a:schemeClr val="tx1"/>
                </a:solidFill>
              </a:rPr>
              <a:t>steps 1 to 6</a:t>
            </a:r>
            <a:endParaRPr lang="en-US" sz="1150" dirty="0"/>
          </a:p>
        </p:txBody>
      </p:sp>
      <p:sp>
        <p:nvSpPr>
          <p:cNvPr id="18" name="Shape 16"/>
          <p:cNvSpPr/>
          <p:nvPr/>
        </p:nvSpPr>
        <p:spPr>
          <a:xfrm>
            <a:off x="4867534" y="5600700"/>
            <a:ext cx="182880" cy="91"/>
          </a:xfrm>
          <a:prstGeom prst="line">
            <a:avLst/>
          </a:prstGeom>
          <a:noFill/>
          <a:ln w="19050">
            <a:solidFill>
              <a:srgbClr val="5D6B82"/>
            </a:solidFill>
            <a:prstDash val="solid"/>
            <a:tailEnd type="triangle"/>
          </a:ln>
        </p:spPr>
      </p:sp>
      <p:sp>
        <p:nvSpPr>
          <p:cNvPr id="19" name="Shape 17"/>
          <p:cNvSpPr/>
          <p:nvPr/>
        </p:nvSpPr>
        <p:spPr>
          <a:xfrm>
            <a:off x="5096134" y="5120640"/>
            <a:ext cx="1999427" cy="960120"/>
          </a:xfrm>
          <a:prstGeom prst="roundRect">
            <a:avLst>
              <a:gd name="adj" fmla="val 11429"/>
            </a:avLst>
          </a:prstGeom>
          <a:solidFill>
            <a:schemeClr val="bg2"/>
          </a:solidFill>
          <a:ln/>
        </p:spPr>
      </p:sp>
      <p:sp>
        <p:nvSpPr>
          <p:cNvPr id="20" name="Text 18"/>
          <p:cNvSpPr txBox="1"/>
          <p:nvPr/>
        </p:nvSpPr>
        <p:spPr>
          <a:xfrm>
            <a:off x="5233294" y="5230368"/>
            <a:ext cx="1770827" cy="438912"/>
          </a:xfrm>
          <a:prstGeom prst="rect">
            <a:avLst/>
          </a:prstGeom>
          <a:noFill/>
          <a:ln/>
        </p:spPr>
        <p:txBody>
          <a:bodyPr wrap="square" lIns="0" tIns="0" rIns="0" bIns="0" rtlCol="0" anchor="ctr"/>
          <a:lstStyle/>
          <a:p>
            <a:pPr indent="0" marL="0">
              <a:buNone/>
            </a:pPr>
            <a:r>
              <a:rPr lang="en-US" sz="1350" dirty="0">
                <a:solidFill>
                  <a:schemeClr val="tx2"/>
                </a:solidFill>
                <a:latin typeface="+mj-lt" pitchFamily="34" charset="0"/>
                <a:ea typeface="+mj-lt" pitchFamily="34" charset="-122"/>
                <a:cs typeface="+mj-lt" pitchFamily="34" charset="-120"/>
              </a:rPr>
              <a:t>Fabric Dev</a:t>
            </a:r>
            <a:endParaRPr lang="en-US" sz="1350" dirty="0"/>
          </a:p>
        </p:txBody>
      </p:sp>
      <p:sp>
        <p:nvSpPr>
          <p:cNvPr id="21" name="Text 19"/>
          <p:cNvSpPr txBox="1"/>
          <p:nvPr/>
        </p:nvSpPr>
        <p:spPr>
          <a:xfrm>
            <a:off x="5233294" y="5687568"/>
            <a:ext cx="1725107" cy="320040"/>
          </a:xfrm>
          <a:prstGeom prst="rect">
            <a:avLst/>
          </a:prstGeom>
          <a:noFill/>
          <a:ln/>
        </p:spPr>
        <p:txBody>
          <a:bodyPr wrap="square" lIns="0" tIns="0" rIns="0" bIns="0" rtlCol="0" anchor="t"/>
          <a:lstStyle/>
          <a:p>
            <a:pPr indent="0" marL="0">
              <a:buNone/>
            </a:pPr>
            <a:r>
              <a:rPr lang="en-US" sz="1150" dirty="0">
                <a:solidFill>
                  <a:schemeClr val="tx1"/>
                </a:solidFill>
              </a:rPr>
              <a:t>the migrated items</a:t>
            </a:r>
            <a:endParaRPr lang="en-US" sz="1150" dirty="0"/>
          </a:p>
        </p:txBody>
      </p:sp>
      <p:sp>
        <p:nvSpPr>
          <p:cNvPr id="22" name="Shape 20"/>
          <p:cNvSpPr/>
          <p:nvPr/>
        </p:nvSpPr>
        <p:spPr>
          <a:xfrm>
            <a:off x="7141281" y="5600700"/>
            <a:ext cx="182880" cy="91"/>
          </a:xfrm>
          <a:prstGeom prst="line">
            <a:avLst/>
          </a:prstGeom>
          <a:noFill/>
          <a:ln w="19050">
            <a:solidFill>
              <a:srgbClr val="5D6B82"/>
            </a:solidFill>
            <a:prstDash val="solid"/>
            <a:tailEnd type="triangle"/>
          </a:ln>
        </p:spPr>
      </p:sp>
      <p:sp>
        <p:nvSpPr>
          <p:cNvPr id="23" name="Shape 21"/>
          <p:cNvSpPr/>
          <p:nvPr/>
        </p:nvSpPr>
        <p:spPr>
          <a:xfrm>
            <a:off x="7369881" y="5120640"/>
            <a:ext cx="1999427" cy="960120"/>
          </a:xfrm>
          <a:prstGeom prst="roundRect">
            <a:avLst>
              <a:gd name="adj" fmla="val 11429"/>
            </a:avLst>
          </a:prstGeom>
          <a:solidFill>
            <a:schemeClr val="bg2"/>
          </a:solidFill>
          <a:ln/>
        </p:spPr>
      </p:sp>
      <p:sp>
        <p:nvSpPr>
          <p:cNvPr id="24" name="Text 22"/>
          <p:cNvSpPr txBox="1"/>
          <p:nvPr/>
        </p:nvSpPr>
        <p:spPr>
          <a:xfrm>
            <a:off x="7507041" y="5230368"/>
            <a:ext cx="1770827" cy="438912"/>
          </a:xfrm>
          <a:prstGeom prst="rect">
            <a:avLst/>
          </a:prstGeom>
          <a:noFill/>
          <a:ln/>
        </p:spPr>
        <p:txBody>
          <a:bodyPr wrap="square" lIns="0" tIns="0" rIns="0" bIns="0" rtlCol="0" anchor="ctr"/>
          <a:lstStyle/>
          <a:p>
            <a:pPr indent="0" marL="0">
              <a:buNone/>
            </a:pPr>
            <a:r>
              <a:rPr lang="en-US" sz="1350" dirty="0">
                <a:solidFill>
                  <a:schemeClr val="tx2"/>
                </a:solidFill>
                <a:latin typeface="+mj-lt" pitchFamily="34" charset="0"/>
                <a:ea typeface="+mj-lt" pitchFamily="34" charset="-122"/>
                <a:cs typeface="+mj-lt" pitchFamily="34" charset="-120"/>
              </a:rPr>
              <a:t>Fabric Git</a:t>
            </a:r>
            <a:endParaRPr lang="en-US" sz="1350" dirty="0"/>
          </a:p>
        </p:txBody>
      </p:sp>
      <p:sp>
        <p:nvSpPr>
          <p:cNvPr id="25" name="Text 23"/>
          <p:cNvSpPr txBox="1"/>
          <p:nvPr/>
        </p:nvSpPr>
        <p:spPr>
          <a:xfrm>
            <a:off x="7507041" y="5687568"/>
            <a:ext cx="1725107" cy="320040"/>
          </a:xfrm>
          <a:prstGeom prst="rect">
            <a:avLst/>
          </a:prstGeom>
          <a:noFill/>
          <a:ln/>
        </p:spPr>
        <p:txBody>
          <a:bodyPr wrap="square" lIns="0" tIns="0" rIns="0" bIns="0" rtlCol="0" anchor="t"/>
          <a:lstStyle/>
          <a:p>
            <a:pPr indent="0" marL="0">
              <a:buNone/>
            </a:pPr>
            <a:r>
              <a:rPr lang="en-US" sz="1150" dirty="0">
                <a:solidFill>
                  <a:schemeClr val="tx1"/>
                </a:solidFill>
              </a:rPr>
              <a:t>dev @ commit · uncommitted</a:t>
            </a:r>
            <a:endParaRPr lang="en-US" sz="1150" dirty="0"/>
          </a:p>
        </p:txBody>
      </p:sp>
      <p:sp>
        <p:nvSpPr>
          <p:cNvPr id="26" name="Shape 24"/>
          <p:cNvSpPr/>
          <p:nvPr/>
        </p:nvSpPr>
        <p:spPr>
          <a:xfrm>
            <a:off x="9415028" y="5600700"/>
            <a:ext cx="182880" cy="91"/>
          </a:xfrm>
          <a:prstGeom prst="line">
            <a:avLst/>
          </a:prstGeom>
          <a:noFill/>
          <a:ln w="19050">
            <a:solidFill>
              <a:srgbClr val="5D6B82"/>
            </a:solidFill>
            <a:prstDash val="solid"/>
            <a:tailEnd type="triangle"/>
          </a:ln>
        </p:spPr>
      </p:sp>
      <p:sp>
        <p:nvSpPr>
          <p:cNvPr id="27" name="Shape 25"/>
          <p:cNvSpPr/>
          <p:nvPr/>
        </p:nvSpPr>
        <p:spPr>
          <a:xfrm>
            <a:off x="9643628" y="5120640"/>
            <a:ext cx="1999427" cy="960120"/>
          </a:xfrm>
          <a:prstGeom prst="roundRect">
            <a:avLst>
              <a:gd name="adj" fmla="val 11429"/>
            </a:avLst>
          </a:prstGeom>
          <a:solidFill>
            <a:schemeClr val="bg1"/>
          </a:solidFill>
          <a:ln/>
        </p:spPr>
      </p:sp>
      <p:sp>
        <p:nvSpPr>
          <p:cNvPr id="28" name="Text 26"/>
          <p:cNvSpPr txBox="1"/>
          <p:nvPr/>
        </p:nvSpPr>
        <p:spPr>
          <a:xfrm>
            <a:off x="9780788" y="5230368"/>
            <a:ext cx="1770827" cy="438912"/>
          </a:xfrm>
          <a:prstGeom prst="rect">
            <a:avLst/>
          </a:prstGeom>
          <a:noFill/>
          <a:ln/>
        </p:spPr>
        <p:txBody>
          <a:bodyPr wrap="square" lIns="0" tIns="0" rIns="0" bIns="0" rtlCol="0" anchor="ctr"/>
          <a:lstStyle/>
          <a:p>
            <a:pPr indent="0" marL="0">
              <a:buNone/>
            </a:pPr>
            <a:r>
              <a:rPr lang="en-US" sz="1350" dirty="0">
                <a:solidFill>
                  <a:schemeClr val="tx2"/>
                </a:solidFill>
                <a:latin typeface="+mj-lt" pitchFamily="34" charset="0"/>
                <a:ea typeface="+mj-lt" pitchFamily="34" charset="-122"/>
                <a:cs typeface="+mj-lt" pitchFamily="34" charset="-120"/>
              </a:rPr>
              <a:t>Test and Prod</a:t>
            </a:r>
            <a:endParaRPr lang="en-US" sz="1350" dirty="0"/>
          </a:p>
        </p:txBody>
      </p:sp>
      <p:sp>
        <p:nvSpPr>
          <p:cNvPr id="29" name="Text 27"/>
          <p:cNvSpPr txBox="1"/>
          <p:nvPr/>
        </p:nvSpPr>
        <p:spPr>
          <a:xfrm>
            <a:off x="9780788" y="5687568"/>
            <a:ext cx="1725107" cy="320040"/>
          </a:xfrm>
          <a:prstGeom prst="rect">
            <a:avLst/>
          </a:prstGeom>
          <a:noFill/>
          <a:ln/>
        </p:spPr>
        <p:txBody>
          <a:bodyPr wrap="square" lIns="0" tIns="0" rIns="0" bIns="0" rtlCol="0" anchor="t"/>
          <a:lstStyle/>
          <a:p>
            <a:pPr indent="0" marL="0">
              <a:buNone/>
            </a:pPr>
            <a:r>
              <a:rPr lang="en-US" sz="1150" dirty="0">
                <a:solidFill>
                  <a:schemeClr val="tx1"/>
                </a:solidFill>
              </a:rPr>
              <a:t>next: fabric-cicd</a:t>
            </a:r>
            <a:endParaRPr lang="en-US" sz="11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39</a:t>
            </a:fld>
            <a:endParaRPr lang="en-US"/>
          </a:p>
        </p:txBody>
      </p:sp>
    </p:spTree>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731520" y="1417320"/>
            <a:ext cx="2743200" cy="1371600"/>
          </a:xfrm>
          <a:prstGeom prst="rect">
            <a:avLst/>
          </a:prstGeom>
          <a:noFill/>
          <a:ln/>
        </p:spPr>
        <p:txBody>
          <a:bodyPr wrap="square" lIns="0" tIns="0" rIns="0" bIns="0" rtlCol="0" anchor="t"/>
          <a:lstStyle/>
          <a:p>
            <a:pPr indent="0" marL="0">
              <a:buNone/>
            </a:pPr>
            <a:r>
              <a:rPr lang="en-US" sz="8800" dirty="0">
                <a:solidFill>
                  <a:schemeClr val="accent5"/>
                </a:solidFill>
                <a:latin typeface="+mj-lt" pitchFamily="34" charset="0"/>
                <a:ea typeface="+mj-lt" pitchFamily="34" charset="-122"/>
                <a:cs typeface="+mj-lt" pitchFamily="34" charset="-120"/>
              </a:rPr>
              <a:t>05</a:t>
            </a:r>
            <a:endParaRPr lang="en-US" sz="8800" dirty="0"/>
          </a:p>
        </p:txBody>
      </p:sp>
      <p:sp>
        <p:nvSpPr>
          <p:cNvPr id="3" name="Shape 1"/>
          <p:cNvSpPr/>
          <p:nvPr/>
        </p:nvSpPr>
        <p:spPr>
          <a:xfrm>
            <a:off x="8549640" y="2011680"/>
            <a:ext cx="2468880" cy="2468880"/>
          </a:xfrm>
          <a:prstGeom prst="ellipse">
            <a:avLst/>
          </a:prstGeom>
          <a:solidFill>
            <a:schemeClr val="accent5">
              <a:alpha val="18000"/>
            </a:schemeClr>
          </a:solidFill>
          <a:ln/>
        </p:spPr>
      </p:sp>
      <p:pic>
        <p:nvPicPr>
          <p:cNvPr id="4" name="Image 0" descr="preencoded.png">    </p:cNvPr>
          <p:cNvPicPr>
            <a:picLocks noChangeAspect="1"/>
          </p:cNvPicPr>
          <p:nvPr/>
        </p:nvPicPr>
        <p:blipFill>
          <a:blip r:embed="rId1"/>
          <a:stretch>
            <a:fillRect/>
          </a:stretch>
        </p:blipFill>
        <p:spPr>
          <a:xfrm>
            <a:off x="9166860" y="2628900"/>
            <a:ext cx="1234440" cy="1234440"/>
          </a:xfrm>
          <a:prstGeom prst="rect">
            <a:avLst/>
          </a:prstGeom>
        </p:spPr>
      </p:pic>
      <p:sp>
        <p:nvSpPr>
          <p:cNvPr id="5" name="Text 0"/>
          <p:cNvSpPr/>
          <p:nvPr>
            <p:ph idx="100" type="title" hasCustomPrompt="1"/>
          </p:nvPr>
        </p:nvSpPr>
        <p:spPr>
          <a:xfrm>
            <a:off x="731520" y="2880360"/>
            <a:ext cx="10515600" cy="914400"/>
          </a:xfrm>
          <a:prstGeom prst="rect">
            <a:avLst/>
          </a:prstGeom>
          <a:noFill/>
          <a:ln/>
        </p:spPr>
        <p:txBody>
          <a:bodyPr wrap="square" lIns="0" tIns="0" rIns="0" bIns="0" rtlCol="0" anchor="ctr"/>
          <a:lstStyle/>
          <a:p>
            <a:pPr algn="l" indent="0" marL="0">
              <a:buNone/>
            </a:pPr>
            <a:r>
              <a:rPr lang="en-US" sz="4000" dirty="0">
                <a:solidFill>
                  <a:schemeClr val="bg1"/>
                </a:solidFill>
              </a:rPr>
              <a:t>Item by item</a:t>
            </a:r>
            <a:endParaRPr lang="en-US" sz="4000" dirty="0"/>
          </a:p>
        </p:txBody>
      </p:sp>
      <p:sp>
        <p:nvSpPr>
          <p:cNvPr id="6" name="Text 0"/>
          <p:cNvSpPr/>
          <p:nvPr>
            <p:ph idx="101" type="body" hasCustomPrompt="1"/>
          </p:nvPr>
        </p:nvSpPr>
        <p:spPr>
          <a:xfrm>
            <a:off x="731520" y="3840480"/>
            <a:ext cx="10515600" cy="548640"/>
          </a:xfrm>
          <a:prstGeom prst="rect">
            <a:avLst/>
          </a:prstGeom>
          <a:noFill/>
          <a:ln/>
        </p:spPr>
        <p:txBody>
          <a:bodyPr wrap="square" lIns="0" tIns="0" rIns="0" bIns="0" rtlCol="0" anchor="t"/>
          <a:lstStyle/>
          <a:p>
            <a:pPr indent="0" marL="0">
              <a:buNone/>
            </a:pPr>
            <a:r>
              <a:rPr lang="en-US" sz="2000" dirty="0">
                <a:solidFill>
                  <a:schemeClr val="accent5"/>
                </a:solidFill>
              </a:rPr>
              <a:t>Every object type: its Synapse format, the conversion, its Fabric form</a:t>
            </a:r>
            <a:endParaRPr lang="en-US" sz="20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FB0C8"/>
                </a:solidFill>
              </a:defRPr>
            </a:lvl1pPr>
          </a:lstStyle>
          <a:p>
            <a:pPr algn="r"/>
            <a:fld id="{F7021451-1387-4CA6-816F-3879F97B5CBC}" type="slidenum">
              <a:rPr b="0" lang="en-US"/>
              <a:t>40</a:t>
            </a:fld>
            <a:endParaRPr lang="en-US"/>
          </a:p>
        </p:txBody>
      </p:sp>
    </p:spTree>
  </p:cSld>
  <p:clrMapOvr>
    <a:masterClrMapping/>
  </p:clrMapOvr>
  <p:transition spd="slow">
    <p:push dir="u"/>
  </p:transition>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05 · ITEM BY ITEM</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Item index: what migrates, and into what</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migration/runner.py → MIGRATABLE</a:t>
            </a:r>
            <a:endParaRPr lang="en-US" sz="11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1444752"/>
          <a:ext cx="11094415" cy="914400"/>
        </p:xfrm>
        <a:graphic>
          <a:graphicData uri="http://schemas.openxmlformats.org/drawingml/2006/table">
            <a:tbl>
              <a:tblPr/>
              <a:tblGrid>
                <a:gridCol w="2286000"/>
                <a:gridCol w="2514600"/>
                <a:gridCol w="2103120"/>
                <a:gridCol w="2240280"/>
                <a:gridCol w="1947672"/>
              </a:tblGrid>
              <a:tr h="310896">
                <a:tc>
                  <a:txBody>
                    <a:bodyPr/>
                    <a:lstStyle/>
                    <a:p>
                      <a:pPr indent="0" marL="0">
                        <a:buNone/>
                      </a:pPr>
                      <a:r>
                        <a:rPr lang="en-US" sz="1150" b="1" dirty="0">
                          <a:solidFill>
                            <a:schemeClr val="bg1"/>
                          </a:solidFill>
                        </a:rPr>
                        <a:t>Synapse item</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4157D6"/>
                    </a:solidFill>
                  </a:tcPr>
                </a:tc>
                <a:tc>
                  <a:txBody>
                    <a:bodyPr/>
                    <a:lstStyle/>
                    <a:p>
                      <a:pPr indent="0" marL="0">
                        <a:buNone/>
                      </a:pPr>
                      <a:r>
                        <a:rPr lang="en-US" sz="1150" b="1" dirty="0">
                          <a:solidFill>
                            <a:schemeClr val="bg1"/>
                          </a:solidFill>
                        </a:rPr>
                        <a:t>Synapse format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4157D6"/>
                    </a:solidFill>
                  </a:tcPr>
                </a:tc>
                <a:tc>
                  <a:txBody>
                    <a:bodyPr/>
                    <a:lstStyle/>
                    <a:p>
                      <a:pPr indent="0" marL="0">
                        <a:buNone/>
                      </a:pPr>
                      <a:r>
                        <a:rPr lang="en-US" sz="1150" b="1" dirty="0">
                          <a:solidFill>
                            <a:schemeClr val="bg1"/>
                          </a:solidFill>
                        </a:rPr>
                        <a:t>Stage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indent="0" marL="0">
                        <a:buNone/>
                      </a:pPr>
                      <a:r>
                        <a:rPr lang="en-US" sz="1150" b="1" dirty="0">
                          <a:solidFill>
                            <a:schemeClr val="bg1"/>
                          </a:solidFill>
                        </a:rPr>
                        <a:t>Fabric item</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7F70"/>
                    </a:solidFill>
                  </a:tcPr>
                </a:tc>
                <a:tc>
                  <a:txBody>
                    <a:bodyPr/>
                    <a:lstStyle/>
                    <a:p>
                      <a:pPr indent="0" marL="0">
                        <a:buNone/>
                      </a:pPr>
                      <a:r>
                        <a:rPr lang="en-US" sz="1150" b="1" dirty="0">
                          <a:solidFill>
                            <a:schemeClr val="bg1"/>
                          </a:solidFill>
                        </a:rPr>
                        <a:t>How it is made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r>
              <a:tr h="283464">
                <a:tc>
                  <a:txBody>
                    <a:bodyPr/>
                    <a:lstStyle/>
                    <a:p>
                      <a:pPr indent="0" marL="0">
                        <a:buNone/>
                      </a:pPr>
                      <a:r>
                        <a:rPr lang="en-US" sz="1150" b="1" dirty="0">
                          <a:solidFill>
                            <a:schemeClr val="tx2"/>
                          </a:solidFill>
                        </a:rPr>
                        <a:t>Dedicated SQL pool</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ARM resource + catalog</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Warehouse &amp; schema</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Warehouse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REST, with collation</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283464">
                <a:tc>
                  <a:txBody>
                    <a:bodyPr/>
                    <a:lstStyle/>
                    <a:p>
                      <a:pPr indent="0" marL="0">
                        <a:buNone/>
                      </a:pPr>
                      <a:r>
                        <a:rPr lang="en-US" sz="1150" b="1" dirty="0">
                          <a:solidFill>
                            <a:schemeClr val="tx2"/>
                          </a:solidFill>
                        </a:rPr>
                        <a:t>Schema</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Catalog</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Warehouse &amp; schema</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Schema</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T-SQL</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283464">
                <a:tc>
                  <a:txBody>
                    <a:bodyPr/>
                    <a:lstStyle/>
                    <a:p>
                      <a:pPr indent="0" marL="0">
                        <a:buNone/>
                      </a:pPr>
                      <a:r>
                        <a:rPr lang="en-US" sz="1150" b="1" dirty="0">
                          <a:solidFill>
                            <a:schemeClr val="tx2"/>
                          </a:solidFill>
                        </a:rPr>
                        <a:t>Table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Catalog: columns, keys, masks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Warehouse &amp; schema</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Table, empty</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CREATE TABLE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283464">
                <a:tc>
                  <a:txBody>
                    <a:bodyPr/>
                    <a:lstStyle/>
                    <a:p>
                      <a:pPr indent="0" marL="0">
                        <a:buNone/>
                      </a:pPr>
                      <a:r>
                        <a:rPr lang="en-US" sz="1150" b="1" dirty="0">
                          <a:solidFill>
                            <a:schemeClr val="tx2"/>
                          </a:solidFill>
                        </a:rPr>
                        <a:t>View, procedure, function</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Module text (sys.sql_modules)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Warehouse &amp; schema</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The same object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T-SQL rules, CREATE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283464">
                <a:tc>
                  <a:txBody>
                    <a:bodyPr/>
                    <a:lstStyle/>
                    <a:p>
                      <a:pPr indent="0" marL="0">
                        <a:buNone/>
                      </a:pPr>
                      <a:r>
                        <a:rPr lang="en-US" sz="1150" b="1" dirty="0">
                          <a:solidFill>
                            <a:schemeClr val="tx2"/>
                          </a:solidFill>
                        </a:rPr>
                        <a:t>Table rows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Rows in the pool</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Table data</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Rows in the Warehouse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 pipeline per wave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283464">
                <a:tc>
                  <a:txBody>
                    <a:bodyPr/>
                    <a:lstStyle/>
                    <a:p>
                      <a:pPr indent="0" marL="0">
                        <a:buNone/>
                      </a:pPr>
                      <a:r>
                        <a:rPr lang="en-US" sz="1150" b="1" dirty="0">
                          <a:solidFill>
                            <a:schemeClr val="tx2"/>
                          </a:solidFill>
                        </a:rPr>
                        <a:t>Role, user, permission</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Principals, members, grants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Roles &amp; permissions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Roles and grants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GRANT / DENY</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283464">
                <a:tc>
                  <a:txBody>
                    <a:bodyPr/>
                    <a:lstStyle/>
                    <a:p>
                      <a:pPr indent="0" marL="0">
                        <a:buNone/>
                      </a:pPr>
                      <a:r>
                        <a:rPr lang="en-US" sz="1150" b="1" dirty="0">
                          <a:solidFill>
                            <a:schemeClr val="tx2"/>
                          </a:solidFill>
                        </a:rPr>
                        <a:t>Spark pool</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ARM bigDataPool</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Spark pool &amp; environment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Pool + Environment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REST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283464">
                <a:tc>
                  <a:txBody>
                    <a:bodyPr/>
                    <a:lstStyle/>
                    <a:p>
                      <a:pPr indent="0" marL="0">
                        <a:buNone/>
                      </a:pPr>
                      <a:r>
                        <a:rPr lang="en-US" sz="1150" b="1" dirty="0">
                          <a:solidFill>
                            <a:schemeClr val="tx2"/>
                          </a:solidFill>
                        </a:rPr>
                        <a:t>Notebook</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Notebook JSON</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Notebooks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Notebook (ipynb)</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REST, code rewritten</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283464">
                <a:tc>
                  <a:txBody>
                    <a:bodyPr/>
                    <a:lstStyle/>
                    <a:p>
                      <a:pPr indent="0" marL="0">
                        <a:buNone/>
                      </a:pPr>
                      <a:r>
                        <a:rPr lang="en-US" sz="1150" b="1" dirty="0">
                          <a:solidFill>
                            <a:schemeClr val="tx2"/>
                          </a:solidFill>
                        </a:rPr>
                        <a:t>Linked service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Linked service JSON</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Connections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Connection</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REST + your credential</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283464">
                <a:tc>
                  <a:txBody>
                    <a:bodyPr/>
                    <a:lstStyle/>
                    <a:p>
                      <a:pPr indent="0" marL="0">
                        <a:buNone/>
                      </a:pPr>
                      <a:r>
                        <a:rPr lang="en-US" sz="1150" b="1" dirty="0">
                          <a:solidFill>
                            <a:schemeClr val="tx2"/>
                          </a:solidFill>
                        </a:rPr>
                        <a:t>Pipeline + datasets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Pipeline JSON (+ datasets)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Pipelines &amp; datasets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Data pipeline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REST, JSON converted</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283464">
                <a:tc>
                  <a:txBody>
                    <a:bodyPr/>
                    <a:lstStyle/>
                    <a:p>
                      <a:pPr indent="0" marL="0">
                        <a:buNone/>
                      </a:pPr>
                      <a:r>
                        <a:rPr lang="en-US" sz="1150" b="1" dirty="0">
                          <a:solidFill>
                            <a:schemeClr val="tx2"/>
                          </a:solidFill>
                        </a:rPr>
                        <a:t>Spark job definition</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Spark job JSON</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Spark job definitions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Spark job definition</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REST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283464">
                <a:tc>
                  <a:txBody>
                    <a:bodyPr/>
                    <a:lstStyle/>
                    <a:p>
                      <a:pPr indent="0" marL="0">
                        <a:buNone/>
                      </a:pPr>
                      <a:r>
                        <a:rPr lang="en-US" sz="1150" b="1" dirty="0">
                          <a:solidFill>
                            <a:schemeClr val="tx2"/>
                          </a:solidFill>
                        </a:rPr>
                        <a:t>SQL script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SQL script JSON</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SQL scripts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Notebook, T-SQL cell</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REST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283464">
                <a:tc>
                  <a:txBody>
                    <a:bodyPr/>
                    <a:lstStyle/>
                    <a:p>
                      <a:pPr indent="0" marL="0">
                        <a:buNone/>
                      </a:pPr>
                      <a:r>
                        <a:rPr lang="en-US" sz="1150" b="1" dirty="0">
                          <a:solidFill>
                            <a:schemeClr val="tx2"/>
                          </a:solidFill>
                        </a:rPr>
                        <a:t>Trigger</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Trigger JSON</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Schedules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Schedule, switched off</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REST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283464">
                <a:tc>
                  <a:txBody>
                    <a:bodyPr/>
                    <a:lstStyle/>
                    <a:p>
                      <a:pPr indent="0" marL="0">
                        <a:buNone/>
                      </a:pPr>
                      <a:r>
                        <a:rPr lang="en-US" sz="1150" b="1" dirty="0">
                          <a:solidFill>
                            <a:schemeClr val="tx2"/>
                          </a:solidFill>
                        </a:rPr>
                        <a:t>External table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Catalog + data source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External tables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OneLake shortcut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REST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283464">
                <a:tc>
                  <a:txBody>
                    <a:bodyPr/>
                    <a:lstStyle/>
                    <a:p>
                      <a:pPr indent="0" marL="0">
                        <a:buNone/>
                      </a:pPr>
                      <a:r>
                        <a:rPr lang="en-US" sz="1150" b="1" dirty="0">
                          <a:solidFill>
                            <a:schemeClr val="tx2"/>
                          </a:solidFill>
                        </a:rPr>
                        <a:t>Integration runtime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Runtime JSON</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Gateway or built-in</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By hand</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41</a:t>
            </a:fld>
            <a:endParaRPr lang="en-US"/>
          </a:p>
        </p:txBody>
      </p:sp>
    </p:spTree>
  </p:cSld>
  <p:clrMapOvr>
    <a:masterClrMapping/>
  </p:clrMapOvr>
  <p:transition spd="med">
    <p:fade/>
  </p:transition>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05 · ITEM BY ITEM</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Dedicated SQL pool and schemas → Warehouse</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migration/runner.py: _pool, _open_warehouse, _schema</a:t>
            </a:r>
            <a:endParaRPr lang="en-US" sz="1100" dirty="0"/>
          </a:p>
        </p:txBody>
      </p:sp>
      <p:sp>
        <p:nvSpPr>
          <p:cNvPr id="5" name="Shape 3"/>
          <p:cNvSpPr/>
          <p:nvPr/>
        </p:nvSpPr>
        <p:spPr>
          <a:xfrm>
            <a:off x="548640" y="1463040"/>
            <a:ext cx="3246120" cy="4114800"/>
          </a:xfrm>
          <a:prstGeom prst="roundRect">
            <a:avLst>
              <a:gd name="adj" fmla="val 3380"/>
            </a:avLst>
          </a:prstGeom>
          <a:solidFill>
            <a:schemeClr val="accent2">
              <a:alpha val="9000"/>
            </a:schemeClr>
          </a:solidFill>
          <a:ln/>
        </p:spPr>
      </p:sp>
      <p:sp>
        <p:nvSpPr>
          <p:cNvPr id="6" name="Text 4"/>
          <p:cNvSpPr txBox="1"/>
          <p:nvPr/>
        </p:nvSpPr>
        <p:spPr>
          <a:xfrm>
            <a:off x="749808" y="1627632"/>
            <a:ext cx="2880360" cy="3840480"/>
          </a:xfrm>
          <a:prstGeom prst="rect">
            <a:avLst/>
          </a:prstGeom>
          <a:noFill/>
          <a:ln/>
        </p:spPr>
        <p:txBody>
          <a:bodyPr wrap="square" lIns="0" tIns="0" rIns="0" bIns="0" rtlCol="0" anchor="t"/>
          <a:lstStyle/>
          <a:p>
            <a:pPr indent="0" marL="0">
              <a:buNone/>
            </a:pPr>
            <a:r>
              <a:rPr lang="en-US" sz="1100" b="1" spc="100" kern="0" dirty="0">
                <a:solidFill>
                  <a:schemeClr val="accent2"/>
                </a:solidFill>
              </a:rPr>
              <a:t>IN SYNAPSE</a:t>
            </a:r>
            <a:endParaRPr lang="en-US" sz="1400" dirty="0"/>
          </a:p>
          <a:p>
            <a:pPr indent="0" marL="0">
              <a:spcBef>
                <a:spcPts val="400"/>
              </a:spcBef>
              <a:buNone/>
            </a:pPr>
            <a:r>
              <a:rPr lang="en-US" sz="1600" dirty="0">
                <a:solidFill>
                  <a:schemeClr val="tx2"/>
                </a:solidFill>
                <a:latin typeface="+mj-lt" pitchFamily="34" charset="0"/>
                <a:ea typeface="+mj-lt" pitchFamily="34" charset="-122"/>
                <a:cs typeface="+mj-lt" pitchFamily="34" charset="-120"/>
              </a:rPr>
              <a:t>Dedicated SQL pool, schemas</a:t>
            </a:r>
            <a:endParaRPr lang="en-US" sz="1400" dirty="0"/>
          </a:p>
          <a:p>
            <a:pPr indent="0" marL="0">
              <a:spcBef>
                <a:spcPts val="800"/>
              </a:spcBef>
              <a:buNone/>
            </a:pPr>
            <a:r>
              <a:rPr lang="en-US" sz="1050" b="1" dirty="0">
                <a:solidFill>
                  <a:schemeClr val="accent6"/>
                </a:solidFill>
              </a:rPr>
              <a:t>Format</a:t>
            </a:r>
            <a:endParaRPr lang="en-US" sz="1400" dirty="0"/>
          </a:p>
          <a:p>
            <a:pPr indent="0" marL="0">
              <a:buNone/>
            </a:pPr>
            <a:r>
              <a:rPr lang="en-US" sz="1200" dirty="0">
                <a:solidFill>
                  <a:schemeClr val="tx1"/>
                </a:solidFill>
              </a:rPr>
              <a:t>ARM resource (SKU, status, collation) plus the database catalog (sys.schemas)</a:t>
            </a:r>
            <a:endParaRPr lang="en-US" sz="1400" dirty="0"/>
          </a:p>
          <a:p>
            <a:pPr marL="139700" indent="-139700">
              <a:spcBef>
                <a:spcPts val="900"/>
              </a:spcBef>
              <a:buSzPct val="100000"/>
              <a:buChar char="•"/>
            </a:pPr>
            <a:r>
              <a:rPr lang="en-US" sz="1200" dirty="0">
                <a:solidFill>
                  <a:schemeClr val="tx1"/>
                </a:solidFill>
              </a:rPr>
              <a:t>A provisioned MPP engine sized in DWU</a:t>
            </a:r>
            <a:endParaRPr lang="en-US" sz="1400" dirty="0"/>
          </a:p>
          <a:p>
            <a:pPr marL="139700" indent="-139700">
              <a:spcBef>
                <a:spcPts val="400"/>
              </a:spcBef>
              <a:buSzPct val="100000"/>
              <a:buChar char="•"/>
            </a:pPr>
            <a:r>
              <a:rPr lang="en-US" sz="1200" dirty="0">
                <a:solidFill>
                  <a:schemeClr val="tx1"/>
                </a:solidFill>
              </a:rPr>
              <a:t>Collation read from the pool; Synapse's default is case-insensitive</a:t>
            </a:r>
            <a:endParaRPr lang="en-US" sz="1400" dirty="0"/>
          </a:p>
          <a:p>
            <a:pPr marL="139700" indent="-139700">
              <a:spcBef>
                <a:spcPts val="400"/>
              </a:spcBef>
              <a:buSzPct val="100000"/>
              <a:buChar char="•"/>
            </a:pPr>
            <a:r>
              <a:rPr lang="en-US" sz="1200" dirty="0">
                <a:solidFill>
                  <a:schemeClr val="tx1"/>
                </a:solidFill>
              </a:rPr>
              <a:t>Schemas listed by the catalog</a:t>
            </a:r>
            <a:endParaRPr lang="en-US" sz="1400" dirty="0"/>
          </a:p>
        </p:txBody>
      </p:sp>
      <p:sp>
        <p:nvSpPr>
          <p:cNvPr id="7" name="Shape 5"/>
          <p:cNvSpPr/>
          <p:nvPr/>
        </p:nvSpPr>
        <p:spPr>
          <a:xfrm>
            <a:off x="4114800" y="1463040"/>
            <a:ext cx="3959352" cy="4114800"/>
          </a:xfrm>
          <a:prstGeom prst="roundRect">
            <a:avLst>
              <a:gd name="adj" fmla="val 2771"/>
            </a:avLst>
          </a:prstGeom>
          <a:solidFill>
            <a:schemeClr val="bg2"/>
          </a:solidFill>
          <a:ln/>
        </p:spPr>
      </p:sp>
      <p:sp>
        <p:nvSpPr>
          <p:cNvPr id="8" name="Text 6"/>
          <p:cNvSpPr txBox="1"/>
          <p:nvPr/>
        </p:nvSpPr>
        <p:spPr>
          <a:xfrm>
            <a:off x="4315968" y="1627632"/>
            <a:ext cx="3593592" cy="3840480"/>
          </a:xfrm>
          <a:prstGeom prst="rect">
            <a:avLst/>
          </a:prstGeom>
          <a:noFill/>
          <a:ln/>
        </p:spPr>
        <p:txBody>
          <a:bodyPr wrap="square" lIns="0" tIns="0" rIns="0" bIns="0" rtlCol="0" anchor="t"/>
          <a:lstStyle/>
          <a:p>
            <a:pPr indent="0" marL="0">
              <a:buNone/>
            </a:pPr>
            <a:r>
              <a:rPr lang="en-US" sz="1100" b="1" spc="100" kern="0" dirty="0">
                <a:solidFill>
                  <a:schemeClr val="accent6"/>
                </a:solidFill>
              </a:rPr>
              <a:t>HOW IT IS CONVERTED</a:t>
            </a:r>
            <a:endParaRPr lang="en-US" sz="1400" dirty="0"/>
          </a:p>
          <a:p>
            <a:pPr marL="342900" indent="-342900">
              <a:spcBef>
                <a:spcPts val="900"/>
              </a:spcBef>
              <a:buSzPct val="100000"/>
              <a:buFont typeface="+mj-lt"/>
              <a:buAutoNum type="arabicPeriod" startAt="1"/>
            </a:pPr>
            <a:r>
              <a:rPr lang="en-US" sz="1250" dirty="0">
                <a:solidFill>
                  <a:schemeClr val="tx1"/>
                </a:solidFill>
              </a:rPr>
              <a:t>Look for a Warehouse with the pool's name; reuse it if it exists</a:t>
            </a:r>
            <a:endParaRPr lang="en-US" sz="1400" dirty="0"/>
          </a:p>
          <a:p>
            <a:pPr marL="342900" indent="-342900">
              <a:spcBef>
                <a:spcPts val="500"/>
              </a:spcBef>
              <a:buSzPct val="100000"/>
              <a:buFont typeface="+mj-lt"/>
              <a:buAutoNum type="arabicPeriod" startAt="1"/>
            </a:pPr>
            <a:r>
              <a:rPr lang="en-US" sz="1250" dirty="0">
                <a:solidFill>
                  <a:schemeClr val="tx1"/>
                </a:solidFill>
              </a:rPr>
              <a:t>Otherwise create it: POST /warehouses with creationPayload.defaultCollation</a:t>
            </a:r>
            <a:endParaRPr lang="en-US" sz="1400" dirty="0"/>
          </a:p>
          <a:p>
            <a:pPr marL="342900" indent="-342900">
              <a:spcBef>
                <a:spcPts val="500"/>
              </a:spcBef>
              <a:buSzPct val="100000"/>
              <a:buFont typeface="+mj-lt"/>
              <a:buAutoNum type="arabicPeriod" startAt="1"/>
            </a:pPr>
            <a:r>
              <a:rPr lang="en-US" sz="1250" dirty="0">
                <a:solidFill>
                  <a:schemeClr val="tx1"/>
                </a:solidFill>
              </a:rPr>
              <a:t>Collation: same as Synapse (default), case-insensitive, or case-sensitive</a:t>
            </a:r>
            <a:endParaRPr lang="en-US" sz="1400" dirty="0"/>
          </a:p>
          <a:p>
            <a:pPr marL="342900" indent="-342900">
              <a:spcBef>
                <a:spcPts val="500"/>
              </a:spcBef>
              <a:buSzPct val="100000"/>
              <a:buFont typeface="+mj-lt"/>
              <a:buAutoNum type="arabicPeriod" startAt="1"/>
            </a:pPr>
            <a:r>
              <a:rPr lang="en-US" sz="1250" dirty="0">
                <a:solidFill>
                  <a:schemeClr val="tx1"/>
                </a:solidFill>
              </a:rPr>
              <a:t>Wait for its SQL endpoint (up to 20 checks, 3 s apart), then connect with an Entra token over ODBC 18</a:t>
            </a:r>
            <a:endParaRPr lang="en-US" sz="1400" dirty="0"/>
          </a:p>
          <a:p>
            <a:pPr marL="342900" indent="-342900">
              <a:spcBef>
                <a:spcPts val="500"/>
              </a:spcBef>
              <a:buSzPct val="100000"/>
              <a:buFont typeface="+mj-lt"/>
              <a:buAutoNum type="arabicPeriod" startAt="1"/>
            </a:pPr>
            <a:r>
              <a:rPr lang="en-US" sz="1250" dirty="0">
                <a:solidFill>
                  <a:schemeClr val="tx1"/>
                </a:solidFill>
              </a:rPr>
              <a:t>Create each schema that is missing; dbo already exists</a:t>
            </a:r>
            <a:endParaRPr lang="en-US" sz="1400" dirty="0"/>
          </a:p>
        </p:txBody>
      </p:sp>
      <p:sp>
        <p:nvSpPr>
          <p:cNvPr id="9" name="Shape 7"/>
          <p:cNvSpPr/>
          <p:nvPr/>
        </p:nvSpPr>
        <p:spPr>
          <a:xfrm>
            <a:off x="8394192" y="1463040"/>
            <a:ext cx="3246120" cy="4114800"/>
          </a:xfrm>
          <a:prstGeom prst="roundRect">
            <a:avLst>
              <a:gd name="adj" fmla="val 3380"/>
            </a:avLst>
          </a:prstGeom>
          <a:solidFill>
            <a:schemeClr val="accent1">
              <a:alpha val="10000"/>
            </a:schemeClr>
          </a:solidFill>
          <a:ln/>
        </p:spPr>
      </p:sp>
      <p:sp>
        <p:nvSpPr>
          <p:cNvPr id="10" name="Text 8"/>
          <p:cNvSpPr txBox="1"/>
          <p:nvPr/>
        </p:nvSpPr>
        <p:spPr>
          <a:xfrm>
            <a:off x="8595360" y="1627632"/>
            <a:ext cx="2880360" cy="3840480"/>
          </a:xfrm>
          <a:prstGeom prst="rect">
            <a:avLst/>
          </a:prstGeom>
          <a:noFill/>
          <a:ln/>
        </p:spPr>
        <p:txBody>
          <a:bodyPr wrap="square" lIns="0" tIns="0" rIns="0" bIns="0" rtlCol="0" anchor="t"/>
          <a:lstStyle/>
          <a:p>
            <a:pPr indent="0" marL="0">
              <a:buNone/>
            </a:pPr>
            <a:r>
              <a:rPr lang="en-US" sz="1100" b="1" spc="100" kern="0" dirty="0">
                <a:solidFill>
                  <a:schemeClr val="accent1"/>
                </a:solidFill>
              </a:rPr>
              <a:t>IN FABRIC</a:t>
            </a:r>
            <a:endParaRPr lang="en-US" sz="1400" dirty="0"/>
          </a:p>
          <a:p>
            <a:pPr indent="0" marL="0">
              <a:spcBef>
                <a:spcPts val="400"/>
              </a:spcBef>
              <a:buNone/>
            </a:pPr>
            <a:r>
              <a:rPr lang="en-US" sz="1600" dirty="0">
                <a:solidFill>
                  <a:schemeClr val="tx2"/>
                </a:solidFill>
                <a:latin typeface="+mj-lt" pitchFamily="34" charset="0"/>
                <a:ea typeface="+mj-lt" pitchFamily="34" charset="-122"/>
                <a:cs typeface="+mj-lt" pitchFamily="34" charset="-120"/>
              </a:rPr>
              <a:t>Warehouse and schemas</a:t>
            </a:r>
            <a:endParaRPr lang="en-US" sz="1400" dirty="0"/>
          </a:p>
          <a:p>
            <a:pPr indent="0" marL="0">
              <a:spcBef>
                <a:spcPts val="800"/>
              </a:spcBef>
              <a:buNone/>
            </a:pPr>
            <a:r>
              <a:rPr lang="en-US" sz="1050" b="1" dirty="0">
                <a:solidFill>
                  <a:schemeClr val="accent6"/>
                </a:solidFill>
              </a:rPr>
              <a:t>Format</a:t>
            </a:r>
            <a:endParaRPr lang="en-US" sz="1400" dirty="0"/>
          </a:p>
          <a:p>
            <a:pPr indent="0" marL="0">
              <a:buNone/>
            </a:pPr>
            <a:r>
              <a:rPr lang="en-US" sz="1200" dirty="0">
                <a:solidFill>
                  <a:schemeClr val="tx1"/>
                </a:solidFill>
              </a:rPr>
              <a:t>A Warehouse item; every object inside it is created with T-SQL on its SQL endpoint</a:t>
            </a:r>
            <a:endParaRPr lang="en-US" sz="1400" dirty="0"/>
          </a:p>
          <a:p>
            <a:pPr marL="139700" indent="-139700">
              <a:spcBef>
                <a:spcPts val="900"/>
              </a:spcBef>
              <a:buSzPct val="100000"/>
              <a:buChar char="•"/>
            </a:pPr>
            <a:r>
              <a:rPr lang="en-US" sz="1200" dirty="0">
                <a:solidFill>
                  <a:schemeClr val="tx1"/>
                </a:solidFill>
              </a:rPr>
              <a:t>Named after the pool: other characters become _, and wh_ is added unless it starts with a letter</a:t>
            </a:r>
            <a:endParaRPr lang="en-US" sz="1400" dirty="0"/>
          </a:p>
          <a:p>
            <a:pPr marL="139700" indent="-139700">
              <a:spcBef>
                <a:spcPts val="400"/>
              </a:spcBef>
              <a:buSzPct val="100000"/>
              <a:buChar char="•"/>
            </a:pPr>
            <a:r>
              <a:rPr lang="en-US" sz="1200" dirty="0">
                <a:solidFill>
                  <a:schemeClr val="tx1"/>
                </a:solidFill>
              </a:rPr>
              <a:t>UTF-8 collation: case-insensitive, or BIN2 (case-sensitive)</a:t>
            </a:r>
            <a:endParaRPr lang="en-US" sz="1400" dirty="0"/>
          </a:p>
          <a:p>
            <a:pPr marL="139700" indent="-139700">
              <a:spcBef>
                <a:spcPts val="400"/>
              </a:spcBef>
              <a:buSzPct val="100000"/>
              <a:buChar char="•"/>
            </a:pPr>
            <a:r>
              <a:rPr lang="en-US" sz="1200" dirty="0">
                <a:solidFill>
                  <a:schemeClr val="tx1"/>
                </a:solidFill>
              </a:rPr>
              <a:t>Collation cannot change later</a:t>
            </a:r>
            <a:endParaRPr lang="en-US" sz="1400" dirty="0"/>
          </a:p>
        </p:txBody>
      </p:sp>
      <p:sp>
        <p:nvSpPr>
          <p:cNvPr id="11" name="Shape 9"/>
          <p:cNvSpPr/>
          <p:nvPr/>
        </p:nvSpPr>
        <p:spPr>
          <a:xfrm>
            <a:off x="3867912" y="3337560"/>
            <a:ext cx="182880" cy="365760"/>
          </a:xfrm>
          <a:prstGeom prst="chevron">
            <a:avLst/>
          </a:prstGeom>
          <a:solidFill>
            <a:schemeClr val="accent6"/>
          </a:solidFill>
          <a:ln/>
        </p:spPr>
      </p:sp>
      <p:sp>
        <p:nvSpPr>
          <p:cNvPr id="12" name="Shape 10"/>
          <p:cNvSpPr/>
          <p:nvPr/>
        </p:nvSpPr>
        <p:spPr>
          <a:xfrm>
            <a:off x="8147304" y="3337560"/>
            <a:ext cx="182880" cy="365760"/>
          </a:xfrm>
          <a:prstGeom prst="chevron">
            <a:avLst/>
          </a:prstGeom>
          <a:solidFill>
            <a:schemeClr val="accent6"/>
          </a:solidFill>
          <a:ln/>
        </p:spPr>
      </p:sp>
      <p:sp>
        <p:nvSpPr>
          <p:cNvPr id="13" name="Shape 11"/>
          <p:cNvSpPr/>
          <p:nvPr/>
        </p:nvSpPr>
        <p:spPr>
          <a:xfrm>
            <a:off x="548640" y="5687568"/>
            <a:ext cx="11094415" cy="530352"/>
          </a:xfrm>
          <a:prstGeom prst="roundRect">
            <a:avLst>
              <a:gd name="adj" fmla="val 20690"/>
            </a:avLst>
          </a:prstGeom>
          <a:solidFill>
            <a:schemeClr val="accent3">
              <a:alpha val="13000"/>
            </a:schemeClr>
          </a:solidFill>
          <a:ln/>
        </p:spPr>
      </p:sp>
      <p:sp>
        <p:nvSpPr>
          <p:cNvPr id="14" name="Text 12"/>
          <p:cNvSpPr txBox="1"/>
          <p:nvPr/>
        </p:nvSpPr>
        <p:spPr>
          <a:xfrm>
            <a:off x="777240" y="5687568"/>
            <a:ext cx="10637215" cy="530352"/>
          </a:xfrm>
          <a:prstGeom prst="rect">
            <a:avLst/>
          </a:prstGeom>
          <a:noFill/>
          <a:ln/>
        </p:spPr>
        <p:txBody>
          <a:bodyPr wrap="square" lIns="0" tIns="0" rIns="0" bIns="0" rtlCol="0" anchor="ctr"/>
          <a:lstStyle/>
          <a:p>
            <a:pPr indent="0" marL="0">
              <a:buNone/>
            </a:pPr>
            <a:r>
              <a:rPr lang="en-US" sz="1250" b="1" dirty="0">
                <a:solidFill>
                  <a:schemeClr val="tx2"/>
                </a:solidFill>
              </a:rPr>
              <a:t>Note:  </a:t>
            </a:r>
            <a:pPr indent="0" marL="0">
              <a:buNone/>
            </a:pPr>
            <a:r>
              <a:rPr lang="en-US" sz="1250" dirty="0">
                <a:solidFill>
                  <a:schemeClr val="tx1"/>
                </a:solidFill>
              </a:rPr>
              <a:t>only the SQL pool you connected becomes the Warehouse; other pools are deferred. An existing Warehouse keeps the collation it was created with.</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42</a:t>
            </a:fld>
            <a:endParaRPr lang="en-US"/>
          </a:p>
        </p:txBody>
      </p:sp>
    </p:spTree>
  </p:cSld>
  <p:clrMapOvr>
    <a:masterClrMapping/>
  </p:clrMapOvr>
  <p:transition spd="med">
    <p:fade/>
  </p:transition>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05 · ITEM BY ITEM</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Tables → Warehouse tables: the structure</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migration/warehouse_ddl.py · runner.py: _table</a:t>
            </a:r>
            <a:endParaRPr lang="en-US" sz="1100" dirty="0"/>
          </a:p>
        </p:txBody>
      </p:sp>
      <p:sp>
        <p:nvSpPr>
          <p:cNvPr id="5" name="Shape 3"/>
          <p:cNvSpPr/>
          <p:nvPr/>
        </p:nvSpPr>
        <p:spPr>
          <a:xfrm>
            <a:off x="548640" y="1463040"/>
            <a:ext cx="3246120" cy="4114800"/>
          </a:xfrm>
          <a:prstGeom prst="roundRect">
            <a:avLst>
              <a:gd name="adj" fmla="val 3380"/>
            </a:avLst>
          </a:prstGeom>
          <a:solidFill>
            <a:schemeClr val="accent2">
              <a:alpha val="9000"/>
            </a:schemeClr>
          </a:solidFill>
          <a:ln/>
        </p:spPr>
      </p:sp>
      <p:sp>
        <p:nvSpPr>
          <p:cNvPr id="6" name="Text 4"/>
          <p:cNvSpPr txBox="1"/>
          <p:nvPr/>
        </p:nvSpPr>
        <p:spPr>
          <a:xfrm>
            <a:off x="749808" y="1627632"/>
            <a:ext cx="2880360" cy="3840480"/>
          </a:xfrm>
          <a:prstGeom prst="rect">
            <a:avLst/>
          </a:prstGeom>
          <a:noFill/>
          <a:ln/>
        </p:spPr>
        <p:txBody>
          <a:bodyPr wrap="square" lIns="0" tIns="0" rIns="0" bIns="0" rtlCol="0" anchor="t"/>
          <a:lstStyle/>
          <a:p>
            <a:pPr indent="0" marL="0">
              <a:buNone/>
            </a:pPr>
            <a:r>
              <a:rPr lang="en-US" sz="1100" b="1" spc="100" kern="0" dirty="0">
                <a:solidFill>
                  <a:schemeClr val="accent2"/>
                </a:solidFill>
              </a:rPr>
              <a:t>IN SYNAPSE</a:t>
            </a:r>
            <a:endParaRPr lang="en-US" sz="1400" dirty="0"/>
          </a:p>
          <a:p>
            <a:pPr indent="0" marL="0">
              <a:spcBef>
                <a:spcPts val="400"/>
              </a:spcBef>
              <a:buNone/>
            </a:pPr>
            <a:r>
              <a:rPr lang="en-US" sz="1600" dirty="0">
                <a:solidFill>
                  <a:schemeClr val="tx2"/>
                </a:solidFill>
                <a:latin typeface="+mj-lt" pitchFamily="34" charset="0"/>
                <a:ea typeface="+mj-lt" pitchFamily="34" charset="-122"/>
                <a:cs typeface="+mj-lt" pitchFamily="34" charset="-120"/>
              </a:rPr>
              <a:t>Table</a:t>
            </a:r>
            <a:endParaRPr lang="en-US" sz="1400" dirty="0"/>
          </a:p>
          <a:p>
            <a:pPr indent="0" marL="0">
              <a:spcBef>
                <a:spcPts val="800"/>
              </a:spcBef>
              <a:buNone/>
            </a:pPr>
            <a:r>
              <a:rPr lang="en-US" sz="1050" b="1" dirty="0">
                <a:solidFill>
                  <a:schemeClr val="accent6"/>
                </a:solidFill>
              </a:rPr>
              <a:t>Format</a:t>
            </a:r>
            <a:endParaRPr lang="en-US" sz="1400" dirty="0"/>
          </a:p>
          <a:p>
            <a:pPr indent="0" marL="0">
              <a:buNone/>
            </a:pPr>
            <a:r>
              <a:rPr lang="en-US" sz="1200" dirty="0">
                <a:solidFill>
                  <a:schemeClr val="tx1"/>
                </a:solidFill>
              </a:rPr>
              <a:t>Catalog rows: sys.tables, sys.columns, distribution, index and mask views. The pool keeps no CREATE TABLE text.</a:t>
            </a:r>
            <a:endParaRPr lang="en-US" sz="1400" dirty="0"/>
          </a:p>
          <a:p>
            <a:pPr marL="139700" indent="-139700">
              <a:spcBef>
                <a:spcPts val="900"/>
              </a:spcBef>
              <a:buSzPct val="100000"/>
              <a:buChar char="•"/>
            </a:pPr>
            <a:r>
              <a:rPr lang="en-US" sz="1200" dirty="0">
                <a:solidFill>
                  <a:schemeClr val="tx1"/>
                </a:solidFill>
              </a:rPr>
              <a:t>Hash, round-robin or replicated; CCI, heap or clustered index; partitions</a:t>
            </a:r>
            <a:endParaRPr lang="en-US" sz="1400" dirty="0"/>
          </a:p>
          <a:p>
            <a:pPr marL="139700" indent="-139700">
              <a:spcBef>
                <a:spcPts val="400"/>
              </a:spcBef>
              <a:buSzPct val="100000"/>
              <a:buChar char="•"/>
            </a:pPr>
            <a:r>
              <a:rPr lang="en-US" sz="1200" dirty="0">
                <a:solidFill>
                  <a:schemeClr val="tx1"/>
                </a:solidFill>
              </a:rPr>
              <a:t>PRIMARY KEY and UNIQUE, NOT ENFORCED</a:t>
            </a:r>
            <a:endParaRPr lang="en-US" sz="1400" dirty="0"/>
          </a:p>
          <a:p>
            <a:pPr marL="139700" indent="-139700">
              <a:spcBef>
                <a:spcPts val="400"/>
              </a:spcBef>
              <a:buSzPct val="100000"/>
              <a:buChar char="•"/>
            </a:pPr>
            <a:r>
              <a:rPr lang="en-US" sz="1200" dirty="0">
                <a:solidFill>
                  <a:schemeClr val="tx1"/>
                </a:solidFill>
              </a:rPr>
              <a:t>IDENTITY columns and dynamic data masks</a:t>
            </a:r>
            <a:endParaRPr lang="en-US" sz="1400" dirty="0"/>
          </a:p>
        </p:txBody>
      </p:sp>
      <p:sp>
        <p:nvSpPr>
          <p:cNvPr id="7" name="Shape 5"/>
          <p:cNvSpPr/>
          <p:nvPr/>
        </p:nvSpPr>
        <p:spPr>
          <a:xfrm>
            <a:off x="4114800" y="1463040"/>
            <a:ext cx="3959352" cy="4114800"/>
          </a:xfrm>
          <a:prstGeom prst="roundRect">
            <a:avLst>
              <a:gd name="adj" fmla="val 2771"/>
            </a:avLst>
          </a:prstGeom>
          <a:solidFill>
            <a:schemeClr val="bg2"/>
          </a:solidFill>
          <a:ln/>
        </p:spPr>
      </p:sp>
      <p:sp>
        <p:nvSpPr>
          <p:cNvPr id="8" name="Text 6"/>
          <p:cNvSpPr txBox="1"/>
          <p:nvPr/>
        </p:nvSpPr>
        <p:spPr>
          <a:xfrm>
            <a:off x="4315968" y="1627632"/>
            <a:ext cx="3593592" cy="3840480"/>
          </a:xfrm>
          <a:prstGeom prst="rect">
            <a:avLst/>
          </a:prstGeom>
          <a:noFill/>
          <a:ln/>
        </p:spPr>
        <p:txBody>
          <a:bodyPr wrap="square" lIns="0" tIns="0" rIns="0" bIns="0" rtlCol="0" anchor="t"/>
          <a:lstStyle/>
          <a:p>
            <a:pPr indent="0" marL="0">
              <a:buNone/>
            </a:pPr>
            <a:r>
              <a:rPr lang="en-US" sz="1100" b="1" spc="100" kern="0" dirty="0">
                <a:solidFill>
                  <a:schemeClr val="accent6"/>
                </a:solidFill>
              </a:rPr>
              <a:t>HOW IT IS CONVERTED</a:t>
            </a:r>
            <a:endParaRPr lang="en-US" sz="1400" dirty="0"/>
          </a:p>
          <a:p>
            <a:pPr marL="342900" indent="-342900">
              <a:spcBef>
                <a:spcPts val="900"/>
              </a:spcBef>
              <a:buSzPct val="100000"/>
              <a:buFont typeface="+mj-lt"/>
              <a:buAutoNum type="arabicPeriod" startAt="1"/>
            </a:pPr>
            <a:r>
              <a:rPr lang="en-US" sz="1250" dirty="0">
                <a:solidFill>
                  <a:schemeClr val="tx1"/>
                </a:solidFill>
              </a:rPr>
              <a:t>Rebuild CREATE TABLE from the discovered columns, in column order</a:t>
            </a:r>
            <a:endParaRPr lang="en-US" sz="1400" dirty="0"/>
          </a:p>
          <a:p>
            <a:pPr marL="342900" indent="-342900">
              <a:spcBef>
                <a:spcPts val="500"/>
              </a:spcBef>
              <a:buSzPct val="100000"/>
              <a:buFont typeface="+mj-lt"/>
              <a:buAutoNum type="arabicPeriod" startAt="1"/>
            </a:pPr>
            <a:r>
              <a:rPr lang="en-US" sz="1250" dirty="0">
                <a:solidFill>
                  <a:schemeClr val="tx1"/>
                </a:solidFill>
              </a:rPr>
              <a:t>Map each column's type (18 rules, next slide) and note every change</a:t>
            </a:r>
            <a:endParaRPr lang="en-US" sz="1400" dirty="0"/>
          </a:p>
          <a:p>
            <a:pPr marL="342900" indent="-342900">
              <a:spcBef>
                <a:spcPts val="500"/>
              </a:spcBef>
              <a:buSzPct val="100000"/>
              <a:buFont typeface="+mj-lt"/>
              <a:buAutoNum type="arabicPeriod" startAt="1"/>
            </a:pPr>
            <a:r>
              <a:rPr lang="en-US" sz="1250" dirty="0">
                <a:solidFill>
                  <a:schemeClr val="tx1"/>
                </a:solidFill>
              </a:rPr>
              <a:t>Keep IDENTITY as bigint IDENTITY; write each mask into its column</a:t>
            </a:r>
            <a:endParaRPr lang="en-US" sz="1400" dirty="0"/>
          </a:p>
          <a:p>
            <a:pPr marL="342900" indent="-342900">
              <a:spcBef>
                <a:spcPts val="500"/>
              </a:spcBef>
              <a:buSzPct val="100000"/>
              <a:buFont typeface="+mj-lt"/>
              <a:buAutoNum type="arabicPeriod" startAt="1"/>
            </a:pPr>
            <a:r>
              <a:rPr lang="en-US" sz="1250" dirty="0">
                <a:solidFill>
                  <a:schemeClr val="tx1"/>
                </a:solidFill>
              </a:rPr>
              <a:t>Drop distribution and index settings, with a note</a:t>
            </a:r>
            <a:endParaRPr lang="en-US" sz="1400" dirty="0"/>
          </a:p>
          <a:p>
            <a:pPr marL="342900" indent="-342900">
              <a:spcBef>
                <a:spcPts val="500"/>
              </a:spcBef>
              <a:buSzPct val="100000"/>
              <a:buFont typeface="+mj-lt"/>
              <a:buAutoNum type="arabicPeriod" startAt="1"/>
            </a:pPr>
            <a:r>
              <a:rPr lang="en-US" sz="1250" dirty="0">
                <a:solidFill>
                  <a:schemeClr val="tx1"/>
                </a:solidFill>
              </a:rPr>
              <a:t>Create the schema if needed, then the table, empty</a:t>
            </a:r>
            <a:endParaRPr lang="en-US" sz="1400" dirty="0"/>
          </a:p>
          <a:p>
            <a:pPr marL="342900" indent="-342900">
              <a:spcBef>
                <a:spcPts val="500"/>
              </a:spcBef>
              <a:buSzPct val="100000"/>
              <a:buFont typeface="+mj-lt"/>
              <a:buAutoNum type="arabicPeriod" startAt="1"/>
            </a:pPr>
            <a:r>
              <a:rPr lang="en-US" sz="1250" dirty="0">
                <a:solidFill>
                  <a:schemeClr val="tx1"/>
                </a:solidFill>
              </a:rPr>
              <a:t>Add keys: ALTER TABLE … ADD CONSTRAINT … NONCLUSTERED … NOT ENFORCED</a:t>
            </a:r>
            <a:endParaRPr lang="en-US" sz="1400" dirty="0"/>
          </a:p>
        </p:txBody>
      </p:sp>
      <p:sp>
        <p:nvSpPr>
          <p:cNvPr id="9" name="Shape 7"/>
          <p:cNvSpPr/>
          <p:nvPr/>
        </p:nvSpPr>
        <p:spPr>
          <a:xfrm>
            <a:off x="8394192" y="1463040"/>
            <a:ext cx="3246120" cy="4114800"/>
          </a:xfrm>
          <a:prstGeom prst="roundRect">
            <a:avLst>
              <a:gd name="adj" fmla="val 3380"/>
            </a:avLst>
          </a:prstGeom>
          <a:solidFill>
            <a:schemeClr val="accent1">
              <a:alpha val="10000"/>
            </a:schemeClr>
          </a:solidFill>
          <a:ln/>
        </p:spPr>
      </p:sp>
      <p:sp>
        <p:nvSpPr>
          <p:cNvPr id="10" name="Text 8"/>
          <p:cNvSpPr txBox="1"/>
          <p:nvPr/>
        </p:nvSpPr>
        <p:spPr>
          <a:xfrm>
            <a:off x="8595360" y="1627632"/>
            <a:ext cx="2880360" cy="3840480"/>
          </a:xfrm>
          <a:prstGeom prst="rect">
            <a:avLst/>
          </a:prstGeom>
          <a:noFill/>
          <a:ln/>
        </p:spPr>
        <p:txBody>
          <a:bodyPr wrap="square" lIns="0" tIns="0" rIns="0" bIns="0" rtlCol="0" anchor="t"/>
          <a:lstStyle/>
          <a:p>
            <a:pPr indent="0" marL="0">
              <a:buNone/>
            </a:pPr>
            <a:r>
              <a:rPr lang="en-US" sz="1100" b="1" spc="100" kern="0" dirty="0">
                <a:solidFill>
                  <a:schemeClr val="accent1"/>
                </a:solidFill>
              </a:rPr>
              <a:t>IN FABRIC</a:t>
            </a:r>
            <a:endParaRPr lang="en-US" sz="1400" dirty="0"/>
          </a:p>
          <a:p>
            <a:pPr indent="0" marL="0">
              <a:spcBef>
                <a:spcPts val="400"/>
              </a:spcBef>
              <a:buNone/>
            </a:pPr>
            <a:r>
              <a:rPr lang="en-US" sz="1600" dirty="0">
                <a:solidFill>
                  <a:schemeClr val="tx2"/>
                </a:solidFill>
                <a:latin typeface="+mj-lt" pitchFamily="34" charset="0"/>
                <a:ea typeface="+mj-lt" pitchFamily="34" charset="-122"/>
                <a:cs typeface="+mj-lt" pitchFamily="34" charset="-120"/>
              </a:rPr>
              <a:t>Warehouse table</a:t>
            </a:r>
            <a:endParaRPr lang="en-US" sz="1400" dirty="0"/>
          </a:p>
          <a:p>
            <a:pPr indent="0" marL="0">
              <a:spcBef>
                <a:spcPts val="800"/>
              </a:spcBef>
              <a:buNone/>
            </a:pPr>
            <a:r>
              <a:rPr lang="en-US" sz="1050" b="1" dirty="0">
                <a:solidFill>
                  <a:schemeClr val="accent6"/>
                </a:solidFill>
              </a:rPr>
              <a:t>Format</a:t>
            </a:r>
            <a:endParaRPr lang="en-US" sz="1400" dirty="0"/>
          </a:p>
          <a:p>
            <a:pPr indent="0" marL="0">
              <a:buNone/>
            </a:pPr>
            <a:r>
              <a:rPr lang="en-US" sz="1200" dirty="0">
                <a:solidFill>
                  <a:schemeClr val="tx1"/>
                </a:solidFill>
              </a:rPr>
              <a:t>A T-SQL table; its data is stored as Delta Parquet in OneLake and laid out by the engine</a:t>
            </a:r>
            <a:endParaRPr lang="en-US" sz="1400" dirty="0"/>
          </a:p>
          <a:p>
            <a:pPr marL="139700" indent="-139700">
              <a:spcBef>
                <a:spcPts val="900"/>
              </a:spcBef>
              <a:buSzPct val="100000"/>
              <a:buChar char="•"/>
            </a:pPr>
            <a:r>
              <a:rPr lang="en-US" sz="1200" dirty="0">
                <a:solidFill>
                  <a:schemeClr val="tx1"/>
                </a:solidFill>
              </a:rPr>
              <a:t>Same schema, name and column order</a:t>
            </a:r>
            <a:endParaRPr lang="en-US" sz="1400" dirty="0"/>
          </a:p>
          <a:p>
            <a:pPr marL="139700" indent="-139700">
              <a:spcBef>
                <a:spcPts val="400"/>
              </a:spcBef>
              <a:buSzPct val="100000"/>
              <a:buChar char="•"/>
            </a:pPr>
            <a:r>
              <a:rPr lang="en-US" sz="1200" dirty="0">
                <a:solidFill>
                  <a:schemeClr val="tx1"/>
                </a:solidFill>
              </a:rPr>
              <a:t>Every change noted on the object</a:t>
            </a:r>
            <a:endParaRPr lang="en-US" sz="1400" dirty="0"/>
          </a:p>
          <a:p>
            <a:pPr marL="139700" indent="-139700">
              <a:spcBef>
                <a:spcPts val="400"/>
              </a:spcBef>
              <a:buSzPct val="100000"/>
              <a:buChar char="•"/>
            </a:pPr>
            <a:r>
              <a:rPr lang="en-US" sz="1200" dirty="0">
                <a:solidFill>
                  <a:schemeClr val="tx1"/>
                </a:solidFill>
              </a:rPr>
              <a:t>Rows arrive in the Table data stage</a:t>
            </a:r>
            <a:endParaRPr lang="en-US" sz="1400" dirty="0"/>
          </a:p>
        </p:txBody>
      </p:sp>
      <p:sp>
        <p:nvSpPr>
          <p:cNvPr id="11" name="Shape 9"/>
          <p:cNvSpPr/>
          <p:nvPr/>
        </p:nvSpPr>
        <p:spPr>
          <a:xfrm>
            <a:off x="3867912" y="3337560"/>
            <a:ext cx="182880" cy="365760"/>
          </a:xfrm>
          <a:prstGeom prst="chevron">
            <a:avLst/>
          </a:prstGeom>
          <a:solidFill>
            <a:schemeClr val="accent6"/>
          </a:solidFill>
          <a:ln/>
        </p:spPr>
      </p:sp>
      <p:sp>
        <p:nvSpPr>
          <p:cNvPr id="12" name="Shape 10"/>
          <p:cNvSpPr/>
          <p:nvPr/>
        </p:nvSpPr>
        <p:spPr>
          <a:xfrm>
            <a:off x="8147304" y="3337560"/>
            <a:ext cx="182880" cy="365760"/>
          </a:xfrm>
          <a:prstGeom prst="chevron">
            <a:avLst/>
          </a:prstGeom>
          <a:solidFill>
            <a:schemeClr val="accent6"/>
          </a:solidFill>
          <a:ln/>
        </p:spPr>
      </p:sp>
      <p:sp>
        <p:nvSpPr>
          <p:cNvPr id="13" name="Shape 11"/>
          <p:cNvSpPr/>
          <p:nvPr/>
        </p:nvSpPr>
        <p:spPr>
          <a:xfrm>
            <a:off x="548640" y="5687568"/>
            <a:ext cx="11094415" cy="530352"/>
          </a:xfrm>
          <a:prstGeom prst="roundRect">
            <a:avLst>
              <a:gd name="adj" fmla="val 20690"/>
            </a:avLst>
          </a:prstGeom>
          <a:solidFill>
            <a:schemeClr val="accent3">
              <a:alpha val="13000"/>
            </a:schemeClr>
          </a:solidFill>
          <a:ln/>
        </p:spPr>
      </p:sp>
      <p:sp>
        <p:nvSpPr>
          <p:cNvPr id="14" name="Text 12"/>
          <p:cNvSpPr txBox="1"/>
          <p:nvPr/>
        </p:nvSpPr>
        <p:spPr>
          <a:xfrm>
            <a:off x="777240" y="5687568"/>
            <a:ext cx="10637215" cy="530352"/>
          </a:xfrm>
          <a:prstGeom prst="rect">
            <a:avLst/>
          </a:prstGeom>
          <a:noFill/>
          <a:ln/>
        </p:spPr>
        <p:txBody>
          <a:bodyPr wrap="square" lIns="0" tIns="0" rIns="0" bIns="0" rtlCol="0" anchor="ctr"/>
          <a:lstStyle/>
          <a:p>
            <a:pPr indent="0" marL="0">
              <a:buNone/>
            </a:pPr>
            <a:r>
              <a:rPr lang="en-US" sz="1250" b="1" dirty="0">
                <a:solidFill>
                  <a:schemeClr val="tx2"/>
                </a:solidFill>
              </a:rPr>
              <a:t>Left for a person:  </a:t>
            </a:r>
            <a:pPr indent="0" marL="0">
              <a:buNone/>
            </a:pPr>
            <a:r>
              <a:rPr lang="en-US" sz="1250" dirty="0">
                <a:solidFill>
                  <a:schemeClr val="tx1"/>
                </a:solidFill>
              </a:rPr>
              <a:t>an unsupported type (sql_variant, hierarchyid…), a mask function Fabric lacks, or no discovered columns: the table is not created, with the reason. An existing table is never replaced, but missing masks are added.</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43</a:t>
            </a:fld>
            <a:endParaRPr lang="en-US"/>
          </a:p>
        </p:txBody>
      </p:sp>
    </p:spTree>
  </p:cSld>
  <p:clrMapOvr>
    <a:masterClrMapping/>
  </p:clrMapOvr>
  <p:transition spd="med">
    <p:fade/>
  </p:transition>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05 · ITEM BY ITEM</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Tables: how each column type is mapped</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migration/warehouse_ddl.py: map_type</a:t>
            </a:r>
            <a:endParaRPr lang="en-US" sz="11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1426464"/>
          <a:ext cx="11094415" cy="914400"/>
        </p:xfrm>
        <a:graphic>
          <a:graphicData uri="http://schemas.openxmlformats.org/drawingml/2006/table">
            <a:tbl>
              <a:tblPr/>
              <a:tblGrid>
                <a:gridCol w="4206240"/>
                <a:gridCol w="3154680"/>
                <a:gridCol w="3730752"/>
              </a:tblGrid>
              <a:tr h="292608">
                <a:tc>
                  <a:txBody>
                    <a:bodyPr/>
                    <a:lstStyle/>
                    <a:p>
                      <a:pPr indent="0" marL="0">
                        <a:buNone/>
                      </a:pPr>
                      <a:r>
                        <a:rPr lang="en-US" sz="1150" b="1" dirty="0">
                          <a:solidFill>
                            <a:schemeClr val="bg1"/>
                          </a:solidFill>
                        </a:rPr>
                        <a:t>Synapse type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4157D6"/>
                    </a:solidFill>
                  </a:tcPr>
                </a:tc>
                <a:tc>
                  <a:txBody>
                    <a:bodyPr/>
                    <a:lstStyle/>
                    <a:p>
                      <a:pPr indent="0" marL="0">
                        <a:buNone/>
                      </a:pPr>
                      <a:r>
                        <a:rPr lang="en-US" sz="1150" b="1" dirty="0">
                          <a:solidFill>
                            <a:schemeClr val="bg1"/>
                          </a:solidFill>
                        </a:rPr>
                        <a:t>Fabric Warehouse type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7F70"/>
                    </a:solidFill>
                  </a:tcPr>
                </a:tc>
                <a:tc>
                  <a:txBody>
                    <a:bodyPr/>
                    <a:lstStyle/>
                    <a:p>
                      <a:pPr indent="0" marL="0">
                        <a:buNone/>
                      </a:pPr>
                      <a:r>
                        <a:rPr lang="en-US" sz="1150" b="1" dirty="0">
                          <a:solidFill>
                            <a:schemeClr val="bg1"/>
                          </a:solidFill>
                        </a:rPr>
                        <a:t>Note on the column</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r>
              <a:tr h="246888">
                <a:tc>
                  <a:txBody>
                    <a:bodyPr/>
                    <a:lstStyle/>
                    <a:p>
                      <a:pPr indent="0" marL="0">
                        <a:buNone/>
                      </a:pPr>
                      <a:r>
                        <a:rPr lang="en-US" sz="1150" b="1" dirty="0">
                          <a:solidFill>
                            <a:schemeClr val="tx2"/>
                          </a:solidFill>
                        </a:rPr>
                        <a:t>bit, smallint, int, bigint, float, real, date, uniqueidentifier</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unchanged</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246888">
                <a:tc>
                  <a:txBody>
                    <a:bodyPr/>
                    <a:lstStyle/>
                    <a:p>
                      <a:pPr indent="0" marL="0">
                        <a:buNone/>
                      </a:pPr>
                      <a:r>
                        <a:rPr lang="en-US" sz="1150" b="1" dirty="0">
                          <a:solidFill>
                            <a:schemeClr val="tx2"/>
                          </a:solidFill>
                        </a:rPr>
                        <a:t>decimal(p, s), numeric(p, 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decimal(p, 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246888">
                <a:tc>
                  <a:txBody>
                    <a:bodyPr/>
                    <a:lstStyle/>
                    <a:p>
                      <a:pPr indent="0" marL="0">
                        <a:buNone/>
                      </a:pPr>
                      <a:r>
                        <a:rPr lang="en-US" sz="1150" b="1" dirty="0">
                          <a:solidFill>
                            <a:schemeClr val="tx2"/>
                          </a:solidFill>
                        </a:rPr>
                        <a:t>tinyint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smallint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noted</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246888">
                <a:tc>
                  <a:txBody>
                    <a:bodyPr/>
                    <a:lstStyle/>
                    <a:p>
                      <a:pPr indent="0" marL="0">
                        <a:buNone/>
                      </a:pPr>
                      <a:r>
                        <a:rPr lang="en-US" sz="1150" b="1" dirty="0">
                          <a:solidFill>
                            <a:schemeClr val="tx2"/>
                          </a:solidFill>
                        </a:rPr>
                        <a:t>money</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decimal(19, 4)</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noted</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246888">
                <a:tc>
                  <a:txBody>
                    <a:bodyPr/>
                    <a:lstStyle/>
                    <a:p>
                      <a:pPr indent="0" marL="0">
                        <a:buNone/>
                      </a:pPr>
                      <a:r>
                        <a:rPr lang="en-US" sz="1150" b="1" dirty="0">
                          <a:solidFill>
                            <a:schemeClr val="tx2"/>
                          </a:solidFill>
                        </a:rPr>
                        <a:t>smallmoney</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decimal(10, 4)</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noted</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246888">
                <a:tc>
                  <a:txBody>
                    <a:bodyPr/>
                    <a:lstStyle/>
                    <a:p>
                      <a:pPr indent="0" marL="0">
                        <a:buNone/>
                      </a:pPr>
                      <a:r>
                        <a:rPr lang="en-US" sz="1150" b="1" dirty="0">
                          <a:solidFill>
                            <a:schemeClr val="tx2"/>
                          </a:solidFill>
                        </a:rPr>
                        <a:t>datetime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datetime2(3)</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noted</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246888">
                <a:tc>
                  <a:txBody>
                    <a:bodyPr/>
                    <a:lstStyle/>
                    <a:p>
                      <a:pPr indent="0" marL="0">
                        <a:buNone/>
                      </a:pPr>
                      <a:r>
                        <a:rPr lang="en-US" sz="1150" b="1" dirty="0">
                          <a:solidFill>
                            <a:schemeClr val="tx2"/>
                          </a:solidFill>
                        </a:rPr>
                        <a:t>smalldatetime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datetime2(0)</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noted</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246888">
                <a:tc>
                  <a:txBody>
                    <a:bodyPr/>
                    <a:lstStyle/>
                    <a:p>
                      <a:pPr indent="0" marL="0">
                        <a:buNone/>
                      </a:pPr>
                      <a:r>
                        <a:rPr lang="en-US" sz="1150" b="1" dirty="0">
                          <a:solidFill>
                            <a:schemeClr val="tx2"/>
                          </a:solidFill>
                        </a:rPr>
                        <a:t>datetime2(n), time(n)</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n capped at 6</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noted when n is above 6</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246888">
                <a:tc>
                  <a:txBody>
                    <a:bodyPr/>
                    <a:lstStyle/>
                    <a:p>
                      <a:pPr indent="0" marL="0">
                        <a:buNone/>
                      </a:pPr>
                      <a:r>
                        <a:rPr lang="en-US" sz="1150" b="1" dirty="0">
                          <a:solidFill>
                            <a:schemeClr val="tx2"/>
                          </a:solidFill>
                        </a:rPr>
                        <a:t>datetimeoffset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datetime2(up to 6)</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the time-zone offset is lost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246888">
                <a:tc>
                  <a:txBody>
                    <a:bodyPr/>
                    <a:lstStyle/>
                    <a:p>
                      <a:pPr indent="0" marL="0">
                        <a:buNone/>
                      </a:pPr>
                      <a:r>
                        <a:rPr lang="en-US" sz="1150" b="1" dirty="0">
                          <a:solidFill>
                            <a:schemeClr val="tx2"/>
                          </a:solidFill>
                        </a:rPr>
                        <a:t>char(n), varchar(n)</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the same; MAX above 8,000</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246888">
                <a:tc>
                  <a:txBody>
                    <a:bodyPr/>
                    <a:lstStyle/>
                    <a:p>
                      <a:pPr indent="0" marL="0">
                        <a:buNone/>
                      </a:pPr>
                      <a:r>
                        <a:rPr lang="en-US" sz="1150" b="1" dirty="0">
                          <a:solidFill>
                            <a:schemeClr val="tx2"/>
                          </a:solidFill>
                        </a:rPr>
                        <a:t>nchar, nvarchar, sysname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varchar(4 × n), UTF-8</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noted</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246888">
                <a:tc>
                  <a:txBody>
                    <a:bodyPr/>
                    <a:lstStyle/>
                    <a:p>
                      <a:pPr indent="0" marL="0">
                        <a:buNone/>
                      </a:pPr>
                      <a:r>
                        <a:rPr lang="en-US" sz="1150" b="1" dirty="0">
                          <a:solidFill>
                            <a:schemeClr val="tx2"/>
                          </a:solidFill>
                        </a:rPr>
                        <a:t>text, ntext, xml</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varchar(MAX)</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noted</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246888">
                <a:tc>
                  <a:txBody>
                    <a:bodyPr/>
                    <a:lstStyle/>
                    <a:p>
                      <a:pPr indent="0" marL="0">
                        <a:buNone/>
                      </a:pPr>
                      <a:r>
                        <a:rPr lang="en-US" sz="1150" b="1" dirty="0">
                          <a:solidFill>
                            <a:schemeClr val="tx2"/>
                          </a:solidFill>
                        </a:rPr>
                        <a:t>binary, varbinary</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varbinary</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binary is noted</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246888">
                <a:tc>
                  <a:txBody>
                    <a:bodyPr/>
                    <a:lstStyle/>
                    <a:p>
                      <a:pPr indent="0" marL="0">
                        <a:buNone/>
                      </a:pPr>
                      <a:r>
                        <a:rPr lang="en-US" sz="1150" b="1" dirty="0">
                          <a:solidFill>
                            <a:schemeClr val="tx2"/>
                          </a:solidFill>
                        </a:rPr>
                        <a:t>image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varbinary(MAX)</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noted</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246888">
                <a:tc>
                  <a:txBody>
                    <a:bodyPr/>
                    <a:lstStyle/>
                    <a:p>
                      <a:pPr indent="0" marL="0">
                        <a:buNone/>
                      </a:pPr>
                      <a:r>
                        <a:rPr lang="en-US" sz="1150" b="1" dirty="0">
                          <a:solidFill>
                            <a:schemeClr val="tx2"/>
                          </a:solidFill>
                        </a:rPr>
                        <a:t>timestamp, rowversion</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varbinary(8)</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 longer changes on update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246888">
                <a:tc>
                  <a:txBody>
                    <a:bodyPr/>
                    <a:lstStyle/>
                    <a:p>
                      <a:pPr indent="0" marL="0">
                        <a:buNone/>
                      </a:pPr>
                      <a:r>
                        <a:rPr lang="en-US" sz="1150" b="1" dirty="0">
                          <a:solidFill>
                            <a:schemeClr val="tx2"/>
                          </a:solidFill>
                        </a:rPr>
                        <a:t>geography, geometry</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varbinary(MAX), well-known binary</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noted</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246888">
                <a:tc>
                  <a:txBody>
                    <a:bodyPr/>
                    <a:lstStyle/>
                    <a:p>
                      <a:pPr indent="0" marL="0">
                        <a:buNone/>
                      </a:pPr>
                      <a:r>
                        <a:rPr lang="en-US" sz="1150" b="1" dirty="0">
                          <a:solidFill>
                            <a:schemeClr val="tx2"/>
                          </a:solidFill>
                        </a:rPr>
                        <a:t>IDENTITY on an integer or decimal type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bigint IDENTITY</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noted unless already bigint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246888">
                <a:tc>
                  <a:txBody>
                    <a:bodyPr/>
                    <a:lstStyle/>
                    <a:p>
                      <a:pPr indent="0" marL="0">
                        <a:buNone/>
                      </a:pPr>
                      <a:r>
                        <a:rPr lang="en-US" sz="1150" b="1" dirty="0">
                          <a:solidFill>
                            <a:schemeClr val="tx2"/>
                          </a:solidFill>
                        </a:rPr>
                        <a:t>anything else (sql_variant, hierarchyid…)</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the table is not created</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bl>
          </a:graphicData>
        </a:graphic>
      </p:graphicFrame>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44</a:t>
            </a:fld>
            <a:endParaRPr lang="en-US"/>
          </a:p>
        </p:txBody>
      </p:sp>
    </p:spTree>
  </p:cSld>
  <p:clrMapOvr>
    <a:masterClrMapping/>
  </p:clrMapOvr>
  <p:transition spd="med">
    <p:fade/>
  </p:transition>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05 · ITEM BY ITEM</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Tables: IDENTITY, masks and keys</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migration/warehouse_ddl.py · security.py</a:t>
            </a:r>
            <a:endParaRPr lang="en-US" sz="1100" dirty="0"/>
          </a:p>
        </p:txBody>
      </p:sp>
      <p:sp>
        <p:nvSpPr>
          <p:cNvPr id="5" name="Text 3"/>
          <p:cNvSpPr txBox="1"/>
          <p:nvPr/>
        </p:nvSpPr>
        <p:spPr>
          <a:xfrm>
            <a:off x="548640" y="1481328"/>
            <a:ext cx="3547872" cy="384048"/>
          </a:xfrm>
          <a:prstGeom prst="rect">
            <a:avLst/>
          </a:prstGeom>
          <a:noFill/>
          <a:ln/>
        </p:spPr>
        <p:txBody>
          <a:bodyPr wrap="square" lIns="0" tIns="0" rIns="0" bIns="0" rtlCol="0" anchor="t"/>
          <a:lstStyle/>
          <a:p>
            <a:pPr indent="0" marL="0">
              <a:buNone/>
            </a:pPr>
            <a:r>
              <a:rPr lang="en-US" sz="1700" dirty="0">
                <a:solidFill>
                  <a:schemeClr val="tx2"/>
                </a:solidFill>
                <a:latin typeface="+mj-lt" pitchFamily="34" charset="0"/>
                <a:ea typeface="+mj-lt" pitchFamily="34" charset="-122"/>
                <a:cs typeface="+mj-lt" pitchFamily="34" charset="-120"/>
              </a:rPr>
              <a:t>IDENTITY</a:t>
            </a:r>
            <a:endParaRPr lang="en-US" sz="1700" dirty="0"/>
          </a:p>
        </p:txBody>
      </p:sp>
      <p:sp>
        <p:nvSpPr>
          <p:cNvPr id="6" name="Text 4"/>
          <p:cNvSpPr txBox="1"/>
          <p:nvPr/>
        </p:nvSpPr>
        <p:spPr>
          <a:xfrm>
            <a:off x="548640" y="1901952"/>
            <a:ext cx="3547872" cy="1188720"/>
          </a:xfrm>
          <a:prstGeom prst="rect">
            <a:avLst/>
          </a:prstGeom>
          <a:noFill/>
          <a:ln/>
        </p:spPr>
        <p:txBody>
          <a:bodyPr wrap="square" lIns="0" tIns="0" rIns="0" bIns="0" rtlCol="0" anchor="t"/>
          <a:lstStyle/>
          <a:p>
            <a:pPr indent="0" marL="0">
              <a:buNone/>
            </a:pPr>
            <a:r>
              <a:rPr lang="en-US" sz="1300" dirty="0">
                <a:solidFill>
                  <a:schemeClr val="tx1"/>
                </a:solidFill>
              </a:rPr>
              <a:t>Fabric supports IDENTITY on bigint only, with no seed or increment. The column becomes bigint IDENTITY; existing key values are loaded through a staging table with IDENTITY_INSERT, then the identity is reseeded.</a:t>
            </a:r>
            <a:endParaRPr lang="en-US" sz="1300" dirty="0"/>
          </a:p>
        </p:txBody>
      </p:sp>
      <p:sp>
        <p:nvSpPr>
          <p:cNvPr id="7" name="Shape 5"/>
          <p:cNvSpPr/>
          <p:nvPr/>
        </p:nvSpPr>
        <p:spPr>
          <a:xfrm>
            <a:off x="548640" y="3127248"/>
            <a:ext cx="3547872" cy="1325880"/>
          </a:xfrm>
          <a:prstGeom prst="roundRect">
            <a:avLst>
              <a:gd name="adj" fmla="val 5517"/>
            </a:avLst>
          </a:prstGeom>
          <a:solidFill>
            <a:schemeClr val="tx2"/>
          </a:solidFill>
          <a:ln/>
        </p:spPr>
      </p:sp>
      <p:sp>
        <p:nvSpPr>
          <p:cNvPr id="8" name="Text 6"/>
          <p:cNvSpPr txBox="1"/>
          <p:nvPr/>
        </p:nvSpPr>
        <p:spPr>
          <a:xfrm>
            <a:off x="731520" y="3236976"/>
            <a:ext cx="3182112" cy="256032"/>
          </a:xfrm>
          <a:prstGeom prst="rect">
            <a:avLst/>
          </a:prstGeom>
          <a:noFill/>
          <a:ln/>
        </p:spPr>
        <p:txBody>
          <a:bodyPr wrap="square" lIns="0" tIns="0" rIns="0" bIns="0" rtlCol="0" anchor="t"/>
          <a:lstStyle/>
          <a:p>
            <a:pPr indent="0" marL="0">
              <a:buNone/>
            </a:pPr>
            <a:r>
              <a:rPr lang="en-US" sz="1100" b="1" dirty="0">
                <a:solidFill>
                  <a:schemeClr val="accent5"/>
                </a:solidFill>
              </a:rPr>
              <a:t>T-SQL IN FABRIC</a:t>
            </a:r>
            <a:endParaRPr lang="en-US" sz="1100" dirty="0"/>
          </a:p>
        </p:txBody>
      </p:sp>
      <p:sp>
        <p:nvSpPr>
          <p:cNvPr id="9" name="Text 7"/>
          <p:cNvSpPr txBox="1"/>
          <p:nvPr/>
        </p:nvSpPr>
        <p:spPr>
          <a:xfrm>
            <a:off x="731520" y="3538728"/>
            <a:ext cx="3182112" cy="822960"/>
          </a:xfrm>
          <a:prstGeom prst="rect">
            <a:avLst/>
          </a:prstGeom>
          <a:noFill/>
          <a:ln/>
        </p:spPr>
        <p:txBody>
          <a:bodyPr wrap="square" lIns="0" tIns="0" rIns="0" bIns="0" rtlCol="0" anchor="t"/>
          <a:lstStyle/>
          <a:p>
            <a:pPr indent="0" marL="0">
              <a:buNone/>
            </a:pPr>
            <a:r>
              <a:rPr lang="en-US" sz="1100" dirty="0">
                <a:solidFill>
                  <a:srgbClr val="E6EDF5"/>
                </a:solidFill>
                <a:latin typeface="Consolas" pitchFamily="34" charset="0"/>
                <a:ea typeface="Consolas" pitchFamily="34" charset="-122"/>
                <a:cs typeface="Consolas" pitchFamily="34" charset="-120"/>
              </a:rPr>
              <a:t>[OrderId] bigint IDENTITY NOT NULL</a:t>
            </a:r>
            <a:endParaRPr lang="en-US" sz="1100" dirty="0"/>
          </a:p>
        </p:txBody>
      </p:sp>
      <p:sp>
        <p:nvSpPr>
          <p:cNvPr id="10" name="Text 8"/>
          <p:cNvSpPr txBox="1"/>
          <p:nvPr/>
        </p:nvSpPr>
        <p:spPr>
          <a:xfrm>
            <a:off x="4315968" y="1481328"/>
            <a:ext cx="3547872" cy="384048"/>
          </a:xfrm>
          <a:prstGeom prst="rect">
            <a:avLst/>
          </a:prstGeom>
          <a:noFill/>
          <a:ln/>
        </p:spPr>
        <p:txBody>
          <a:bodyPr wrap="square" lIns="0" tIns="0" rIns="0" bIns="0" rtlCol="0" anchor="t"/>
          <a:lstStyle/>
          <a:p>
            <a:pPr indent="0" marL="0">
              <a:buNone/>
            </a:pPr>
            <a:r>
              <a:rPr lang="en-US" sz="1700" dirty="0">
                <a:solidFill>
                  <a:schemeClr val="tx2"/>
                </a:solidFill>
                <a:latin typeface="+mj-lt" pitchFamily="34" charset="0"/>
                <a:ea typeface="+mj-lt" pitchFamily="34" charset="-122"/>
                <a:cs typeface="+mj-lt" pitchFamily="34" charset="-120"/>
              </a:rPr>
              <a:t>Dynamic data masks</a:t>
            </a:r>
            <a:endParaRPr lang="en-US" sz="1700" dirty="0"/>
          </a:p>
        </p:txBody>
      </p:sp>
      <p:sp>
        <p:nvSpPr>
          <p:cNvPr id="11" name="Text 9"/>
          <p:cNvSpPr txBox="1"/>
          <p:nvPr/>
        </p:nvSpPr>
        <p:spPr>
          <a:xfrm>
            <a:off x="4315968" y="1901952"/>
            <a:ext cx="3547872" cy="1188720"/>
          </a:xfrm>
          <a:prstGeom prst="rect">
            <a:avLst/>
          </a:prstGeom>
          <a:noFill/>
          <a:ln/>
        </p:spPr>
        <p:txBody>
          <a:bodyPr wrap="square" lIns="0" tIns="0" rIns="0" bIns="0" rtlCol="0" anchor="t"/>
          <a:lstStyle/>
          <a:p>
            <a:pPr indent="0" marL="0">
              <a:buNone/>
            </a:pPr>
            <a:r>
              <a:rPr lang="en-US" sz="1300" dirty="0">
                <a:solidFill>
                  <a:schemeClr val="tx1"/>
                </a:solidFill>
              </a:rPr>
              <a:t>A mask is part of its column's definition, so the table never exists unmasked. Carried: default(), email(), random(a, b), partial(p, "x", s). Any other function stops the table before any data.</a:t>
            </a:r>
            <a:endParaRPr lang="en-US" sz="1300" dirty="0"/>
          </a:p>
        </p:txBody>
      </p:sp>
      <p:sp>
        <p:nvSpPr>
          <p:cNvPr id="12" name="Shape 10"/>
          <p:cNvSpPr/>
          <p:nvPr/>
        </p:nvSpPr>
        <p:spPr>
          <a:xfrm>
            <a:off x="4315968" y="3127248"/>
            <a:ext cx="3547872" cy="1325880"/>
          </a:xfrm>
          <a:prstGeom prst="roundRect">
            <a:avLst>
              <a:gd name="adj" fmla="val 5517"/>
            </a:avLst>
          </a:prstGeom>
          <a:solidFill>
            <a:schemeClr val="tx2"/>
          </a:solidFill>
          <a:ln/>
        </p:spPr>
      </p:sp>
      <p:sp>
        <p:nvSpPr>
          <p:cNvPr id="13" name="Text 11"/>
          <p:cNvSpPr txBox="1"/>
          <p:nvPr/>
        </p:nvSpPr>
        <p:spPr>
          <a:xfrm>
            <a:off x="4498848" y="3236976"/>
            <a:ext cx="3182112" cy="256032"/>
          </a:xfrm>
          <a:prstGeom prst="rect">
            <a:avLst/>
          </a:prstGeom>
          <a:noFill/>
          <a:ln/>
        </p:spPr>
        <p:txBody>
          <a:bodyPr wrap="square" lIns="0" tIns="0" rIns="0" bIns="0" rtlCol="0" anchor="t"/>
          <a:lstStyle/>
          <a:p>
            <a:pPr indent="0" marL="0">
              <a:buNone/>
            </a:pPr>
            <a:r>
              <a:rPr lang="en-US" sz="1100" b="1" dirty="0">
                <a:solidFill>
                  <a:schemeClr val="accent5"/>
                </a:solidFill>
              </a:rPr>
              <a:t>T-SQL IN FABRIC</a:t>
            </a:r>
            <a:endParaRPr lang="en-US" sz="1100" dirty="0"/>
          </a:p>
        </p:txBody>
      </p:sp>
      <p:sp>
        <p:nvSpPr>
          <p:cNvPr id="14" name="Text 12"/>
          <p:cNvSpPr txBox="1"/>
          <p:nvPr/>
        </p:nvSpPr>
        <p:spPr>
          <a:xfrm>
            <a:off x="4498848" y="3538728"/>
            <a:ext cx="3182112" cy="822960"/>
          </a:xfrm>
          <a:prstGeom prst="rect">
            <a:avLst/>
          </a:prstGeom>
          <a:noFill/>
          <a:ln/>
        </p:spPr>
        <p:txBody>
          <a:bodyPr wrap="square" lIns="0" tIns="0" rIns="0" bIns="0" rtlCol="0" anchor="t"/>
          <a:lstStyle/>
          <a:p>
            <a:pPr indent="0" marL="0">
              <a:buNone/>
            </a:pPr>
            <a:r>
              <a:rPr lang="en-US" sz="1100" dirty="0">
                <a:solidFill>
                  <a:srgbClr val="E6EDF5"/>
                </a:solidFill>
                <a:latin typeface="Consolas" pitchFamily="34" charset="0"/>
                <a:ea typeface="Consolas" pitchFamily="34" charset="-122"/>
                <a:cs typeface="Consolas" pitchFamily="34" charset="-120"/>
              </a:rPr>
              <a:t>[Email] varchar(400)</a:t>
            </a:r>
            <a:endParaRPr lang="en-US" sz="1100" dirty="0"/>
          </a:p>
          <a:p>
            <a:pPr indent="0" marL="0">
              <a:buNone/>
            </a:pPr>
            <a:r>
              <a:rPr lang="en-US" sz="1100" dirty="0">
                <a:solidFill>
                  <a:srgbClr val="E6EDF5"/>
                </a:solidFill>
                <a:latin typeface="Consolas" pitchFamily="34" charset="0"/>
                <a:ea typeface="Consolas" pitchFamily="34" charset="-122"/>
                <a:cs typeface="Consolas" pitchFamily="34" charset="-120"/>
              </a:rPr>
              <a:t>  MASKED WITH (FUNCTION = 'email()')</a:t>
            </a:r>
            <a:endParaRPr lang="en-US" sz="1100" dirty="0"/>
          </a:p>
          <a:p>
            <a:pPr indent="0" marL="0">
              <a:buNone/>
            </a:pPr>
            <a:r>
              <a:rPr lang="en-US" sz="1100" dirty="0">
                <a:solidFill>
                  <a:srgbClr val="E6EDF5"/>
                </a:solidFill>
                <a:latin typeface="Consolas" pitchFamily="34" charset="0"/>
                <a:ea typeface="Consolas" pitchFamily="34" charset="-122"/>
                <a:cs typeface="Consolas" pitchFamily="34" charset="-120"/>
              </a:rPr>
              <a:t>  NULL</a:t>
            </a:r>
            <a:endParaRPr lang="en-US" sz="1100" dirty="0"/>
          </a:p>
        </p:txBody>
      </p:sp>
      <p:sp>
        <p:nvSpPr>
          <p:cNvPr id="15" name="Text 13"/>
          <p:cNvSpPr txBox="1"/>
          <p:nvPr/>
        </p:nvSpPr>
        <p:spPr>
          <a:xfrm>
            <a:off x="8083296" y="1481328"/>
            <a:ext cx="3547872" cy="384048"/>
          </a:xfrm>
          <a:prstGeom prst="rect">
            <a:avLst/>
          </a:prstGeom>
          <a:noFill/>
          <a:ln/>
        </p:spPr>
        <p:txBody>
          <a:bodyPr wrap="square" lIns="0" tIns="0" rIns="0" bIns="0" rtlCol="0" anchor="t"/>
          <a:lstStyle/>
          <a:p>
            <a:pPr indent="0" marL="0">
              <a:buNone/>
            </a:pPr>
            <a:r>
              <a:rPr lang="en-US" sz="1700" dirty="0">
                <a:solidFill>
                  <a:schemeClr val="tx2"/>
                </a:solidFill>
                <a:latin typeface="+mj-lt" pitchFamily="34" charset="0"/>
                <a:ea typeface="+mj-lt" pitchFamily="34" charset="-122"/>
                <a:cs typeface="+mj-lt" pitchFamily="34" charset="-120"/>
              </a:rPr>
              <a:t>Keys</a:t>
            </a:r>
            <a:endParaRPr lang="en-US" sz="1700" dirty="0"/>
          </a:p>
        </p:txBody>
      </p:sp>
      <p:sp>
        <p:nvSpPr>
          <p:cNvPr id="16" name="Text 14"/>
          <p:cNvSpPr txBox="1"/>
          <p:nvPr/>
        </p:nvSpPr>
        <p:spPr>
          <a:xfrm>
            <a:off x="8083296" y="1901952"/>
            <a:ext cx="3547872" cy="1188720"/>
          </a:xfrm>
          <a:prstGeom prst="rect">
            <a:avLst/>
          </a:prstGeom>
          <a:noFill/>
          <a:ln/>
        </p:spPr>
        <p:txBody>
          <a:bodyPr wrap="square" lIns="0" tIns="0" rIns="0" bIns="0" rtlCol="0" anchor="t"/>
          <a:lstStyle/>
          <a:p>
            <a:pPr indent="0" marL="0">
              <a:buNone/>
            </a:pPr>
            <a:r>
              <a:rPr lang="en-US" sz="1300" dirty="0">
                <a:solidFill>
                  <a:schemeClr val="tx1"/>
                </a:solidFill>
              </a:rPr>
              <a:t>Primary keys and unique constraints are recreated for the optimiser and tools such as Power BI. A key Fabric rejects is noted; the table stands without it.</a:t>
            </a:r>
            <a:endParaRPr lang="en-US" sz="1300" dirty="0"/>
          </a:p>
        </p:txBody>
      </p:sp>
      <p:sp>
        <p:nvSpPr>
          <p:cNvPr id="17" name="Shape 15"/>
          <p:cNvSpPr/>
          <p:nvPr/>
        </p:nvSpPr>
        <p:spPr>
          <a:xfrm>
            <a:off x="8083296" y="3127248"/>
            <a:ext cx="3547872" cy="1325880"/>
          </a:xfrm>
          <a:prstGeom prst="roundRect">
            <a:avLst>
              <a:gd name="adj" fmla="val 5517"/>
            </a:avLst>
          </a:prstGeom>
          <a:solidFill>
            <a:schemeClr val="tx2"/>
          </a:solidFill>
          <a:ln/>
        </p:spPr>
      </p:sp>
      <p:sp>
        <p:nvSpPr>
          <p:cNvPr id="18" name="Text 16"/>
          <p:cNvSpPr txBox="1"/>
          <p:nvPr/>
        </p:nvSpPr>
        <p:spPr>
          <a:xfrm>
            <a:off x="8266176" y="3236976"/>
            <a:ext cx="3182112" cy="256032"/>
          </a:xfrm>
          <a:prstGeom prst="rect">
            <a:avLst/>
          </a:prstGeom>
          <a:noFill/>
          <a:ln/>
        </p:spPr>
        <p:txBody>
          <a:bodyPr wrap="square" lIns="0" tIns="0" rIns="0" bIns="0" rtlCol="0" anchor="t"/>
          <a:lstStyle/>
          <a:p>
            <a:pPr indent="0" marL="0">
              <a:buNone/>
            </a:pPr>
            <a:r>
              <a:rPr lang="en-US" sz="1100" b="1" dirty="0">
                <a:solidFill>
                  <a:schemeClr val="accent5"/>
                </a:solidFill>
              </a:rPr>
              <a:t>T-SQL IN FABRIC</a:t>
            </a:r>
            <a:endParaRPr lang="en-US" sz="1100" dirty="0"/>
          </a:p>
        </p:txBody>
      </p:sp>
      <p:sp>
        <p:nvSpPr>
          <p:cNvPr id="19" name="Text 17"/>
          <p:cNvSpPr txBox="1"/>
          <p:nvPr/>
        </p:nvSpPr>
        <p:spPr>
          <a:xfrm>
            <a:off x="8266176" y="3538728"/>
            <a:ext cx="3182112" cy="822960"/>
          </a:xfrm>
          <a:prstGeom prst="rect">
            <a:avLst/>
          </a:prstGeom>
          <a:noFill/>
          <a:ln/>
        </p:spPr>
        <p:txBody>
          <a:bodyPr wrap="square" lIns="0" tIns="0" rIns="0" bIns="0" rtlCol="0" anchor="t"/>
          <a:lstStyle/>
          <a:p>
            <a:pPr indent="0" marL="0">
              <a:buNone/>
            </a:pPr>
            <a:r>
              <a:rPr lang="en-US" sz="1100" dirty="0">
                <a:solidFill>
                  <a:srgbClr val="E6EDF5"/>
                </a:solidFill>
                <a:latin typeface="Consolas" pitchFamily="34" charset="0"/>
                <a:ea typeface="Consolas" pitchFamily="34" charset="-122"/>
                <a:cs typeface="Consolas" pitchFamily="34" charset="-120"/>
              </a:rPr>
              <a:t>ALTER TABLE [dbo].[Orders]</a:t>
            </a:r>
            <a:endParaRPr lang="en-US" sz="1100" dirty="0"/>
          </a:p>
          <a:p>
            <a:pPr indent="0" marL="0">
              <a:buNone/>
            </a:pPr>
            <a:r>
              <a:rPr lang="en-US" sz="1100" dirty="0">
                <a:solidFill>
                  <a:srgbClr val="E6EDF5"/>
                </a:solidFill>
                <a:latin typeface="Consolas" pitchFamily="34" charset="0"/>
                <a:ea typeface="Consolas" pitchFamily="34" charset="-122"/>
                <a:cs typeface="Consolas" pitchFamily="34" charset="-120"/>
              </a:rPr>
              <a:t>  ADD CONSTRAINT [PK_Orders]</a:t>
            </a:r>
            <a:endParaRPr lang="en-US" sz="1100" dirty="0"/>
          </a:p>
          <a:p>
            <a:pPr indent="0" marL="0">
              <a:buNone/>
            </a:pPr>
            <a:r>
              <a:rPr lang="en-US" sz="1100" dirty="0">
                <a:solidFill>
                  <a:srgbClr val="E6EDF5"/>
                </a:solidFill>
                <a:latin typeface="Consolas" pitchFamily="34" charset="0"/>
                <a:ea typeface="Consolas" pitchFamily="34" charset="-122"/>
                <a:cs typeface="Consolas" pitchFamily="34" charset="-120"/>
              </a:rPr>
              <a:t>  PRIMARY KEY NONCLUSTERED ([OrderId])</a:t>
            </a:r>
            <a:endParaRPr lang="en-US" sz="1100" dirty="0"/>
          </a:p>
          <a:p>
            <a:pPr indent="0" marL="0">
              <a:buNone/>
            </a:pPr>
            <a:r>
              <a:rPr lang="en-US" sz="1100" dirty="0">
                <a:solidFill>
                  <a:srgbClr val="E6EDF5"/>
                </a:solidFill>
                <a:latin typeface="Consolas" pitchFamily="34" charset="0"/>
                <a:ea typeface="Consolas" pitchFamily="34" charset="-122"/>
                <a:cs typeface="Consolas" pitchFamily="34" charset="-120"/>
              </a:rPr>
              <a:t>  NOT ENFORCED;</a:t>
            </a:r>
            <a:endParaRPr lang="en-US" sz="1100" dirty="0"/>
          </a:p>
        </p:txBody>
      </p:sp>
      <p:sp>
        <p:nvSpPr>
          <p:cNvPr id="20" name="Shape 18"/>
          <p:cNvSpPr/>
          <p:nvPr/>
        </p:nvSpPr>
        <p:spPr>
          <a:xfrm>
            <a:off x="548640" y="4553712"/>
            <a:ext cx="11094415" cy="1060704"/>
          </a:xfrm>
          <a:prstGeom prst="roundRect">
            <a:avLst>
              <a:gd name="adj" fmla="val 6897"/>
            </a:avLst>
          </a:prstGeom>
          <a:solidFill>
            <a:schemeClr val="tx2"/>
          </a:solidFill>
          <a:ln/>
        </p:spPr>
      </p:sp>
      <p:sp>
        <p:nvSpPr>
          <p:cNvPr id="21" name="Text 19"/>
          <p:cNvSpPr txBox="1"/>
          <p:nvPr/>
        </p:nvSpPr>
        <p:spPr>
          <a:xfrm>
            <a:off x="731520" y="4663440"/>
            <a:ext cx="10728655" cy="256032"/>
          </a:xfrm>
          <a:prstGeom prst="rect">
            <a:avLst/>
          </a:prstGeom>
          <a:noFill/>
          <a:ln/>
        </p:spPr>
        <p:txBody>
          <a:bodyPr wrap="square" lIns="0" tIns="0" rIns="0" bIns="0" rtlCol="0" anchor="t"/>
          <a:lstStyle/>
          <a:p>
            <a:pPr indent="0" marL="0">
              <a:buNone/>
            </a:pPr>
            <a:r>
              <a:rPr lang="en-US" sz="1100" b="1" dirty="0">
                <a:solidFill>
                  <a:schemeClr val="accent5"/>
                </a:solidFill>
              </a:rPr>
              <a:t>HOW IDENTITY VALUES ARRIVE: THE AFTER COPY SCRIPT, THEN ITS CLEANUP</a:t>
            </a:r>
            <a:endParaRPr lang="en-US" sz="1100" dirty="0"/>
          </a:p>
        </p:txBody>
      </p:sp>
      <p:sp>
        <p:nvSpPr>
          <p:cNvPr id="22" name="Text 20"/>
          <p:cNvSpPr txBox="1"/>
          <p:nvPr/>
        </p:nvSpPr>
        <p:spPr>
          <a:xfrm>
            <a:off x="731520" y="4965192"/>
            <a:ext cx="10728655" cy="557784"/>
          </a:xfrm>
          <a:prstGeom prst="rect">
            <a:avLst/>
          </a:prstGeom>
          <a:noFill/>
          <a:ln/>
        </p:spPr>
        <p:txBody>
          <a:bodyPr wrap="square" lIns="0" tIns="0" rIns="0" bIns="0" rtlCol="0" anchor="t"/>
          <a:lstStyle/>
          <a:p>
            <a:pPr indent="0" marL="0">
              <a:buNone/>
            </a:pPr>
            <a:r>
              <a:rPr lang="en-US" sz="1000" dirty="0">
                <a:solidFill>
                  <a:srgbClr val="E6EDF5"/>
                </a:solidFill>
                <a:latin typeface="Consolas" pitchFamily="34" charset="0"/>
                <a:ea typeface="Consolas" pitchFamily="34" charset="-122"/>
                <a:cs typeface="Consolas" pitchFamily="34" charset="-120"/>
              </a:rPr>
              <a:t>SET IDENTITY_INSERT [dbo].[Orders] ON; INSERT INTO [dbo].[Orders] (…) SELECT … FROM [migration_load].[dbo__Orders];</a:t>
            </a:r>
            <a:endParaRPr lang="en-US" sz="1000" dirty="0"/>
          </a:p>
          <a:p>
            <a:pPr indent="0" marL="0">
              <a:buNone/>
            </a:pPr>
            <a:r>
              <a:rPr lang="en-US" sz="1000" dirty="0">
                <a:solidFill>
                  <a:srgbClr val="E6EDF5"/>
                </a:solidFill>
                <a:latin typeface="Consolas" pitchFamily="34" charset="0"/>
                <a:ea typeface="Consolas" pitchFamily="34" charset="-122"/>
                <a:cs typeface="Consolas" pitchFamily="34" charset="-120"/>
              </a:rPr>
              <a:t>SET IDENTITY_INSERT [dbo].[Orders] OFF;</a:t>
            </a:r>
            <a:endParaRPr lang="en-US" sz="1000" dirty="0"/>
          </a:p>
          <a:p>
            <a:pPr indent="0" marL="0">
              <a:buNone/>
            </a:pPr>
            <a:r>
              <a:rPr lang="en-US" sz="1000" dirty="0">
                <a:solidFill>
                  <a:srgbClr val="E6EDF5"/>
                </a:solidFill>
                <a:latin typeface="Consolas" pitchFamily="34" charset="0"/>
                <a:ea typeface="Consolas" pitchFamily="34" charset="-122"/>
                <a:cs typeface="Consolas" pitchFamily="34" charset="-120"/>
              </a:rPr>
              <a:t>TRUNCATE TABLE [migration_load].[dbo__Orders]; DBCC CHECKIDENT('[dbo].[Orders]', RESEED);</a:t>
            </a:r>
            <a:endParaRPr lang="en-US" sz="1000" dirty="0"/>
          </a:p>
        </p:txBody>
      </p:sp>
      <p:sp>
        <p:nvSpPr>
          <p:cNvPr id="23" name="Shape 21"/>
          <p:cNvSpPr/>
          <p:nvPr/>
        </p:nvSpPr>
        <p:spPr>
          <a:xfrm>
            <a:off x="548640" y="5687568"/>
            <a:ext cx="11094415" cy="512064"/>
          </a:xfrm>
          <a:prstGeom prst="roundRect">
            <a:avLst>
              <a:gd name="adj" fmla="val 21429"/>
            </a:avLst>
          </a:prstGeom>
          <a:solidFill>
            <a:schemeClr val="accent3">
              <a:alpha val="13000"/>
            </a:schemeClr>
          </a:solidFill>
          <a:ln/>
        </p:spPr>
      </p:sp>
      <p:sp>
        <p:nvSpPr>
          <p:cNvPr id="24" name="Text 22"/>
          <p:cNvSpPr txBox="1"/>
          <p:nvPr/>
        </p:nvSpPr>
        <p:spPr>
          <a:xfrm>
            <a:off x="777240" y="5687568"/>
            <a:ext cx="10637215" cy="512064"/>
          </a:xfrm>
          <a:prstGeom prst="rect">
            <a:avLst/>
          </a:prstGeom>
          <a:noFill/>
          <a:ln/>
        </p:spPr>
        <p:txBody>
          <a:bodyPr wrap="square" lIns="0" tIns="0" rIns="0" bIns="0" rtlCol="0" anchor="ctr"/>
          <a:lstStyle/>
          <a:p>
            <a:pPr indent="0" marL="0">
              <a:buNone/>
            </a:pPr>
            <a:r>
              <a:rPr lang="en-US" sz="1250" b="1" dirty="0">
                <a:solidFill>
                  <a:schemeClr val="tx2"/>
                </a:solidFill>
              </a:rPr>
              <a:t>Limits:  </a:t>
            </a:r>
            <a:pPr indent="0" marL="0">
              <a:buNone/>
            </a:pPr>
            <a:r>
              <a:rPr lang="en-US" sz="1250" dirty="0">
                <a:solidFill>
                  <a:schemeClr val="tx1"/>
                </a:solidFill>
              </a:rPr>
              <a:t>a table with more than 1,024 columns cannot be loaded; one with no discovered columns cannot be recreated.</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45</a:t>
            </a:fld>
            <a:endParaRPr lang="en-US"/>
          </a:p>
        </p:txBody>
      </p:sp>
    </p:spTree>
  </p:cSld>
  <p:clrMapOvr>
    <a:masterClrMapping/>
  </p:clrMapOvr>
  <p:transition spd="med">
    <p:fade/>
  </p:transition>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05 · ITEM BY ITEM</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Views, procedures and functions</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migration/runner.py: _module · tsql_rules.py</a:t>
            </a:r>
            <a:endParaRPr lang="en-US" sz="1100" dirty="0"/>
          </a:p>
        </p:txBody>
      </p:sp>
      <p:sp>
        <p:nvSpPr>
          <p:cNvPr id="5" name="Shape 3"/>
          <p:cNvSpPr/>
          <p:nvPr/>
        </p:nvSpPr>
        <p:spPr>
          <a:xfrm>
            <a:off x="548640" y="1463040"/>
            <a:ext cx="3246120" cy="4114800"/>
          </a:xfrm>
          <a:prstGeom prst="roundRect">
            <a:avLst>
              <a:gd name="adj" fmla="val 3380"/>
            </a:avLst>
          </a:prstGeom>
          <a:solidFill>
            <a:schemeClr val="accent2">
              <a:alpha val="9000"/>
            </a:schemeClr>
          </a:solidFill>
          <a:ln/>
        </p:spPr>
      </p:sp>
      <p:sp>
        <p:nvSpPr>
          <p:cNvPr id="6" name="Text 4"/>
          <p:cNvSpPr txBox="1"/>
          <p:nvPr/>
        </p:nvSpPr>
        <p:spPr>
          <a:xfrm>
            <a:off x="749808" y="1627632"/>
            <a:ext cx="2880360" cy="3840480"/>
          </a:xfrm>
          <a:prstGeom prst="rect">
            <a:avLst/>
          </a:prstGeom>
          <a:noFill/>
          <a:ln/>
        </p:spPr>
        <p:txBody>
          <a:bodyPr wrap="square" lIns="0" tIns="0" rIns="0" bIns="0" rtlCol="0" anchor="t"/>
          <a:lstStyle/>
          <a:p>
            <a:pPr indent="0" marL="0">
              <a:buNone/>
            </a:pPr>
            <a:r>
              <a:rPr lang="en-US" sz="1100" b="1" spc="100" kern="0" dirty="0">
                <a:solidFill>
                  <a:schemeClr val="accent2"/>
                </a:solidFill>
              </a:rPr>
              <a:t>IN SYNAPSE</a:t>
            </a:r>
            <a:endParaRPr lang="en-US" sz="1400" dirty="0"/>
          </a:p>
          <a:p>
            <a:pPr indent="0" marL="0">
              <a:spcBef>
                <a:spcPts val="400"/>
              </a:spcBef>
              <a:buNone/>
            </a:pPr>
            <a:r>
              <a:rPr lang="en-US" sz="1600" dirty="0">
                <a:solidFill>
                  <a:schemeClr val="tx2"/>
                </a:solidFill>
                <a:latin typeface="+mj-lt" pitchFamily="34" charset="0"/>
                <a:ea typeface="+mj-lt" pitchFamily="34" charset="-122"/>
                <a:cs typeface="+mj-lt" pitchFamily="34" charset="-120"/>
              </a:rPr>
              <a:t>Views, procedures, functions</a:t>
            </a:r>
            <a:endParaRPr lang="en-US" sz="1400" dirty="0"/>
          </a:p>
          <a:p>
            <a:pPr indent="0" marL="0">
              <a:spcBef>
                <a:spcPts val="800"/>
              </a:spcBef>
              <a:buNone/>
            </a:pPr>
            <a:r>
              <a:rPr lang="en-US" sz="1050" b="1" dirty="0">
                <a:solidFill>
                  <a:schemeClr val="accent6"/>
                </a:solidFill>
              </a:rPr>
              <a:t>Format</a:t>
            </a:r>
            <a:endParaRPr lang="en-US" sz="1400" dirty="0"/>
          </a:p>
          <a:p>
            <a:pPr indent="0" marL="0">
              <a:buNone/>
            </a:pPr>
            <a:r>
              <a:rPr lang="en-US" sz="1200" dirty="0">
                <a:solidFill>
                  <a:schemeClr val="tx1"/>
                </a:solidFill>
              </a:rPr>
              <a:t>Definition text from sys.sql_modules, kept byte for byte</a:t>
            </a:r>
            <a:endParaRPr lang="en-US" sz="1400" dirty="0"/>
          </a:p>
          <a:p>
            <a:pPr marL="139700" indent="-139700">
              <a:spcBef>
                <a:spcPts val="900"/>
              </a:spcBef>
              <a:buSzPct val="100000"/>
              <a:buChar char="•"/>
            </a:pPr>
            <a:r>
              <a:rPr lang="en-US" sz="1200" dirty="0">
                <a:solidFill>
                  <a:schemeClr val="tx1"/>
                </a:solidFill>
              </a:rPr>
              <a:t>Functions: scalar (FN), inline table-valued (IF), multi-statement (TF)</a:t>
            </a:r>
            <a:endParaRPr lang="en-US" sz="1400" dirty="0"/>
          </a:p>
          <a:p>
            <a:pPr marL="139700" indent="-139700">
              <a:spcBef>
                <a:spcPts val="400"/>
              </a:spcBef>
              <a:buSzPct val="100000"/>
              <a:buChar char="•"/>
            </a:pPr>
            <a:r>
              <a:rPr lang="en-US" sz="1200" dirty="0">
                <a:solidFill>
                  <a:schemeClr val="tx1"/>
                </a:solidFill>
              </a:rPr>
              <a:t>Encrypted, or VIEW DEFINITION not granted: no text to read</a:t>
            </a:r>
            <a:endParaRPr lang="en-US" sz="1400" dirty="0"/>
          </a:p>
          <a:p>
            <a:pPr marL="139700" indent="-139700">
              <a:spcBef>
                <a:spcPts val="400"/>
              </a:spcBef>
              <a:buSzPct val="100000"/>
              <a:buChar char="•"/>
            </a:pPr>
            <a:r>
              <a:rPr lang="en-US" sz="1200" dirty="0">
                <a:solidFill>
                  <a:schemeClr val="tx1"/>
                </a:solidFill>
              </a:rPr>
              <a:t>Dynamic SQL sites recorded</a:t>
            </a:r>
            <a:endParaRPr lang="en-US" sz="1400" dirty="0"/>
          </a:p>
        </p:txBody>
      </p:sp>
      <p:sp>
        <p:nvSpPr>
          <p:cNvPr id="7" name="Shape 5"/>
          <p:cNvSpPr/>
          <p:nvPr/>
        </p:nvSpPr>
        <p:spPr>
          <a:xfrm>
            <a:off x="4114800" y="1463040"/>
            <a:ext cx="3959352" cy="4114800"/>
          </a:xfrm>
          <a:prstGeom prst="roundRect">
            <a:avLst>
              <a:gd name="adj" fmla="val 2771"/>
            </a:avLst>
          </a:prstGeom>
          <a:solidFill>
            <a:schemeClr val="bg2"/>
          </a:solidFill>
          <a:ln/>
        </p:spPr>
      </p:sp>
      <p:sp>
        <p:nvSpPr>
          <p:cNvPr id="8" name="Text 6"/>
          <p:cNvSpPr txBox="1"/>
          <p:nvPr/>
        </p:nvSpPr>
        <p:spPr>
          <a:xfrm>
            <a:off x="4315968" y="1627632"/>
            <a:ext cx="3593592" cy="3840480"/>
          </a:xfrm>
          <a:prstGeom prst="rect">
            <a:avLst/>
          </a:prstGeom>
          <a:noFill/>
          <a:ln/>
        </p:spPr>
        <p:txBody>
          <a:bodyPr wrap="square" lIns="0" tIns="0" rIns="0" bIns="0" rtlCol="0" anchor="t"/>
          <a:lstStyle/>
          <a:p>
            <a:pPr indent="0" marL="0">
              <a:buNone/>
            </a:pPr>
            <a:r>
              <a:rPr lang="en-US" sz="1100" b="1" spc="100" kern="0" dirty="0">
                <a:solidFill>
                  <a:schemeClr val="accent6"/>
                </a:solidFill>
              </a:rPr>
              <a:t>HOW IT IS CONVERTED</a:t>
            </a:r>
            <a:endParaRPr lang="en-US" sz="1400" dirty="0"/>
          </a:p>
          <a:p>
            <a:pPr marL="342900" indent="-342900">
              <a:spcBef>
                <a:spcPts val="900"/>
              </a:spcBef>
              <a:buSzPct val="100000"/>
              <a:buFont typeface="+mj-lt"/>
              <a:buAutoNum type="arabicPeriod" startAt="1"/>
            </a:pPr>
            <a:r>
              <a:rPr lang="en-US" sz="1250" dirty="0">
                <a:solidFill>
                  <a:schemeClr val="tx1"/>
                </a:solidFill>
              </a:rPr>
              <a:t>Read the module's text from the catalog</a:t>
            </a:r>
            <a:endParaRPr lang="en-US" sz="1400" dirty="0"/>
          </a:p>
          <a:p>
            <a:pPr marL="342900" indent="-342900">
              <a:spcBef>
                <a:spcPts val="500"/>
              </a:spcBef>
              <a:buSzPct val="100000"/>
              <a:buFont typeface="+mj-lt"/>
              <a:buAutoNum type="arabicPeriod" startAt="1"/>
            </a:pPr>
            <a:r>
              <a:rPr lang="en-US" sz="1250" dirty="0">
                <a:solidFill>
                  <a:schemeClr val="tx1"/>
                </a:solidFill>
              </a:rPr>
              <a:t>Apply the six T-SQL rules (next slide)</a:t>
            </a:r>
            <a:endParaRPr lang="en-US" sz="1400" dirty="0"/>
          </a:p>
          <a:p>
            <a:pPr marL="342900" indent="-342900">
              <a:spcBef>
                <a:spcPts val="500"/>
              </a:spcBef>
              <a:buSzPct val="100000"/>
              <a:buFont typeface="+mj-lt"/>
              <a:buAutoNum type="arabicPeriod" startAt="1"/>
            </a:pPr>
            <a:r>
              <a:rPr lang="en-US" sz="1250" dirty="0">
                <a:solidFill>
                  <a:schemeClr val="tx1"/>
                </a:solidFill>
              </a:rPr>
              <a:t>Route storage paths through OneLake shortcuts</a:t>
            </a:r>
            <a:endParaRPr lang="en-US" sz="1400" dirty="0"/>
          </a:p>
          <a:p>
            <a:pPr marL="342900" indent="-342900">
              <a:spcBef>
                <a:spcPts val="500"/>
              </a:spcBef>
              <a:buSzPct val="100000"/>
              <a:buFont typeface="+mj-lt"/>
              <a:buAutoNum type="arabicPeriod" startAt="1"/>
            </a:pPr>
            <a:r>
              <a:rPr lang="en-US" sz="1250" dirty="0">
                <a:solidFill>
                  <a:schemeClr val="tx1"/>
                </a:solidFill>
              </a:rPr>
              <a:t>Create the schema if needed, then run the CREATE statement</a:t>
            </a:r>
            <a:endParaRPr lang="en-US" sz="1400" dirty="0"/>
          </a:p>
          <a:p>
            <a:pPr marL="342900" indent="-342900">
              <a:spcBef>
                <a:spcPts val="500"/>
              </a:spcBef>
              <a:buSzPct val="100000"/>
              <a:buFont typeface="+mj-lt"/>
              <a:buAutoNum type="arabicPeriod" startAt="1"/>
            </a:pPr>
            <a:r>
              <a:rPr lang="en-US" sz="1250" dirty="0">
                <a:solidFill>
                  <a:schemeClr val="tx1"/>
                </a:solidFill>
              </a:rPr>
              <a:t>Already there: skip it, or use CREATE OR ALTER when updating (the old version stays if the new one is rejected)</a:t>
            </a:r>
            <a:endParaRPr lang="en-US" sz="1400" dirty="0"/>
          </a:p>
          <a:p>
            <a:pPr marL="342900" indent="-342900">
              <a:spcBef>
                <a:spcPts val="500"/>
              </a:spcBef>
              <a:buSzPct val="100000"/>
              <a:buFont typeface="+mj-lt"/>
              <a:buAutoNum type="arabicPeriod" startAt="1"/>
            </a:pPr>
            <a:r>
              <a:rPr lang="en-US" sz="1250" dirty="0">
                <a:solidFill>
                  <a:schemeClr val="tx1"/>
                </a:solidFill>
              </a:rPr>
              <a:t>If Fabric rejects it, Fabric's own message is shown</a:t>
            </a:r>
            <a:endParaRPr lang="en-US" sz="1400" dirty="0"/>
          </a:p>
        </p:txBody>
      </p:sp>
      <p:sp>
        <p:nvSpPr>
          <p:cNvPr id="9" name="Shape 7"/>
          <p:cNvSpPr/>
          <p:nvPr/>
        </p:nvSpPr>
        <p:spPr>
          <a:xfrm>
            <a:off x="8394192" y="1463040"/>
            <a:ext cx="3246120" cy="4114800"/>
          </a:xfrm>
          <a:prstGeom prst="roundRect">
            <a:avLst>
              <a:gd name="adj" fmla="val 3380"/>
            </a:avLst>
          </a:prstGeom>
          <a:solidFill>
            <a:schemeClr val="accent1">
              <a:alpha val="10000"/>
            </a:schemeClr>
          </a:solidFill>
          <a:ln/>
        </p:spPr>
      </p:sp>
      <p:sp>
        <p:nvSpPr>
          <p:cNvPr id="10" name="Text 8"/>
          <p:cNvSpPr txBox="1"/>
          <p:nvPr/>
        </p:nvSpPr>
        <p:spPr>
          <a:xfrm>
            <a:off x="8595360" y="1627632"/>
            <a:ext cx="2880360" cy="3840480"/>
          </a:xfrm>
          <a:prstGeom prst="rect">
            <a:avLst/>
          </a:prstGeom>
          <a:noFill/>
          <a:ln/>
        </p:spPr>
        <p:txBody>
          <a:bodyPr wrap="square" lIns="0" tIns="0" rIns="0" bIns="0" rtlCol="0" anchor="t"/>
          <a:lstStyle/>
          <a:p>
            <a:pPr indent="0" marL="0">
              <a:buNone/>
            </a:pPr>
            <a:r>
              <a:rPr lang="en-US" sz="1100" b="1" spc="100" kern="0" dirty="0">
                <a:solidFill>
                  <a:schemeClr val="accent1"/>
                </a:solidFill>
              </a:rPr>
              <a:t>IN FABRIC</a:t>
            </a:r>
            <a:endParaRPr lang="en-US" sz="1400" dirty="0"/>
          </a:p>
          <a:p>
            <a:pPr indent="0" marL="0">
              <a:spcBef>
                <a:spcPts val="400"/>
              </a:spcBef>
              <a:buNone/>
            </a:pPr>
            <a:r>
              <a:rPr lang="en-US" sz="1600" dirty="0">
                <a:solidFill>
                  <a:schemeClr val="tx2"/>
                </a:solidFill>
                <a:latin typeface="+mj-lt" pitchFamily="34" charset="0"/>
                <a:ea typeface="+mj-lt" pitchFamily="34" charset="-122"/>
                <a:cs typeface="+mj-lt" pitchFamily="34" charset="-120"/>
              </a:rPr>
              <a:t>Views, procedures, functions</a:t>
            </a:r>
            <a:endParaRPr lang="en-US" sz="1400" dirty="0"/>
          </a:p>
          <a:p>
            <a:pPr indent="0" marL="0">
              <a:spcBef>
                <a:spcPts val="800"/>
              </a:spcBef>
              <a:buNone/>
            </a:pPr>
            <a:r>
              <a:rPr lang="en-US" sz="1050" b="1" dirty="0">
                <a:solidFill>
                  <a:schemeClr val="accent6"/>
                </a:solidFill>
              </a:rPr>
              <a:t>Format</a:t>
            </a:r>
            <a:endParaRPr lang="en-US" sz="1400" dirty="0"/>
          </a:p>
          <a:p>
            <a:pPr indent="0" marL="0">
              <a:buNone/>
            </a:pPr>
            <a:r>
              <a:rPr lang="en-US" sz="1200" dirty="0">
                <a:solidFill>
                  <a:schemeClr val="tx1"/>
                </a:solidFill>
              </a:rPr>
              <a:t>The same T-SQL objects, created on the Warehouse SQL endpoint</a:t>
            </a:r>
            <a:endParaRPr lang="en-US" sz="1400" dirty="0"/>
          </a:p>
          <a:p>
            <a:pPr marL="139700" indent="-139700">
              <a:spcBef>
                <a:spcPts val="900"/>
              </a:spcBef>
              <a:buSzPct val="100000"/>
              <a:buChar char="•"/>
            </a:pPr>
            <a:r>
              <a:rPr lang="en-US" sz="1200" dirty="0">
                <a:solidFill>
                  <a:schemeClr val="tx1"/>
                </a:solidFill>
              </a:rPr>
              <a:t>Same schema and name</a:t>
            </a:r>
            <a:endParaRPr lang="en-US" sz="1400" dirty="0"/>
          </a:p>
          <a:p>
            <a:pPr marL="139700" indent="-139700">
              <a:spcBef>
                <a:spcPts val="400"/>
              </a:spcBef>
              <a:buSzPct val="100000"/>
              <a:buChar char="•"/>
            </a:pPr>
            <a:r>
              <a:rPr lang="en-US" sz="1200" dirty="0">
                <a:solidFill>
                  <a:schemeClr val="tx1"/>
                </a:solidFill>
              </a:rPr>
              <a:t>Removed code stays behind as a 'removed for Fabric' comment</a:t>
            </a:r>
            <a:endParaRPr lang="en-US" sz="1400" dirty="0"/>
          </a:p>
          <a:p>
            <a:pPr marL="139700" indent="-139700">
              <a:spcBef>
                <a:spcPts val="400"/>
              </a:spcBef>
              <a:buSzPct val="100000"/>
              <a:buChar char="•"/>
            </a:pPr>
            <a:r>
              <a:rPr lang="en-US" sz="1200" dirty="0">
                <a:solidFill>
                  <a:schemeClr val="tx1"/>
                </a:solidFill>
              </a:rPr>
              <a:t>Order in a wave: functions, then views, then procedures</a:t>
            </a:r>
            <a:endParaRPr lang="en-US" sz="1400" dirty="0"/>
          </a:p>
        </p:txBody>
      </p:sp>
      <p:sp>
        <p:nvSpPr>
          <p:cNvPr id="11" name="Shape 9"/>
          <p:cNvSpPr/>
          <p:nvPr/>
        </p:nvSpPr>
        <p:spPr>
          <a:xfrm>
            <a:off x="3867912" y="3337560"/>
            <a:ext cx="182880" cy="365760"/>
          </a:xfrm>
          <a:prstGeom prst="chevron">
            <a:avLst/>
          </a:prstGeom>
          <a:solidFill>
            <a:schemeClr val="accent6"/>
          </a:solidFill>
          <a:ln/>
        </p:spPr>
      </p:sp>
      <p:sp>
        <p:nvSpPr>
          <p:cNvPr id="12" name="Shape 10"/>
          <p:cNvSpPr/>
          <p:nvPr/>
        </p:nvSpPr>
        <p:spPr>
          <a:xfrm>
            <a:off x="8147304" y="3337560"/>
            <a:ext cx="182880" cy="365760"/>
          </a:xfrm>
          <a:prstGeom prst="chevron">
            <a:avLst/>
          </a:prstGeom>
          <a:solidFill>
            <a:schemeClr val="accent6"/>
          </a:solidFill>
          <a:ln/>
        </p:spPr>
      </p:sp>
      <p:sp>
        <p:nvSpPr>
          <p:cNvPr id="13" name="Shape 11"/>
          <p:cNvSpPr/>
          <p:nvPr/>
        </p:nvSpPr>
        <p:spPr>
          <a:xfrm>
            <a:off x="548640" y="5687568"/>
            <a:ext cx="11094415" cy="530352"/>
          </a:xfrm>
          <a:prstGeom prst="roundRect">
            <a:avLst>
              <a:gd name="adj" fmla="val 20690"/>
            </a:avLst>
          </a:prstGeom>
          <a:solidFill>
            <a:schemeClr val="accent3">
              <a:alpha val="13000"/>
            </a:schemeClr>
          </a:solidFill>
          <a:ln/>
        </p:spPr>
      </p:sp>
      <p:sp>
        <p:nvSpPr>
          <p:cNvPr id="14" name="Text 12"/>
          <p:cNvSpPr txBox="1"/>
          <p:nvPr/>
        </p:nvSpPr>
        <p:spPr>
          <a:xfrm>
            <a:off x="777240" y="5687568"/>
            <a:ext cx="10637215" cy="530352"/>
          </a:xfrm>
          <a:prstGeom prst="rect">
            <a:avLst/>
          </a:prstGeom>
          <a:noFill/>
          <a:ln/>
        </p:spPr>
        <p:txBody>
          <a:bodyPr wrap="square" lIns="0" tIns="0" rIns="0" bIns="0" rtlCol="0" anchor="ctr"/>
          <a:lstStyle/>
          <a:p>
            <a:pPr indent="0" marL="0">
              <a:buNone/>
            </a:pPr>
            <a:r>
              <a:rPr lang="en-US" sz="1250" b="1" dirty="0">
                <a:solidFill>
                  <a:schemeClr val="tx2"/>
                </a:solidFill>
              </a:rPr>
              <a:t>Left for a person:  </a:t>
            </a:r>
            <a:pPr indent="0" marL="0">
              <a:buNone/>
            </a:pPr>
            <a:r>
              <a:rPr lang="en-US" sz="1250" dirty="0">
                <a:solidFill>
                  <a:schemeClr val="tx1"/>
                </a:solidFill>
              </a:rPr>
              <a:t>multi-statement functions are deferred (unless an inline LLM rewrite is accepted); encrypted modules fail (no text). Code flagged SYNAPSE_TSQL is still tried, and Fabric's error is shown.</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46</a:t>
            </a:fld>
            <a:endParaRPr lang="en-US"/>
          </a:p>
        </p:txBody>
      </p:sp>
    </p:spTree>
  </p:cSld>
  <p:clrMapOvr>
    <a:masterClrMapping/>
  </p:clrMapOvr>
  <p:transition spd="med">
    <p:fade/>
  </p:transition>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05 · ITEM BY ITEM</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The six T-SQL rules, with examples</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migration/tsql_rules.py</a:t>
            </a:r>
            <a:endParaRPr lang="en-US" sz="11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48640" y="1444752"/>
          <a:ext cx="11094415" cy="914400"/>
        </p:xfrm>
        <a:graphic>
          <a:graphicData uri="http://schemas.openxmlformats.org/drawingml/2006/table">
            <a:tbl>
              <a:tblPr/>
              <a:tblGrid>
                <a:gridCol w="1965960"/>
                <a:gridCol w="4754880"/>
                <a:gridCol w="4370832"/>
              </a:tblGrid>
              <a:tr h="310896">
                <a:tc>
                  <a:txBody>
                    <a:bodyPr/>
                    <a:lstStyle/>
                    <a:p>
                      <a:pPr indent="0" marL="0">
                        <a:buNone/>
                      </a:pPr>
                      <a:r>
                        <a:rPr lang="en-US" sz="1200" b="1" dirty="0">
                          <a:solidFill>
                            <a:schemeClr val="bg1"/>
                          </a:solidFill>
                        </a:rPr>
                        <a:t>Rule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indent="0" marL="0">
                        <a:buNone/>
                      </a:pPr>
                      <a:r>
                        <a:rPr lang="en-US" sz="1200" b="1" dirty="0">
                          <a:solidFill>
                            <a:schemeClr val="bg1"/>
                          </a:solidFill>
                        </a:rPr>
                        <a:t>In Synapse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4157D6"/>
                    </a:solidFill>
                  </a:tcPr>
                </a:tc>
                <a:tc>
                  <a:txBody>
                    <a:bodyPr/>
                    <a:lstStyle/>
                    <a:p>
                      <a:pPr indent="0" marL="0">
                        <a:buNone/>
                      </a:pPr>
                      <a:r>
                        <a:rPr lang="en-US" sz="1200" b="1" dirty="0">
                          <a:solidFill>
                            <a:schemeClr val="bg1"/>
                          </a:solidFill>
                        </a:rPr>
                        <a:t>Becomes in Fabric</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7F70"/>
                    </a:solidFill>
                  </a:tcPr>
                </a:tc>
              </a:tr>
              <a:tr h="548640">
                <a:tc>
                  <a:txBody>
                    <a:bodyPr/>
                    <a:lstStyle/>
                    <a:p>
                      <a:pPr indent="0" marL="0">
                        <a:buNone/>
                      </a:pPr>
                      <a:r>
                        <a:rPr lang="en-US" sz="1200" b="1" dirty="0">
                          <a:solidFill>
                            <a:schemeClr val="tx2"/>
                          </a:solidFill>
                        </a:rPr>
                        <a:t>Storage options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latin typeface="Consolas" pitchFamily="34" charset="0"/>
                          <a:ea typeface="Consolas" pitchFamily="34" charset="-122"/>
                          <a:cs typeface="Consolas" pitchFamily="34" charset="-120"/>
                        </a:rPr>
                        <a:t>CREATE TABLE s.t (…) WITH (DISTRIBUTION = HASH(id), CLUSTERED COLUMNSTORE INDEX)</a:t>
                      </a:r>
                      <a:endParaRPr lang="en-US" sz="1050" dirty="0">
                        <a:latin typeface="Consolas" charset="0"/>
                        <a:ea typeface="Consolas" charset="0"/>
                        <a:cs typeface="Consolas" charset="0"/>
                      </a:endParaRPr>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latin typeface="Consolas" pitchFamily="34" charset="0"/>
                          <a:ea typeface="Consolas" pitchFamily="34" charset="-122"/>
                          <a:cs typeface="Consolas" pitchFamily="34" charset="-120"/>
                        </a:rPr>
                        <a:t>CREATE TABLE s.t (…) /* removed for Fabric: WITH (…) */</a:t>
                      </a:r>
                      <a:endParaRPr lang="en-US" sz="1050" dirty="0">
                        <a:latin typeface="Consolas" charset="0"/>
                        <a:ea typeface="Consolas" charset="0"/>
                        <a:cs typeface="Consolas" charset="0"/>
                      </a:endParaRPr>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chemeClr val="tx2"/>
                          </a:solidFill>
                        </a:rPr>
                        <a:t>RENAME OBJECT</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050" dirty="0">
                          <a:solidFill>
                            <a:schemeClr val="tx1"/>
                          </a:solidFill>
                          <a:latin typeface="Consolas" pitchFamily="34" charset="0"/>
                          <a:ea typeface="Consolas" pitchFamily="34" charset="-122"/>
                          <a:cs typeface="Consolas" pitchFamily="34" charset="-120"/>
                        </a:rPr>
                        <a:t>RENAME OBJECT dbo.a TO b</a:t>
                      </a:r>
                      <a:endParaRPr lang="en-US" sz="1050" dirty="0">
                        <a:latin typeface="Consolas" charset="0"/>
                        <a:ea typeface="Consolas" charset="0"/>
                        <a:cs typeface="Consolas" charset="0"/>
                      </a:endParaRPr>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050" dirty="0">
                          <a:solidFill>
                            <a:schemeClr val="tx1"/>
                          </a:solidFill>
                          <a:latin typeface="Consolas" pitchFamily="34" charset="0"/>
                          <a:ea typeface="Consolas" pitchFamily="34" charset="-122"/>
                          <a:cs typeface="Consolas" pitchFamily="34" charset="-120"/>
                        </a:rPr>
                        <a:t>EXEC sp_rename N'dbo.a', N'b'</a:t>
                      </a:r>
                      <a:endParaRPr lang="en-US" sz="1050" dirty="0">
                        <a:latin typeface="Consolas" charset="0"/>
                        <a:ea typeface="Consolas" charset="0"/>
                        <a:cs typeface="Consolas" charset="0"/>
                      </a:endParaRPr>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548640">
                <a:tc>
                  <a:txBody>
                    <a:bodyPr/>
                    <a:lstStyle/>
                    <a:p>
                      <a:pPr indent="0" marL="0">
                        <a:buNone/>
                      </a:pPr>
                      <a:r>
                        <a:rPr lang="en-US" sz="1200" b="1" dirty="0">
                          <a:solidFill>
                            <a:schemeClr val="tx2"/>
                          </a:solidFill>
                        </a:rPr>
                        <a:t>Isolation level</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latin typeface="Consolas" pitchFamily="34" charset="0"/>
                          <a:ea typeface="Consolas" pitchFamily="34" charset="-122"/>
                          <a:cs typeface="Consolas" pitchFamily="34" charset="-120"/>
                        </a:rPr>
                        <a:t>SET TRANSACTION ISOLATION LEVEL READ UNCOMMITTED;</a:t>
                      </a:r>
                      <a:endParaRPr lang="en-US" sz="1050" dirty="0">
                        <a:latin typeface="Consolas" charset="0"/>
                        <a:ea typeface="Consolas" charset="0"/>
                        <a:cs typeface="Consolas" charset="0"/>
                      </a:endParaRPr>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latin typeface="Consolas" pitchFamily="34" charset="0"/>
                          <a:ea typeface="Consolas" pitchFamily="34" charset="-122"/>
                          <a:cs typeface="Consolas" pitchFamily="34" charset="-120"/>
                        </a:rPr>
                        <a:t>/* removed for Fabric: SET TRANSACTION … */</a:t>
                      </a:r>
                      <a:endParaRPr lang="en-US" sz="1050" dirty="0">
                        <a:latin typeface="Consolas" charset="0"/>
                        <a:ea typeface="Consolas" charset="0"/>
                        <a:cs typeface="Consolas" charset="0"/>
                      </a:endParaRPr>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chemeClr val="tx2"/>
                          </a:solidFill>
                        </a:rPr>
                        <a:t>Workload management</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050" dirty="0">
                          <a:solidFill>
                            <a:schemeClr val="tx1"/>
                          </a:solidFill>
                          <a:latin typeface="Consolas" pitchFamily="34" charset="0"/>
                          <a:ea typeface="Consolas" pitchFamily="34" charset="-122"/>
                          <a:cs typeface="Consolas" pitchFamily="34" charset="-120"/>
                        </a:rPr>
                        <a:t>EXEC sp_addrolemember 'largerc', 'etl_user';</a:t>
                      </a:r>
                      <a:endParaRPr lang="en-US" sz="1050" dirty="0">
                        <a:latin typeface="Consolas" charset="0"/>
                        <a:ea typeface="Consolas" charset="0"/>
                        <a:cs typeface="Consolas" charset="0"/>
                      </a:endParaRPr>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050" dirty="0">
                          <a:solidFill>
                            <a:schemeClr val="tx1"/>
                          </a:solidFill>
                          <a:latin typeface="Consolas" pitchFamily="34" charset="0"/>
                          <a:ea typeface="Consolas" pitchFamily="34" charset="-122"/>
                          <a:cs typeface="Consolas" pitchFamily="34" charset="-120"/>
                        </a:rPr>
                        <a:t>/* removed for Fabric: EXEC sp_addrolemember … */</a:t>
                      </a:r>
                      <a:endParaRPr lang="en-US" sz="1050" dirty="0">
                        <a:latin typeface="Consolas" charset="0"/>
                        <a:ea typeface="Consolas" charset="0"/>
                        <a:cs typeface="Consolas" charset="0"/>
                      </a:endParaRPr>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548640">
                <a:tc>
                  <a:txBody>
                    <a:bodyPr/>
                    <a:lstStyle/>
                    <a:p>
                      <a:pPr indent="0" marL="0">
                        <a:buNone/>
                      </a:pPr>
                      <a:r>
                        <a:rPr lang="en-US" sz="1200" b="1" dirty="0">
                          <a:solidFill>
                            <a:schemeClr val="tx2"/>
                          </a:solidFill>
                        </a:rPr>
                        <a:t>COPY INTO credential</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latin typeface="Consolas" pitchFamily="34" charset="0"/>
                          <a:ea typeface="Consolas" pitchFamily="34" charset="-122"/>
                          <a:cs typeface="Consolas" pitchFamily="34" charset="-120"/>
                        </a:rPr>
                        <a:t>COPY INTO t FROM '…' WITH (FILE_TYPE = 'PARQUET', CREDENTIAL = (IDENTITY = 'Managed Identity'))</a:t>
                      </a:r>
                      <a:endParaRPr lang="en-US" sz="1050" dirty="0">
                        <a:latin typeface="Consolas" charset="0"/>
                        <a:ea typeface="Consolas" charset="0"/>
                        <a:cs typeface="Consolas" charset="0"/>
                      </a:endParaRPr>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latin typeface="Consolas" pitchFamily="34" charset="0"/>
                          <a:ea typeface="Consolas" pitchFamily="34" charset="-122"/>
                          <a:cs typeface="Consolas" pitchFamily="34" charset="-120"/>
                        </a:rPr>
                        <a:t>COPY INTO t FROM '…' WITH (FILE_TYPE = 'PARQUET')</a:t>
                      </a:r>
                      <a:endParaRPr lang="en-US" sz="1050" dirty="0">
                        <a:latin typeface="Consolas" charset="0"/>
                        <a:ea typeface="Consolas" charset="0"/>
                        <a:cs typeface="Consolas" charset="0"/>
                      </a:endParaRPr>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chemeClr val="tx2"/>
                          </a:solidFill>
                        </a:rPr>
                        <a:t>IDENTITY_INSERT</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050" dirty="0">
                          <a:solidFill>
                            <a:schemeClr val="tx1"/>
                          </a:solidFill>
                          <a:latin typeface="Consolas" pitchFamily="34" charset="0"/>
                          <a:ea typeface="Consolas" pitchFamily="34" charset="-122"/>
                          <a:cs typeface="Consolas" pitchFamily="34" charset="-120"/>
                        </a:rPr>
                        <a:t>SET IDENTITY_INSERT dbo.t ON</a:t>
                      </a:r>
                      <a:endParaRPr lang="en-US" sz="1050" dirty="0">
                        <a:latin typeface="Consolas" charset="0"/>
                        <a:ea typeface="Consolas" charset="0"/>
                        <a:cs typeface="Consolas" charset="0"/>
                      </a:endParaRPr>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Kept; removed only where the Warehouse table has no IDENTITY</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bl>
          </a:graphicData>
        </a:graphic>
      </p:graphicFrame>
      <p:sp>
        <p:nvSpPr>
          <p:cNvPr id="6" name="Shape 3"/>
          <p:cNvSpPr/>
          <p:nvPr/>
        </p:nvSpPr>
        <p:spPr>
          <a:xfrm>
            <a:off x="548640" y="5349240"/>
            <a:ext cx="11094415" cy="822960"/>
          </a:xfrm>
          <a:prstGeom prst="roundRect">
            <a:avLst>
              <a:gd name="adj" fmla="val 13333"/>
            </a:avLst>
          </a:prstGeom>
          <a:solidFill>
            <a:schemeClr val="accent1">
              <a:alpha val="13000"/>
            </a:schemeClr>
          </a:solidFill>
          <a:ln/>
        </p:spPr>
      </p:sp>
      <p:sp>
        <p:nvSpPr>
          <p:cNvPr id="7" name="Text 4"/>
          <p:cNvSpPr txBox="1"/>
          <p:nvPr/>
        </p:nvSpPr>
        <p:spPr>
          <a:xfrm>
            <a:off x="777240" y="5349240"/>
            <a:ext cx="10637215" cy="822960"/>
          </a:xfrm>
          <a:prstGeom prst="rect">
            <a:avLst/>
          </a:prstGeom>
          <a:noFill/>
          <a:ln/>
        </p:spPr>
        <p:txBody>
          <a:bodyPr wrap="square" lIns="0" tIns="0" rIns="0" bIns="0" rtlCol="0" anchor="ctr"/>
          <a:lstStyle/>
          <a:p>
            <a:pPr indent="0" marL="0">
              <a:buNone/>
            </a:pPr>
            <a:r>
              <a:rPr lang="en-US" sz="1250" b="1" dirty="0">
                <a:solidFill>
                  <a:schemeClr val="tx2"/>
                </a:solidFill>
              </a:rPr>
              <a:t>How they behave:  </a:t>
            </a:r>
            <a:pPr indent="0" marL="0">
              <a:buNone/>
            </a:pPr>
            <a:r>
              <a:rPr lang="en-US" sz="1250" dirty="0">
                <a:solidFill>
                  <a:schemeClr val="tx1"/>
                </a:solidFill>
              </a:rPr>
              <a:t>strings, comments and quoted identifiers are never changed; running the rules twice changes nothing more; the last two also apply inside dynamic SQL. Flagged after the rules, not converted: sys.pdw_* views, materialized views, external tables, SET ROWCOUNT, FOR XML, synonyms, PREDICT, CREATE USER, triggers.</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47</a:t>
            </a:fld>
            <a:endParaRPr lang="en-US"/>
          </a:p>
        </p:txBody>
      </p:sp>
    </p:spTree>
  </p:cSld>
  <p:clrMapOvr>
    <a:masterClrMapping/>
  </p:clrMapOvr>
  <p:transition spd="med">
    <p:fade/>
  </p:transition>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05 · ITEM BY ITEM</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Roles, users and permissions</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migration/security.py · sql/queries.py</a:t>
            </a:r>
            <a:endParaRPr lang="en-US" sz="1100" dirty="0"/>
          </a:p>
        </p:txBody>
      </p:sp>
      <p:sp>
        <p:nvSpPr>
          <p:cNvPr id="5" name="Shape 3"/>
          <p:cNvSpPr/>
          <p:nvPr/>
        </p:nvSpPr>
        <p:spPr>
          <a:xfrm>
            <a:off x="548640" y="1463040"/>
            <a:ext cx="3246120" cy="4114800"/>
          </a:xfrm>
          <a:prstGeom prst="roundRect">
            <a:avLst>
              <a:gd name="adj" fmla="val 3380"/>
            </a:avLst>
          </a:prstGeom>
          <a:solidFill>
            <a:schemeClr val="accent2">
              <a:alpha val="9000"/>
            </a:schemeClr>
          </a:solidFill>
          <a:ln/>
        </p:spPr>
      </p:sp>
      <p:sp>
        <p:nvSpPr>
          <p:cNvPr id="6" name="Text 4"/>
          <p:cNvSpPr txBox="1"/>
          <p:nvPr/>
        </p:nvSpPr>
        <p:spPr>
          <a:xfrm>
            <a:off x="749808" y="1627632"/>
            <a:ext cx="2880360" cy="3840480"/>
          </a:xfrm>
          <a:prstGeom prst="rect">
            <a:avLst/>
          </a:prstGeom>
          <a:noFill/>
          <a:ln/>
        </p:spPr>
        <p:txBody>
          <a:bodyPr wrap="square" lIns="0" tIns="0" rIns="0" bIns="0" rtlCol="0" anchor="t"/>
          <a:lstStyle/>
          <a:p>
            <a:pPr indent="0" marL="0">
              <a:buNone/>
            </a:pPr>
            <a:r>
              <a:rPr lang="en-US" sz="1100" b="1" spc="100" kern="0" dirty="0">
                <a:solidFill>
                  <a:schemeClr val="accent2"/>
                </a:solidFill>
              </a:rPr>
              <a:t>IN SYNAPSE</a:t>
            </a:r>
            <a:endParaRPr lang="en-US" sz="1400" dirty="0"/>
          </a:p>
          <a:p>
            <a:pPr indent="0" marL="0">
              <a:spcBef>
                <a:spcPts val="400"/>
              </a:spcBef>
              <a:buNone/>
            </a:pPr>
            <a:r>
              <a:rPr lang="en-US" sz="1600" dirty="0">
                <a:solidFill>
                  <a:schemeClr val="tx2"/>
                </a:solidFill>
                <a:latin typeface="+mj-lt" pitchFamily="34" charset="0"/>
                <a:ea typeface="+mj-lt" pitchFamily="34" charset="-122"/>
                <a:cs typeface="+mj-lt" pitchFamily="34" charset="-120"/>
              </a:rPr>
              <a:t>Database security</a:t>
            </a:r>
            <a:endParaRPr lang="en-US" sz="1400" dirty="0"/>
          </a:p>
          <a:p>
            <a:pPr indent="0" marL="0">
              <a:spcBef>
                <a:spcPts val="800"/>
              </a:spcBef>
              <a:buNone/>
            </a:pPr>
            <a:r>
              <a:rPr lang="en-US" sz="1050" b="1" dirty="0">
                <a:solidFill>
                  <a:schemeClr val="accent6"/>
                </a:solidFill>
              </a:rPr>
              <a:t>Format</a:t>
            </a:r>
            <a:endParaRPr lang="en-US" sz="1400" dirty="0"/>
          </a:p>
          <a:p>
            <a:pPr indent="0" marL="0">
              <a:buNone/>
            </a:pPr>
            <a:r>
              <a:rPr lang="en-US" sz="1200" dirty="0">
                <a:solidFill>
                  <a:schemeClr val="tx1"/>
                </a:solidFill>
              </a:rPr>
              <a:t>Catalog: principals (SQL user, Entra user, Entra group, role), role members, permissions, masked columns</a:t>
            </a:r>
            <a:endParaRPr lang="en-US" sz="1400" dirty="0"/>
          </a:p>
          <a:p>
            <a:pPr marL="139700" indent="-139700">
              <a:spcBef>
                <a:spcPts val="900"/>
              </a:spcBef>
              <a:buSzPct val="100000"/>
              <a:buChar char="•"/>
            </a:pPr>
            <a:r>
              <a:rPr lang="en-US" sz="1200" dirty="0">
                <a:solidFill>
                  <a:schemeClr val="tx1"/>
                </a:solidFill>
              </a:rPr>
              <a:t>Built-in roles (db_datareader and others) and public</a:t>
            </a:r>
            <a:endParaRPr lang="en-US" sz="1400" dirty="0"/>
          </a:p>
          <a:p>
            <a:pPr marL="139700" indent="-139700">
              <a:spcBef>
                <a:spcPts val="400"/>
              </a:spcBef>
              <a:buSzPct val="100000"/>
              <a:buChar char="•"/>
            </a:pPr>
            <a:r>
              <a:rPr lang="en-US" sz="1200" dirty="0">
                <a:solidFill>
                  <a:schemeClr val="tx1"/>
                </a:solidFill>
              </a:rPr>
              <a:t>Resource-class roles (smallrc to staticrc80)</a:t>
            </a:r>
            <a:endParaRPr lang="en-US" sz="1400" dirty="0"/>
          </a:p>
          <a:p>
            <a:pPr marL="139700" indent="-139700">
              <a:spcBef>
                <a:spcPts val="400"/>
              </a:spcBef>
              <a:buSzPct val="100000"/>
              <a:buChar char="•"/>
            </a:pPr>
            <a:r>
              <a:rPr lang="en-US" sz="1200" dirty="0">
                <a:solidFill>
                  <a:schemeClr val="tx1"/>
                </a:solidFill>
              </a:rPr>
              <a:t>Grants on the database, a schema, an object or a column</a:t>
            </a:r>
            <a:endParaRPr lang="en-US" sz="1400" dirty="0"/>
          </a:p>
        </p:txBody>
      </p:sp>
      <p:sp>
        <p:nvSpPr>
          <p:cNvPr id="7" name="Shape 5"/>
          <p:cNvSpPr/>
          <p:nvPr/>
        </p:nvSpPr>
        <p:spPr>
          <a:xfrm>
            <a:off x="4114800" y="1463040"/>
            <a:ext cx="3959352" cy="4114800"/>
          </a:xfrm>
          <a:prstGeom prst="roundRect">
            <a:avLst>
              <a:gd name="adj" fmla="val 2771"/>
            </a:avLst>
          </a:prstGeom>
          <a:solidFill>
            <a:schemeClr val="bg2"/>
          </a:solidFill>
          <a:ln/>
        </p:spPr>
      </p:sp>
      <p:sp>
        <p:nvSpPr>
          <p:cNvPr id="8" name="Text 6"/>
          <p:cNvSpPr txBox="1"/>
          <p:nvPr/>
        </p:nvSpPr>
        <p:spPr>
          <a:xfrm>
            <a:off x="4315968" y="1627632"/>
            <a:ext cx="3593592" cy="3840480"/>
          </a:xfrm>
          <a:prstGeom prst="rect">
            <a:avLst/>
          </a:prstGeom>
          <a:noFill/>
          <a:ln/>
        </p:spPr>
        <p:txBody>
          <a:bodyPr wrap="square" lIns="0" tIns="0" rIns="0" bIns="0" rtlCol="0" anchor="t"/>
          <a:lstStyle/>
          <a:p>
            <a:pPr indent="0" marL="0">
              <a:buNone/>
            </a:pPr>
            <a:r>
              <a:rPr lang="en-US" sz="1100" b="1" spc="100" kern="0" dirty="0">
                <a:solidFill>
                  <a:schemeClr val="accent6"/>
                </a:solidFill>
              </a:rPr>
              <a:t>HOW IT IS CONVERTED</a:t>
            </a:r>
            <a:endParaRPr lang="en-US" sz="1400" dirty="0"/>
          </a:p>
          <a:p>
            <a:pPr marL="342900" indent="-342900">
              <a:spcBef>
                <a:spcPts val="900"/>
              </a:spcBef>
              <a:buSzPct val="100000"/>
              <a:buFont typeface="+mj-lt"/>
              <a:buAutoNum type="arabicPeriod" startAt="1"/>
            </a:pPr>
            <a:r>
              <a:rPr lang="en-US" sz="1250" dirty="0">
                <a:solidFill>
                  <a:schemeClr val="tx1"/>
                </a:solidFill>
              </a:rPr>
              <a:t>A custom role: CREATE ROLE [role]</a:t>
            </a:r>
            <a:endParaRPr lang="en-US" sz="1400" dirty="0"/>
          </a:p>
          <a:p>
            <a:pPr marL="342900" indent="-342900">
              <a:spcBef>
                <a:spcPts val="500"/>
              </a:spcBef>
              <a:buSzPct val="100000"/>
              <a:buFont typeface="+mj-lt"/>
              <a:buAutoNum type="arabicPeriod" startAt="1"/>
            </a:pPr>
            <a:r>
              <a:rPr lang="en-US" sz="1250" dirty="0">
                <a:solidFill>
                  <a:schemeClr val="tx1"/>
                </a:solidFill>
              </a:rPr>
              <a:t>Its members: ALTER ROLE [role] ADD MEMBER [user or group]</a:t>
            </a:r>
            <a:endParaRPr lang="en-US" sz="1400" dirty="0"/>
          </a:p>
          <a:p>
            <a:pPr marL="342900" indent="-342900">
              <a:spcBef>
                <a:spcPts val="500"/>
              </a:spcBef>
              <a:buSzPct val="100000"/>
              <a:buFont typeface="+mj-lt"/>
              <a:buAutoNum type="arabicPeriod" startAt="1"/>
            </a:pPr>
            <a:r>
              <a:rPr lang="en-US" sz="1250" dirty="0">
                <a:solidFill>
                  <a:schemeClr val="tx1"/>
                </a:solidFill>
              </a:rPr>
              <a:t>Permissions: GRANT or DENY on the database, a schema (SCHEMA::), an object or its columns (OBJECT::), keeping WITH GRANT OPTION</a:t>
            </a:r>
            <a:endParaRPr lang="en-US" sz="1400" dirty="0"/>
          </a:p>
          <a:p>
            <a:pPr marL="342900" indent="-342900">
              <a:spcBef>
                <a:spcPts val="500"/>
              </a:spcBef>
              <a:buSzPct val="100000"/>
              <a:buFont typeface="+mj-lt"/>
              <a:buAutoNum type="arabicPeriod" startAt="1"/>
            </a:pPr>
            <a:r>
              <a:rPr lang="en-US" sz="1250" dirty="0">
                <a:solidFill>
                  <a:schemeClr val="tx1"/>
                </a:solidFill>
              </a:rPr>
              <a:t>Microsoft Entra users are created by their first GRANT (Fabric has no CREATE USER)</a:t>
            </a:r>
            <a:endParaRPr lang="en-US" sz="1400" dirty="0"/>
          </a:p>
          <a:p>
            <a:pPr marL="342900" indent="-342900">
              <a:spcBef>
                <a:spcPts val="500"/>
              </a:spcBef>
              <a:buSzPct val="100000"/>
              <a:buFont typeface="+mj-lt"/>
              <a:buAutoNum type="arabicPeriod" startAt="1"/>
            </a:pPr>
            <a:r>
              <a:rPr lang="en-US" sz="1250" dirty="0">
                <a:solidFill>
                  <a:schemeClr val="tx1"/>
                </a:solidFill>
              </a:rPr>
              <a:t>Rejected member and permission statements are collected; Retry failed re-runs that principal's statements safely</a:t>
            </a:r>
            <a:endParaRPr lang="en-US" sz="1400" dirty="0"/>
          </a:p>
        </p:txBody>
      </p:sp>
      <p:sp>
        <p:nvSpPr>
          <p:cNvPr id="9" name="Shape 7"/>
          <p:cNvSpPr/>
          <p:nvPr/>
        </p:nvSpPr>
        <p:spPr>
          <a:xfrm>
            <a:off x="8394192" y="1463040"/>
            <a:ext cx="3246120" cy="4114800"/>
          </a:xfrm>
          <a:prstGeom prst="roundRect">
            <a:avLst>
              <a:gd name="adj" fmla="val 3380"/>
            </a:avLst>
          </a:prstGeom>
          <a:solidFill>
            <a:schemeClr val="accent1">
              <a:alpha val="10000"/>
            </a:schemeClr>
          </a:solidFill>
          <a:ln/>
        </p:spPr>
      </p:sp>
      <p:sp>
        <p:nvSpPr>
          <p:cNvPr id="10" name="Text 8"/>
          <p:cNvSpPr txBox="1"/>
          <p:nvPr/>
        </p:nvSpPr>
        <p:spPr>
          <a:xfrm>
            <a:off x="8595360" y="1627632"/>
            <a:ext cx="2880360" cy="3840480"/>
          </a:xfrm>
          <a:prstGeom prst="rect">
            <a:avLst/>
          </a:prstGeom>
          <a:noFill/>
          <a:ln/>
        </p:spPr>
        <p:txBody>
          <a:bodyPr wrap="square" lIns="0" tIns="0" rIns="0" bIns="0" rtlCol="0" anchor="t"/>
          <a:lstStyle/>
          <a:p>
            <a:pPr indent="0" marL="0">
              <a:buNone/>
            </a:pPr>
            <a:r>
              <a:rPr lang="en-US" sz="1100" b="1" spc="100" kern="0" dirty="0">
                <a:solidFill>
                  <a:schemeClr val="accent1"/>
                </a:solidFill>
              </a:rPr>
              <a:t>IN FABRIC</a:t>
            </a:r>
            <a:endParaRPr lang="en-US" sz="1400" dirty="0"/>
          </a:p>
          <a:p>
            <a:pPr indent="0" marL="0">
              <a:spcBef>
                <a:spcPts val="400"/>
              </a:spcBef>
              <a:buNone/>
            </a:pPr>
            <a:r>
              <a:rPr lang="en-US" sz="1600" dirty="0">
                <a:solidFill>
                  <a:schemeClr val="tx2"/>
                </a:solidFill>
                <a:latin typeface="+mj-lt" pitchFamily="34" charset="0"/>
                <a:ea typeface="+mj-lt" pitchFamily="34" charset="-122"/>
                <a:cs typeface="+mj-lt" pitchFamily="34" charset="-120"/>
              </a:rPr>
              <a:t>Warehouse roles and grants</a:t>
            </a:r>
            <a:endParaRPr lang="en-US" sz="1400" dirty="0"/>
          </a:p>
          <a:p>
            <a:pPr indent="0" marL="0">
              <a:spcBef>
                <a:spcPts val="800"/>
              </a:spcBef>
              <a:buNone/>
            </a:pPr>
            <a:r>
              <a:rPr lang="en-US" sz="1050" b="1" dirty="0">
                <a:solidFill>
                  <a:schemeClr val="accent6"/>
                </a:solidFill>
              </a:rPr>
              <a:t>Format</a:t>
            </a:r>
            <a:endParaRPr lang="en-US" sz="1400" dirty="0"/>
          </a:p>
          <a:p>
            <a:pPr indent="0" marL="0">
              <a:buNone/>
            </a:pPr>
            <a:r>
              <a:rPr lang="en-US" sz="1200" dirty="0">
                <a:solidFill>
                  <a:schemeClr val="tx1"/>
                </a:solidFill>
              </a:rPr>
              <a:t>T-SQL security statements run on the Warehouse</a:t>
            </a:r>
            <a:endParaRPr lang="en-US" sz="1400" dirty="0"/>
          </a:p>
          <a:p>
            <a:pPr marL="139700" indent="-139700">
              <a:spcBef>
                <a:spcPts val="900"/>
              </a:spcBef>
              <a:buSzPct val="100000"/>
              <a:buChar char="•"/>
            </a:pPr>
            <a:r>
              <a:rPr lang="en-US" sz="1200" dirty="0">
                <a:solidFill>
                  <a:schemeClr val="tx1"/>
                </a:solidFill>
              </a:rPr>
              <a:t>Built-in roles and public exist already: only their members and grants move</a:t>
            </a:r>
            <a:endParaRPr lang="en-US" sz="1400" dirty="0"/>
          </a:p>
          <a:p>
            <a:pPr marL="139700" indent="-139700">
              <a:spcBef>
                <a:spcPts val="400"/>
              </a:spcBef>
              <a:buSzPct val="100000"/>
              <a:buChar char="•"/>
            </a:pPr>
            <a:r>
              <a:rPr lang="en-US" sz="1200" dirty="0">
                <a:solidFill>
                  <a:schemeClr val="tx1"/>
                </a:solidFill>
              </a:rPr>
              <a:t>Workspace roles and item permissions still decide who can connect</a:t>
            </a:r>
            <a:endParaRPr lang="en-US" sz="1400" dirty="0"/>
          </a:p>
          <a:p>
            <a:pPr marL="139700" indent="-139700">
              <a:spcBef>
                <a:spcPts val="400"/>
              </a:spcBef>
              <a:buSzPct val="100000"/>
              <a:buChar char="•"/>
            </a:pPr>
            <a:r>
              <a:rPr lang="en-US" sz="1200" dirty="0">
                <a:solidFill>
                  <a:schemeClr val="tx1"/>
                </a:solidFill>
              </a:rPr>
              <a:t>Admins, Members and Contributors hold CONTROL, so a DENY does not restrict them</a:t>
            </a:r>
            <a:endParaRPr lang="en-US" sz="1400" dirty="0"/>
          </a:p>
        </p:txBody>
      </p:sp>
      <p:sp>
        <p:nvSpPr>
          <p:cNvPr id="11" name="Shape 9"/>
          <p:cNvSpPr/>
          <p:nvPr/>
        </p:nvSpPr>
        <p:spPr>
          <a:xfrm>
            <a:off x="3867912" y="3337560"/>
            <a:ext cx="182880" cy="365760"/>
          </a:xfrm>
          <a:prstGeom prst="chevron">
            <a:avLst/>
          </a:prstGeom>
          <a:solidFill>
            <a:schemeClr val="accent6"/>
          </a:solidFill>
          <a:ln/>
        </p:spPr>
      </p:sp>
      <p:sp>
        <p:nvSpPr>
          <p:cNvPr id="12" name="Shape 10"/>
          <p:cNvSpPr/>
          <p:nvPr/>
        </p:nvSpPr>
        <p:spPr>
          <a:xfrm>
            <a:off x="8147304" y="3337560"/>
            <a:ext cx="182880" cy="365760"/>
          </a:xfrm>
          <a:prstGeom prst="chevron">
            <a:avLst/>
          </a:prstGeom>
          <a:solidFill>
            <a:schemeClr val="accent6"/>
          </a:solidFill>
          <a:ln/>
        </p:spPr>
      </p:sp>
      <p:sp>
        <p:nvSpPr>
          <p:cNvPr id="13" name="Shape 11"/>
          <p:cNvSpPr/>
          <p:nvPr/>
        </p:nvSpPr>
        <p:spPr>
          <a:xfrm>
            <a:off x="548640" y="5687568"/>
            <a:ext cx="11094415" cy="530352"/>
          </a:xfrm>
          <a:prstGeom prst="roundRect">
            <a:avLst>
              <a:gd name="adj" fmla="val 20690"/>
            </a:avLst>
          </a:prstGeom>
          <a:solidFill>
            <a:schemeClr val="accent3">
              <a:alpha val="13000"/>
            </a:schemeClr>
          </a:solidFill>
          <a:ln/>
        </p:spPr>
      </p:sp>
      <p:sp>
        <p:nvSpPr>
          <p:cNvPr id="14" name="Text 12"/>
          <p:cNvSpPr txBox="1"/>
          <p:nvPr/>
        </p:nvSpPr>
        <p:spPr>
          <a:xfrm>
            <a:off x="777240" y="5687568"/>
            <a:ext cx="10637215" cy="530352"/>
          </a:xfrm>
          <a:prstGeom prst="rect">
            <a:avLst/>
          </a:prstGeom>
          <a:noFill/>
          <a:ln/>
        </p:spPr>
        <p:txBody>
          <a:bodyPr wrap="square" lIns="0" tIns="0" rIns="0" bIns="0" rtlCol="0" anchor="ctr"/>
          <a:lstStyle/>
          <a:p>
            <a:pPr indent="0" marL="0">
              <a:buNone/>
            </a:pPr>
            <a:r>
              <a:rPr lang="en-US" sz="1250" b="1" dirty="0">
                <a:solidFill>
                  <a:schemeClr val="tx2"/>
                </a:solidFill>
              </a:rPr>
              <a:t>Not carried:  </a:t>
            </a:r>
            <a:pPr indent="0" marL="0">
              <a:buNone/>
            </a:pPr>
            <a:r>
              <a:rPr lang="en-US" sz="1250" dirty="0">
                <a:solidFill>
                  <a:schemeClr val="tx1"/>
                </a:solidFill>
              </a:rPr>
              <a:t>the database CONNECT every user holds (the workspace gives access), resource classes (no workload management in Fabric), and SQL users, which are listed with the grants to give their Microsoft Entra replacement.</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48</a:t>
            </a:fld>
            <a:endParaRPr lang="en-US"/>
          </a:p>
        </p:txBody>
      </p:sp>
    </p:spTree>
  </p:cSld>
  <p:clrMapOvr>
    <a:masterClrMapping/>
  </p:clrMapOvr>
  <p:transition spd="med">
    <p:fade/>
  </p:transition>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05 · ITEM BY ITEM</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Table data: one Fabric data pipeline per wave</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migration/datapipeline.py</a:t>
            </a:r>
            <a:endParaRPr lang="en-US" sz="1100" dirty="0"/>
          </a:p>
        </p:txBody>
      </p:sp>
      <p:sp>
        <p:nvSpPr>
          <p:cNvPr id="5" name="Shape 3"/>
          <p:cNvSpPr/>
          <p:nvPr/>
        </p:nvSpPr>
        <p:spPr>
          <a:xfrm>
            <a:off x="548640" y="1481328"/>
            <a:ext cx="6172200" cy="658368"/>
          </a:xfrm>
          <a:prstGeom prst="roundRect">
            <a:avLst>
              <a:gd name="adj" fmla="val 16667"/>
            </a:avLst>
          </a:prstGeom>
          <a:solidFill>
            <a:schemeClr val="bg2"/>
          </a:solidFill>
          <a:ln/>
        </p:spPr>
      </p:sp>
      <p:sp>
        <p:nvSpPr>
          <p:cNvPr id="6" name="Text 4"/>
          <p:cNvSpPr txBox="1"/>
          <p:nvPr/>
        </p:nvSpPr>
        <p:spPr>
          <a:xfrm>
            <a:off x="777240" y="1481328"/>
            <a:ext cx="5760720" cy="658368"/>
          </a:xfrm>
          <a:prstGeom prst="rect">
            <a:avLst/>
          </a:prstGeom>
          <a:noFill/>
          <a:ln/>
        </p:spPr>
        <p:txBody>
          <a:bodyPr wrap="square" lIns="0" tIns="0" rIns="0" bIns="0" rtlCol="0" anchor="ctr"/>
          <a:lstStyle/>
          <a:p>
            <a:pPr indent="0" marL="0">
              <a:buNone/>
            </a:pPr>
            <a:r>
              <a:rPr lang="en-US" sz="1300" b="1" dirty="0">
                <a:solidFill>
                  <a:schemeClr val="tx2"/>
                </a:solidFill>
              </a:rPr>
              <a:t>Parameter  tables</a:t>
            </a:r>
            <a:pPr indent="0" marL="0">
              <a:buNone/>
            </a:pPr>
            <a:r>
              <a:rPr lang="en-US" sz="1300" dirty="0">
                <a:solidFill>
                  <a:schemeClr val="tx1"/>
                </a:solidFill>
              </a:rPr>
              <a:t>  ·  one entry per table that still needs rows, passed with each run</a:t>
            </a:r>
            <a:endParaRPr lang="en-US" sz="1300" dirty="0"/>
          </a:p>
        </p:txBody>
      </p:sp>
      <p:sp>
        <p:nvSpPr>
          <p:cNvPr id="7" name="Shape 5"/>
          <p:cNvSpPr/>
          <p:nvPr/>
        </p:nvSpPr>
        <p:spPr>
          <a:xfrm>
            <a:off x="3611880" y="2157984"/>
            <a:ext cx="91" cy="219456"/>
          </a:xfrm>
          <a:prstGeom prst="line">
            <a:avLst/>
          </a:prstGeom>
          <a:noFill/>
          <a:ln w="22225">
            <a:solidFill>
              <a:srgbClr val="5D6B82"/>
            </a:solidFill>
            <a:prstDash val="solid"/>
            <a:tailEnd type="triangle"/>
          </a:ln>
        </p:spPr>
      </p:sp>
      <p:sp>
        <p:nvSpPr>
          <p:cNvPr id="8" name="Shape 6"/>
          <p:cNvSpPr/>
          <p:nvPr/>
        </p:nvSpPr>
        <p:spPr>
          <a:xfrm>
            <a:off x="548640" y="2395728"/>
            <a:ext cx="6172200" cy="3136392"/>
          </a:xfrm>
          <a:prstGeom prst="roundRect">
            <a:avLst>
              <a:gd name="adj" fmla="val 3499"/>
            </a:avLst>
          </a:prstGeom>
          <a:solidFill>
            <a:schemeClr val="accent1">
              <a:alpha val="10000"/>
            </a:schemeClr>
          </a:solidFill>
          <a:ln/>
        </p:spPr>
      </p:sp>
      <p:sp>
        <p:nvSpPr>
          <p:cNvPr id="9" name="Text 7"/>
          <p:cNvSpPr txBox="1"/>
          <p:nvPr/>
        </p:nvSpPr>
        <p:spPr>
          <a:xfrm>
            <a:off x="777240" y="2468880"/>
            <a:ext cx="5760720" cy="411480"/>
          </a:xfrm>
          <a:prstGeom prst="rect">
            <a:avLst/>
          </a:prstGeom>
          <a:noFill/>
          <a:ln/>
        </p:spPr>
        <p:txBody>
          <a:bodyPr wrap="square" lIns="0" tIns="0" rIns="0" bIns="0" rtlCol="0" anchor="ctr"/>
          <a:lstStyle/>
          <a:p>
            <a:pPr indent="0" marL="0">
              <a:buNone/>
            </a:pPr>
            <a:r>
              <a:rPr lang="en-US" sz="1300" b="1" dirty="0">
                <a:solidFill>
                  <a:schemeClr val="tx2"/>
                </a:solidFill>
              </a:rPr>
              <a:t>ForEach  'For each table'</a:t>
            </a:r>
            <a:pPr indent="0" marL="0">
              <a:buNone/>
            </a:pPr>
            <a:r>
              <a:rPr lang="en-US" sz="1300" dirty="0">
                <a:solidFill>
                  <a:schemeClr val="tx1"/>
                </a:solidFill>
              </a:rPr>
              <a:t>  ·  in parallel, four tables at a time</a:t>
            </a:r>
            <a:endParaRPr lang="en-US" sz="1300" dirty="0"/>
          </a:p>
        </p:txBody>
      </p:sp>
      <p:sp>
        <p:nvSpPr>
          <p:cNvPr id="10" name="Shape 8"/>
          <p:cNvSpPr/>
          <p:nvPr/>
        </p:nvSpPr>
        <p:spPr>
          <a:xfrm>
            <a:off x="822960" y="2926080"/>
            <a:ext cx="5623560" cy="1371600"/>
          </a:xfrm>
          <a:prstGeom prst="roundRect">
            <a:avLst>
              <a:gd name="adj" fmla="val 8000"/>
            </a:avLst>
          </a:prstGeom>
          <a:solidFill>
            <a:schemeClr val="bg1"/>
          </a:solidFill>
          <a:ln/>
        </p:spPr>
      </p:sp>
      <p:sp>
        <p:nvSpPr>
          <p:cNvPr id="11" name="Text 9"/>
          <p:cNvSpPr txBox="1"/>
          <p:nvPr/>
        </p:nvSpPr>
        <p:spPr>
          <a:xfrm>
            <a:off x="1005840" y="2971800"/>
            <a:ext cx="5303520" cy="1298448"/>
          </a:xfrm>
          <a:prstGeom prst="rect">
            <a:avLst/>
          </a:prstGeom>
          <a:noFill/>
          <a:ln/>
        </p:spPr>
        <p:txBody>
          <a:bodyPr wrap="square" lIns="0" tIns="0" rIns="0" bIns="0" rtlCol="0" anchor="ctr"/>
          <a:lstStyle/>
          <a:p>
            <a:pPr indent="0" marL="0">
              <a:buNone/>
            </a:pPr>
            <a:r>
              <a:rPr lang="en-US" sz="1250" b="1" dirty="0">
                <a:solidFill>
                  <a:schemeClr val="tx2"/>
                </a:solidFill>
              </a:rPr>
              <a:t>Copy  'Copy table'</a:t>
            </a:r>
            <a:endParaRPr lang="en-US" sz="1250" dirty="0"/>
          </a:p>
          <a:p>
            <a:pPr indent="0" marL="0">
              <a:buNone/>
            </a:pPr>
            <a:r>
              <a:rPr lang="en-US" sz="1250" dirty="0">
                <a:solidFill>
                  <a:schemeClr val="tx1"/>
                </a:solidFill>
              </a:rPr>
              <a:t>Source: SqlDWSource running the entry's SELECT through the Fabric connection to the pool.</a:t>
            </a:r>
            <a:endParaRPr lang="en-US" sz="1250" dirty="0"/>
          </a:p>
          <a:p>
            <a:pPr indent="0" marL="0">
              <a:buNone/>
            </a:pPr>
            <a:r>
              <a:rPr lang="en-US" sz="1250" dirty="0">
                <a:solidFill>
                  <a:schemeClr val="tx1"/>
                </a:solidFill>
              </a:rPr>
              <a:t>Sink: DataWarehouseSink with the COPY command, staging on, and the entry's pre-copy script.</a:t>
            </a:r>
            <a:endParaRPr lang="en-US" sz="1250" dirty="0"/>
          </a:p>
        </p:txBody>
      </p:sp>
      <p:sp>
        <p:nvSpPr>
          <p:cNvPr id="12" name="Shape 10"/>
          <p:cNvSpPr/>
          <p:nvPr/>
        </p:nvSpPr>
        <p:spPr>
          <a:xfrm>
            <a:off x="3611880" y="4315968"/>
            <a:ext cx="91" cy="182880"/>
          </a:xfrm>
          <a:prstGeom prst="line">
            <a:avLst/>
          </a:prstGeom>
          <a:noFill/>
          <a:ln w="22225">
            <a:solidFill>
              <a:srgbClr val="5D6B82"/>
            </a:solidFill>
            <a:prstDash val="solid"/>
            <a:tailEnd type="triangle"/>
          </a:ln>
        </p:spPr>
      </p:sp>
      <p:sp>
        <p:nvSpPr>
          <p:cNvPr id="13" name="Shape 11"/>
          <p:cNvSpPr/>
          <p:nvPr/>
        </p:nvSpPr>
        <p:spPr>
          <a:xfrm>
            <a:off x="822960" y="4517136"/>
            <a:ext cx="5623560" cy="868680"/>
          </a:xfrm>
          <a:prstGeom prst="roundRect">
            <a:avLst>
              <a:gd name="adj" fmla="val 12632"/>
            </a:avLst>
          </a:prstGeom>
          <a:solidFill>
            <a:schemeClr val="bg1"/>
          </a:solidFill>
          <a:ln/>
        </p:spPr>
      </p:sp>
      <p:sp>
        <p:nvSpPr>
          <p:cNvPr id="14" name="Text 12"/>
          <p:cNvSpPr txBox="1"/>
          <p:nvPr/>
        </p:nvSpPr>
        <p:spPr>
          <a:xfrm>
            <a:off x="1005840" y="4535424"/>
            <a:ext cx="5303520" cy="822960"/>
          </a:xfrm>
          <a:prstGeom prst="rect">
            <a:avLst/>
          </a:prstGeom>
          <a:noFill/>
          <a:ln/>
        </p:spPr>
        <p:txBody>
          <a:bodyPr wrap="square" lIns="0" tIns="0" rIns="0" bIns="0" rtlCol="0" anchor="ctr"/>
          <a:lstStyle/>
          <a:p>
            <a:pPr indent="0" marL="0">
              <a:buNone/>
            </a:pPr>
            <a:r>
              <a:rPr lang="en-US" sz="1250" b="1" dirty="0">
                <a:solidFill>
                  <a:schemeClr val="tx2"/>
                </a:solidFill>
              </a:rPr>
              <a:t>Script  'After copy'</a:t>
            </a:r>
            <a:endParaRPr lang="en-US" sz="1250" dirty="0"/>
          </a:p>
          <a:p>
            <a:pPr indent="0" marL="0">
              <a:buNone/>
            </a:pPr>
            <a:r>
              <a:rPr lang="en-US" sz="1250" dirty="0">
                <a:solidFill>
                  <a:schemeClr val="tx1"/>
                </a:solidFill>
              </a:rPr>
              <a:t>Runs the entry's post-copy script and cleanup (IDENTITY tables); otherwise a no-op.</a:t>
            </a:r>
            <a:endParaRPr lang="en-US" sz="1250" dirty="0"/>
          </a:p>
        </p:txBody>
      </p:sp>
      <p:sp>
        <p:nvSpPr>
          <p:cNvPr id="15" name="Shape 13"/>
          <p:cNvSpPr/>
          <p:nvPr/>
        </p:nvSpPr>
        <p:spPr>
          <a:xfrm>
            <a:off x="6949440" y="1481328"/>
            <a:ext cx="4690872" cy="4050792"/>
          </a:xfrm>
          <a:prstGeom prst="roundRect">
            <a:avLst>
              <a:gd name="adj" fmla="val 1806"/>
            </a:avLst>
          </a:prstGeom>
          <a:solidFill>
            <a:schemeClr val="tx2"/>
          </a:solidFill>
          <a:ln/>
        </p:spPr>
      </p:sp>
      <p:sp>
        <p:nvSpPr>
          <p:cNvPr id="16" name="Text 14"/>
          <p:cNvSpPr txBox="1"/>
          <p:nvPr/>
        </p:nvSpPr>
        <p:spPr>
          <a:xfrm>
            <a:off x="7132320" y="1591056"/>
            <a:ext cx="4325112" cy="256032"/>
          </a:xfrm>
          <a:prstGeom prst="rect">
            <a:avLst/>
          </a:prstGeom>
          <a:noFill/>
          <a:ln/>
        </p:spPr>
        <p:txBody>
          <a:bodyPr wrap="square" lIns="0" tIns="0" rIns="0" bIns="0" rtlCol="0" anchor="t"/>
          <a:lstStyle/>
          <a:p>
            <a:pPr indent="0" marL="0">
              <a:buNone/>
            </a:pPr>
            <a:r>
              <a:rPr lang="en-US" sz="1100" b="1" dirty="0">
                <a:solidFill>
                  <a:schemeClr val="accent5"/>
                </a:solidFill>
              </a:rPr>
              <a:t>ONE ENTRY OF THE TABLES PARAMETER</a:t>
            </a:r>
            <a:endParaRPr lang="en-US" sz="1100" dirty="0"/>
          </a:p>
        </p:txBody>
      </p:sp>
      <p:sp>
        <p:nvSpPr>
          <p:cNvPr id="17" name="Text 15"/>
          <p:cNvSpPr txBox="1"/>
          <p:nvPr/>
        </p:nvSpPr>
        <p:spPr>
          <a:xfrm>
            <a:off x="7132320" y="1892808"/>
            <a:ext cx="4325112" cy="3547872"/>
          </a:xfrm>
          <a:prstGeom prst="rect">
            <a:avLst/>
          </a:prstGeom>
          <a:noFill/>
          <a:ln/>
        </p:spPr>
        <p:txBody>
          <a:bodyPr wrap="square" lIns="0" tIns="0" rIns="0" bIns="0" rtlCol="0" anchor="t"/>
          <a:lstStyle/>
          <a:p>
            <a:pPr indent="0" marL="0">
              <a:buNone/>
            </a:pPr>
            <a:r>
              <a:rPr lang="en-US" sz="1050" dirty="0">
                <a:solidFill>
                  <a:srgbClr val="E6EDF5"/>
                </a:solidFill>
                <a:latin typeface="Consolas" pitchFamily="34" charset="0"/>
                <a:ea typeface="Consolas" pitchFamily="34" charset="-122"/>
                <a:cs typeface="Consolas" pitchFamily="34" charset="-120"/>
              </a:rPr>
              <a:t>{</a:t>
            </a:r>
            <a:endParaRPr lang="en-US" sz="1050" dirty="0"/>
          </a:p>
          <a:p>
            <a:pPr indent="0" marL="0">
              <a:buNone/>
            </a:pPr>
            <a:r>
              <a:rPr lang="en-US" sz="1050" dirty="0">
                <a:solidFill>
                  <a:srgbClr val="E6EDF5"/>
                </a:solidFill>
                <a:latin typeface="Consolas" pitchFamily="34" charset="0"/>
                <a:ea typeface="Consolas" pitchFamily="34" charset="-122"/>
                <a:cs typeface="Consolas" pitchFamily="34" charset="-120"/>
              </a:rPr>
              <a:t>  "schema": "dbo",</a:t>
            </a:r>
            <a:endParaRPr lang="en-US" sz="1050" dirty="0"/>
          </a:p>
          <a:p>
            <a:pPr indent="0" marL="0">
              <a:buNone/>
            </a:pPr>
            <a:r>
              <a:rPr lang="en-US" sz="1050" dirty="0">
                <a:solidFill>
                  <a:srgbClr val="E6EDF5"/>
                </a:solidFill>
                <a:latin typeface="Consolas" pitchFamily="34" charset="0"/>
                <a:ea typeface="Consolas" pitchFamily="34" charset="-122"/>
                <a:cs typeface="Consolas" pitchFamily="34" charset="-120"/>
              </a:rPr>
              <a:t>  "table": "Orders",</a:t>
            </a:r>
            <a:endParaRPr lang="en-US" sz="1050" dirty="0"/>
          </a:p>
          <a:p>
            <a:pPr indent="0" marL="0">
              <a:buNone/>
            </a:pPr>
            <a:r>
              <a:rPr lang="en-US" sz="1050" dirty="0">
                <a:solidFill>
                  <a:srgbClr val="E6EDF5"/>
                </a:solidFill>
                <a:latin typeface="Consolas" pitchFamily="34" charset="0"/>
                <a:ea typeface="Consolas" pitchFamily="34" charset="-122"/>
                <a:cs typeface="Consolas" pitchFamily="34" charset="-120"/>
              </a:rPr>
              <a:t>  "query": "SELECT [OrderId], [Region],</a:t>
            </a:r>
            <a:endParaRPr lang="en-US" sz="1050" dirty="0"/>
          </a:p>
          <a:p>
            <a:pPr indent="0" marL="0">
              <a:buNone/>
            </a:pPr>
            <a:r>
              <a:rPr lang="en-US" sz="1050" dirty="0">
                <a:solidFill>
                  <a:srgbClr val="E6EDF5"/>
                </a:solidFill>
                <a:latin typeface="Consolas" pitchFamily="34" charset="0"/>
                <a:ea typeface="Consolas" pitchFamily="34" charset="-122"/>
                <a:cs typeface="Consolas" pitchFamily="34" charset="-120"/>
              </a:rPr>
              <a:t>            [Shape].STAsBinary() AS [Shape]</a:t>
            </a:r>
            <a:endParaRPr lang="en-US" sz="1050" dirty="0"/>
          </a:p>
          <a:p>
            <a:pPr indent="0" marL="0">
              <a:buNone/>
            </a:pPr>
            <a:r>
              <a:rPr lang="en-US" sz="1050" dirty="0">
                <a:solidFill>
                  <a:srgbClr val="E6EDF5"/>
                </a:solidFill>
                <a:latin typeface="Consolas" pitchFamily="34" charset="0"/>
                <a:ea typeface="Consolas" pitchFamily="34" charset="-122"/>
                <a:cs typeface="Consolas" pitchFamily="34" charset="-120"/>
              </a:rPr>
              <a:t>            FROM [dbo].[Orders]",</a:t>
            </a:r>
            <a:endParaRPr lang="en-US" sz="1050" dirty="0"/>
          </a:p>
          <a:p>
            <a:pPr indent="0" marL="0">
              <a:buNone/>
            </a:pPr>
            <a:r>
              <a:rPr lang="en-US" sz="1050" dirty="0">
                <a:solidFill>
                  <a:srgbClr val="E6EDF5"/>
                </a:solidFill>
                <a:latin typeface="Consolas" pitchFamily="34" charset="0"/>
                <a:ea typeface="Consolas" pitchFamily="34" charset="-122"/>
                <a:cs typeface="Consolas" pitchFamily="34" charset="-120"/>
              </a:rPr>
              <a:t>  "preCopyScript": "TRUNCATE TABLE [dbo].[Orders]",</a:t>
            </a:r>
            <a:endParaRPr lang="en-US" sz="1050" dirty="0"/>
          </a:p>
          <a:p>
            <a:pPr indent="0" marL="0">
              <a:buNone/>
            </a:pPr>
            <a:r>
              <a:rPr lang="en-US" sz="1050" dirty="0">
                <a:solidFill>
                  <a:srgbClr val="E6EDF5"/>
                </a:solidFill>
                <a:latin typeface="Consolas" pitchFamily="34" charset="0"/>
                <a:ea typeface="Consolas" pitchFamily="34" charset="-122"/>
                <a:cs typeface="Consolas" pitchFamily="34" charset="-120"/>
              </a:rPr>
              <a:t>  "postCopyScript": "",</a:t>
            </a:r>
            <a:endParaRPr lang="en-US" sz="1050" dirty="0"/>
          </a:p>
          <a:p>
            <a:pPr indent="0" marL="0">
              <a:buNone/>
            </a:pPr>
            <a:r>
              <a:rPr lang="en-US" sz="1050" dirty="0">
                <a:solidFill>
                  <a:srgbClr val="E6EDF5"/>
                </a:solidFill>
                <a:latin typeface="Consolas" pitchFamily="34" charset="0"/>
                <a:ea typeface="Consolas" pitchFamily="34" charset="-122"/>
                <a:cs typeface="Consolas" pitchFamily="34" charset="-120"/>
              </a:rPr>
              <a:t>  "postCopyCleanup": ""</a:t>
            </a:r>
            <a:endParaRPr lang="en-US" sz="1050" dirty="0"/>
          </a:p>
          <a:p>
            <a:pPr indent="0" marL="0">
              <a:buNone/>
            </a:pPr>
            <a:r>
              <a:rPr lang="en-US" sz="1050" dirty="0">
                <a:solidFill>
                  <a:srgbClr val="E6EDF5"/>
                </a:solidFill>
                <a:latin typeface="Consolas" pitchFamily="34" charset="0"/>
                <a:ea typeface="Consolas" pitchFamily="34" charset="-122"/>
                <a:cs typeface="Consolas" pitchFamily="34" charset="-120"/>
              </a:rPr>
              <a:t>}</a:t>
            </a:r>
            <a:endParaRPr lang="en-US" sz="1050" dirty="0"/>
          </a:p>
          <a:p>
            <a:pPr indent="0" marL="0">
              <a:buNone/>
            </a:pPr>
            <a:endParaRPr lang="en-US" sz="1050" dirty="0"/>
          </a:p>
          <a:p>
            <a:pPr indent="0" marL="0">
              <a:buNone/>
            </a:pPr>
            <a:r>
              <a:rPr lang="en-US" sz="1050" dirty="0">
                <a:solidFill>
                  <a:srgbClr val="E6EDF5"/>
                </a:solidFill>
                <a:latin typeface="Consolas" pitchFamily="34" charset="0"/>
                <a:ea typeface="Consolas" pitchFamily="34" charset="-122"/>
                <a:cs typeface="Consolas" pitchFamily="34" charset="-120"/>
              </a:rPr>
              <a:t>// TRUNCATE only with 'Replace it'. An IDENTITY</a:t>
            </a:r>
            <a:endParaRPr lang="en-US" sz="1050" dirty="0"/>
          </a:p>
          <a:p>
            <a:pPr indent="0" marL="0">
              <a:buNone/>
            </a:pPr>
            <a:r>
              <a:rPr lang="en-US" sz="1050" dirty="0">
                <a:solidFill>
                  <a:srgbClr val="E6EDF5"/>
                </a:solidFill>
                <a:latin typeface="Consolas" pitchFamily="34" charset="0"/>
                <a:ea typeface="Consolas" pitchFamily="34" charset="-122"/>
                <a:cs typeface="Consolas" pitchFamily="34" charset="-120"/>
              </a:rPr>
              <a:t>// table loads into migration_load first.</a:t>
            </a:r>
            <a:endParaRPr lang="en-US" sz="1050" dirty="0"/>
          </a:p>
        </p:txBody>
      </p:sp>
      <p:sp>
        <p:nvSpPr>
          <p:cNvPr id="18" name="Shape 16"/>
          <p:cNvSpPr/>
          <p:nvPr/>
        </p:nvSpPr>
        <p:spPr>
          <a:xfrm>
            <a:off x="548640" y="5669280"/>
            <a:ext cx="11094415" cy="530352"/>
          </a:xfrm>
          <a:prstGeom prst="roundRect">
            <a:avLst>
              <a:gd name="adj" fmla="val 20690"/>
            </a:avLst>
          </a:prstGeom>
          <a:solidFill>
            <a:schemeClr val="accent1">
              <a:alpha val="13000"/>
            </a:schemeClr>
          </a:solidFill>
          <a:ln/>
        </p:spPr>
      </p:sp>
      <p:sp>
        <p:nvSpPr>
          <p:cNvPr id="19" name="Text 17"/>
          <p:cNvSpPr txBox="1"/>
          <p:nvPr/>
        </p:nvSpPr>
        <p:spPr>
          <a:xfrm>
            <a:off x="777240" y="5669280"/>
            <a:ext cx="10637215" cy="530352"/>
          </a:xfrm>
          <a:prstGeom prst="rect">
            <a:avLst/>
          </a:prstGeom>
          <a:noFill/>
          <a:ln/>
        </p:spPr>
        <p:txBody>
          <a:bodyPr wrap="square" lIns="0" tIns="0" rIns="0" bIns="0" rtlCol="0" anchor="ctr"/>
          <a:lstStyle/>
          <a:p>
            <a:pPr indent="0" marL="0">
              <a:buNone/>
            </a:pPr>
            <a:r>
              <a:rPr lang="en-US" sz="1250" b="1" dirty="0">
                <a:solidFill>
                  <a:schemeClr val="tx2"/>
                </a:solidFill>
              </a:rPr>
              <a:t>Name: load_&lt;warehouse&gt;_wave_&lt;n&gt;.  </a:t>
            </a:r>
            <a:pPr indent="0" marL="0">
              <a:buNone/>
            </a:pPr>
            <a:r>
              <a:rPr lang="en-US" sz="1250" dirty="0">
                <a:solidFill>
                  <a:schemeClr val="tx1"/>
                </a:solidFill>
              </a:rPr>
              <a:t>The table list is a parameter: each run the tool starts passes only the tables that still need rows. Copy and Script: 12-hour timeout, 2 retries a minute apart.</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49</a:t>
            </a:fld>
            <a:endParaRPr lang="en-US"/>
          </a:p>
        </p:txBody>
      </p:sp>
    </p:spTree>
  </p:cSld>
  <p:clrMapOvr>
    <a:masterClrMapping/>
  </p:clrMapOvr>
  <p:transition spd="med">
    <p:fade/>
  </p:transition>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05 · ITEM BY ITEM</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Table data: run, verify, and the edge cases</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migration/stages.py: _load_wave</a:t>
            </a:r>
            <a:endParaRPr lang="en-US" sz="1100" dirty="0"/>
          </a:p>
        </p:txBody>
      </p:sp>
      <p:sp>
        <p:nvSpPr>
          <p:cNvPr id="5" name="Shape 3"/>
          <p:cNvSpPr/>
          <p:nvPr/>
        </p:nvSpPr>
        <p:spPr>
          <a:xfrm>
            <a:off x="548640" y="1481328"/>
            <a:ext cx="1999427" cy="1554480"/>
          </a:xfrm>
          <a:prstGeom prst="roundRect">
            <a:avLst>
              <a:gd name="adj" fmla="val 7059"/>
            </a:avLst>
          </a:prstGeom>
          <a:solidFill>
            <a:schemeClr val="bg2"/>
          </a:solidFill>
          <a:ln/>
        </p:spPr>
      </p:sp>
      <p:sp>
        <p:nvSpPr>
          <p:cNvPr id="6" name="Text 4"/>
          <p:cNvSpPr txBox="1"/>
          <p:nvPr/>
        </p:nvSpPr>
        <p:spPr>
          <a:xfrm>
            <a:off x="685800" y="1591056"/>
            <a:ext cx="1770827" cy="438912"/>
          </a:xfrm>
          <a:prstGeom prst="rect">
            <a:avLst/>
          </a:prstGeom>
          <a:noFill/>
          <a:ln/>
        </p:spPr>
        <p:txBody>
          <a:bodyPr wrap="square" lIns="0" tIns="0" rIns="0" bIns="0" rtlCol="0" anchor="ctr"/>
          <a:lstStyle/>
          <a:p>
            <a:pPr indent="0" marL="0">
              <a:buNone/>
            </a:pPr>
            <a:r>
              <a:rPr lang="en-US" sz="1350" dirty="0">
                <a:solidFill>
                  <a:schemeClr val="tx2"/>
                </a:solidFill>
                <a:latin typeface="+mj-lt" pitchFamily="34" charset="0"/>
                <a:ea typeface="+mj-lt" pitchFamily="34" charset="-122"/>
                <a:cs typeface="+mj-lt" pitchFamily="34" charset="-120"/>
              </a:rPr>
              <a:t>1 Check each table</a:t>
            </a:r>
            <a:endParaRPr lang="en-US" sz="1350" dirty="0"/>
          </a:p>
        </p:txBody>
      </p:sp>
      <p:sp>
        <p:nvSpPr>
          <p:cNvPr id="7" name="Text 5"/>
          <p:cNvSpPr txBox="1"/>
          <p:nvPr/>
        </p:nvSpPr>
        <p:spPr>
          <a:xfrm>
            <a:off x="685800" y="2048256"/>
            <a:ext cx="1725107" cy="914400"/>
          </a:xfrm>
          <a:prstGeom prst="rect">
            <a:avLst/>
          </a:prstGeom>
          <a:noFill/>
          <a:ln/>
        </p:spPr>
        <p:txBody>
          <a:bodyPr wrap="square" lIns="0" tIns="0" rIns="0" bIns="0" rtlCol="0" anchor="t"/>
          <a:lstStyle/>
          <a:p>
            <a:pPr indent="0" marL="0">
              <a:buNone/>
            </a:pPr>
            <a:r>
              <a:rPr lang="en-US" sz="1200" dirty="0">
                <a:solidFill>
                  <a:schemeClr val="tx1"/>
                </a:solidFill>
              </a:rPr>
              <a:t>Columns known, at most 1,024? Filter fits? In the Warehouse? Rows already there?</a:t>
            </a:r>
            <a:endParaRPr lang="en-US" sz="1200" dirty="0"/>
          </a:p>
        </p:txBody>
      </p:sp>
      <p:sp>
        <p:nvSpPr>
          <p:cNvPr id="8" name="Shape 6"/>
          <p:cNvSpPr/>
          <p:nvPr/>
        </p:nvSpPr>
        <p:spPr>
          <a:xfrm>
            <a:off x="2593787" y="2258568"/>
            <a:ext cx="182880" cy="91"/>
          </a:xfrm>
          <a:prstGeom prst="line">
            <a:avLst/>
          </a:prstGeom>
          <a:noFill/>
          <a:ln w="19050">
            <a:solidFill>
              <a:srgbClr val="5D6B82"/>
            </a:solidFill>
            <a:prstDash val="solid"/>
            <a:tailEnd type="triangle"/>
          </a:ln>
        </p:spPr>
      </p:sp>
      <p:sp>
        <p:nvSpPr>
          <p:cNvPr id="9" name="Shape 7"/>
          <p:cNvSpPr/>
          <p:nvPr/>
        </p:nvSpPr>
        <p:spPr>
          <a:xfrm>
            <a:off x="2822387" y="1481328"/>
            <a:ext cx="1999427" cy="1554480"/>
          </a:xfrm>
          <a:prstGeom prst="roundRect">
            <a:avLst>
              <a:gd name="adj" fmla="val 7059"/>
            </a:avLst>
          </a:prstGeom>
          <a:solidFill>
            <a:schemeClr val="bg2"/>
          </a:solidFill>
          <a:ln/>
        </p:spPr>
      </p:sp>
      <p:sp>
        <p:nvSpPr>
          <p:cNvPr id="10" name="Text 8"/>
          <p:cNvSpPr txBox="1"/>
          <p:nvPr/>
        </p:nvSpPr>
        <p:spPr>
          <a:xfrm>
            <a:off x="2959547" y="1591056"/>
            <a:ext cx="1770827" cy="438912"/>
          </a:xfrm>
          <a:prstGeom prst="rect">
            <a:avLst/>
          </a:prstGeom>
          <a:noFill/>
          <a:ln/>
        </p:spPr>
        <p:txBody>
          <a:bodyPr wrap="square" lIns="0" tIns="0" rIns="0" bIns="0" rtlCol="0" anchor="ctr"/>
          <a:lstStyle/>
          <a:p>
            <a:pPr indent="0" marL="0">
              <a:buNone/>
            </a:pPr>
            <a:r>
              <a:rPr lang="en-US" sz="1350" dirty="0">
                <a:solidFill>
                  <a:schemeClr val="tx2"/>
                </a:solidFill>
                <a:latin typeface="+mj-lt" pitchFamily="34" charset="0"/>
                <a:ea typeface="+mj-lt" pitchFamily="34" charset="-122"/>
                <a:cs typeface="+mj-lt" pitchFamily="34" charset="-120"/>
              </a:rPr>
              <a:t>2 Pool connection</a:t>
            </a:r>
            <a:endParaRPr lang="en-US" sz="1350" dirty="0"/>
          </a:p>
        </p:txBody>
      </p:sp>
      <p:sp>
        <p:nvSpPr>
          <p:cNvPr id="11" name="Text 9"/>
          <p:cNvSpPr txBox="1"/>
          <p:nvPr/>
        </p:nvSpPr>
        <p:spPr>
          <a:xfrm>
            <a:off x="2959547" y="2048256"/>
            <a:ext cx="1725107" cy="914400"/>
          </a:xfrm>
          <a:prstGeom prst="rect">
            <a:avLst/>
          </a:prstGeom>
          <a:noFill/>
          <a:ln/>
        </p:spPr>
        <p:txBody>
          <a:bodyPr wrap="square" lIns="0" tIns="0" rIns="0" bIns="0" rtlCol="0" anchor="t"/>
          <a:lstStyle/>
          <a:p>
            <a:pPr indent="0" marL="0">
              <a:buNone/>
            </a:pPr>
            <a:r>
              <a:rPr lang="en-US" sz="1200" dirty="0">
                <a:solidFill>
                  <a:schemeClr val="tx1"/>
                </a:solidFill>
              </a:rPr>
              <a:t>Reuse a connection that reaches the pool, or create one from your credential</a:t>
            </a:r>
            <a:endParaRPr lang="en-US" sz="1200" dirty="0"/>
          </a:p>
        </p:txBody>
      </p:sp>
      <p:sp>
        <p:nvSpPr>
          <p:cNvPr id="12" name="Shape 10"/>
          <p:cNvSpPr/>
          <p:nvPr/>
        </p:nvSpPr>
        <p:spPr>
          <a:xfrm>
            <a:off x="4867534" y="2258568"/>
            <a:ext cx="182880" cy="91"/>
          </a:xfrm>
          <a:prstGeom prst="line">
            <a:avLst/>
          </a:prstGeom>
          <a:noFill/>
          <a:ln w="19050">
            <a:solidFill>
              <a:srgbClr val="5D6B82"/>
            </a:solidFill>
            <a:prstDash val="solid"/>
            <a:tailEnd type="triangle"/>
          </a:ln>
        </p:spPr>
      </p:sp>
      <p:sp>
        <p:nvSpPr>
          <p:cNvPr id="13" name="Shape 11"/>
          <p:cNvSpPr/>
          <p:nvPr/>
        </p:nvSpPr>
        <p:spPr>
          <a:xfrm>
            <a:off x="5096134" y="1481328"/>
            <a:ext cx="1999427" cy="1554480"/>
          </a:xfrm>
          <a:prstGeom prst="roundRect">
            <a:avLst>
              <a:gd name="adj" fmla="val 7059"/>
            </a:avLst>
          </a:prstGeom>
          <a:solidFill>
            <a:schemeClr val="bg2"/>
          </a:solidFill>
          <a:ln/>
        </p:spPr>
      </p:sp>
      <p:sp>
        <p:nvSpPr>
          <p:cNvPr id="14" name="Text 12"/>
          <p:cNvSpPr txBox="1"/>
          <p:nvPr/>
        </p:nvSpPr>
        <p:spPr>
          <a:xfrm>
            <a:off x="5233294" y="1591056"/>
            <a:ext cx="1770827" cy="438912"/>
          </a:xfrm>
          <a:prstGeom prst="rect">
            <a:avLst/>
          </a:prstGeom>
          <a:noFill/>
          <a:ln/>
        </p:spPr>
        <p:txBody>
          <a:bodyPr wrap="square" lIns="0" tIns="0" rIns="0" bIns="0" rtlCol="0" anchor="ctr"/>
          <a:lstStyle/>
          <a:p>
            <a:pPr indent="0" marL="0">
              <a:buNone/>
            </a:pPr>
            <a:r>
              <a:rPr lang="en-US" sz="1350" dirty="0">
                <a:solidFill>
                  <a:schemeClr val="tx2"/>
                </a:solidFill>
                <a:latin typeface="+mj-lt" pitchFamily="34" charset="0"/>
                <a:ea typeface="+mj-lt" pitchFamily="34" charset="-122"/>
                <a:cs typeface="+mj-lt" pitchFamily="34" charset="-120"/>
              </a:rPr>
              <a:t>3 The wave pipeline</a:t>
            </a:r>
            <a:endParaRPr lang="en-US" sz="1350" dirty="0"/>
          </a:p>
        </p:txBody>
      </p:sp>
      <p:sp>
        <p:nvSpPr>
          <p:cNvPr id="15" name="Text 13"/>
          <p:cNvSpPr txBox="1"/>
          <p:nvPr/>
        </p:nvSpPr>
        <p:spPr>
          <a:xfrm>
            <a:off x="5233294" y="2048256"/>
            <a:ext cx="1725107" cy="914400"/>
          </a:xfrm>
          <a:prstGeom prst="rect">
            <a:avLst/>
          </a:prstGeom>
          <a:noFill/>
          <a:ln/>
        </p:spPr>
        <p:txBody>
          <a:bodyPr wrap="square" lIns="0" tIns="0" rIns="0" bIns="0" rtlCol="0" anchor="t"/>
          <a:lstStyle/>
          <a:p>
            <a:pPr indent="0" marL="0">
              <a:buNone/>
            </a:pPr>
            <a:r>
              <a:rPr lang="en-US" sz="1200" dirty="0">
                <a:solidFill>
                  <a:schemeClr val="tx1"/>
                </a:solidFill>
              </a:rPr>
              <a:t>Create load_&lt;wh&gt;_wave_&lt;n&gt;, or reuse it with this run's table list</a:t>
            </a:r>
            <a:endParaRPr lang="en-US" sz="1200" dirty="0"/>
          </a:p>
        </p:txBody>
      </p:sp>
      <p:sp>
        <p:nvSpPr>
          <p:cNvPr id="16" name="Shape 14"/>
          <p:cNvSpPr/>
          <p:nvPr/>
        </p:nvSpPr>
        <p:spPr>
          <a:xfrm>
            <a:off x="7141281" y="2258568"/>
            <a:ext cx="182880" cy="91"/>
          </a:xfrm>
          <a:prstGeom prst="line">
            <a:avLst/>
          </a:prstGeom>
          <a:noFill/>
          <a:ln w="19050">
            <a:solidFill>
              <a:srgbClr val="5D6B82"/>
            </a:solidFill>
            <a:prstDash val="solid"/>
            <a:tailEnd type="triangle"/>
          </a:ln>
        </p:spPr>
      </p:sp>
      <p:sp>
        <p:nvSpPr>
          <p:cNvPr id="17" name="Shape 15"/>
          <p:cNvSpPr/>
          <p:nvPr/>
        </p:nvSpPr>
        <p:spPr>
          <a:xfrm>
            <a:off x="7369881" y="1481328"/>
            <a:ext cx="1999427" cy="1554480"/>
          </a:xfrm>
          <a:prstGeom prst="roundRect">
            <a:avLst>
              <a:gd name="adj" fmla="val 7059"/>
            </a:avLst>
          </a:prstGeom>
          <a:solidFill>
            <a:schemeClr val="bg2"/>
          </a:solidFill>
          <a:ln/>
        </p:spPr>
      </p:sp>
      <p:sp>
        <p:nvSpPr>
          <p:cNvPr id="18" name="Text 16"/>
          <p:cNvSpPr txBox="1"/>
          <p:nvPr/>
        </p:nvSpPr>
        <p:spPr>
          <a:xfrm>
            <a:off x="7507041" y="1591056"/>
            <a:ext cx="1770827" cy="438912"/>
          </a:xfrm>
          <a:prstGeom prst="rect">
            <a:avLst/>
          </a:prstGeom>
          <a:noFill/>
          <a:ln/>
        </p:spPr>
        <p:txBody>
          <a:bodyPr wrap="square" lIns="0" tIns="0" rIns="0" bIns="0" rtlCol="0" anchor="ctr"/>
          <a:lstStyle/>
          <a:p>
            <a:pPr indent="0" marL="0">
              <a:buNone/>
            </a:pPr>
            <a:r>
              <a:rPr lang="en-US" sz="1350" dirty="0">
                <a:solidFill>
                  <a:schemeClr val="tx2"/>
                </a:solidFill>
                <a:latin typeface="+mj-lt" pitchFamily="34" charset="0"/>
                <a:ea typeface="+mj-lt" pitchFamily="34" charset="-122"/>
                <a:cs typeface="+mj-lt" pitchFamily="34" charset="-120"/>
              </a:rPr>
              <a:t>4 Run and wait</a:t>
            </a:r>
            <a:endParaRPr lang="en-US" sz="1350" dirty="0"/>
          </a:p>
        </p:txBody>
      </p:sp>
      <p:sp>
        <p:nvSpPr>
          <p:cNvPr id="19" name="Text 17"/>
          <p:cNvSpPr txBox="1"/>
          <p:nvPr/>
        </p:nvSpPr>
        <p:spPr>
          <a:xfrm>
            <a:off x="7507041" y="2048256"/>
            <a:ext cx="1725107" cy="914400"/>
          </a:xfrm>
          <a:prstGeom prst="rect">
            <a:avLst/>
          </a:prstGeom>
          <a:noFill/>
          <a:ln/>
        </p:spPr>
        <p:txBody>
          <a:bodyPr wrap="square" lIns="0" tIns="0" rIns="0" bIns="0" rtlCol="0" anchor="t"/>
          <a:lstStyle/>
          <a:p>
            <a:pPr indent="0" marL="0">
              <a:buNone/>
            </a:pPr>
            <a:r>
              <a:rPr lang="en-US" sz="1200" dirty="0">
                <a:solidFill>
                  <a:schemeClr val="tx1"/>
                </a:solidFill>
              </a:rPr>
              <a:t>Started through the jobs API; checked every 20 s, for up to 6 hours</a:t>
            </a:r>
            <a:endParaRPr lang="en-US" sz="1200" dirty="0"/>
          </a:p>
        </p:txBody>
      </p:sp>
      <p:sp>
        <p:nvSpPr>
          <p:cNvPr id="20" name="Shape 18"/>
          <p:cNvSpPr/>
          <p:nvPr/>
        </p:nvSpPr>
        <p:spPr>
          <a:xfrm>
            <a:off x="9415028" y="2258568"/>
            <a:ext cx="182880" cy="91"/>
          </a:xfrm>
          <a:prstGeom prst="line">
            <a:avLst/>
          </a:prstGeom>
          <a:noFill/>
          <a:ln w="19050">
            <a:solidFill>
              <a:srgbClr val="5D6B82"/>
            </a:solidFill>
            <a:prstDash val="solid"/>
            <a:tailEnd type="triangle"/>
          </a:ln>
        </p:spPr>
      </p:sp>
      <p:sp>
        <p:nvSpPr>
          <p:cNvPr id="21" name="Shape 19"/>
          <p:cNvSpPr/>
          <p:nvPr/>
        </p:nvSpPr>
        <p:spPr>
          <a:xfrm>
            <a:off x="9643628" y="1481328"/>
            <a:ext cx="1999427" cy="1554480"/>
          </a:xfrm>
          <a:prstGeom prst="roundRect">
            <a:avLst>
              <a:gd name="adj" fmla="val 7059"/>
            </a:avLst>
          </a:prstGeom>
          <a:solidFill>
            <a:schemeClr val="bg2"/>
          </a:solidFill>
          <a:ln/>
        </p:spPr>
      </p:sp>
      <p:sp>
        <p:nvSpPr>
          <p:cNvPr id="22" name="Text 20"/>
          <p:cNvSpPr txBox="1"/>
          <p:nvPr/>
        </p:nvSpPr>
        <p:spPr>
          <a:xfrm>
            <a:off x="9780788" y="1591056"/>
            <a:ext cx="1770827" cy="438912"/>
          </a:xfrm>
          <a:prstGeom prst="rect">
            <a:avLst/>
          </a:prstGeom>
          <a:noFill/>
          <a:ln/>
        </p:spPr>
        <p:txBody>
          <a:bodyPr wrap="square" lIns="0" tIns="0" rIns="0" bIns="0" rtlCol="0" anchor="ctr"/>
          <a:lstStyle/>
          <a:p>
            <a:pPr indent="0" marL="0">
              <a:buNone/>
            </a:pPr>
            <a:r>
              <a:rPr lang="en-US" sz="1350" dirty="0">
                <a:solidFill>
                  <a:schemeClr val="tx2"/>
                </a:solidFill>
                <a:latin typeface="+mj-lt" pitchFamily="34" charset="0"/>
                <a:ea typeface="+mj-lt" pitchFamily="34" charset="-122"/>
                <a:cs typeface="+mj-lt" pitchFamily="34" charset="-120"/>
              </a:rPr>
              <a:t>5 Compare counts</a:t>
            </a:r>
            <a:endParaRPr lang="en-US" sz="1350" dirty="0"/>
          </a:p>
        </p:txBody>
      </p:sp>
      <p:sp>
        <p:nvSpPr>
          <p:cNvPr id="23" name="Text 21"/>
          <p:cNvSpPr txBox="1"/>
          <p:nvPr/>
        </p:nvSpPr>
        <p:spPr>
          <a:xfrm>
            <a:off x="9780788" y="2048256"/>
            <a:ext cx="1725107" cy="914400"/>
          </a:xfrm>
          <a:prstGeom prst="rect">
            <a:avLst/>
          </a:prstGeom>
          <a:noFill/>
          <a:ln/>
        </p:spPr>
        <p:txBody>
          <a:bodyPr wrap="square" lIns="0" tIns="0" rIns="0" bIns="0" rtlCol="0" anchor="t"/>
          <a:lstStyle/>
          <a:p>
            <a:pPr indent="0" marL="0">
              <a:buNone/>
            </a:pPr>
            <a:r>
              <a:rPr lang="en-US" sz="1200" dirty="0">
                <a:solidFill>
                  <a:schemeClr val="tx1"/>
                </a:solidFill>
              </a:rPr>
              <a:t>COUNT_BIG(*): Synapse with the filter, the Warehouse table whole; a difference fails it</a:t>
            </a:r>
            <a:endParaRPr lang="en-US" sz="1200" dirty="0"/>
          </a:p>
        </p:txBody>
      </p:sp>
      <p:sp>
        <p:nvSpPr>
          <p:cNvPr id="24" name="Shape 22"/>
          <p:cNvSpPr/>
          <p:nvPr/>
        </p:nvSpPr>
        <p:spPr>
          <a:xfrm>
            <a:off x="548640" y="3246120"/>
            <a:ext cx="5410048" cy="1371600"/>
          </a:xfrm>
          <a:prstGeom prst="roundRect">
            <a:avLst>
              <a:gd name="adj" fmla="val 8000"/>
            </a:avLst>
          </a:prstGeom>
          <a:solidFill>
            <a:schemeClr val="bg2"/>
          </a:solidFill>
          <a:ln/>
        </p:spPr>
      </p:sp>
      <p:sp>
        <p:nvSpPr>
          <p:cNvPr id="25" name="Shape 23"/>
          <p:cNvSpPr/>
          <p:nvPr/>
        </p:nvSpPr>
        <p:spPr>
          <a:xfrm>
            <a:off x="749808" y="3429000"/>
            <a:ext cx="457200" cy="457200"/>
          </a:xfrm>
          <a:prstGeom prst="ellipse">
            <a:avLst/>
          </a:prstGeom>
          <a:solidFill>
            <a:schemeClr val="accent1"/>
          </a:solidFill>
          <a:ln/>
        </p:spPr>
      </p:sp>
      <p:pic>
        <p:nvPicPr>
          <p:cNvPr id="26" name="Image 0" descr="preencoded.png">    </p:cNvPr>
          <p:cNvPicPr>
            <a:picLocks noChangeAspect="1"/>
          </p:cNvPicPr>
          <p:nvPr/>
        </p:nvPicPr>
        <p:blipFill>
          <a:blip r:embed="rId1"/>
          <a:stretch>
            <a:fillRect/>
          </a:stretch>
        </p:blipFill>
        <p:spPr>
          <a:xfrm>
            <a:off x="864108" y="3543300"/>
            <a:ext cx="228600" cy="228600"/>
          </a:xfrm>
          <a:prstGeom prst="rect">
            <a:avLst/>
          </a:prstGeom>
        </p:spPr>
      </p:pic>
      <p:sp>
        <p:nvSpPr>
          <p:cNvPr id="27" name="Text 24"/>
          <p:cNvSpPr txBox="1"/>
          <p:nvPr/>
        </p:nvSpPr>
        <p:spPr>
          <a:xfrm>
            <a:off x="1335024" y="3401568"/>
            <a:ext cx="4449928" cy="512064"/>
          </a:xfrm>
          <a:prstGeom prst="rect">
            <a:avLst/>
          </a:prstGeom>
          <a:noFill/>
          <a:ln/>
        </p:spPr>
        <p:txBody>
          <a:bodyPr wrap="square" lIns="0" tIns="0" rIns="0" bIns="0" rtlCol="0" anchor="ctr"/>
          <a:lstStyle/>
          <a:p>
            <a:pPr indent="0" marL="0">
              <a:buNone/>
            </a:pPr>
            <a:r>
              <a:rPr lang="en-US" sz="1550" dirty="0">
                <a:solidFill>
                  <a:schemeClr val="tx2"/>
                </a:solidFill>
                <a:latin typeface="+mj-lt" pitchFamily="34" charset="0"/>
                <a:ea typeface="+mj-lt" pitchFamily="34" charset="-122"/>
                <a:cs typeface="+mj-lt" pitchFamily="34" charset="-120"/>
              </a:rPr>
              <a:t>If a table already has rows</a:t>
            </a:r>
            <a:endParaRPr lang="en-US" sz="1550" dirty="0"/>
          </a:p>
        </p:txBody>
      </p:sp>
      <p:sp>
        <p:nvSpPr>
          <p:cNvPr id="28" name="Text 25"/>
          <p:cNvSpPr txBox="1"/>
          <p:nvPr/>
        </p:nvSpPr>
        <p:spPr>
          <a:xfrm>
            <a:off x="749808" y="3995928"/>
            <a:ext cx="5026000" cy="530352"/>
          </a:xfrm>
          <a:prstGeom prst="rect">
            <a:avLst/>
          </a:prstGeom>
          <a:noFill/>
          <a:ln/>
        </p:spPr>
        <p:txBody>
          <a:bodyPr wrap="square" lIns="0" tIns="0" rIns="0" bIns="0" rtlCol="0" anchor="t"/>
          <a:lstStyle/>
          <a:p>
            <a:pPr indent="0" marL="0">
              <a:buNone/>
            </a:pPr>
            <a:r>
              <a:rPr lang="en-US" sz="1250" dirty="0">
                <a:solidFill>
                  <a:schemeClr val="tx1"/>
                </a:solidFill>
              </a:rPr>
              <a:t>Skip it (safe), the default, or Replace it: the pipeline empties the table (TRUNCATE) before loading it again.</a:t>
            </a:r>
            <a:endParaRPr lang="en-US" sz="1250" dirty="0"/>
          </a:p>
        </p:txBody>
      </p:sp>
      <p:sp>
        <p:nvSpPr>
          <p:cNvPr id="29" name="Shape 26"/>
          <p:cNvSpPr/>
          <p:nvPr/>
        </p:nvSpPr>
        <p:spPr>
          <a:xfrm>
            <a:off x="6233008" y="3246120"/>
            <a:ext cx="5410048" cy="1371600"/>
          </a:xfrm>
          <a:prstGeom prst="roundRect">
            <a:avLst>
              <a:gd name="adj" fmla="val 8000"/>
            </a:avLst>
          </a:prstGeom>
          <a:solidFill>
            <a:schemeClr val="bg2"/>
          </a:solidFill>
          <a:ln/>
        </p:spPr>
      </p:sp>
      <p:sp>
        <p:nvSpPr>
          <p:cNvPr id="30" name="Shape 27"/>
          <p:cNvSpPr/>
          <p:nvPr/>
        </p:nvSpPr>
        <p:spPr>
          <a:xfrm>
            <a:off x="6434176" y="3429000"/>
            <a:ext cx="457200" cy="457200"/>
          </a:xfrm>
          <a:prstGeom prst="ellipse">
            <a:avLst/>
          </a:prstGeom>
          <a:solidFill>
            <a:schemeClr val="accent1"/>
          </a:solidFill>
          <a:ln/>
        </p:spPr>
      </p:sp>
      <p:pic>
        <p:nvPicPr>
          <p:cNvPr id="31" name="Image 1" descr="preencoded.png">    </p:cNvPr>
          <p:cNvPicPr>
            <a:picLocks noChangeAspect="1"/>
          </p:cNvPicPr>
          <p:nvPr/>
        </p:nvPicPr>
        <p:blipFill>
          <a:blip r:embed="rId2"/>
          <a:stretch>
            <a:fillRect/>
          </a:stretch>
        </p:blipFill>
        <p:spPr>
          <a:xfrm>
            <a:off x="6548476" y="3543300"/>
            <a:ext cx="228600" cy="228600"/>
          </a:xfrm>
          <a:prstGeom prst="rect">
            <a:avLst/>
          </a:prstGeom>
        </p:spPr>
      </p:pic>
      <p:sp>
        <p:nvSpPr>
          <p:cNvPr id="32" name="Text 28"/>
          <p:cNvSpPr txBox="1"/>
          <p:nvPr/>
        </p:nvSpPr>
        <p:spPr>
          <a:xfrm>
            <a:off x="7019392" y="3401568"/>
            <a:ext cx="4449928" cy="512064"/>
          </a:xfrm>
          <a:prstGeom prst="rect">
            <a:avLst/>
          </a:prstGeom>
          <a:noFill/>
          <a:ln/>
        </p:spPr>
        <p:txBody>
          <a:bodyPr wrap="square" lIns="0" tIns="0" rIns="0" bIns="0" rtlCol="0" anchor="ctr"/>
          <a:lstStyle/>
          <a:p>
            <a:pPr indent="0" marL="0">
              <a:buNone/>
            </a:pPr>
            <a:r>
              <a:rPr lang="en-US" sz="1550" dirty="0">
                <a:solidFill>
                  <a:schemeClr val="tx2"/>
                </a:solidFill>
                <a:latin typeface="+mj-lt" pitchFamily="34" charset="0"/>
                <a:ea typeface="+mj-lt" pitchFamily="34" charset="-122"/>
                <a:cs typeface="+mj-lt" pitchFamily="34" charset="-120"/>
              </a:rPr>
              <a:t>What the stage does</a:t>
            </a:r>
            <a:endParaRPr lang="en-US" sz="1550" dirty="0"/>
          </a:p>
        </p:txBody>
      </p:sp>
      <p:sp>
        <p:nvSpPr>
          <p:cNvPr id="33" name="Text 29"/>
          <p:cNvSpPr txBox="1"/>
          <p:nvPr/>
        </p:nvSpPr>
        <p:spPr>
          <a:xfrm>
            <a:off x="6434176" y="3995928"/>
            <a:ext cx="5026000" cy="530352"/>
          </a:xfrm>
          <a:prstGeom prst="rect">
            <a:avLst/>
          </a:prstGeom>
          <a:noFill/>
          <a:ln/>
        </p:spPr>
        <p:txBody>
          <a:bodyPr wrap="square" lIns="0" tIns="0" rIns="0" bIns="0" rtlCol="0" anchor="t"/>
          <a:lstStyle/>
          <a:p>
            <a:pPr indent="0" marL="0">
              <a:buNone/>
            </a:pPr>
            <a:r>
              <a:rPr lang="en-US" sz="1250" dirty="0">
                <a:solidFill>
                  <a:schemeClr val="tx1"/>
                </a:solidFill>
              </a:rPr>
              <a:t>Create and run (default), or Create only: you run the pipelines from Fabric or a schedule.</a:t>
            </a:r>
            <a:endParaRPr lang="en-US" sz="1250" dirty="0"/>
          </a:p>
        </p:txBody>
      </p:sp>
      <p:sp>
        <p:nvSpPr>
          <p:cNvPr id="34" name="Shape 30"/>
          <p:cNvSpPr/>
          <p:nvPr/>
        </p:nvSpPr>
        <p:spPr>
          <a:xfrm>
            <a:off x="548640" y="4782312"/>
            <a:ext cx="5410048" cy="1371600"/>
          </a:xfrm>
          <a:prstGeom prst="roundRect">
            <a:avLst>
              <a:gd name="adj" fmla="val 8000"/>
            </a:avLst>
          </a:prstGeom>
          <a:solidFill>
            <a:schemeClr val="bg2"/>
          </a:solidFill>
          <a:ln/>
        </p:spPr>
      </p:sp>
      <p:sp>
        <p:nvSpPr>
          <p:cNvPr id="35" name="Shape 31"/>
          <p:cNvSpPr/>
          <p:nvPr/>
        </p:nvSpPr>
        <p:spPr>
          <a:xfrm>
            <a:off x="749808" y="4965192"/>
            <a:ext cx="457200" cy="457200"/>
          </a:xfrm>
          <a:prstGeom prst="ellipse">
            <a:avLst/>
          </a:prstGeom>
          <a:solidFill>
            <a:schemeClr val="accent1"/>
          </a:solidFill>
          <a:ln/>
        </p:spPr>
      </p:sp>
      <p:pic>
        <p:nvPicPr>
          <p:cNvPr id="36" name="Image 2" descr="preencoded.png">    </p:cNvPr>
          <p:cNvPicPr>
            <a:picLocks noChangeAspect="1"/>
          </p:cNvPicPr>
          <p:nvPr/>
        </p:nvPicPr>
        <p:blipFill>
          <a:blip r:embed="rId3"/>
          <a:stretch>
            <a:fillRect/>
          </a:stretch>
        </p:blipFill>
        <p:spPr>
          <a:xfrm>
            <a:off x="864108" y="5079492"/>
            <a:ext cx="228600" cy="228600"/>
          </a:xfrm>
          <a:prstGeom prst="rect">
            <a:avLst/>
          </a:prstGeom>
        </p:spPr>
      </p:pic>
      <p:sp>
        <p:nvSpPr>
          <p:cNvPr id="37" name="Text 32"/>
          <p:cNvSpPr txBox="1"/>
          <p:nvPr/>
        </p:nvSpPr>
        <p:spPr>
          <a:xfrm>
            <a:off x="1335024" y="4937760"/>
            <a:ext cx="4449928" cy="512064"/>
          </a:xfrm>
          <a:prstGeom prst="rect">
            <a:avLst/>
          </a:prstGeom>
          <a:noFill/>
          <a:ln/>
        </p:spPr>
        <p:txBody>
          <a:bodyPr wrap="square" lIns="0" tIns="0" rIns="0" bIns="0" rtlCol="0" anchor="ctr"/>
          <a:lstStyle/>
          <a:p>
            <a:pPr indent="0" marL="0">
              <a:buNone/>
            </a:pPr>
            <a:r>
              <a:rPr lang="en-US" sz="1550" dirty="0">
                <a:solidFill>
                  <a:schemeClr val="tx2"/>
                </a:solidFill>
                <a:latin typeface="+mj-lt" pitchFamily="34" charset="0"/>
                <a:ea typeface="+mj-lt" pitchFamily="34" charset="-122"/>
                <a:cs typeface="+mj-lt" pitchFamily="34" charset="-120"/>
              </a:rPr>
              <a:t>IDENTITY tables</a:t>
            </a:r>
            <a:endParaRPr lang="en-US" sz="1550" dirty="0"/>
          </a:p>
        </p:txBody>
      </p:sp>
      <p:sp>
        <p:nvSpPr>
          <p:cNvPr id="38" name="Text 33"/>
          <p:cNvSpPr txBox="1"/>
          <p:nvPr/>
        </p:nvSpPr>
        <p:spPr>
          <a:xfrm>
            <a:off x="749808" y="5532120"/>
            <a:ext cx="5026000" cy="530352"/>
          </a:xfrm>
          <a:prstGeom prst="rect">
            <a:avLst/>
          </a:prstGeom>
          <a:noFill/>
          <a:ln/>
        </p:spPr>
        <p:txBody>
          <a:bodyPr wrap="square" lIns="0" tIns="0" rIns="0" bIns="0" rtlCol="0" anchor="t"/>
          <a:lstStyle/>
          <a:p>
            <a:pPr indent="0" marL="0">
              <a:buNone/>
            </a:pPr>
            <a:r>
              <a:rPr lang="en-US" sz="1250" dirty="0">
                <a:solidFill>
                  <a:schemeClr val="tx1"/>
                </a:solidFill>
              </a:rPr>
              <a:t>Copied into migration_load.&lt;schema&gt;__&lt;table&gt; (no IDENTITY), moved in with IDENTITY_INSERT, staging emptied, identity reseeded.</a:t>
            </a:r>
            <a:endParaRPr lang="en-US" sz="1250" dirty="0"/>
          </a:p>
        </p:txBody>
      </p:sp>
      <p:sp>
        <p:nvSpPr>
          <p:cNvPr id="39" name="Shape 34"/>
          <p:cNvSpPr/>
          <p:nvPr/>
        </p:nvSpPr>
        <p:spPr>
          <a:xfrm>
            <a:off x="6233008" y="4782312"/>
            <a:ext cx="5410048" cy="1371600"/>
          </a:xfrm>
          <a:prstGeom prst="roundRect">
            <a:avLst>
              <a:gd name="adj" fmla="val 8000"/>
            </a:avLst>
          </a:prstGeom>
          <a:solidFill>
            <a:schemeClr val="bg2"/>
          </a:solidFill>
          <a:ln/>
        </p:spPr>
      </p:sp>
      <p:sp>
        <p:nvSpPr>
          <p:cNvPr id="40" name="Shape 35"/>
          <p:cNvSpPr/>
          <p:nvPr/>
        </p:nvSpPr>
        <p:spPr>
          <a:xfrm>
            <a:off x="6434176" y="4965192"/>
            <a:ext cx="457200" cy="457200"/>
          </a:xfrm>
          <a:prstGeom prst="ellipse">
            <a:avLst/>
          </a:prstGeom>
          <a:solidFill>
            <a:schemeClr val="accent1"/>
          </a:solidFill>
          <a:ln/>
        </p:spPr>
      </p:sp>
      <p:pic>
        <p:nvPicPr>
          <p:cNvPr id="41" name="Image 3" descr="preencoded.png">    </p:cNvPr>
          <p:cNvPicPr>
            <a:picLocks noChangeAspect="1"/>
          </p:cNvPicPr>
          <p:nvPr/>
        </p:nvPicPr>
        <p:blipFill>
          <a:blip r:embed="rId4"/>
          <a:stretch>
            <a:fillRect/>
          </a:stretch>
        </p:blipFill>
        <p:spPr>
          <a:xfrm>
            <a:off x="6548476" y="5079492"/>
            <a:ext cx="228600" cy="228600"/>
          </a:xfrm>
          <a:prstGeom prst="rect">
            <a:avLst/>
          </a:prstGeom>
        </p:spPr>
      </p:pic>
      <p:sp>
        <p:nvSpPr>
          <p:cNvPr id="42" name="Text 36"/>
          <p:cNvSpPr txBox="1"/>
          <p:nvPr/>
        </p:nvSpPr>
        <p:spPr>
          <a:xfrm>
            <a:off x="7019392" y="4937760"/>
            <a:ext cx="4449928" cy="512064"/>
          </a:xfrm>
          <a:prstGeom prst="rect">
            <a:avLst/>
          </a:prstGeom>
          <a:noFill/>
          <a:ln/>
        </p:spPr>
        <p:txBody>
          <a:bodyPr wrap="square" lIns="0" tIns="0" rIns="0" bIns="0" rtlCol="0" anchor="ctr"/>
          <a:lstStyle/>
          <a:p>
            <a:pPr indent="0" marL="0">
              <a:buNone/>
            </a:pPr>
            <a:r>
              <a:rPr lang="en-US" sz="1550" dirty="0">
                <a:solidFill>
                  <a:schemeClr val="tx2"/>
                </a:solidFill>
                <a:latin typeface="+mj-lt" pitchFamily="34" charset="0"/>
                <a:ea typeface="+mj-lt" pitchFamily="34" charset="-122"/>
                <a:cs typeface="+mj-lt" pitchFamily="34" charset="-120"/>
              </a:rPr>
              <a:t>When something fails</a:t>
            </a:r>
            <a:endParaRPr lang="en-US" sz="1550" dirty="0"/>
          </a:p>
        </p:txBody>
      </p:sp>
      <p:sp>
        <p:nvSpPr>
          <p:cNvPr id="43" name="Text 37"/>
          <p:cNvSpPr txBox="1"/>
          <p:nvPr/>
        </p:nvSpPr>
        <p:spPr>
          <a:xfrm>
            <a:off x="6434176" y="5532120"/>
            <a:ext cx="5026000" cy="530352"/>
          </a:xfrm>
          <a:prstGeom prst="rect">
            <a:avLst/>
          </a:prstGeom>
          <a:noFill/>
          <a:ln/>
        </p:spPr>
        <p:txBody>
          <a:bodyPr wrap="square" lIns="0" tIns="0" rIns="0" bIns="0" rtlCol="0" anchor="t"/>
          <a:lstStyle/>
          <a:p>
            <a:pPr indent="0" marL="0">
              <a:buNone/>
            </a:pPr>
            <a:r>
              <a:rPr lang="en-US" sz="1250" dirty="0">
                <a:solidFill>
                  <a:schemeClr val="tx1"/>
                </a:solidFill>
              </a:rPr>
              <a:t>A failed pipeline run fails each table in it, with Fabric's reason. Retry failed keeps the run's settings: to replace rows, start a new run.</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50</a:t>
            </a:fld>
            <a:endParaRPr lang="en-US"/>
          </a:p>
        </p:txBody>
      </p:sp>
    </p:spTree>
  </p:cSld>
  <p:clrMapOvr>
    <a:masterClrMapping/>
  </p:clrMapOvr>
  <p:transition spd="med">
    <p:fade/>
  </p:transition>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05 · ITEM BY ITEM</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Date filters: load part of a table, then keep it in sync</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migration/datafilter.py</a:t>
            </a:r>
            <a:endParaRPr lang="en-US" sz="11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5989320" cy="914400"/>
        </p:xfrm>
        <a:graphic>
          <a:graphicData uri="http://schemas.openxmlformats.org/drawingml/2006/table">
            <a:tbl>
              <a:tblPr/>
              <a:tblGrid>
                <a:gridCol w="1828800"/>
                <a:gridCol w="4160520"/>
              </a:tblGrid>
              <a:tr h="329184">
                <a:tc>
                  <a:txBody>
                    <a:bodyPr/>
                    <a:lstStyle/>
                    <a:p>
                      <a:pPr indent="0" marL="0">
                        <a:buNone/>
                      </a:pPr>
                      <a:r>
                        <a:rPr lang="en-US" sz="1250" b="1" dirty="0">
                          <a:solidFill>
                            <a:schemeClr val="bg1"/>
                          </a:solidFill>
                        </a:rPr>
                        <a:t>Setting</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indent="0" marL="0">
                        <a:buNone/>
                      </a:pPr>
                      <a:r>
                        <a:rPr lang="en-US" sz="1250" b="1" dirty="0">
                          <a:solidFill>
                            <a:schemeClr val="bg1"/>
                          </a:solidFill>
                        </a:rPr>
                        <a:t>What it does</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r>
              <a:tr h="512064">
                <a:tc>
                  <a:txBody>
                    <a:bodyPr/>
                    <a:lstStyle/>
                    <a:p>
                      <a:pPr indent="0" marL="0">
                        <a:buNone/>
                      </a:pPr>
                      <a:r>
                        <a:rPr lang="en-US" sz="1250" b="1" dirty="0">
                          <a:solidFill>
                            <a:schemeClr val="tx2"/>
                          </a:solidFill>
                        </a:rPr>
                        <a:t>Date column</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date, datetime, datetime2, smalldatetime or datetimeoffset</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512064">
                <a:tc>
                  <a:txBody>
                    <a:bodyPr/>
                    <a:lstStyle/>
                    <a:p>
                      <a:pPr indent="0" marL="0">
                        <a:buNone/>
                      </a:pPr>
                      <a:r>
                        <a:rPr lang="en-US" sz="1250" b="1" dirty="0">
                          <a:solidFill>
                            <a:schemeClr val="tx2"/>
                          </a:solidFill>
                        </a:rPr>
                        <a:t>From, until</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50" dirty="0">
                          <a:solidFill>
                            <a:schemeClr val="tx1"/>
                          </a:solidFill>
                        </a:rPr>
                        <a:t>Fixed dates: from is included, until is not; at least one is set</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512064">
                <a:tc>
                  <a:txBody>
                    <a:bodyPr/>
                    <a:lstStyle/>
                    <a:p>
                      <a:pPr indent="0" marL="0">
                        <a:buNone/>
                      </a:pPr>
                      <a:r>
                        <a:rPr lang="en-US" sz="1250" b="1" dirty="0">
                          <a:solidFill>
                            <a:schemeClr val="tx2"/>
                          </a:solidFill>
                        </a:rPr>
                        <a:t>Keep in sync</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After the first load, copy new and changed rows</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512064">
                <a:tc>
                  <a:txBody>
                    <a:bodyPr/>
                    <a:lstStyle/>
                    <a:p>
                      <a:pPr indent="0" marL="0">
                        <a:buNone/>
                      </a:pPr>
                      <a:r>
                        <a:rPr lang="en-US" sz="1250" b="1" dirty="0">
                          <a:solidFill>
                            <a:schemeClr val="tx2"/>
                          </a:solidFill>
                        </a:rPr>
                        <a:t>Change column</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50" dirty="0">
                          <a:solidFill>
                            <a:schemeClr val="tx1"/>
                          </a:solidFill>
                        </a:rPr>
                        <a:t>Moves when a row is added or changed (ModifiedAt); default: the date column</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512064">
                <a:tc>
                  <a:txBody>
                    <a:bodyPr/>
                    <a:lstStyle/>
                    <a:p>
                      <a:pPr indent="0" marL="0">
                        <a:buNone/>
                      </a:pPr>
                      <a:r>
                        <a:rPr lang="en-US" sz="1250" b="1" dirty="0">
                          <a:solidFill>
                            <a:schemeClr val="tx2"/>
                          </a:solidFill>
                        </a:rPr>
                        <a:t>Key columns</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Default: the primary key, else the first unique constraint</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512064">
                <a:tc>
                  <a:txBody>
                    <a:bodyPr/>
                    <a:lstStyle/>
                    <a:p>
                      <a:pPr indent="0" marL="0">
                        <a:buNone/>
                      </a:pPr>
                      <a:r>
                        <a:rPr lang="en-US" sz="1250" b="1" dirty="0">
                          <a:solidFill>
                            <a:schemeClr val="tx2"/>
                          </a:solidFill>
                        </a:rPr>
                        <a:t>Re-read window</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50" dirty="0">
                          <a:solidFill>
                            <a:schemeClr val="tx1"/>
                          </a:solidFill>
                        </a:rPr>
                        <a:t>A Table data stage option for synced tables with keys: one hour (default), one day, none</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bl>
          </a:graphicData>
        </a:graphic>
      </p:graphicFrame>
      <p:sp>
        <p:nvSpPr>
          <p:cNvPr id="6" name="Shape 3"/>
          <p:cNvSpPr/>
          <p:nvPr/>
        </p:nvSpPr>
        <p:spPr>
          <a:xfrm>
            <a:off x="6766560" y="1481328"/>
            <a:ext cx="4873752" cy="3630168"/>
          </a:xfrm>
          <a:prstGeom prst="roundRect">
            <a:avLst>
              <a:gd name="adj" fmla="val 3023"/>
            </a:avLst>
          </a:prstGeom>
          <a:solidFill>
            <a:schemeClr val="bg2"/>
          </a:solidFill>
          <a:ln/>
        </p:spPr>
      </p:sp>
      <p:sp>
        <p:nvSpPr>
          <p:cNvPr id="7" name="Text 4"/>
          <p:cNvSpPr txBox="1"/>
          <p:nvPr/>
        </p:nvSpPr>
        <p:spPr>
          <a:xfrm>
            <a:off x="6967728" y="1645920"/>
            <a:ext cx="4526280" cy="3383280"/>
          </a:xfrm>
          <a:prstGeom prst="rect">
            <a:avLst/>
          </a:prstGeom>
          <a:noFill/>
          <a:ln/>
        </p:spPr>
        <p:txBody>
          <a:bodyPr wrap="square" lIns="0" tIns="0" rIns="0" bIns="0" rtlCol="0" anchor="t"/>
          <a:lstStyle/>
          <a:p>
            <a:pPr indent="0" marL="0">
              <a:buNone/>
            </a:pPr>
            <a:r>
              <a:rPr lang="en-US" sz="1100" b="1" spc="100" kern="0" dirty="0">
                <a:solidFill>
                  <a:schemeClr val="accent6"/>
                </a:solidFill>
              </a:rPr>
              <a:t>SETTING UP A SYNCED TABLE</a:t>
            </a:r>
            <a:endParaRPr lang="en-US" sz="1400" dirty="0"/>
          </a:p>
          <a:p>
            <a:pPr marL="342900" indent="-342900">
              <a:spcBef>
                <a:spcPts val="900"/>
              </a:spcBef>
              <a:buSzPct val="100000"/>
              <a:buFont typeface="+mj-lt"/>
              <a:buAutoNum type="arabicPeriod" startAt="1"/>
            </a:pPr>
            <a:r>
              <a:rPr lang="en-US" sz="1250" dirty="0">
                <a:solidFill>
                  <a:schemeClr val="tx1"/>
                </a:solidFill>
              </a:rPr>
              <a:t>Read the newest change within the filter from Synapse: the watermark</a:t>
            </a:r>
            <a:endParaRPr lang="en-US" sz="1400" dirty="0"/>
          </a:p>
          <a:p>
            <a:pPr marL="342900" indent="-342900">
              <a:spcBef>
                <a:spcPts val="500"/>
              </a:spcBef>
              <a:buSzPct val="100000"/>
              <a:buFont typeface="+mj-lt"/>
              <a:buAutoNum type="arabicPeriod" startAt="1"/>
            </a:pPr>
            <a:r>
              <a:rPr lang="en-US" sz="1250" dirty="0">
                <a:solidFill>
                  <a:schemeClr val="tx1"/>
                </a:solidFill>
              </a:rPr>
              <a:t>Register the table in migration_sync.sync_tables: its watermark and the SQL each sync runs</a:t>
            </a:r>
            <a:endParaRPr lang="en-US" sz="1400" dirty="0"/>
          </a:p>
          <a:p>
            <a:pPr marL="342900" indent="-342900">
              <a:spcBef>
                <a:spcPts val="500"/>
              </a:spcBef>
              <a:buSzPct val="100000"/>
              <a:buFont typeface="+mj-lt"/>
              <a:buAutoNum type="arabicPeriod" startAt="1"/>
            </a:pPr>
            <a:r>
              <a:rPr lang="en-US" sz="1250" dirty="0">
                <a:solidFill>
                  <a:schemeClr val="tx1"/>
                </a:solidFill>
              </a:rPr>
              <a:t>Create its staging table, migration_sync.&lt;schema&gt;__&lt;table&gt;: same columns, empty</a:t>
            </a:r>
            <a:endParaRPr lang="en-US" sz="1400" dirty="0"/>
          </a:p>
          <a:p>
            <a:pPr marL="342900" indent="-342900">
              <a:spcBef>
                <a:spcPts val="500"/>
              </a:spcBef>
              <a:buSzPct val="100000"/>
              <a:buFont typeface="+mj-lt"/>
              <a:buAutoNum type="arabicPeriod" startAt="1"/>
            </a:pPr>
            <a:r>
              <a:rPr lang="en-US" sz="1250" dirty="0">
                <a:solidFill>
                  <a:schemeClr val="tx1"/>
                </a:solidFill>
              </a:rPr>
              <a:t>Create the sync pipeline once per Warehouse, sync_&lt;warehouse&gt;, with a daily 02:00 UTC schedule switched off</a:t>
            </a:r>
            <a:endParaRPr lang="en-US" sz="1400" dirty="0"/>
          </a:p>
          <a:p>
            <a:pPr marL="342900" indent="-342900">
              <a:spcBef>
                <a:spcPts val="500"/>
              </a:spcBef>
              <a:buSzPct val="100000"/>
              <a:buFont typeface="+mj-lt"/>
              <a:buAutoNum type="arabicPeriod" startAt="1"/>
            </a:pPr>
            <a:r>
              <a:rPr lang="en-US" sz="1250" dirty="0">
                <a:solidFill>
                  <a:schemeClr val="tx1"/>
                </a:solidFill>
              </a:rPr>
              <a:t>Then the wave's load copies the filter's rows up to the watermark (rows with no change value too)</a:t>
            </a:r>
            <a:endParaRPr lang="en-US" sz="1400" dirty="0"/>
          </a:p>
        </p:txBody>
      </p:sp>
      <p:sp>
        <p:nvSpPr>
          <p:cNvPr id="8" name="Shape 5"/>
          <p:cNvSpPr/>
          <p:nvPr/>
        </p:nvSpPr>
        <p:spPr>
          <a:xfrm>
            <a:off x="548640" y="5349240"/>
            <a:ext cx="11094415" cy="822960"/>
          </a:xfrm>
          <a:prstGeom prst="roundRect">
            <a:avLst>
              <a:gd name="adj" fmla="val 13333"/>
            </a:avLst>
          </a:prstGeom>
          <a:solidFill>
            <a:schemeClr val="accent1">
              <a:alpha val="13000"/>
            </a:schemeClr>
          </a:solidFill>
          <a:ln/>
        </p:spPr>
      </p:sp>
      <p:sp>
        <p:nvSpPr>
          <p:cNvPr id="9" name="Text 6"/>
          <p:cNvSpPr txBox="1"/>
          <p:nvPr/>
        </p:nvSpPr>
        <p:spPr>
          <a:xfrm>
            <a:off x="777240" y="5349240"/>
            <a:ext cx="10637215" cy="822960"/>
          </a:xfrm>
          <a:prstGeom prst="rect">
            <a:avLst/>
          </a:prstGeom>
          <a:noFill/>
          <a:ln/>
        </p:spPr>
        <p:txBody>
          <a:bodyPr wrap="square" lIns="0" tIns="0" rIns="0" bIns="0" rtlCol="0" anchor="ctr"/>
          <a:lstStyle/>
          <a:p>
            <a:pPr indent="0" marL="0">
              <a:buNone/>
            </a:pPr>
            <a:r>
              <a:rPr lang="en-US" sz="1250" b="1" dirty="0">
                <a:solidFill>
                  <a:schemeClr val="tx2"/>
                </a:solidFill>
              </a:rPr>
              <a:t>Which column?  </a:t>
            </a:r>
            <a:pPr indent="0" marL="0">
              <a:buNone/>
            </a:pPr>
            <a:r>
              <a:rPr lang="en-US" sz="1250" dirty="0">
                <a:solidFill>
                  <a:schemeClr val="tx1"/>
                </a:solidFill>
              </a:rPr>
              <a:t>a business date (OrderDate) scopes what belongs; CreatedAt suits append-only tables; ModifiedAt is the usual change column, the only one that sees updates. Row counts after the load, and in Validate, count Synapse with the same filter.</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51</a:t>
            </a:fld>
            <a:endParaRPr lang="en-US"/>
          </a:p>
        </p:txBody>
      </p:sp>
    </p:spTree>
  </p:cSld>
  <p:clrMapOvr>
    <a:masterClrMapping/>
  </p:clrMapOvr>
  <p:transition spd="med">
    <p:fade/>
  </p:transition>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05 · ITEM BY ITEM</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Keep in sync: how the sync pipeline works</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migration/datapipeline.py: sync_definition</a:t>
            </a:r>
            <a:endParaRPr lang="en-US" sz="1100" dirty="0"/>
          </a:p>
        </p:txBody>
      </p:sp>
      <p:sp>
        <p:nvSpPr>
          <p:cNvPr id="5" name="Shape 3"/>
          <p:cNvSpPr/>
          <p:nvPr/>
        </p:nvSpPr>
        <p:spPr>
          <a:xfrm>
            <a:off x="548640" y="1481328"/>
            <a:ext cx="3566160" cy="685800"/>
          </a:xfrm>
          <a:prstGeom prst="roundRect">
            <a:avLst>
              <a:gd name="adj" fmla="val 16000"/>
            </a:avLst>
          </a:prstGeom>
          <a:solidFill>
            <a:schemeClr val="bg2"/>
          </a:solidFill>
          <a:ln/>
        </p:spPr>
      </p:sp>
      <p:sp>
        <p:nvSpPr>
          <p:cNvPr id="6" name="Text 4"/>
          <p:cNvSpPr txBox="1"/>
          <p:nvPr/>
        </p:nvSpPr>
        <p:spPr>
          <a:xfrm>
            <a:off x="713232" y="1481328"/>
            <a:ext cx="3108960" cy="685800"/>
          </a:xfrm>
          <a:prstGeom prst="rect">
            <a:avLst/>
          </a:prstGeom>
          <a:noFill/>
          <a:ln/>
        </p:spPr>
        <p:txBody>
          <a:bodyPr wrap="square" lIns="0" tIns="0" rIns="0" bIns="0" rtlCol="0" anchor="ctr"/>
          <a:lstStyle/>
          <a:p>
            <a:pPr indent="0" marL="0">
              <a:buNone/>
            </a:pPr>
            <a:r>
              <a:rPr lang="en-US" sz="1200" b="1" dirty="0">
                <a:solidFill>
                  <a:schemeClr val="tx2"/>
                </a:solidFill>
              </a:rPr>
              <a:t>Lookup  Tables to sync</a:t>
            </a:r>
            <a:endParaRPr lang="en-US" sz="1200" dirty="0"/>
          </a:p>
          <a:p>
            <a:pPr indent="0" marL="0">
              <a:buNone/>
            </a:pPr>
            <a:r>
              <a:rPr lang="en-US" sz="1200" dirty="0">
                <a:solidFill>
                  <a:schemeClr val="accent6"/>
                </a:solidFill>
              </a:rPr>
              <a:t>reads the control table</a:t>
            </a:r>
            <a:endParaRPr lang="en-US" sz="1200" dirty="0"/>
          </a:p>
        </p:txBody>
      </p:sp>
      <p:sp>
        <p:nvSpPr>
          <p:cNvPr id="7" name="Shape 5"/>
          <p:cNvSpPr/>
          <p:nvPr/>
        </p:nvSpPr>
        <p:spPr>
          <a:xfrm>
            <a:off x="2331720" y="2167128"/>
            <a:ext cx="91" cy="164592"/>
          </a:xfrm>
          <a:prstGeom prst="line">
            <a:avLst/>
          </a:prstGeom>
          <a:noFill/>
          <a:ln w="22225">
            <a:solidFill>
              <a:srgbClr val="5D6B82"/>
            </a:solidFill>
            <a:prstDash val="solid"/>
            <a:tailEnd type="triangle"/>
          </a:ln>
        </p:spPr>
      </p:sp>
      <p:sp>
        <p:nvSpPr>
          <p:cNvPr id="8" name="Shape 6"/>
          <p:cNvSpPr/>
          <p:nvPr/>
        </p:nvSpPr>
        <p:spPr>
          <a:xfrm>
            <a:off x="548640" y="2350008"/>
            <a:ext cx="3566160" cy="685800"/>
          </a:xfrm>
          <a:prstGeom prst="roundRect">
            <a:avLst>
              <a:gd name="adj" fmla="val 16000"/>
            </a:avLst>
          </a:prstGeom>
          <a:solidFill>
            <a:schemeClr val="bg2"/>
          </a:solidFill>
          <a:ln/>
        </p:spPr>
      </p:sp>
      <p:sp>
        <p:nvSpPr>
          <p:cNvPr id="9" name="Text 7"/>
          <p:cNvSpPr txBox="1"/>
          <p:nvPr/>
        </p:nvSpPr>
        <p:spPr>
          <a:xfrm>
            <a:off x="713232" y="2350008"/>
            <a:ext cx="3108960" cy="685800"/>
          </a:xfrm>
          <a:prstGeom prst="rect">
            <a:avLst/>
          </a:prstGeom>
          <a:noFill/>
          <a:ln/>
        </p:spPr>
        <p:txBody>
          <a:bodyPr wrap="square" lIns="0" tIns="0" rIns="0" bIns="0" rtlCol="0" anchor="ctr"/>
          <a:lstStyle/>
          <a:p>
            <a:pPr indent="0" marL="0">
              <a:buNone/>
            </a:pPr>
            <a:r>
              <a:rPr lang="en-US" sz="1200" b="1" dirty="0">
                <a:solidFill>
                  <a:schemeClr val="tx2"/>
                </a:solidFill>
              </a:rPr>
              <a:t>ForEach  For each synced table</a:t>
            </a:r>
            <a:endParaRPr lang="en-US" sz="1200" dirty="0"/>
          </a:p>
          <a:p>
            <a:pPr indent="0" marL="0">
              <a:buNone/>
            </a:pPr>
            <a:r>
              <a:rPr lang="en-US" sz="1200" dirty="0">
                <a:solidFill>
                  <a:schemeClr val="accent6"/>
                </a:solidFill>
              </a:rPr>
              <a:t>one at a time (sequential)</a:t>
            </a:r>
            <a:endParaRPr lang="en-US" sz="1200" dirty="0"/>
          </a:p>
        </p:txBody>
      </p:sp>
      <p:sp>
        <p:nvSpPr>
          <p:cNvPr id="10" name="Shape 8"/>
          <p:cNvSpPr/>
          <p:nvPr/>
        </p:nvSpPr>
        <p:spPr>
          <a:xfrm>
            <a:off x="2331720" y="3035808"/>
            <a:ext cx="91" cy="164592"/>
          </a:xfrm>
          <a:prstGeom prst="line">
            <a:avLst/>
          </a:prstGeom>
          <a:noFill/>
          <a:ln w="22225">
            <a:solidFill>
              <a:srgbClr val="5D6B82"/>
            </a:solidFill>
            <a:prstDash val="solid"/>
            <a:tailEnd type="triangle"/>
          </a:ln>
        </p:spPr>
      </p:sp>
      <p:sp>
        <p:nvSpPr>
          <p:cNvPr id="11" name="Shape 9"/>
          <p:cNvSpPr/>
          <p:nvPr/>
        </p:nvSpPr>
        <p:spPr>
          <a:xfrm>
            <a:off x="822960" y="3218688"/>
            <a:ext cx="3291840" cy="685800"/>
          </a:xfrm>
          <a:prstGeom prst="roundRect">
            <a:avLst>
              <a:gd name="adj" fmla="val 16000"/>
            </a:avLst>
          </a:prstGeom>
          <a:solidFill>
            <a:schemeClr val="accent1">
              <a:alpha val="12000"/>
            </a:schemeClr>
          </a:solidFill>
          <a:ln/>
        </p:spPr>
      </p:sp>
      <p:sp>
        <p:nvSpPr>
          <p:cNvPr id="12" name="Text 10"/>
          <p:cNvSpPr txBox="1"/>
          <p:nvPr/>
        </p:nvSpPr>
        <p:spPr>
          <a:xfrm>
            <a:off x="987552" y="3218688"/>
            <a:ext cx="3108960" cy="685800"/>
          </a:xfrm>
          <a:prstGeom prst="rect">
            <a:avLst/>
          </a:prstGeom>
          <a:noFill/>
          <a:ln/>
        </p:spPr>
        <p:txBody>
          <a:bodyPr wrap="square" lIns="0" tIns="0" rIns="0" bIns="0" rtlCol="0" anchor="ctr"/>
          <a:lstStyle/>
          <a:p>
            <a:pPr indent="0" marL="0">
              <a:buNone/>
            </a:pPr>
            <a:r>
              <a:rPr lang="en-US" sz="1200" b="1" dirty="0">
                <a:solidFill>
                  <a:schemeClr val="tx2"/>
                </a:solidFill>
              </a:rPr>
              <a:t>Lookup  Newest change</a:t>
            </a:r>
            <a:endParaRPr lang="en-US" sz="1200" dirty="0"/>
          </a:p>
          <a:p>
            <a:pPr indent="0" marL="0">
              <a:buNone/>
            </a:pPr>
            <a:r>
              <a:rPr lang="en-US" sz="1200" dirty="0">
                <a:solidFill>
                  <a:schemeClr val="accent6"/>
                </a:solidFill>
              </a:rPr>
              <a:t>in Synapse, within the filter</a:t>
            </a:r>
            <a:endParaRPr lang="en-US" sz="1200" dirty="0"/>
          </a:p>
        </p:txBody>
      </p:sp>
      <p:sp>
        <p:nvSpPr>
          <p:cNvPr id="13" name="Shape 11"/>
          <p:cNvSpPr/>
          <p:nvPr/>
        </p:nvSpPr>
        <p:spPr>
          <a:xfrm>
            <a:off x="2331720" y="3904488"/>
            <a:ext cx="91" cy="164592"/>
          </a:xfrm>
          <a:prstGeom prst="line">
            <a:avLst/>
          </a:prstGeom>
          <a:noFill/>
          <a:ln w="22225">
            <a:solidFill>
              <a:srgbClr val="5D6B82"/>
            </a:solidFill>
            <a:prstDash val="solid"/>
            <a:tailEnd type="triangle"/>
          </a:ln>
        </p:spPr>
      </p:sp>
      <p:sp>
        <p:nvSpPr>
          <p:cNvPr id="14" name="Shape 12"/>
          <p:cNvSpPr/>
          <p:nvPr/>
        </p:nvSpPr>
        <p:spPr>
          <a:xfrm>
            <a:off x="822960" y="4087368"/>
            <a:ext cx="3291840" cy="685800"/>
          </a:xfrm>
          <a:prstGeom prst="roundRect">
            <a:avLst>
              <a:gd name="adj" fmla="val 16000"/>
            </a:avLst>
          </a:prstGeom>
          <a:solidFill>
            <a:schemeClr val="accent1">
              <a:alpha val="12000"/>
            </a:schemeClr>
          </a:solidFill>
          <a:ln/>
        </p:spPr>
      </p:sp>
      <p:sp>
        <p:nvSpPr>
          <p:cNvPr id="15" name="Text 13"/>
          <p:cNvSpPr txBox="1"/>
          <p:nvPr/>
        </p:nvSpPr>
        <p:spPr>
          <a:xfrm>
            <a:off x="987552" y="4087368"/>
            <a:ext cx="3108960" cy="685800"/>
          </a:xfrm>
          <a:prstGeom prst="rect">
            <a:avLst/>
          </a:prstGeom>
          <a:noFill/>
          <a:ln/>
        </p:spPr>
        <p:txBody>
          <a:bodyPr wrap="square" lIns="0" tIns="0" rIns="0" bIns="0" rtlCol="0" anchor="ctr"/>
          <a:lstStyle/>
          <a:p>
            <a:pPr indent="0" marL="0">
              <a:buNone/>
            </a:pPr>
            <a:r>
              <a:rPr lang="en-US" sz="1200" b="1" dirty="0">
                <a:solidFill>
                  <a:schemeClr val="tx2"/>
                </a:solidFill>
              </a:rPr>
              <a:t>Copy  Copy changes</a:t>
            </a:r>
            <a:endParaRPr lang="en-US" sz="1200" dirty="0"/>
          </a:p>
          <a:p>
            <a:pPr indent="0" marL="0">
              <a:buNone/>
            </a:pPr>
            <a:r>
              <a:rPr lang="en-US" sz="1200" dirty="0">
                <a:solidFill>
                  <a:schemeClr val="accent6"/>
                </a:solidFill>
              </a:rPr>
              <a:t>changed since the watermark → staging</a:t>
            </a:r>
            <a:endParaRPr lang="en-US" sz="1200" dirty="0"/>
          </a:p>
        </p:txBody>
      </p:sp>
      <p:sp>
        <p:nvSpPr>
          <p:cNvPr id="16" name="Shape 14"/>
          <p:cNvSpPr/>
          <p:nvPr/>
        </p:nvSpPr>
        <p:spPr>
          <a:xfrm>
            <a:off x="2331720" y="4773168"/>
            <a:ext cx="91" cy="164592"/>
          </a:xfrm>
          <a:prstGeom prst="line">
            <a:avLst/>
          </a:prstGeom>
          <a:noFill/>
          <a:ln w="22225">
            <a:solidFill>
              <a:srgbClr val="5D6B82"/>
            </a:solidFill>
            <a:prstDash val="solid"/>
            <a:tailEnd type="triangle"/>
          </a:ln>
        </p:spPr>
      </p:sp>
      <p:sp>
        <p:nvSpPr>
          <p:cNvPr id="17" name="Shape 15"/>
          <p:cNvSpPr/>
          <p:nvPr/>
        </p:nvSpPr>
        <p:spPr>
          <a:xfrm>
            <a:off x="822960" y="4956048"/>
            <a:ext cx="3291840" cy="685800"/>
          </a:xfrm>
          <a:prstGeom prst="roundRect">
            <a:avLst>
              <a:gd name="adj" fmla="val 16000"/>
            </a:avLst>
          </a:prstGeom>
          <a:solidFill>
            <a:schemeClr val="accent1">
              <a:alpha val="12000"/>
            </a:schemeClr>
          </a:solidFill>
          <a:ln/>
        </p:spPr>
      </p:sp>
      <p:sp>
        <p:nvSpPr>
          <p:cNvPr id="18" name="Text 16"/>
          <p:cNvSpPr txBox="1"/>
          <p:nvPr/>
        </p:nvSpPr>
        <p:spPr>
          <a:xfrm>
            <a:off x="987552" y="4956048"/>
            <a:ext cx="3108960" cy="685800"/>
          </a:xfrm>
          <a:prstGeom prst="rect">
            <a:avLst/>
          </a:prstGeom>
          <a:noFill/>
          <a:ln/>
        </p:spPr>
        <p:txBody>
          <a:bodyPr wrap="square" lIns="0" tIns="0" rIns="0" bIns="0" rtlCol="0" anchor="ctr"/>
          <a:lstStyle/>
          <a:p>
            <a:pPr indent="0" marL="0">
              <a:buNone/>
            </a:pPr>
            <a:r>
              <a:rPr lang="en-US" sz="1200" b="1" dirty="0">
                <a:solidFill>
                  <a:schemeClr val="tx2"/>
                </a:solidFill>
              </a:rPr>
              <a:t>Script  Apply changes</a:t>
            </a:r>
            <a:endParaRPr lang="en-US" sz="1200" dirty="0"/>
          </a:p>
          <a:p>
            <a:pPr indent="0" marL="0">
              <a:buNone/>
            </a:pPr>
            <a:r>
              <a:rPr lang="en-US" sz="1200" dirty="0">
                <a:solidFill>
                  <a:schemeClr val="accent6"/>
                </a:solidFill>
              </a:rPr>
              <a:t>one Warehouse transaction</a:t>
            </a:r>
            <a:endParaRPr lang="en-US" sz="1200" dirty="0"/>
          </a:p>
        </p:txBody>
      </p:sp>
      <p:sp>
        <p:nvSpPr>
          <p:cNvPr id="19" name="Shape 17"/>
          <p:cNvSpPr/>
          <p:nvPr/>
        </p:nvSpPr>
        <p:spPr>
          <a:xfrm>
            <a:off x="4343400" y="1481328"/>
            <a:ext cx="4206240" cy="4023360"/>
          </a:xfrm>
          <a:prstGeom prst="roundRect">
            <a:avLst>
              <a:gd name="adj" fmla="val 1818"/>
            </a:avLst>
          </a:prstGeom>
          <a:solidFill>
            <a:schemeClr val="tx2"/>
          </a:solidFill>
          <a:ln/>
        </p:spPr>
      </p:sp>
      <p:sp>
        <p:nvSpPr>
          <p:cNvPr id="20" name="Text 18"/>
          <p:cNvSpPr txBox="1"/>
          <p:nvPr/>
        </p:nvSpPr>
        <p:spPr>
          <a:xfrm>
            <a:off x="4526280" y="1591056"/>
            <a:ext cx="3840480" cy="256032"/>
          </a:xfrm>
          <a:prstGeom prst="rect">
            <a:avLst/>
          </a:prstGeom>
          <a:noFill/>
          <a:ln/>
        </p:spPr>
        <p:txBody>
          <a:bodyPr wrap="square" lIns="0" tIns="0" rIns="0" bIns="0" rtlCol="0" anchor="t"/>
          <a:lstStyle/>
          <a:p>
            <a:pPr indent="0" marL="0">
              <a:buNone/>
            </a:pPr>
            <a:r>
              <a:rPr lang="en-US" sz="1100" b="1" dirty="0">
                <a:solidFill>
                  <a:schemeClr val="accent5"/>
                </a:solidFill>
              </a:rPr>
              <a:t>THE APPLY STEP (ONE TRANSACTION)</a:t>
            </a:r>
            <a:endParaRPr lang="en-US" sz="1100" dirty="0"/>
          </a:p>
        </p:txBody>
      </p:sp>
      <p:sp>
        <p:nvSpPr>
          <p:cNvPr id="21" name="Text 19"/>
          <p:cNvSpPr txBox="1"/>
          <p:nvPr/>
        </p:nvSpPr>
        <p:spPr>
          <a:xfrm>
            <a:off x="4526280" y="1892808"/>
            <a:ext cx="3840480" cy="3520440"/>
          </a:xfrm>
          <a:prstGeom prst="rect">
            <a:avLst/>
          </a:prstGeom>
          <a:noFill/>
          <a:ln/>
        </p:spPr>
        <p:txBody>
          <a:bodyPr wrap="square" lIns="0" tIns="0" rIns="0" bIns="0" rtlCol="0" anchor="t"/>
          <a:lstStyle/>
          <a:p>
            <a:pPr indent="0" marL="0">
              <a:buNone/>
            </a:pPr>
            <a:r>
              <a:rPr lang="en-US" sz="1000" dirty="0">
                <a:solidFill>
                  <a:srgbClr val="E6EDF5"/>
                </a:solidFill>
                <a:latin typeface="Consolas" pitchFamily="34" charset="0"/>
                <a:ea typeface="Consolas" pitchFamily="34" charset="-122"/>
                <a:cs typeface="Consolas" pitchFamily="34" charset="-120"/>
              </a:rPr>
              <a:t>BEGIN TRANSACTION;</a:t>
            </a:r>
            <a:endParaRPr lang="en-US" sz="1000" dirty="0"/>
          </a:p>
          <a:p>
            <a:pPr indent="0" marL="0">
              <a:buNone/>
            </a:pPr>
            <a:r>
              <a:rPr lang="en-US" sz="1000" dirty="0">
                <a:solidFill>
                  <a:srgbClr val="E6EDF5"/>
                </a:solidFill>
                <a:latin typeface="Consolas" pitchFamily="34" charset="0"/>
                <a:ea typeface="Consolas" pitchFamily="34" charset="-122"/>
                <a:cs typeface="Consolas" pitchFamily="34" charset="-120"/>
              </a:rPr>
              <a:t>-- only when the table has key columns:</a:t>
            </a:r>
            <a:endParaRPr lang="en-US" sz="1000" dirty="0"/>
          </a:p>
          <a:p>
            <a:pPr indent="0" marL="0">
              <a:buNone/>
            </a:pPr>
            <a:r>
              <a:rPr lang="en-US" sz="1000" dirty="0">
                <a:solidFill>
                  <a:srgbClr val="E6EDF5"/>
                </a:solidFill>
                <a:latin typeface="Consolas" pitchFamily="34" charset="0"/>
                <a:ea typeface="Consolas" pitchFamily="34" charset="-122"/>
                <a:cs typeface="Consolas" pitchFamily="34" charset="-120"/>
              </a:rPr>
              <a:t>DELETE FROM [dbo].[Orders]</a:t>
            </a:r>
            <a:endParaRPr lang="en-US" sz="1000" dirty="0"/>
          </a:p>
          <a:p>
            <a:pPr indent="0" marL="0">
              <a:buNone/>
            </a:pPr>
            <a:r>
              <a:rPr lang="en-US" sz="1000" dirty="0">
                <a:solidFill>
                  <a:srgbClr val="E6EDF5"/>
                </a:solidFill>
                <a:latin typeface="Consolas" pitchFamily="34" charset="0"/>
                <a:ea typeface="Consolas" pitchFamily="34" charset="-122"/>
                <a:cs typeface="Consolas" pitchFamily="34" charset="-120"/>
              </a:rPr>
              <a:t> WHERE EXISTS (</a:t>
            </a:r>
            <a:endParaRPr lang="en-US" sz="1000" dirty="0"/>
          </a:p>
          <a:p>
            <a:pPr indent="0" marL="0">
              <a:buNone/>
            </a:pPr>
            <a:r>
              <a:rPr lang="en-US" sz="1000" dirty="0">
                <a:solidFill>
                  <a:srgbClr val="E6EDF5"/>
                </a:solidFill>
                <a:latin typeface="Consolas" pitchFamily="34" charset="0"/>
                <a:ea typeface="Consolas" pitchFamily="34" charset="-122"/>
                <a:cs typeface="Consolas" pitchFamily="34" charset="-120"/>
              </a:rPr>
              <a:t>  SELECT 1</a:t>
            </a:r>
            <a:endParaRPr lang="en-US" sz="1000" dirty="0"/>
          </a:p>
          <a:p>
            <a:pPr indent="0" marL="0">
              <a:buNone/>
            </a:pPr>
            <a:r>
              <a:rPr lang="en-US" sz="1000" dirty="0">
                <a:solidFill>
                  <a:srgbClr val="E6EDF5"/>
                </a:solidFill>
                <a:latin typeface="Consolas" pitchFamily="34" charset="0"/>
                <a:ea typeface="Consolas" pitchFamily="34" charset="-122"/>
                <a:cs typeface="Consolas" pitchFamily="34" charset="-120"/>
              </a:rPr>
              <a:t>  FROM [migration_sync].[dbo__Orders] AS s</a:t>
            </a:r>
            <a:endParaRPr lang="en-US" sz="1000" dirty="0"/>
          </a:p>
          <a:p>
            <a:pPr indent="0" marL="0">
              <a:buNone/>
            </a:pPr>
            <a:r>
              <a:rPr lang="en-US" sz="1000" dirty="0">
                <a:solidFill>
                  <a:srgbClr val="E6EDF5"/>
                </a:solidFill>
                <a:latin typeface="Consolas" pitchFamily="34" charset="0"/>
                <a:ea typeface="Consolas" pitchFamily="34" charset="-122"/>
                <a:cs typeface="Consolas" pitchFamily="34" charset="-120"/>
              </a:rPr>
              <a:t>  WHERE s.[OrderId] = [dbo].[Orders].[OrderId]);</a:t>
            </a:r>
            <a:endParaRPr lang="en-US" sz="1000" dirty="0"/>
          </a:p>
          <a:p>
            <a:pPr indent="0" marL="0">
              <a:buNone/>
            </a:pPr>
            <a:r>
              <a:rPr lang="en-US" sz="1000" dirty="0">
                <a:solidFill>
                  <a:srgbClr val="E6EDF5"/>
                </a:solidFill>
                <a:latin typeface="Consolas" pitchFamily="34" charset="0"/>
                <a:ea typeface="Consolas" pitchFamily="34" charset="-122"/>
                <a:cs typeface="Consolas" pitchFamily="34" charset="-120"/>
              </a:rPr>
              <a:t>INSERT INTO [dbo].[Orders] (…)</a:t>
            </a:r>
            <a:endParaRPr lang="en-US" sz="1000" dirty="0"/>
          </a:p>
          <a:p>
            <a:pPr indent="0" marL="0">
              <a:buNone/>
            </a:pPr>
            <a:r>
              <a:rPr lang="en-US" sz="1000" dirty="0">
                <a:solidFill>
                  <a:srgbClr val="E6EDF5"/>
                </a:solidFill>
                <a:latin typeface="Consolas" pitchFamily="34" charset="0"/>
                <a:ea typeface="Consolas" pitchFamily="34" charset="-122"/>
                <a:cs typeface="Consolas" pitchFamily="34" charset="-120"/>
              </a:rPr>
              <a:t> SELECT … FROM [migration_sync].[dbo__Orders];</a:t>
            </a:r>
            <a:endParaRPr lang="en-US" sz="1000" dirty="0"/>
          </a:p>
          <a:p>
            <a:pPr indent="0" marL="0">
              <a:buNone/>
            </a:pPr>
            <a:r>
              <a:rPr lang="en-US" sz="1000" dirty="0">
                <a:solidFill>
                  <a:srgbClr val="E6EDF5"/>
                </a:solidFill>
                <a:latin typeface="Consolas" pitchFamily="34" charset="0"/>
                <a:ea typeface="Consolas" pitchFamily="34" charset="-122"/>
                <a:cs typeface="Consolas" pitchFamily="34" charset="-120"/>
              </a:rPr>
              <a:t>UPDATE [migration_sync].[sync_tables]</a:t>
            </a:r>
            <a:endParaRPr lang="en-US" sz="1000" dirty="0"/>
          </a:p>
          <a:p>
            <a:pPr indent="0" marL="0">
              <a:buNone/>
            </a:pPr>
            <a:r>
              <a:rPr lang="en-US" sz="1000" dirty="0">
                <a:solidFill>
                  <a:srgbClr val="E6EDF5"/>
                </a:solidFill>
                <a:latin typeface="Consolas" pitchFamily="34" charset="0"/>
                <a:ea typeface="Consolas" pitchFamily="34" charset="-122"/>
                <a:cs typeface="Consolas" pitchFamily="34" charset="-120"/>
              </a:rPr>
              <a:t> SET watermark = '{{to}}',</a:t>
            </a:r>
            <a:endParaRPr lang="en-US" sz="1000" dirty="0"/>
          </a:p>
          <a:p>
            <a:pPr indent="0" marL="0">
              <a:buNone/>
            </a:pPr>
            <a:r>
              <a:rPr lang="en-US" sz="1000" dirty="0">
                <a:solidFill>
                  <a:srgbClr val="E6EDF5"/>
                </a:solidFill>
                <a:latin typeface="Consolas" pitchFamily="34" charset="0"/>
                <a:ea typeface="Consolas" pitchFamily="34" charset="-122"/>
                <a:cs typeface="Consolas" pitchFamily="34" charset="-120"/>
              </a:rPr>
              <a:t>     synced_at = SYSUTCDATETIME(),</a:t>
            </a:r>
            <a:endParaRPr lang="en-US" sz="1000" dirty="0"/>
          </a:p>
          <a:p>
            <a:pPr indent="0" marL="0">
              <a:buNone/>
            </a:pPr>
            <a:r>
              <a:rPr lang="en-US" sz="1000" dirty="0">
                <a:solidFill>
                  <a:srgbClr val="E6EDF5"/>
                </a:solidFill>
                <a:latin typeface="Consolas" pitchFamily="34" charset="0"/>
                <a:ea typeface="Consolas" pitchFamily="34" charset="-122"/>
                <a:cs typeface="Consolas" pitchFamily="34" charset="-120"/>
              </a:rPr>
              <a:t>     rows_copied = (SELECT COUNT_BIG(*) …)</a:t>
            </a:r>
            <a:endParaRPr lang="en-US" sz="1000" dirty="0"/>
          </a:p>
          <a:p>
            <a:pPr indent="0" marL="0">
              <a:buNone/>
            </a:pPr>
            <a:r>
              <a:rPr lang="en-US" sz="1000" dirty="0">
                <a:solidFill>
                  <a:srgbClr val="E6EDF5"/>
                </a:solidFill>
                <a:latin typeface="Consolas" pitchFamily="34" charset="0"/>
                <a:ea typeface="Consolas" pitchFamily="34" charset="-122"/>
                <a:cs typeface="Consolas" pitchFamily="34" charset="-120"/>
              </a:rPr>
              <a:t> WHERE table_name = 'dbo.orders';</a:t>
            </a:r>
            <a:endParaRPr lang="en-US" sz="1000" dirty="0"/>
          </a:p>
          <a:p>
            <a:pPr indent="0" marL="0">
              <a:buNone/>
            </a:pPr>
            <a:r>
              <a:rPr lang="en-US" sz="1000" dirty="0">
                <a:solidFill>
                  <a:srgbClr val="E6EDF5"/>
                </a:solidFill>
                <a:latin typeface="Consolas" pitchFamily="34" charset="0"/>
                <a:ea typeface="Consolas" pitchFamily="34" charset="-122"/>
                <a:cs typeface="Consolas" pitchFamily="34" charset="-120"/>
              </a:rPr>
              <a:t>COMMIT TRANSACTION;</a:t>
            </a:r>
            <a:endParaRPr lang="en-US" sz="1000" dirty="0"/>
          </a:p>
        </p:txBody>
      </p:sp>
      <p:sp>
        <p:nvSpPr>
          <p:cNvPr id="22" name="Shape 20"/>
          <p:cNvSpPr/>
          <p:nvPr/>
        </p:nvSpPr>
        <p:spPr>
          <a:xfrm>
            <a:off x="8732520" y="1481328"/>
            <a:ext cx="2907792" cy="4023360"/>
          </a:xfrm>
          <a:prstGeom prst="roundRect">
            <a:avLst>
              <a:gd name="adj" fmla="val 3774"/>
            </a:avLst>
          </a:prstGeom>
          <a:solidFill>
            <a:schemeClr val="bg2"/>
          </a:solidFill>
          <a:ln/>
        </p:spPr>
      </p:sp>
      <p:sp>
        <p:nvSpPr>
          <p:cNvPr id="23" name="Text 21"/>
          <p:cNvSpPr txBox="1"/>
          <p:nvPr/>
        </p:nvSpPr>
        <p:spPr>
          <a:xfrm>
            <a:off x="8961120" y="1664208"/>
            <a:ext cx="2450592"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RULES</a:t>
            </a:r>
            <a:endParaRPr lang="en-US" sz="1100" dirty="0"/>
          </a:p>
        </p:txBody>
      </p:sp>
      <p:sp>
        <p:nvSpPr>
          <p:cNvPr id="24" name="Text 22"/>
          <p:cNvSpPr txBox="1"/>
          <p:nvPr/>
        </p:nvSpPr>
        <p:spPr>
          <a:xfrm>
            <a:off x="8933688" y="1984248"/>
            <a:ext cx="2523744" cy="3383280"/>
          </a:xfrm>
          <a:prstGeom prst="rect">
            <a:avLst/>
          </a:prstGeom>
          <a:noFill/>
          <a:ln/>
        </p:spPr>
        <p:txBody>
          <a:bodyPr wrap="square" lIns="0" tIns="0" rIns="0" bIns="0" rtlCol="0" anchor="t"/>
          <a:lstStyle/>
          <a:p>
            <a:pPr marL="177800" indent="-177800">
              <a:spcAft>
                <a:spcPts val="500"/>
              </a:spcAft>
              <a:buSzPct val="100000"/>
              <a:buChar char="•"/>
            </a:pPr>
            <a:r>
              <a:rPr lang="en-US" sz="1150" dirty="0">
                <a:solidFill>
                  <a:schemeClr val="tx1"/>
                </a:solidFill>
              </a:rPr>
              <a:t>A failed step leaves the watermark where it was: the next run copies the same window</a:t>
            </a:r>
            <a:endParaRPr lang="en-US" sz="1400" dirty="0"/>
          </a:p>
          <a:p>
            <a:pPr marL="177800" indent="-177800">
              <a:spcAft>
                <a:spcPts val="500"/>
              </a:spcAft>
              <a:buSzPct val="100000"/>
              <a:buChar char="•"/>
            </a:pPr>
            <a:r>
              <a:rPr lang="en-US" sz="1150" dirty="0">
                <a:solidFill>
                  <a:schemeClr val="tx1"/>
                </a:solidFill>
              </a:rPr>
              <a:t>With keys, each sync re-reads the window before the watermark; without keys, it starts just after it</a:t>
            </a:r>
            <a:endParaRPr lang="en-US" sz="1400" dirty="0"/>
          </a:p>
          <a:p>
            <a:pPr marL="177800" indent="-177800">
              <a:spcAft>
                <a:spcPts val="500"/>
              </a:spcAft>
              <a:buSzPct val="100000"/>
              <a:buChar char="•"/>
            </a:pPr>
            <a:r>
              <a:rPr lang="en-US" sz="1150" dirty="0">
                <a:solidFill>
                  <a:schemeClr val="tx1"/>
                </a:solidFill>
              </a:rPr>
              <a:t>Not carried: rows deleted in Synapse</a:t>
            </a:r>
            <a:endParaRPr lang="en-US" sz="1400" dirty="0"/>
          </a:p>
          <a:p>
            <a:pPr marL="177800" indent="-177800">
              <a:spcAft>
                <a:spcPts val="500"/>
              </a:spcAft>
              <a:buSzPct val="100000"/>
              <a:buChar char="•"/>
            </a:pPr>
            <a:r>
              <a:rPr lang="en-US" sz="1150" dirty="0">
                <a:solidFill>
                  <a:schemeClr val="tx1"/>
                </a:solidFill>
              </a:rPr>
              <a:t>No load while the sync schedule is on</a:t>
            </a:r>
            <a:endParaRPr lang="en-US" sz="1400" dirty="0"/>
          </a:p>
        </p:txBody>
      </p:sp>
      <p:sp>
        <p:nvSpPr>
          <p:cNvPr id="25" name="Shape 23"/>
          <p:cNvSpPr/>
          <p:nvPr/>
        </p:nvSpPr>
        <p:spPr>
          <a:xfrm>
            <a:off x="548640" y="5669280"/>
            <a:ext cx="11094415" cy="530352"/>
          </a:xfrm>
          <a:prstGeom prst="roundRect">
            <a:avLst>
              <a:gd name="adj" fmla="val 20690"/>
            </a:avLst>
          </a:prstGeom>
          <a:solidFill>
            <a:schemeClr val="accent1">
              <a:alpha val="13000"/>
            </a:schemeClr>
          </a:solidFill>
          <a:ln/>
        </p:spPr>
      </p:sp>
      <p:sp>
        <p:nvSpPr>
          <p:cNvPr id="26" name="Text 24"/>
          <p:cNvSpPr txBox="1"/>
          <p:nvPr/>
        </p:nvSpPr>
        <p:spPr>
          <a:xfrm>
            <a:off x="777240" y="5669280"/>
            <a:ext cx="10637215" cy="530352"/>
          </a:xfrm>
          <a:prstGeom prst="rect">
            <a:avLst/>
          </a:prstGeom>
          <a:noFill/>
          <a:ln/>
        </p:spPr>
        <p:txBody>
          <a:bodyPr wrap="square" lIns="0" tIns="0" rIns="0" bIns="0" rtlCol="0" anchor="ctr"/>
          <a:lstStyle/>
          <a:p>
            <a:pPr indent="0" marL="0">
              <a:buNone/>
            </a:pPr>
            <a:r>
              <a:rPr lang="en-US" sz="1250" b="1" dirty="0">
                <a:solidFill>
                  <a:schemeClr val="tx2"/>
                </a:solidFill>
              </a:rPr>
              <a:t>In Validate:  </a:t>
            </a:r>
            <a:pPr indent="0" marL="0">
              <a:buNone/>
            </a:pPr>
            <a:r>
              <a:rPr lang="en-US" sz="1250" dirty="0">
                <a:solidFill>
                  <a:schemeClr val="tx1"/>
                </a:solidFill>
              </a:rPr>
              <a:t>equal counts are MATCH; a count between 'up to the last sync' and 'everything in the filter now' is REVIEW: in step up to the last sync.</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52</a:t>
            </a:fld>
            <a:endParaRPr lang="en-US"/>
          </a:p>
        </p:txBody>
      </p:sp>
    </p:spTree>
  </p:cSld>
  <p:clrMapOvr>
    <a:masterClrMapping/>
  </p:clrMapOvr>
  <p:transition spd="med">
    <p:fade/>
  </p:transition>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05 · ITEM BY ITEM</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Table data and sync: six behaviours worth knowing</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datapipeline.py · stages.py · datafilter.py</a:t>
            </a:r>
            <a:endParaRPr lang="en-US" sz="1100" dirty="0"/>
          </a:p>
        </p:txBody>
      </p:sp>
      <p:sp>
        <p:nvSpPr>
          <p:cNvPr id="5" name="Shape 3"/>
          <p:cNvSpPr/>
          <p:nvPr/>
        </p:nvSpPr>
        <p:spPr>
          <a:xfrm>
            <a:off x="548640" y="1481328"/>
            <a:ext cx="3515258" cy="1920240"/>
          </a:xfrm>
          <a:prstGeom prst="roundRect">
            <a:avLst>
              <a:gd name="adj" fmla="val 5714"/>
            </a:avLst>
          </a:prstGeom>
          <a:solidFill>
            <a:schemeClr val="bg2"/>
          </a:solidFill>
          <a:ln/>
        </p:spPr>
      </p:sp>
      <p:sp>
        <p:nvSpPr>
          <p:cNvPr id="6" name="Shape 4"/>
          <p:cNvSpPr/>
          <p:nvPr/>
        </p:nvSpPr>
        <p:spPr>
          <a:xfrm>
            <a:off x="749808" y="1664208"/>
            <a:ext cx="457200" cy="45720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864108" y="1778508"/>
            <a:ext cx="228600" cy="228600"/>
          </a:xfrm>
          <a:prstGeom prst="rect">
            <a:avLst/>
          </a:prstGeom>
        </p:spPr>
      </p:pic>
      <p:sp>
        <p:nvSpPr>
          <p:cNvPr id="8" name="Text 5"/>
          <p:cNvSpPr txBox="1"/>
          <p:nvPr/>
        </p:nvSpPr>
        <p:spPr>
          <a:xfrm>
            <a:off x="1335024" y="1636776"/>
            <a:ext cx="2555138" cy="512064"/>
          </a:xfrm>
          <a:prstGeom prst="rect">
            <a:avLst/>
          </a:prstGeom>
          <a:noFill/>
          <a:ln/>
        </p:spPr>
        <p:txBody>
          <a:bodyPr wrap="square" lIns="0" tIns="0" rIns="0" bIns="0" rtlCol="0" anchor="ctr"/>
          <a:lstStyle/>
          <a:p>
            <a:pPr indent="0" marL="0">
              <a:buNone/>
            </a:pPr>
            <a:r>
              <a:rPr lang="en-US" sz="1500" dirty="0">
                <a:solidFill>
                  <a:schemeClr val="tx2"/>
                </a:solidFill>
                <a:latin typeface="+mj-lt" pitchFamily="34" charset="0"/>
                <a:ea typeface="+mj-lt" pitchFamily="34" charset="-122"/>
                <a:cs typeface="+mj-lt" pitchFamily="34" charset="-120"/>
              </a:rPr>
              <a:t>Long values are cut, not refused</a:t>
            </a:r>
            <a:endParaRPr lang="en-US" sz="1500" dirty="0"/>
          </a:p>
        </p:txBody>
      </p:sp>
      <p:sp>
        <p:nvSpPr>
          <p:cNvPr id="9" name="Text 6"/>
          <p:cNvSpPr txBox="1"/>
          <p:nvPr/>
        </p:nvSpPr>
        <p:spPr>
          <a:xfrm>
            <a:off x="749808" y="2231136"/>
            <a:ext cx="3131210" cy="1078992"/>
          </a:xfrm>
          <a:prstGeom prst="rect">
            <a:avLst/>
          </a:prstGeom>
          <a:noFill/>
          <a:ln/>
        </p:spPr>
        <p:txBody>
          <a:bodyPr wrap="square" lIns="0" tIns="0" rIns="0" bIns="0" rtlCol="0" anchor="t"/>
          <a:lstStyle/>
          <a:p>
            <a:pPr indent="0" marL="0">
              <a:buNone/>
            </a:pPr>
            <a:r>
              <a:rPr lang="en-US" sz="1250" dirty="0">
                <a:solidFill>
                  <a:schemeClr val="tx1"/>
                </a:solidFill>
              </a:rPr>
              <a:t>The Copy activity converts types with truncation allowed: a value too long for its column is cut short, and the counts still match.</a:t>
            </a:r>
            <a:endParaRPr lang="en-US" sz="1250" dirty="0"/>
          </a:p>
        </p:txBody>
      </p:sp>
      <p:sp>
        <p:nvSpPr>
          <p:cNvPr id="10" name="Shape 7"/>
          <p:cNvSpPr/>
          <p:nvPr/>
        </p:nvSpPr>
        <p:spPr>
          <a:xfrm>
            <a:off x="4338218" y="1481328"/>
            <a:ext cx="3515258" cy="1920240"/>
          </a:xfrm>
          <a:prstGeom prst="roundRect">
            <a:avLst>
              <a:gd name="adj" fmla="val 5714"/>
            </a:avLst>
          </a:prstGeom>
          <a:solidFill>
            <a:schemeClr val="bg2"/>
          </a:solidFill>
          <a:ln/>
        </p:spPr>
      </p:sp>
      <p:sp>
        <p:nvSpPr>
          <p:cNvPr id="11" name="Shape 8"/>
          <p:cNvSpPr/>
          <p:nvPr/>
        </p:nvSpPr>
        <p:spPr>
          <a:xfrm>
            <a:off x="4539386" y="1664208"/>
            <a:ext cx="457200" cy="457200"/>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4653686" y="1778508"/>
            <a:ext cx="228600" cy="228600"/>
          </a:xfrm>
          <a:prstGeom prst="rect">
            <a:avLst/>
          </a:prstGeom>
        </p:spPr>
      </p:pic>
      <p:sp>
        <p:nvSpPr>
          <p:cNvPr id="13" name="Text 9"/>
          <p:cNvSpPr txBox="1"/>
          <p:nvPr/>
        </p:nvSpPr>
        <p:spPr>
          <a:xfrm>
            <a:off x="5124602" y="1636776"/>
            <a:ext cx="2555138" cy="512064"/>
          </a:xfrm>
          <a:prstGeom prst="rect">
            <a:avLst/>
          </a:prstGeom>
          <a:noFill/>
          <a:ln/>
        </p:spPr>
        <p:txBody>
          <a:bodyPr wrap="square" lIns="0" tIns="0" rIns="0" bIns="0" rtlCol="0" anchor="ctr"/>
          <a:lstStyle/>
          <a:p>
            <a:pPr indent="0" marL="0">
              <a:buNone/>
            </a:pPr>
            <a:r>
              <a:rPr lang="en-US" sz="1500" dirty="0">
                <a:solidFill>
                  <a:schemeClr val="tx2"/>
                </a:solidFill>
                <a:latin typeface="+mj-lt" pitchFamily="34" charset="0"/>
                <a:ea typeface="+mj-lt" pitchFamily="34" charset="-122"/>
                <a:cs typeface="+mj-lt" pitchFamily="34" charset="-120"/>
              </a:rPr>
              <a:t>Pipelines are reused as they are</a:t>
            </a:r>
            <a:endParaRPr lang="en-US" sz="1500" dirty="0"/>
          </a:p>
        </p:txBody>
      </p:sp>
      <p:sp>
        <p:nvSpPr>
          <p:cNvPr id="14" name="Text 10"/>
          <p:cNvSpPr txBox="1"/>
          <p:nvPr/>
        </p:nvSpPr>
        <p:spPr>
          <a:xfrm>
            <a:off x="4539386" y="2231136"/>
            <a:ext cx="3131210" cy="1078992"/>
          </a:xfrm>
          <a:prstGeom prst="rect">
            <a:avLst/>
          </a:prstGeom>
          <a:noFill/>
          <a:ln/>
        </p:spPr>
        <p:txBody>
          <a:bodyPr wrap="square" lIns="0" tIns="0" rIns="0" bIns="0" rtlCol="0" anchor="t"/>
          <a:lstStyle/>
          <a:p>
            <a:pPr indent="0" marL="0">
              <a:buNone/>
            </a:pPr>
            <a:r>
              <a:rPr lang="en-US" sz="1250" dirty="0">
                <a:solidFill>
                  <a:schemeClr val="tx1"/>
                </a:solidFill>
              </a:rPr>
              <a:t>An existing wave or sync pipeline is never updated. Run from Fabric, a wave pipeline uses the table list stored when it was created.</a:t>
            </a:r>
            <a:endParaRPr lang="en-US" sz="1250" dirty="0"/>
          </a:p>
        </p:txBody>
      </p:sp>
      <p:sp>
        <p:nvSpPr>
          <p:cNvPr id="15" name="Shape 11"/>
          <p:cNvSpPr/>
          <p:nvPr/>
        </p:nvSpPr>
        <p:spPr>
          <a:xfrm>
            <a:off x="8127797" y="1481328"/>
            <a:ext cx="3515258" cy="1920240"/>
          </a:xfrm>
          <a:prstGeom prst="roundRect">
            <a:avLst>
              <a:gd name="adj" fmla="val 5714"/>
            </a:avLst>
          </a:prstGeom>
          <a:solidFill>
            <a:schemeClr val="bg2"/>
          </a:solidFill>
          <a:ln/>
        </p:spPr>
      </p:sp>
      <p:sp>
        <p:nvSpPr>
          <p:cNvPr id="16" name="Shape 12"/>
          <p:cNvSpPr/>
          <p:nvPr/>
        </p:nvSpPr>
        <p:spPr>
          <a:xfrm>
            <a:off x="8328965" y="1664208"/>
            <a:ext cx="457200" cy="457200"/>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8443265" y="1778508"/>
            <a:ext cx="228600" cy="228600"/>
          </a:xfrm>
          <a:prstGeom prst="rect">
            <a:avLst/>
          </a:prstGeom>
        </p:spPr>
      </p:pic>
      <p:sp>
        <p:nvSpPr>
          <p:cNvPr id="18" name="Text 13"/>
          <p:cNvSpPr txBox="1"/>
          <p:nvPr/>
        </p:nvSpPr>
        <p:spPr>
          <a:xfrm>
            <a:off x="8914181" y="1636776"/>
            <a:ext cx="2555138" cy="512064"/>
          </a:xfrm>
          <a:prstGeom prst="rect">
            <a:avLst/>
          </a:prstGeom>
          <a:noFill/>
          <a:ln/>
        </p:spPr>
        <p:txBody>
          <a:bodyPr wrap="square" lIns="0" tIns="0" rIns="0" bIns="0" rtlCol="0" anchor="ctr"/>
          <a:lstStyle/>
          <a:p>
            <a:pPr indent="0" marL="0">
              <a:buNone/>
            </a:pPr>
            <a:r>
              <a:rPr lang="en-US" sz="1500" dirty="0">
                <a:solidFill>
                  <a:schemeClr val="tx2"/>
                </a:solidFill>
                <a:latin typeface="+mj-lt" pitchFamily="34" charset="0"/>
                <a:ea typeface="+mj-lt" pitchFamily="34" charset="-122"/>
                <a:cs typeface="+mj-lt" pitchFamily="34" charset="-120"/>
              </a:rPr>
              <a:t>Retry keeps the run's settings</a:t>
            </a:r>
            <a:endParaRPr lang="en-US" sz="1500" dirty="0"/>
          </a:p>
        </p:txBody>
      </p:sp>
      <p:sp>
        <p:nvSpPr>
          <p:cNvPr id="19" name="Text 14"/>
          <p:cNvSpPr txBox="1"/>
          <p:nvPr/>
        </p:nvSpPr>
        <p:spPr>
          <a:xfrm>
            <a:off x="8328965" y="2231136"/>
            <a:ext cx="3131210" cy="1078992"/>
          </a:xfrm>
          <a:prstGeom prst="rect">
            <a:avLst/>
          </a:prstGeom>
          <a:noFill/>
          <a:ln/>
        </p:spPr>
        <p:txBody>
          <a:bodyPr wrap="square" lIns="0" tIns="0" rIns="0" bIns="0" rtlCol="0" anchor="t"/>
          <a:lstStyle/>
          <a:p>
            <a:pPr indent="0" marL="0">
              <a:buNone/>
            </a:pPr>
            <a:r>
              <a:rPr lang="en-US" sz="1250" dirty="0">
                <a:solidFill>
                  <a:schemeClr val="tx1"/>
                </a:solidFill>
              </a:rPr>
              <a:t>Retry failed re-runs failed tables with the settings the run started with. To replace rows that arrived, start a new run with Replace it.</a:t>
            </a:r>
            <a:endParaRPr lang="en-US" sz="1250" dirty="0"/>
          </a:p>
        </p:txBody>
      </p:sp>
      <p:sp>
        <p:nvSpPr>
          <p:cNvPr id="20" name="Shape 15"/>
          <p:cNvSpPr/>
          <p:nvPr/>
        </p:nvSpPr>
        <p:spPr>
          <a:xfrm>
            <a:off x="548640" y="3602736"/>
            <a:ext cx="3515258" cy="1920240"/>
          </a:xfrm>
          <a:prstGeom prst="roundRect">
            <a:avLst>
              <a:gd name="adj" fmla="val 5714"/>
            </a:avLst>
          </a:prstGeom>
          <a:solidFill>
            <a:schemeClr val="bg2"/>
          </a:solidFill>
          <a:ln/>
        </p:spPr>
      </p:sp>
      <p:sp>
        <p:nvSpPr>
          <p:cNvPr id="21" name="Shape 16"/>
          <p:cNvSpPr/>
          <p:nvPr/>
        </p:nvSpPr>
        <p:spPr>
          <a:xfrm>
            <a:off x="749808" y="3785616"/>
            <a:ext cx="457200" cy="457200"/>
          </a:xfrm>
          <a:prstGeom prst="ellipse">
            <a:avLst/>
          </a:prstGeom>
          <a:solidFill>
            <a:schemeClr val="accent1"/>
          </a:solidFill>
          <a:ln/>
        </p:spPr>
      </p:sp>
      <p:pic>
        <p:nvPicPr>
          <p:cNvPr id="22" name="Image 3" descr="preencoded.png">    </p:cNvPr>
          <p:cNvPicPr>
            <a:picLocks noChangeAspect="1"/>
          </p:cNvPicPr>
          <p:nvPr/>
        </p:nvPicPr>
        <p:blipFill>
          <a:blip r:embed="rId4"/>
          <a:stretch>
            <a:fillRect/>
          </a:stretch>
        </p:blipFill>
        <p:spPr>
          <a:xfrm>
            <a:off x="864108" y="3899916"/>
            <a:ext cx="228600" cy="228600"/>
          </a:xfrm>
          <a:prstGeom prst="rect">
            <a:avLst/>
          </a:prstGeom>
        </p:spPr>
      </p:pic>
      <p:sp>
        <p:nvSpPr>
          <p:cNvPr id="23" name="Text 17"/>
          <p:cNvSpPr txBox="1"/>
          <p:nvPr/>
        </p:nvSpPr>
        <p:spPr>
          <a:xfrm>
            <a:off x="1335024" y="3758184"/>
            <a:ext cx="2555138" cy="512064"/>
          </a:xfrm>
          <a:prstGeom prst="rect">
            <a:avLst/>
          </a:prstGeom>
          <a:noFill/>
          <a:ln/>
        </p:spPr>
        <p:txBody>
          <a:bodyPr wrap="square" lIns="0" tIns="0" rIns="0" bIns="0" rtlCol="0" anchor="ctr"/>
          <a:lstStyle/>
          <a:p>
            <a:pPr indent="0" marL="0">
              <a:buNone/>
            </a:pPr>
            <a:r>
              <a:rPr lang="en-US" sz="1500" dirty="0">
                <a:solidFill>
                  <a:schemeClr val="tx2"/>
                </a:solidFill>
                <a:latin typeface="+mj-lt" pitchFamily="34" charset="0"/>
                <a:ea typeface="+mj-lt" pitchFamily="34" charset="-122"/>
                <a:cs typeface="+mj-lt" pitchFamily="34" charset="-120"/>
              </a:rPr>
              <a:t>No Synapse sign-in</a:t>
            </a:r>
            <a:endParaRPr lang="en-US" sz="1500" dirty="0"/>
          </a:p>
        </p:txBody>
      </p:sp>
      <p:sp>
        <p:nvSpPr>
          <p:cNvPr id="24" name="Text 18"/>
          <p:cNvSpPr txBox="1"/>
          <p:nvPr/>
        </p:nvSpPr>
        <p:spPr>
          <a:xfrm>
            <a:off x="749808" y="4352544"/>
            <a:ext cx="3131210" cy="1078992"/>
          </a:xfrm>
          <a:prstGeom prst="rect">
            <a:avLst/>
          </a:prstGeom>
          <a:noFill/>
          <a:ln/>
        </p:spPr>
        <p:txBody>
          <a:bodyPr wrap="square" lIns="0" tIns="0" rIns="0" bIns="0" rtlCol="0" anchor="t"/>
          <a:lstStyle/>
          <a:p>
            <a:pPr indent="0" marL="0">
              <a:buNone/>
            </a:pPr>
            <a:r>
              <a:rPr lang="en-US" sz="1250" dirty="0">
                <a:solidFill>
                  <a:schemeClr val="tx1"/>
                </a:solidFill>
              </a:rPr>
              <a:t>Plain tables still load, but their counts are not compared. Synced tables fail until Synapse is connected.</a:t>
            </a:r>
            <a:endParaRPr lang="en-US" sz="1250" dirty="0"/>
          </a:p>
        </p:txBody>
      </p:sp>
      <p:sp>
        <p:nvSpPr>
          <p:cNvPr id="25" name="Shape 19"/>
          <p:cNvSpPr/>
          <p:nvPr/>
        </p:nvSpPr>
        <p:spPr>
          <a:xfrm>
            <a:off x="4338218" y="3602736"/>
            <a:ext cx="3515258" cy="1920240"/>
          </a:xfrm>
          <a:prstGeom prst="roundRect">
            <a:avLst>
              <a:gd name="adj" fmla="val 5714"/>
            </a:avLst>
          </a:prstGeom>
          <a:solidFill>
            <a:schemeClr val="bg2"/>
          </a:solidFill>
          <a:ln/>
        </p:spPr>
      </p:sp>
      <p:sp>
        <p:nvSpPr>
          <p:cNvPr id="26" name="Shape 20"/>
          <p:cNvSpPr/>
          <p:nvPr/>
        </p:nvSpPr>
        <p:spPr>
          <a:xfrm>
            <a:off x="4539386" y="3785616"/>
            <a:ext cx="457200" cy="457200"/>
          </a:xfrm>
          <a:prstGeom prst="ellipse">
            <a:avLst/>
          </a:prstGeom>
          <a:solidFill>
            <a:schemeClr val="accent1"/>
          </a:solidFill>
          <a:ln/>
        </p:spPr>
      </p:sp>
      <p:pic>
        <p:nvPicPr>
          <p:cNvPr id="27" name="Image 4" descr="preencoded.png">    </p:cNvPr>
          <p:cNvPicPr>
            <a:picLocks noChangeAspect="1"/>
          </p:cNvPicPr>
          <p:nvPr/>
        </p:nvPicPr>
        <p:blipFill>
          <a:blip r:embed="rId5"/>
          <a:stretch>
            <a:fillRect/>
          </a:stretch>
        </p:blipFill>
        <p:spPr>
          <a:xfrm>
            <a:off x="4653686" y="3899916"/>
            <a:ext cx="228600" cy="228600"/>
          </a:xfrm>
          <a:prstGeom prst="rect">
            <a:avLst/>
          </a:prstGeom>
        </p:spPr>
      </p:pic>
      <p:sp>
        <p:nvSpPr>
          <p:cNvPr id="28" name="Text 21"/>
          <p:cNvSpPr txBox="1"/>
          <p:nvPr/>
        </p:nvSpPr>
        <p:spPr>
          <a:xfrm>
            <a:off x="5124602" y="3758184"/>
            <a:ext cx="2555138" cy="512064"/>
          </a:xfrm>
          <a:prstGeom prst="rect">
            <a:avLst/>
          </a:prstGeom>
          <a:noFill/>
          <a:ln/>
        </p:spPr>
        <p:txBody>
          <a:bodyPr wrap="square" lIns="0" tIns="0" rIns="0" bIns="0" rtlCol="0" anchor="ctr"/>
          <a:lstStyle/>
          <a:p>
            <a:pPr indent="0" marL="0">
              <a:buNone/>
            </a:pPr>
            <a:r>
              <a:rPr lang="en-US" sz="1500" dirty="0">
                <a:solidFill>
                  <a:schemeClr val="tx2"/>
                </a:solidFill>
                <a:latin typeface="+mj-lt" pitchFamily="34" charset="0"/>
                <a:ea typeface="+mj-lt" pitchFamily="34" charset="-122"/>
                <a:cs typeface="+mj-lt" pitchFamily="34" charset="-120"/>
              </a:rPr>
              <a:t>After six hours</a:t>
            </a:r>
            <a:endParaRPr lang="en-US" sz="1500" dirty="0"/>
          </a:p>
        </p:txBody>
      </p:sp>
      <p:sp>
        <p:nvSpPr>
          <p:cNvPr id="29" name="Text 22"/>
          <p:cNvSpPr txBox="1"/>
          <p:nvPr/>
        </p:nvSpPr>
        <p:spPr>
          <a:xfrm>
            <a:off x="4539386" y="4352544"/>
            <a:ext cx="3131210" cy="1078992"/>
          </a:xfrm>
          <a:prstGeom prst="rect">
            <a:avLst/>
          </a:prstGeom>
          <a:noFill/>
          <a:ln/>
        </p:spPr>
        <p:txBody>
          <a:bodyPr wrap="square" lIns="0" tIns="0" rIns="0" bIns="0" rtlCol="0" anchor="t"/>
          <a:lstStyle/>
          <a:p>
            <a:pPr indent="0" marL="0">
              <a:buNone/>
            </a:pPr>
            <a:r>
              <a:rPr lang="en-US" sz="1250" dirty="0">
                <a:solidFill>
                  <a:schemeClr val="tx1"/>
                </a:solidFill>
              </a:rPr>
              <a:t>The tool stops waiting and fails the tables, but the Fabric run carries on. A retry with Skip it then skips tables that have rows, uncounted.</a:t>
            </a:r>
            <a:endParaRPr lang="en-US" sz="1250" dirty="0"/>
          </a:p>
        </p:txBody>
      </p:sp>
      <p:sp>
        <p:nvSpPr>
          <p:cNvPr id="30" name="Shape 23"/>
          <p:cNvSpPr/>
          <p:nvPr/>
        </p:nvSpPr>
        <p:spPr>
          <a:xfrm>
            <a:off x="8127797" y="3602736"/>
            <a:ext cx="3515258" cy="1920240"/>
          </a:xfrm>
          <a:prstGeom prst="roundRect">
            <a:avLst>
              <a:gd name="adj" fmla="val 5714"/>
            </a:avLst>
          </a:prstGeom>
          <a:solidFill>
            <a:schemeClr val="bg2"/>
          </a:solidFill>
          <a:ln/>
        </p:spPr>
      </p:sp>
      <p:sp>
        <p:nvSpPr>
          <p:cNvPr id="31" name="Shape 24"/>
          <p:cNvSpPr/>
          <p:nvPr/>
        </p:nvSpPr>
        <p:spPr>
          <a:xfrm>
            <a:off x="8328965" y="3785616"/>
            <a:ext cx="457200" cy="457200"/>
          </a:xfrm>
          <a:prstGeom prst="ellipse">
            <a:avLst/>
          </a:prstGeom>
          <a:solidFill>
            <a:schemeClr val="accent1"/>
          </a:solidFill>
          <a:ln/>
        </p:spPr>
      </p:sp>
      <p:pic>
        <p:nvPicPr>
          <p:cNvPr id="32" name="Image 5" descr="preencoded.png">    </p:cNvPr>
          <p:cNvPicPr>
            <a:picLocks noChangeAspect="1"/>
          </p:cNvPicPr>
          <p:nvPr/>
        </p:nvPicPr>
        <p:blipFill>
          <a:blip r:embed="rId6"/>
          <a:stretch>
            <a:fillRect/>
          </a:stretch>
        </p:blipFill>
        <p:spPr>
          <a:xfrm>
            <a:off x="8443265" y="3899916"/>
            <a:ext cx="228600" cy="228600"/>
          </a:xfrm>
          <a:prstGeom prst="rect">
            <a:avLst/>
          </a:prstGeom>
        </p:spPr>
      </p:pic>
      <p:sp>
        <p:nvSpPr>
          <p:cNvPr id="33" name="Text 25"/>
          <p:cNvSpPr txBox="1"/>
          <p:nvPr/>
        </p:nvSpPr>
        <p:spPr>
          <a:xfrm>
            <a:off x="8914181" y="3758184"/>
            <a:ext cx="2555138" cy="512064"/>
          </a:xfrm>
          <a:prstGeom prst="rect">
            <a:avLst/>
          </a:prstGeom>
          <a:noFill/>
          <a:ln/>
        </p:spPr>
        <p:txBody>
          <a:bodyPr wrap="square" lIns="0" tIns="0" rIns="0" bIns="0" rtlCol="0" anchor="ctr"/>
          <a:lstStyle/>
          <a:p>
            <a:pPr indent="0" marL="0">
              <a:buNone/>
            </a:pPr>
            <a:r>
              <a:rPr lang="en-US" sz="1500" dirty="0">
                <a:solidFill>
                  <a:schemeClr val="tx2"/>
                </a:solidFill>
                <a:latin typeface="+mj-lt" pitchFamily="34" charset="0"/>
                <a:ea typeface="+mj-lt" pitchFamily="34" charset="-122"/>
                <a:cs typeface="+mj-lt" pitchFamily="34" charset="-120"/>
              </a:rPr>
              <a:t>Sync settings are frozen</a:t>
            </a:r>
            <a:endParaRPr lang="en-US" sz="1500" dirty="0"/>
          </a:p>
        </p:txBody>
      </p:sp>
      <p:sp>
        <p:nvSpPr>
          <p:cNvPr id="34" name="Text 26"/>
          <p:cNvSpPr txBox="1"/>
          <p:nvPr/>
        </p:nvSpPr>
        <p:spPr>
          <a:xfrm>
            <a:off x="8328965" y="4352544"/>
            <a:ext cx="3131210" cy="1078992"/>
          </a:xfrm>
          <a:prstGeom prst="rect">
            <a:avLst/>
          </a:prstGeom>
          <a:noFill/>
          <a:ln/>
        </p:spPr>
        <p:txBody>
          <a:bodyPr wrap="square" lIns="0" tIns="0" rIns="0" bIns="0" rtlCol="0" anchor="t"/>
          <a:lstStyle/>
          <a:p>
            <a:pPr indent="0" marL="0">
              <a:buNone/>
            </a:pPr>
            <a:r>
              <a:rPr lang="en-US" sz="1250" dirty="0">
                <a:solidFill>
                  <a:schemeClr val="tx1"/>
                </a:solidFill>
              </a:rPr>
              <a:t>Each synced table's SQL, re-read window included, is fixed when it is registered. A change applies after a Replace it reload.</a:t>
            </a:r>
            <a:endParaRPr lang="en-US" sz="1250" dirty="0"/>
          </a:p>
        </p:txBody>
      </p:sp>
      <p:sp>
        <p:nvSpPr>
          <p:cNvPr id="35" name="Shape 27"/>
          <p:cNvSpPr/>
          <p:nvPr/>
        </p:nvSpPr>
        <p:spPr>
          <a:xfrm>
            <a:off x="548640" y="5687568"/>
            <a:ext cx="11094415" cy="512064"/>
          </a:xfrm>
          <a:prstGeom prst="roundRect">
            <a:avLst>
              <a:gd name="adj" fmla="val 21429"/>
            </a:avLst>
          </a:prstGeom>
          <a:solidFill>
            <a:schemeClr val="accent1">
              <a:alpha val="13000"/>
            </a:schemeClr>
          </a:solidFill>
          <a:ln/>
        </p:spPr>
      </p:sp>
      <p:sp>
        <p:nvSpPr>
          <p:cNvPr id="36" name="Text 28"/>
          <p:cNvSpPr txBox="1"/>
          <p:nvPr/>
        </p:nvSpPr>
        <p:spPr>
          <a:xfrm>
            <a:off x="777240" y="5687568"/>
            <a:ext cx="10637215" cy="512064"/>
          </a:xfrm>
          <a:prstGeom prst="rect">
            <a:avLst/>
          </a:prstGeom>
          <a:noFill/>
          <a:ln/>
        </p:spPr>
        <p:txBody>
          <a:bodyPr wrap="square" lIns="0" tIns="0" rIns="0" bIns="0" rtlCol="0" anchor="ctr"/>
          <a:lstStyle/>
          <a:p>
            <a:pPr indent="0" marL="0">
              <a:buNone/>
            </a:pPr>
            <a:r>
              <a:rPr lang="en-US" sz="1250" b="1" dirty="0">
                <a:solidFill>
                  <a:schemeClr val="tx2"/>
                </a:solidFill>
              </a:rPr>
              <a:t>Why it matters:  </a:t>
            </a:r>
            <a:pPr indent="0" marL="0">
              <a:buNone/>
            </a:pPr>
            <a:r>
              <a:rPr lang="en-US" sz="1250" dirty="0">
                <a:solidFill>
                  <a:schemeClr val="tx1"/>
                </a:solidFill>
              </a:rPr>
              <a:t>each is a place where a count can look right while the data is not, or where a changed setting does not apply yet.</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53</a:t>
            </a:fld>
            <a:endParaRPr lang="en-US"/>
          </a:p>
        </p:txBody>
      </p:sp>
    </p:spTree>
  </p:cSld>
  <p:clrMapOvr>
    <a:masterClrMapping/>
  </p:clrMapOvr>
  <p:transition spd="med">
    <p:fade/>
  </p:transition>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05 · ITEM BY ITEM</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Spark pools → a Fabric pool and an Environment</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migration/environments.py · runner.py: _environment</a:t>
            </a:r>
            <a:endParaRPr lang="en-US" sz="1100" dirty="0"/>
          </a:p>
        </p:txBody>
      </p:sp>
      <p:sp>
        <p:nvSpPr>
          <p:cNvPr id="5" name="Shape 3"/>
          <p:cNvSpPr/>
          <p:nvPr/>
        </p:nvSpPr>
        <p:spPr>
          <a:xfrm>
            <a:off x="548640" y="1481328"/>
            <a:ext cx="3017520" cy="4069080"/>
          </a:xfrm>
          <a:prstGeom prst="roundRect">
            <a:avLst>
              <a:gd name="adj" fmla="val 3636"/>
            </a:avLst>
          </a:prstGeom>
          <a:solidFill>
            <a:schemeClr val="accent2">
              <a:alpha val="9000"/>
            </a:schemeClr>
          </a:solidFill>
          <a:ln/>
        </p:spPr>
      </p:sp>
      <p:sp>
        <p:nvSpPr>
          <p:cNvPr id="6" name="Text 4"/>
          <p:cNvSpPr txBox="1"/>
          <p:nvPr/>
        </p:nvSpPr>
        <p:spPr>
          <a:xfrm>
            <a:off x="777240" y="1664208"/>
            <a:ext cx="2560320" cy="237744"/>
          </a:xfrm>
          <a:prstGeom prst="rect">
            <a:avLst/>
          </a:prstGeom>
          <a:noFill/>
          <a:ln/>
        </p:spPr>
        <p:txBody>
          <a:bodyPr wrap="square" lIns="0" tIns="0" rIns="0" bIns="0" rtlCol="0" anchor="t"/>
          <a:lstStyle/>
          <a:p>
            <a:pPr indent="0" marL="0">
              <a:buNone/>
            </a:pPr>
            <a:r>
              <a:rPr lang="en-US" sz="1100" b="1" spc="100" kern="0" dirty="0">
                <a:solidFill>
                  <a:schemeClr val="accent2"/>
                </a:solidFill>
              </a:rPr>
              <a:t>IN SYNAPSE</a:t>
            </a:r>
            <a:endParaRPr lang="en-US" sz="1100" dirty="0"/>
          </a:p>
        </p:txBody>
      </p:sp>
      <p:sp>
        <p:nvSpPr>
          <p:cNvPr id="7" name="Text 5"/>
          <p:cNvSpPr txBox="1"/>
          <p:nvPr/>
        </p:nvSpPr>
        <p:spPr>
          <a:xfrm>
            <a:off x="777240" y="1938528"/>
            <a:ext cx="2560320" cy="384048"/>
          </a:xfrm>
          <a:prstGeom prst="rect">
            <a:avLst/>
          </a:prstGeom>
          <a:noFill/>
          <a:ln/>
        </p:spPr>
        <p:txBody>
          <a:bodyPr wrap="square" lIns="0" tIns="0" rIns="0" bIns="0" rtlCol="0" anchor="t"/>
          <a:lstStyle/>
          <a:p>
            <a:pPr indent="0" marL="0">
              <a:buNone/>
            </a:pPr>
            <a:r>
              <a:rPr lang="en-US" sz="1700" dirty="0">
                <a:solidFill>
                  <a:schemeClr val="tx2"/>
                </a:solidFill>
                <a:latin typeface="+mj-lt" pitchFamily="34" charset="0"/>
                <a:ea typeface="+mj-lt" pitchFamily="34" charset="-122"/>
                <a:cs typeface="+mj-lt" pitchFamily="34" charset="-120"/>
              </a:rPr>
              <a:t>Apache Spark pool</a:t>
            </a:r>
            <a:endParaRPr lang="en-US" sz="1700" dirty="0"/>
          </a:p>
        </p:txBody>
      </p:sp>
      <p:sp>
        <p:nvSpPr>
          <p:cNvPr id="8" name="Text 6"/>
          <p:cNvSpPr txBox="1"/>
          <p:nvPr/>
        </p:nvSpPr>
        <p:spPr>
          <a:xfrm>
            <a:off x="749808" y="2441448"/>
            <a:ext cx="2633472" cy="297180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1"/>
                </a:solidFill>
              </a:rPr>
              <a:t>Format: an ARM resource (bigDataPools)</a:t>
            </a:r>
            <a:endParaRPr lang="en-US" sz="1400" dirty="0"/>
          </a:p>
          <a:p>
            <a:pPr marL="177800" indent="-177800">
              <a:spcAft>
                <a:spcPts val="400"/>
              </a:spcAft>
              <a:buSzPct val="100000"/>
              <a:buChar char="•"/>
            </a:pPr>
            <a:r>
              <a:rPr lang="en-US" sz="1200" dirty="0">
                <a:solidFill>
                  <a:schemeClr val="tx1"/>
                </a:solidFill>
              </a:rPr>
              <a:t>nodeSize, nodeSizeFamily, autoScale or nodeCount</a:t>
            </a:r>
            <a:endParaRPr lang="en-US" sz="1400" dirty="0"/>
          </a:p>
          <a:p>
            <a:pPr marL="177800" indent="-177800">
              <a:spcAft>
                <a:spcPts val="400"/>
              </a:spcAft>
              <a:buSzPct val="100000"/>
              <a:buChar char="•"/>
            </a:pPr>
            <a:r>
              <a:rPr lang="en-US" sz="1200" dirty="0">
                <a:solidFill>
                  <a:schemeClr val="tx1"/>
                </a:solidFill>
              </a:rPr>
              <a:t>dynamicExecutorAllocation, sparkVersion</a:t>
            </a:r>
            <a:endParaRPr lang="en-US" sz="1400" dirty="0"/>
          </a:p>
          <a:p>
            <a:pPr marL="177800" indent="-177800">
              <a:spcAft>
                <a:spcPts val="400"/>
              </a:spcAft>
              <a:buSzPct val="100000"/>
              <a:buChar char="•"/>
            </a:pPr>
            <a:r>
              <a:rPr lang="en-US" sz="1200" dirty="0">
                <a:solidFill>
                  <a:schemeClr val="tx1"/>
                </a:solidFill>
              </a:rPr>
              <a:t>autoPause, library requirements</a:t>
            </a:r>
            <a:endParaRPr lang="en-US" sz="14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3749040" y="1481328"/>
          <a:ext cx="4800600" cy="914400"/>
        </p:xfrm>
        <a:graphic>
          <a:graphicData uri="http://schemas.openxmlformats.org/drawingml/2006/table">
            <a:tbl>
              <a:tblPr/>
              <a:tblGrid>
                <a:gridCol w="1600200"/>
                <a:gridCol w="3200400"/>
              </a:tblGrid>
              <a:tr h="310896">
                <a:tc>
                  <a:txBody>
                    <a:bodyPr/>
                    <a:lstStyle/>
                    <a:p>
                      <a:pPr indent="0" marL="0">
                        <a:buNone/>
                      </a:pPr>
                      <a:r>
                        <a:rPr lang="en-US" sz="1150" b="1" dirty="0">
                          <a:solidFill>
                            <a:schemeClr val="bg1"/>
                          </a:solidFill>
                        </a:rPr>
                        <a:t>Setting</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indent="0" marL="0">
                        <a:buNone/>
                      </a:pPr>
                      <a:r>
                        <a:rPr lang="en-US" sz="1150" b="1" dirty="0">
                          <a:solidFill>
                            <a:schemeClr val="bg1"/>
                          </a:solidFill>
                        </a:rPr>
                        <a:t>In Fabric</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r>
              <a:tr h="731520">
                <a:tc>
                  <a:txBody>
                    <a:bodyPr/>
                    <a:lstStyle/>
                    <a:p>
                      <a:pPr indent="0" marL="0">
                        <a:buNone/>
                      </a:pPr>
                      <a:r>
                        <a:rPr lang="en-US" sz="1150" b="1" dirty="0">
                          <a:solidFill>
                            <a:schemeClr val="tx2"/>
                          </a:solidFill>
                        </a:rPr>
                        <a:t>Node size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Small 4 cores, 28 GB · Medium 8, 56 · Large 16, 112 · XLarge 32, 224 · XXLarge 64, 400; unknown → Medium</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411480">
                <a:tc>
                  <a:txBody>
                    <a:bodyPr/>
                    <a:lstStyle/>
                    <a:p>
                      <a:pPr indent="0" marL="0">
                        <a:buNone/>
                      </a:pPr>
                      <a:r>
                        <a:rPr lang="en-US" sz="1150" b="1" dirty="0">
                          <a:solidFill>
                            <a:schemeClr val="tx2"/>
                          </a:solidFill>
                        </a:rPr>
                        <a:t>Node family</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Memory optimized (others noted)</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411480">
                <a:tc>
                  <a:txBody>
                    <a:bodyPr/>
                    <a:lstStyle/>
                    <a:p>
                      <a:pPr indent="0" marL="0">
                        <a:buNone/>
                      </a:pPr>
                      <a:r>
                        <a:rPr lang="en-US" sz="1150" b="1" dirty="0">
                          <a:solidFill>
                            <a:schemeClr val="tx2"/>
                          </a:solidFill>
                        </a:rPr>
                        <a:t>Scale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Autoscale, same min and max; a fixed size becomes min = max</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411480">
                <a:tc>
                  <a:txBody>
                    <a:bodyPr/>
                    <a:lstStyle/>
                    <a:p>
                      <a:pPr indent="0" marL="0">
                        <a:buNone/>
                      </a:pPr>
                      <a:r>
                        <a:rPr lang="en-US" sz="1150" b="1" dirty="0">
                          <a:solidFill>
                            <a:schemeClr val="tx2"/>
                          </a:solidFill>
                        </a:rPr>
                        <a:t>Executors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Dynamic allocation kept, min and max</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548640">
                <a:tc>
                  <a:txBody>
                    <a:bodyPr/>
                    <a:lstStyle/>
                    <a:p>
                      <a:pPr indent="0" marL="0">
                        <a:buNone/>
                      </a:pPr>
                      <a:r>
                        <a:rPr lang="en-US" sz="1150" b="1" dirty="0">
                          <a:solidFill>
                            <a:schemeClr val="tx2"/>
                          </a:solidFill>
                        </a:rPr>
                        <a:t>Spark version</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3.5 → Runtime 1.3; 3.1 to 3.4 → Runtime 1.2; unknown → 1.3</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411480">
                <a:tc>
                  <a:txBody>
                    <a:bodyPr/>
                    <a:lstStyle/>
                    <a:p>
                      <a:pPr indent="0" marL="0">
                        <a:buNone/>
                      </a:pPr>
                      <a:r>
                        <a:rPr lang="en-US" sz="1150" b="1" dirty="0">
                          <a:solidFill>
                            <a:schemeClr val="tx2"/>
                          </a:solidFill>
                        </a:rPr>
                        <a:t>Auto-pause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Dropped: Fabric ends idle sessions itself</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411480">
                <a:tc>
                  <a:txBody>
                    <a:bodyPr/>
                    <a:lstStyle/>
                    <a:p>
                      <a:pPr indent="0" marL="0">
                        <a:buNone/>
                      </a:pPr>
                      <a:r>
                        <a:rPr lang="en-US" sz="1150" b="1" dirty="0">
                          <a:solidFill>
                            <a:schemeClr val="tx2"/>
                          </a:solidFill>
                        </a:rPr>
                        <a:t>Libraries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Not copied: add them to the Environment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bl>
          </a:graphicData>
        </a:graphic>
      </p:graphicFrame>
      <p:sp>
        <p:nvSpPr>
          <p:cNvPr id="10" name="Shape 7"/>
          <p:cNvSpPr/>
          <p:nvPr/>
        </p:nvSpPr>
        <p:spPr>
          <a:xfrm>
            <a:off x="8732520" y="1481328"/>
            <a:ext cx="2907792" cy="4069080"/>
          </a:xfrm>
          <a:prstGeom prst="roundRect">
            <a:avLst>
              <a:gd name="adj" fmla="val 3774"/>
            </a:avLst>
          </a:prstGeom>
          <a:solidFill>
            <a:schemeClr val="accent1">
              <a:alpha val="10000"/>
            </a:schemeClr>
          </a:solidFill>
          <a:ln/>
        </p:spPr>
      </p:sp>
      <p:sp>
        <p:nvSpPr>
          <p:cNvPr id="11" name="Text 8"/>
          <p:cNvSpPr txBox="1"/>
          <p:nvPr/>
        </p:nvSpPr>
        <p:spPr>
          <a:xfrm>
            <a:off x="8961120" y="1664208"/>
            <a:ext cx="2450592" cy="237744"/>
          </a:xfrm>
          <a:prstGeom prst="rect">
            <a:avLst/>
          </a:prstGeom>
          <a:noFill/>
          <a:ln/>
        </p:spPr>
        <p:txBody>
          <a:bodyPr wrap="square" lIns="0" tIns="0" rIns="0" bIns="0" rtlCol="0" anchor="t"/>
          <a:lstStyle/>
          <a:p>
            <a:pPr indent="0" marL="0">
              <a:buNone/>
            </a:pPr>
            <a:r>
              <a:rPr lang="en-US" sz="1100" b="1" spc="100" kern="0" dirty="0">
                <a:solidFill>
                  <a:schemeClr val="accent1"/>
                </a:solidFill>
              </a:rPr>
              <a:t>IN FABRIC</a:t>
            </a:r>
            <a:endParaRPr lang="en-US" sz="1100" dirty="0"/>
          </a:p>
        </p:txBody>
      </p:sp>
      <p:sp>
        <p:nvSpPr>
          <p:cNvPr id="12" name="Text 9"/>
          <p:cNvSpPr txBox="1"/>
          <p:nvPr/>
        </p:nvSpPr>
        <p:spPr>
          <a:xfrm>
            <a:off x="8961120" y="1938528"/>
            <a:ext cx="2450592" cy="384048"/>
          </a:xfrm>
          <a:prstGeom prst="rect">
            <a:avLst/>
          </a:prstGeom>
          <a:noFill/>
          <a:ln/>
        </p:spPr>
        <p:txBody>
          <a:bodyPr wrap="square" lIns="0" tIns="0" rIns="0" bIns="0" rtlCol="0" anchor="t"/>
          <a:lstStyle/>
          <a:p>
            <a:pPr indent="0" marL="0">
              <a:buNone/>
            </a:pPr>
            <a:r>
              <a:rPr lang="en-US" sz="1700" dirty="0">
                <a:solidFill>
                  <a:schemeClr val="tx2"/>
                </a:solidFill>
                <a:latin typeface="+mj-lt" pitchFamily="34" charset="0"/>
                <a:ea typeface="+mj-lt" pitchFamily="34" charset="-122"/>
                <a:cs typeface="+mj-lt" pitchFamily="34" charset="-120"/>
              </a:rPr>
              <a:t>Pool + Environment</a:t>
            </a:r>
            <a:endParaRPr lang="en-US" sz="1700" dirty="0"/>
          </a:p>
        </p:txBody>
      </p:sp>
      <p:sp>
        <p:nvSpPr>
          <p:cNvPr id="13" name="Text 10"/>
          <p:cNvSpPr txBox="1"/>
          <p:nvPr/>
        </p:nvSpPr>
        <p:spPr>
          <a:xfrm>
            <a:off x="8933688" y="2441448"/>
            <a:ext cx="2523744" cy="297180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1"/>
                </a:solidFill>
              </a:rPr>
              <a:t>POST /spark/pools, only if no pool of that name exists: node family and size, autoscale, executors</a:t>
            </a:r>
            <a:endParaRPr lang="en-US" sz="1400" dirty="0"/>
          </a:p>
          <a:p>
            <a:pPr marL="177800" indent="-177800">
              <a:spcAft>
                <a:spcPts val="400"/>
              </a:spcAft>
              <a:buSzPct val="100000"/>
              <a:buChar char="•"/>
            </a:pPr>
            <a:r>
              <a:rPr lang="en-US" sz="1200" dirty="0">
                <a:solidFill>
                  <a:schemeClr val="tx1"/>
                </a:solidFill>
              </a:rPr>
              <a:t>POST /environments, PATCH its staged Spark compute (cores, memory, runtime, pool), then publish</a:t>
            </a:r>
            <a:endParaRPr lang="en-US" sz="1400" dirty="0"/>
          </a:p>
          <a:p>
            <a:pPr marL="177800" indent="-177800">
              <a:spcAft>
                <a:spcPts val="400"/>
              </a:spcAft>
              <a:buSzPct val="100000"/>
              <a:buChar char="•"/>
            </a:pPr>
            <a:r>
              <a:rPr lang="en-US" sz="1200" dirty="0">
                <a:solidFill>
                  <a:schemeClr val="tx1"/>
                </a:solidFill>
              </a:rPr>
              <a:t>Custom pool refused? The Environment uses the Starter Pool (Medium, 1 to 9 executors)</a:t>
            </a:r>
            <a:endParaRPr lang="en-US" sz="1400" dirty="0"/>
          </a:p>
        </p:txBody>
      </p:sp>
      <p:sp>
        <p:nvSpPr>
          <p:cNvPr id="14" name="Shape 11"/>
          <p:cNvSpPr/>
          <p:nvPr/>
        </p:nvSpPr>
        <p:spPr>
          <a:xfrm>
            <a:off x="548640" y="5687568"/>
            <a:ext cx="11094415" cy="512064"/>
          </a:xfrm>
          <a:prstGeom prst="roundRect">
            <a:avLst>
              <a:gd name="adj" fmla="val 21429"/>
            </a:avLst>
          </a:prstGeom>
          <a:solidFill>
            <a:schemeClr val="accent1">
              <a:alpha val="13000"/>
            </a:schemeClr>
          </a:solidFill>
          <a:ln/>
        </p:spPr>
      </p:sp>
      <p:sp>
        <p:nvSpPr>
          <p:cNvPr id="15" name="Text 12"/>
          <p:cNvSpPr txBox="1"/>
          <p:nvPr/>
        </p:nvSpPr>
        <p:spPr>
          <a:xfrm>
            <a:off x="777240" y="5687568"/>
            <a:ext cx="10637215" cy="512064"/>
          </a:xfrm>
          <a:prstGeom prst="rect">
            <a:avLst/>
          </a:prstGeom>
          <a:noFill/>
          <a:ln/>
        </p:spPr>
        <p:txBody>
          <a:bodyPr wrap="square" lIns="0" tIns="0" rIns="0" bIns="0" rtlCol="0" anchor="ctr"/>
          <a:lstStyle/>
          <a:p>
            <a:pPr indent="0" marL="0">
              <a:buNone/>
            </a:pPr>
            <a:r>
              <a:rPr lang="en-US" sz="1250" b="1" dirty="0">
                <a:solidFill>
                  <a:schemeClr val="tx2"/>
                </a:solidFill>
              </a:rPr>
              <a:t>Afterwards:  </a:t>
            </a:r>
            <a:pPr indent="0" marL="0">
              <a:buNone/>
            </a:pPr>
            <a:r>
              <a:rPr lang="en-US" sz="1250" dirty="0">
                <a:solidFill>
                  <a:schemeClr val="tx1"/>
                </a:solidFill>
              </a:rPr>
              <a:t>Spark job definitions attach to the Environment; notebooks do not. Validate: a missing pool is MISMATCH; a different size or scale is REVIEW.</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54</a:t>
            </a:fld>
            <a:endParaRPr lang="en-US"/>
          </a:p>
        </p:txBody>
      </p:sp>
    </p:spTree>
  </p:cSld>
  <p:clrMapOvr>
    <a:masterClrMapping/>
  </p:clrMapOvr>
  <p:transition spd="med">
    <p:fade/>
  </p:transition>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05 · ITEM BY ITEM</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Notebooks → Fabric notebooks</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migration/notebooks.py: to_fabric_ipynb</a:t>
            </a:r>
            <a:endParaRPr lang="en-US" sz="1100" dirty="0"/>
          </a:p>
        </p:txBody>
      </p:sp>
      <p:sp>
        <p:nvSpPr>
          <p:cNvPr id="5" name="Shape 3"/>
          <p:cNvSpPr/>
          <p:nvPr/>
        </p:nvSpPr>
        <p:spPr>
          <a:xfrm>
            <a:off x="548640" y="1463040"/>
            <a:ext cx="3246120" cy="4114800"/>
          </a:xfrm>
          <a:prstGeom prst="roundRect">
            <a:avLst>
              <a:gd name="adj" fmla="val 3380"/>
            </a:avLst>
          </a:prstGeom>
          <a:solidFill>
            <a:schemeClr val="accent2">
              <a:alpha val="9000"/>
            </a:schemeClr>
          </a:solidFill>
          <a:ln/>
        </p:spPr>
      </p:sp>
      <p:sp>
        <p:nvSpPr>
          <p:cNvPr id="6" name="Text 4"/>
          <p:cNvSpPr txBox="1"/>
          <p:nvPr/>
        </p:nvSpPr>
        <p:spPr>
          <a:xfrm>
            <a:off x="749808" y="1627632"/>
            <a:ext cx="2880360" cy="3840480"/>
          </a:xfrm>
          <a:prstGeom prst="rect">
            <a:avLst/>
          </a:prstGeom>
          <a:noFill/>
          <a:ln/>
        </p:spPr>
        <p:txBody>
          <a:bodyPr wrap="square" lIns="0" tIns="0" rIns="0" bIns="0" rtlCol="0" anchor="t"/>
          <a:lstStyle/>
          <a:p>
            <a:pPr indent="0" marL="0">
              <a:buNone/>
            </a:pPr>
            <a:r>
              <a:rPr lang="en-US" sz="1100" b="1" spc="100" kern="0" dirty="0">
                <a:solidFill>
                  <a:schemeClr val="accent2"/>
                </a:solidFill>
              </a:rPr>
              <a:t>IN SYNAPSE</a:t>
            </a:r>
            <a:endParaRPr lang="en-US" sz="1400" dirty="0"/>
          </a:p>
          <a:p>
            <a:pPr indent="0" marL="0">
              <a:spcBef>
                <a:spcPts val="400"/>
              </a:spcBef>
              <a:buNone/>
            </a:pPr>
            <a:r>
              <a:rPr lang="en-US" sz="1600" dirty="0">
                <a:solidFill>
                  <a:schemeClr val="tx2"/>
                </a:solidFill>
                <a:latin typeface="+mj-lt" pitchFamily="34" charset="0"/>
                <a:ea typeface="+mj-lt" pitchFamily="34" charset="-122"/>
                <a:cs typeface="+mj-lt" pitchFamily="34" charset="-120"/>
              </a:rPr>
              <a:t>Notebook</a:t>
            </a:r>
            <a:endParaRPr lang="en-US" sz="1400" dirty="0"/>
          </a:p>
          <a:p>
            <a:pPr indent="0" marL="0">
              <a:spcBef>
                <a:spcPts val="800"/>
              </a:spcBef>
              <a:buNone/>
            </a:pPr>
            <a:r>
              <a:rPr lang="en-US" sz="1050" b="1" dirty="0">
                <a:solidFill>
                  <a:schemeClr val="accent6"/>
                </a:solidFill>
              </a:rPr>
              <a:t>Format</a:t>
            </a:r>
            <a:endParaRPr lang="en-US" sz="1400" dirty="0"/>
          </a:p>
          <a:p>
            <a:pPr indent="0" marL="0">
              <a:buNone/>
            </a:pPr>
            <a:r>
              <a:rPr lang="en-US" sz="1200" dirty="0">
                <a:solidFill>
                  <a:schemeClr val="tx1"/>
                </a:solidFill>
              </a:rPr>
              <a:t>Synapse resource JSON: properties.cells, metadata (language_info, kernelspec), nbformat, bigDataPool, sessionProperties, folder</a:t>
            </a:r>
            <a:endParaRPr lang="en-US" sz="1400" dirty="0"/>
          </a:p>
          <a:p>
            <a:pPr marL="139700" indent="-139700">
              <a:spcBef>
                <a:spcPts val="900"/>
              </a:spcBef>
              <a:buSzPct val="100000"/>
              <a:buChar char="•"/>
            </a:pPr>
            <a:r>
              <a:rPr lang="en-US" sz="1200" dirty="0">
                <a:solidFill>
                  <a:schemeClr val="tx1"/>
                </a:solidFill>
              </a:rPr>
              <a:t>Attached to a Spark pool</a:t>
            </a:r>
            <a:endParaRPr lang="en-US" sz="1400" dirty="0"/>
          </a:p>
          <a:p>
            <a:pPr marL="139700" indent="-139700">
              <a:spcBef>
                <a:spcPts val="400"/>
              </a:spcBef>
              <a:buSzPct val="100000"/>
              <a:buChar char="•"/>
            </a:pPr>
            <a:r>
              <a:rPr lang="en-US" sz="1200" dirty="0">
                <a:solidFill>
                  <a:schemeClr val="tx1"/>
                </a:solidFill>
              </a:rPr>
              <a:t>PySpark, Scala, Spark SQL, SparkR or .NET (C#)</a:t>
            </a:r>
            <a:endParaRPr lang="en-US" sz="1400" dirty="0"/>
          </a:p>
          <a:p>
            <a:pPr marL="139700" indent="-139700">
              <a:spcBef>
                <a:spcPts val="400"/>
              </a:spcBef>
              <a:buSzPct val="100000"/>
              <a:buChar char="•"/>
            </a:pPr>
            <a:r>
              <a:rPr lang="en-US" sz="1200" dirty="0">
                <a:solidFill>
                  <a:schemeClr val="tx1"/>
                </a:solidFill>
              </a:rPr>
              <a:t>Saved cell outputs inside</a:t>
            </a:r>
            <a:endParaRPr lang="en-US" sz="1400" dirty="0"/>
          </a:p>
        </p:txBody>
      </p:sp>
      <p:sp>
        <p:nvSpPr>
          <p:cNvPr id="7" name="Shape 5"/>
          <p:cNvSpPr/>
          <p:nvPr/>
        </p:nvSpPr>
        <p:spPr>
          <a:xfrm>
            <a:off x="4114800" y="1463040"/>
            <a:ext cx="3959352" cy="4114800"/>
          </a:xfrm>
          <a:prstGeom prst="roundRect">
            <a:avLst>
              <a:gd name="adj" fmla="val 2771"/>
            </a:avLst>
          </a:prstGeom>
          <a:solidFill>
            <a:schemeClr val="bg2"/>
          </a:solidFill>
          <a:ln/>
        </p:spPr>
      </p:sp>
      <p:sp>
        <p:nvSpPr>
          <p:cNvPr id="8" name="Text 6"/>
          <p:cNvSpPr txBox="1"/>
          <p:nvPr/>
        </p:nvSpPr>
        <p:spPr>
          <a:xfrm>
            <a:off x="4315968" y="1627632"/>
            <a:ext cx="3593592" cy="3840480"/>
          </a:xfrm>
          <a:prstGeom prst="rect">
            <a:avLst/>
          </a:prstGeom>
          <a:noFill/>
          <a:ln/>
        </p:spPr>
        <p:txBody>
          <a:bodyPr wrap="square" lIns="0" tIns="0" rIns="0" bIns="0" rtlCol="0" anchor="t"/>
          <a:lstStyle/>
          <a:p>
            <a:pPr indent="0" marL="0">
              <a:buNone/>
            </a:pPr>
            <a:r>
              <a:rPr lang="en-US" sz="1100" b="1" spc="100" kern="0" dirty="0">
                <a:solidFill>
                  <a:schemeClr val="accent6"/>
                </a:solidFill>
              </a:rPr>
              <a:t>HOW IT IS CONVERTED</a:t>
            </a:r>
            <a:endParaRPr lang="en-US" sz="1400" dirty="0"/>
          </a:p>
          <a:p>
            <a:pPr marL="342900" indent="-342900">
              <a:spcBef>
                <a:spcPts val="900"/>
              </a:spcBef>
              <a:buSzPct val="100000"/>
              <a:buFont typeface="+mj-lt"/>
              <a:buAutoNum type="arabicPeriod" startAt="1"/>
            </a:pPr>
            <a:r>
              <a:rPr lang="en-US" sz="1250" dirty="0">
                <a:solidFill>
                  <a:schemeClr val="tx1"/>
                </a:solidFill>
              </a:rPr>
              <a:t>Keep every cell, its type and its per-cell language</a:t>
            </a:r>
            <a:endParaRPr lang="en-US" sz="1400" dirty="0"/>
          </a:p>
          <a:p>
            <a:pPr marL="342900" indent="-342900">
              <a:spcBef>
                <a:spcPts val="500"/>
              </a:spcBef>
              <a:buSzPct val="100000"/>
              <a:buFont typeface="+mj-lt"/>
              <a:buAutoNum type="arabicPeriod" startAt="1"/>
            </a:pPr>
            <a:r>
              <a:rPr lang="en-US" sz="1250" dirty="0">
                <a:solidFill>
                  <a:schemeClr val="tx1"/>
                </a:solidFill>
              </a:rPr>
              <a:t>Map the language: pyspark → python, spark → scala, sparksql → sql, sparkr → r</a:t>
            </a:r>
            <a:endParaRPr lang="en-US" sz="1400" dirty="0"/>
          </a:p>
          <a:p>
            <a:pPr marL="342900" indent="-342900">
              <a:spcBef>
                <a:spcPts val="500"/>
              </a:spcBef>
              <a:buSzPct val="100000"/>
              <a:buFont typeface="+mj-lt"/>
              <a:buAutoNum type="arabicPeriod" startAt="1"/>
            </a:pPr>
            <a:r>
              <a:rPr lang="en-US" sz="1250" dirty="0">
                <a:solidFill>
                  <a:schemeClr val="tx1"/>
                </a:solidFill>
              </a:rPr>
              <a:t>Rewrite Python cells and route storage paths (next slide)</a:t>
            </a:r>
            <a:endParaRPr lang="en-US" sz="1400" dirty="0"/>
          </a:p>
          <a:p>
            <a:pPr marL="342900" indent="-342900">
              <a:spcBef>
                <a:spcPts val="500"/>
              </a:spcBef>
              <a:buSzPct val="100000"/>
              <a:buFont typeface="+mj-lt"/>
              <a:buAutoNum type="arabicPeriod" startAt="1"/>
            </a:pPr>
            <a:r>
              <a:rPr lang="en-US" sz="1250" dirty="0">
                <a:solidFill>
                  <a:schemeClr val="tx1"/>
                </a:solidFill>
              </a:rPr>
              <a:t>Drop the pool binding, session settings and folder (each noted), saved outputs (noted) and execution counts</a:t>
            </a:r>
            <a:endParaRPr lang="en-US" sz="1400" dirty="0"/>
          </a:p>
          <a:p>
            <a:pPr marL="342900" indent="-342900">
              <a:spcBef>
                <a:spcPts val="500"/>
              </a:spcBef>
              <a:buSzPct val="100000"/>
              <a:buFont typeface="+mj-lt"/>
              <a:buAutoNum type="arabicPeriod" startAt="1"/>
            </a:pPr>
            <a:r>
              <a:rPr lang="en-US" sz="1250" dirty="0">
                <a:solidFill>
                  <a:schemeClr val="tx1"/>
                </a:solidFill>
              </a:rPr>
              <a:t>Create it: POST /notebooks with an ipynb definition in base64, or replace its definition when updating</a:t>
            </a:r>
            <a:endParaRPr lang="en-US" sz="1400" dirty="0"/>
          </a:p>
        </p:txBody>
      </p:sp>
      <p:sp>
        <p:nvSpPr>
          <p:cNvPr id="9" name="Shape 7"/>
          <p:cNvSpPr/>
          <p:nvPr/>
        </p:nvSpPr>
        <p:spPr>
          <a:xfrm>
            <a:off x="8394192" y="1463040"/>
            <a:ext cx="3246120" cy="4114800"/>
          </a:xfrm>
          <a:prstGeom prst="roundRect">
            <a:avLst>
              <a:gd name="adj" fmla="val 3380"/>
            </a:avLst>
          </a:prstGeom>
          <a:solidFill>
            <a:schemeClr val="accent1">
              <a:alpha val="10000"/>
            </a:schemeClr>
          </a:solidFill>
          <a:ln/>
        </p:spPr>
      </p:sp>
      <p:sp>
        <p:nvSpPr>
          <p:cNvPr id="10" name="Text 8"/>
          <p:cNvSpPr txBox="1"/>
          <p:nvPr/>
        </p:nvSpPr>
        <p:spPr>
          <a:xfrm>
            <a:off x="8595360" y="1627632"/>
            <a:ext cx="2880360" cy="3840480"/>
          </a:xfrm>
          <a:prstGeom prst="rect">
            <a:avLst/>
          </a:prstGeom>
          <a:noFill/>
          <a:ln/>
        </p:spPr>
        <p:txBody>
          <a:bodyPr wrap="square" lIns="0" tIns="0" rIns="0" bIns="0" rtlCol="0" anchor="t"/>
          <a:lstStyle/>
          <a:p>
            <a:pPr indent="0" marL="0">
              <a:buNone/>
            </a:pPr>
            <a:r>
              <a:rPr lang="en-US" sz="1100" b="1" spc="100" kern="0" dirty="0">
                <a:solidFill>
                  <a:schemeClr val="accent1"/>
                </a:solidFill>
              </a:rPr>
              <a:t>IN FABRIC</a:t>
            </a:r>
            <a:endParaRPr lang="en-US" sz="1400" dirty="0"/>
          </a:p>
          <a:p>
            <a:pPr indent="0" marL="0">
              <a:spcBef>
                <a:spcPts val="400"/>
              </a:spcBef>
              <a:buNone/>
            </a:pPr>
            <a:r>
              <a:rPr lang="en-US" sz="1600" dirty="0">
                <a:solidFill>
                  <a:schemeClr val="tx2"/>
                </a:solidFill>
                <a:latin typeface="+mj-lt" pitchFamily="34" charset="0"/>
                <a:ea typeface="+mj-lt" pitchFamily="34" charset="-122"/>
                <a:cs typeface="+mj-lt" pitchFamily="34" charset="-120"/>
              </a:rPr>
              <a:t>Notebook item</a:t>
            </a:r>
            <a:endParaRPr lang="en-US" sz="1400" dirty="0"/>
          </a:p>
          <a:p>
            <a:pPr indent="0" marL="0">
              <a:spcBef>
                <a:spcPts val="800"/>
              </a:spcBef>
              <a:buNone/>
            </a:pPr>
            <a:r>
              <a:rPr lang="en-US" sz="1050" b="1" dirty="0">
                <a:solidFill>
                  <a:schemeClr val="accent6"/>
                </a:solidFill>
              </a:rPr>
              <a:t>Format</a:t>
            </a:r>
            <a:endParaRPr lang="en-US" sz="1400" dirty="0"/>
          </a:p>
          <a:p>
            <a:pPr indent="0" marL="0">
              <a:buNone/>
            </a:pPr>
            <a:r>
              <a:rPr lang="en-US" sz="1200" dirty="0">
                <a:solidFill>
                  <a:schemeClr val="tx1"/>
                </a:solidFill>
              </a:rPr>
              <a:t>Definition format ipynb; part notebook-content.ipynb (nbformat 4.5, kernel synapse_pyspark for every language)</a:t>
            </a:r>
            <a:endParaRPr lang="en-US" sz="1400" dirty="0"/>
          </a:p>
          <a:p>
            <a:pPr marL="139700" indent="-139700">
              <a:spcBef>
                <a:spcPts val="900"/>
              </a:spcBef>
              <a:buSzPct val="100000"/>
              <a:buChar char="•"/>
            </a:pPr>
            <a:r>
              <a:rPr lang="en-US" sz="1200" dirty="0">
                <a:solidFill>
                  <a:schemeClr val="tx1"/>
                </a:solidFill>
              </a:rPr>
              <a:t>Not attached to the migrated Environment: runs on the workspace's Spark settings</a:t>
            </a:r>
            <a:endParaRPr lang="en-US" sz="1400" dirty="0"/>
          </a:p>
          <a:p>
            <a:pPr marL="139700" indent="-139700">
              <a:spcBef>
                <a:spcPts val="400"/>
              </a:spcBef>
              <a:buSzPct val="100000"/>
              <a:buChar char="•"/>
            </a:pPr>
            <a:r>
              <a:rPr lang="en-US" sz="1200" dirty="0">
                <a:solidFill>
                  <a:schemeClr val="tx1"/>
                </a:solidFill>
              </a:rPr>
              <a:t>Placed at the workspace root: folders are not recreated</a:t>
            </a:r>
            <a:endParaRPr lang="en-US" sz="1400" dirty="0"/>
          </a:p>
          <a:p>
            <a:pPr marL="139700" indent="-139700">
              <a:spcBef>
                <a:spcPts val="400"/>
              </a:spcBef>
              <a:buSzPct val="100000"/>
              <a:buChar char="•"/>
            </a:pPr>
            <a:r>
              <a:rPr lang="en-US" sz="1200" dirty="0">
                <a:solidFill>
                  <a:schemeClr val="tx1"/>
                </a:solidFill>
              </a:rPr>
              <a:t>Pipelines call it by its Fabric id</a:t>
            </a:r>
            <a:endParaRPr lang="en-US" sz="1400" dirty="0"/>
          </a:p>
        </p:txBody>
      </p:sp>
      <p:sp>
        <p:nvSpPr>
          <p:cNvPr id="11" name="Shape 9"/>
          <p:cNvSpPr/>
          <p:nvPr/>
        </p:nvSpPr>
        <p:spPr>
          <a:xfrm>
            <a:off x="3867912" y="3337560"/>
            <a:ext cx="182880" cy="365760"/>
          </a:xfrm>
          <a:prstGeom prst="chevron">
            <a:avLst/>
          </a:prstGeom>
          <a:solidFill>
            <a:schemeClr val="accent6"/>
          </a:solidFill>
          <a:ln/>
        </p:spPr>
      </p:sp>
      <p:sp>
        <p:nvSpPr>
          <p:cNvPr id="12" name="Shape 10"/>
          <p:cNvSpPr/>
          <p:nvPr/>
        </p:nvSpPr>
        <p:spPr>
          <a:xfrm>
            <a:off x="8147304" y="3337560"/>
            <a:ext cx="182880" cy="365760"/>
          </a:xfrm>
          <a:prstGeom prst="chevron">
            <a:avLst/>
          </a:prstGeom>
          <a:solidFill>
            <a:schemeClr val="accent6"/>
          </a:solidFill>
          <a:ln/>
        </p:spPr>
      </p:sp>
      <p:sp>
        <p:nvSpPr>
          <p:cNvPr id="13" name="Shape 11"/>
          <p:cNvSpPr/>
          <p:nvPr/>
        </p:nvSpPr>
        <p:spPr>
          <a:xfrm>
            <a:off x="548640" y="5687568"/>
            <a:ext cx="11094415" cy="530352"/>
          </a:xfrm>
          <a:prstGeom prst="roundRect">
            <a:avLst>
              <a:gd name="adj" fmla="val 20690"/>
            </a:avLst>
          </a:prstGeom>
          <a:solidFill>
            <a:schemeClr val="accent3">
              <a:alpha val="13000"/>
            </a:schemeClr>
          </a:solidFill>
          <a:ln/>
        </p:spPr>
      </p:sp>
      <p:sp>
        <p:nvSpPr>
          <p:cNvPr id="14" name="Text 12"/>
          <p:cNvSpPr txBox="1"/>
          <p:nvPr/>
        </p:nvSpPr>
        <p:spPr>
          <a:xfrm>
            <a:off x="777240" y="5687568"/>
            <a:ext cx="10637215" cy="530352"/>
          </a:xfrm>
          <a:prstGeom prst="rect">
            <a:avLst/>
          </a:prstGeom>
          <a:noFill/>
          <a:ln/>
        </p:spPr>
        <p:txBody>
          <a:bodyPr wrap="square" lIns="0" tIns="0" rIns="0" bIns="0" rtlCol="0" anchor="ctr"/>
          <a:lstStyle/>
          <a:p>
            <a:pPr indent="0" marL="0">
              <a:buNone/>
            </a:pPr>
            <a:r>
              <a:rPr lang="en-US" sz="1250" b="1" dirty="0">
                <a:solidFill>
                  <a:schemeClr val="tx2"/>
                </a:solidFill>
              </a:rPr>
              <a:t>Left for a person:  </a:t>
            </a:r>
            <a:pPr indent="0" marL="0">
              <a:buNone/>
            </a:pPr>
            <a:r>
              <a:rPr lang="en-US" sz="1250" dirty="0">
                <a:solidFill>
                  <a:schemeClr val="tx1"/>
                </a:solidFill>
              </a:rPr>
              <a:t>.NET for Spark (C#) notebooks have no Fabric equivalent: they are deferred for a rewrite in PySpark or Scala, which an LLM draft can start.</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55</a:t>
            </a:fld>
            <a:endParaRPr lang="en-US"/>
          </a:p>
        </p:txBody>
      </p:sp>
    </p:spTree>
  </p:cSld>
  <p:clrMapOvr>
    <a:masterClrMapping/>
  </p:clrMapOvr>
  <p:transition spd="med">
    <p:fade/>
  </p:transition>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05 · ITEM BY ITEM</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Notebooks: what is rewritten, and what is only flagged</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migration/notebooks.py: rewrite_python</a:t>
            </a:r>
            <a:endParaRPr lang="en-US" sz="1100" dirty="0"/>
          </a:p>
        </p:txBody>
      </p:sp>
      <p:sp>
        <p:nvSpPr>
          <p:cNvPr id="5" name="Shape 3"/>
          <p:cNvSpPr/>
          <p:nvPr/>
        </p:nvSpPr>
        <p:spPr>
          <a:xfrm>
            <a:off x="548640" y="1481328"/>
            <a:ext cx="6949440" cy="1691640"/>
          </a:xfrm>
          <a:prstGeom prst="roundRect">
            <a:avLst>
              <a:gd name="adj" fmla="val 4324"/>
            </a:avLst>
          </a:prstGeom>
          <a:solidFill>
            <a:schemeClr val="tx2"/>
          </a:solidFill>
          <a:ln/>
        </p:spPr>
      </p:sp>
      <p:sp>
        <p:nvSpPr>
          <p:cNvPr id="6" name="Text 4"/>
          <p:cNvSpPr txBox="1"/>
          <p:nvPr/>
        </p:nvSpPr>
        <p:spPr>
          <a:xfrm>
            <a:off x="731520" y="1591056"/>
            <a:ext cx="6583680" cy="256032"/>
          </a:xfrm>
          <a:prstGeom prst="rect">
            <a:avLst/>
          </a:prstGeom>
          <a:noFill/>
          <a:ln/>
        </p:spPr>
        <p:txBody>
          <a:bodyPr wrap="square" lIns="0" tIns="0" rIns="0" bIns="0" rtlCol="0" anchor="t"/>
          <a:lstStyle/>
          <a:p>
            <a:pPr indent="0" marL="0">
              <a:buNone/>
            </a:pPr>
            <a:r>
              <a:rPr lang="en-US" sz="1100" b="1" dirty="0">
                <a:solidFill>
                  <a:srgbClr val="9DB2F5"/>
                </a:solidFill>
              </a:rPr>
              <a:t>IN SYNAPSE</a:t>
            </a:r>
            <a:endParaRPr lang="en-US" sz="1100" dirty="0"/>
          </a:p>
        </p:txBody>
      </p:sp>
      <p:sp>
        <p:nvSpPr>
          <p:cNvPr id="7" name="Text 5"/>
          <p:cNvSpPr txBox="1"/>
          <p:nvPr/>
        </p:nvSpPr>
        <p:spPr>
          <a:xfrm>
            <a:off x="731520" y="1892808"/>
            <a:ext cx="6583680" cy="1188720"/>
          </a:xfrm>
          <a:prstGeom prst="rect">
            <a:avLst/>
          </a:prstGeom>
          <a:noFill/>
          <a:ln/>
        </p:spPr>
        <p:txBody>
          <a:bodyPr wrap="square" lIns="0" tIns="0" rIns="0" bIns="0" rtlCol="0" anchor="t"/>
          <a:lstStyle/>
          <a:p>
            <a:pPr indent="0" marL="0">
              <a:buNone/>
            </a:pPr>
            <a:r>
              <a:rPr lang="en-US" sz="1100" dirty="0">
                <a:solidFill>
                  <a:srgbClr val="E6EDF5"/>
                </a:solidFill>
                <a:latin typeface="Consolas" pitchFamily="34" charset="0"/>
                <a:ea typeface="Consolas" pitchFamily="34" charset="-122"/>
                <a:cs typeface="Consolas" pitchFamily="34" charset="-120"/>
              </a:rPr>
              <a:t>from notebookutils import mssparkutils</a:t>
            </a:r>
            <a:endParaRPr lang="en-US" sz="1100" dirty="0"/>
          </a:p>
          <a:p>
            <a:pPr indent="0" marL="0">
              <a:buNone/>
            </a:pPr>
            <a:r>
              <a:rPr lang="en-US" sz="1100" dirty="0">
                <a:solidFill>
                  <a:srgbClr val="E6EDF5"/>
                </a:solidFill>
                <a:latin typeface="Consolas" pitchFamily="34" charset="0"/>
                <a:ea typeface="Consolas" pitchFamily="34" charset="-122"/>
                <a:cs typeface="Consolas" pitchFamily="34" charset="-120"/>
              </a:rPr>
              <a:t>files = mssparkutils.fs.ls(</a:t>
            </a:r>
            <a:endParaRPr lang="en-US" sz="1100" dirty="0"/>
          </a:p>
          <a:p>
            <a:pPr indent="0" marL="0">
              <a:buNone/>
            </a:pPr>
            <a:r>
              <a:rPr lang="en-US" sz="1100" dirty="0">
                <a:solidFill>
                  <a:srgbClr val="E6EDF5"/>
                </a:solidFill>
                <a:latin typeface="Consolas" pitchFamily="34" charset="0"/>
                <a:ea typeface="Consolas" pitchFamily="34" charset="-122"/>
                <a:cs typeface="Consolas" pitchFamily="34" charset="-120"/>
              </a:rPr>
              <a:t>    "abfss://raw@contoso.dfs.core.windows.net/sales")</a:t>
            </a:r>
            <a:endParaRPr lang="en-US" sz="1100" dirty="0"/>
          </a:p>
          <a:p>
            <a:pPr indent="0" marL="0">
              <a:buNone/>
            </a:pPr>
            <a:r>
              <a:rPr lang="en-US" sz="1100" dirty="0">
                <a:solidFill>
                  <a:srgbClr val="E6EDF5"/>
                </a:solidFill>
                <a:latin typeface="Consolas" pitchFamily="34" charset="0"/>
                <a:ea typeface="Consolas" pitchFamily="34" charset="-122"/>
                <a:cs typeface="Consolas" pitchFamily="34" charset="-120"/>
              </a:rPr>
              <a:t>import com.microsoft.spark.sqlanalytics</a:t>
            </a:r>
            <a:endParaRPr lang="en-US" sz="1100" dirty="0"/>
          </a:p>
          <a:p>
            <a:pPr indent="0" marL="0">
              <a:buNone/>
            </a:pPr>
            <a:r>
              <a:rPr lang="en-US" sz="1100" dirty="0">
                <a:solidFill>
                  <a:srgbClr val="E6EDF5"/>
                </a:solidFill>
                <a:latin typeface="Consolas" pitchFamily="34" charset="0"/>
                <a:ea typeface="Consolas" pitchFamily="34" charset="-122"/>
                <a:cs typeface="Consolas" pitchFamily="34" charset="-120"/>
              </a:rPr>
              <a:t>df = spark.read.synapsesql("SalesDW.dbo.Orders")</a:t>
            </a:r>
            <a:endParaRPr lang="en-US" sz="1100" dirty="0"/>
          </a:p>
        </p:txBody>
      </p:sp>
      <p:sp>
        <p:nvSpPr>
          <p:cNvPr id="8" name="Shape 6"/>
          <p:cNvSpPr/>
          <p:nvPr/>
        </p:nvSpPr>
        <p:spPr>
          <a:xfrm>
            <a:off x="548640" y="3310128"/>
            <a:ext cx="6949440" cy="1691640"/>
          </a:xfrm>
          <a:prstGeom prst="roundRect">
            <a:avLst>
              <a:gd name="adj" fmla="val 4324"/>
            </a:avLst>
          </a:prstGeom>
          <a:solidFill>
            <a:schemeClr val="tx2"/>
          </a:solidFill>
          <a:ln/>
        </p:spPr>
      </p:sp>
      <p:sp>
        <p:nvSpPr>
          <p:cNvPr id="9" name="Text 7"/>
          <p:cNvSpPr txBox="1"/>
          <p:nvPr/>
        </p:nvSpPr>
        <p:spPr>
          <a:xfrm>
            <a:off x="731520" y="3419856"/>
            <a:ext cx="6583680" cy="256032"/>
          </a:xfrm>
          <a:prstGeom prst="rect">
            <a:avLst/>
          </a:prstGeom>
          <a:noFill/>
          <a:ln/>
        </p:spPr>
        <p:txBody>
          <a:bodyPr wrap="square" lIns="0" tIns="0" rIns="0" bIns="0" rtlCol="0" anchor="t"/>
          <a:lstStyle/>
          <a:p>
            <a:pPr indent="0" marL="0">
              <a:buNone/>
            </a:pPr>
            <a:r>
              <a:rPr lang="en-US" sz="1100" b="1" dirty="0">
                <a:solidFill>
                  <a:schemeClr val="accent5"/>
                </a:solidFill>
              </a:rPr>
              <a:t>IN FABRIC</a:t>
            </a:r>
            <a:endParaRPr lang="en-US" sz="1100" dirty="0"/>
          </a:p>
        </p:txBody>
      </p:sp>
      <p:sp>
        <p:nvSpPr>
          <p:cNvPr id="10" name="Text 8"/>
          <p:cNvSpPr txBox="1"/>
          <p:nvPr/>
        </p:nvSpPr>
        <p:spPr>
          <a:xfrm>
            <a:off x="731520" y="3721608"/>
            <a:ext cx="6583680" cy="1188720"/>
          </a:xfrm>
          <a:prstGeom prst="rect">
            <a:avLst/>
          </a:prstGeom>
          <a:noFill/>
          <a:ln/>
        </p:spPr>
        <p:txBody>
          <a:bodyPr wrap="square" lIns="0" tIns="0" rIns="0" bIns="0" rtlCol="0" anchor="t"/>
          <a:lstStyle/>
          <a:p>
            <a:pPr indent="0" marL="0">
              <a:buNone/>
            </a:pPr>
            <a:r>
              <a:rPr lang="en-US" sz="1100" dirty="0">
                <a:solidFill>
                  <a:srgbClr val="E6EDF5"/>
                </a:solidFill>
                <a:latin typeface="Consolas" pitchFamily="34" charset="0"/>
                <a:ea typeface="Consolas" pitchFamily="34" charset="-122"/>
                <a:cs typeface="Consolas" pitchFamily="34" charset="-120"/>
              </a:rPr>
              <a:t># notebookutils is built into Fabric notebooks</a:t>
            </a:r>
            <a:endParaRPr lang="en-US" sz="1100" dirty="0"/>
          </a:p>
          <a:p>
            <a:pPr indent="0" marL="0">
              <a:buNone/>
            </a:pPr>
            <a:r>
              <a:rPr lang="en-US" sz="1100" dirty="0">
                <a:solidFill>
                  <a:srgbClr val="E6EDF5"/>
                </a:solidFill>
                <a:latin typeface="Consolas" pitchFamily="34" charset="0"/>
                <a:ea typeface="Consolas" pitchFamily="34" charset="-122"/>
                <a:cs typeface="Consolas" pitchFamily="34" charset="-120"/>
              </a:rPr>
              <a:t>files = notebookutils.fs.ls(</a:t>
            </a:r>
            <a:endParaRPr lang="en-US" sz="1100" dirty="0"/>
          </a:p>
          <a:p>
            <a:pPr indent="0" marL="0">
              <a:buNone/>
            </a:pPr>
            <a:r>
              <a:rPr lang="en-US" sz="1100" dirty="0">
                <a:solidFill>
                  <a:srgbClr val="E6EDF5"/>
                </a:solidFill>
                <a:latin typeface="Consolas" pitchFamily="34" charset="0"/>
                <a:ea typeface="Consolas" pitchFamily="34" charset="-122"/>
                <a:cs typeface="Consolas" pitchFamily="34" charset="-120"/>
              </a:rPr>
              <a:t>    "abfss://&lt;ws&gt;@onelake.dfs.fabric.microsoft.com/&lt;lh&gt;/Files/raw/sales")</a:t>
            </a:r>
            <a:endParaRPr lang="en-US" sz="1100" dirty="0"/>
          </a:p>
          <a:p>
            <a:pPr indent="0" marL="0">
              <a:buNone/>
            </a:pPr>
            <a:r>
              <a:rPr lang="en-US" sz="1100" dirty="0">
                <a:solidFill>
                  <a:srgbClr val="E6EDF5"/>
                </a:solidFill>
                <a:latin typeface="Consolas" pitchFamily="34" charset="0"/>
                <a:ea typeface="Consolas" pitchFamily="34" charset="-122"/>
                <a:cs typeface="Consolas" pitchFamily="34" charset="-120"/>
              </a:rPr>
              <a:t>import com.microsoft.spark.fabric</a:t>
            </a:r>
            <a:endParaRPr lang="en-US" sz="1100" dirty="0"/>
          </a:p>
          <a:p>
            <a:pPr indent="0" marL="0">
              <a:buNone/>
            </a:pPr>
            <a:r>
              <a:rPr lang="en-US" sz="1100" dirty="0">
                <a:solidFill>
                  <a:srgbClr val="E6EDF5"/>
                </a:solidFill>
                <a:latin typeface="Consolas" pitchFamily="34" charset="0"/>
                <a:ea typeface="Consolas" pitchFamily="34" charset="-122"/>
                <a:cs typeface="Consolas" pitchFamily="34" charset="-120"/>
              </a:rPr>
              <a:t>df = spark.read.synapsesql("SalesDW.dbo.Orders")</a:t>
            </a:r>
            <a:endParaRPr lang="en-US" sz="1100" dirty="0"/>
          </a:p>
        </p:txBody>
      </p:sp>
      <p:sp>
        <p:nvSpPr>
          <p:cNvPr id="11" name="Shape 9"/>
          <p:cNvSpPr/>
          <p:nvPr/>
        </p:nvSpPr>
        <p:spPr>
          <a:xfrm>
            <a:off x="7726680" y="1481328"/>
            <a:ext cx="3913632" cy="3520440"/>
          </a:xfrm>
          <a:prstGeom prst="roundRect">
            <a:avLst>
              <a:gd name="adj" fmla="val 3117"/>
            </a:avLst>
          </a:prstGeom>
          <a:solidFill>
            <a:schemeClr val="bg2"/>
          </a:solidFill>
          <a:ln/>
        </p:spPr>
      </p:sp>
      <p:sp>
        <p:nvSpPr>
          <p:cNvPr id="12" name="Text 10"/>
          <p:cNvSpPr txBox="1"/>
          <p:nvPr/>
        </p:nvSpPr>
        <p:spPr>
          <a:xfrm>
            <a:off x="7955280" y="1664208"/>
            <a:ext cx="3456432"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WHAT CHANGED</a:t>
            </a:r>
            <a:endParaRPr lang="en-US" sz="1100" dirty="0"/>
          </a:p>
        </p:txBody>
      </p:sp>
      <p:sp>
        <p:nvSpPr>
          <p:cNvPr id="13" name="Text 11"/>
          <p:cNvSpPr txBox="1"/>
          <p:nvPr/>
        </p:nvSpPr>
        <p:spPr>
          <a:xfrm>
            <a:off x="7927848" y="1984248"/>
            <a:ext cx="3529584" cy="288036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chemeClr val="tx1"/>
                </a:solidFill>
              </a:rPr>
              <a:t>Python cells: mssparkutils → notebookutils; its import becomes a comment</a:t>
            </a:r>
            <a:endParaRPr lang="en-US" sz="1400" dirty="0"/>
          </a:p>
          <a:p>
            <a:pPr marL="177800" indent="-177800">
              <a:spcAft>
                <a:spcPts val="600"/>
              </a:spcAft>
              <a:buSzPct val="100000"/>
              <a:buChar char="•"/>
            </a:pPr>
            <a:r>
              <a:rPr lang="en-US" sz="1250" dirty="0">
                <a:solidFill>
                  <a:schemeClr val="tx1"/>
                </a:solidFill>
              </a:rPr>
              <a:t>Python cells: the SQL connector import → com.microsoft.spark.fabric</a:t>
            </a:r>
            <a:endParaRPr lang="en-US" sz="1400" dirty="0"/>
          </a:p>
          <a:p>
            <a:pPr marL="177800" indent="-177800">
              <a:spcAft>
                <a:spcPts val="600"/>
              </a:spcAft>
              <a:buSzPct val="100000"/>
              <a:buChar char="•"/>
            </a:pPr>
            <a:r>
              <a:rPr lang="en-US" sz="1250" dirty="0">
                <a:solidFill>
                  <a:schemeClr val="tx1"/>
                </a:solidFill>
              </a:rPr>
              <a:t>synapsesql reads now read the Warehouse (renamed only if the name had to change)</a:t>
            </a:r>
            <a:endParaRPr lang="en-US" sz="1400" dirty="0"/>
          </a:p>
          <a:p>
            <a:pPr marL="177800" indent="-177800">
              <a:spcAft>
                <a:spcPts val="600"/>
              </a:spcAft>
              <a:buSzPct val="100000"/>
              <a:buChar char="•"/>
            </a:pPr>
            <a:r>
              <a:rPr lang="en-US" sz="1250" dirty="0">
                <a:solidFill>
                  <a:schemeClr val="tx1"/>
                </a:solidFill>
              </a:rPr>
              <a:t>Every code cell: storage paths go through the OneLake shortcut, when routed in Plan</a:t>
            </a:r>
            <a:endParaRPr lang="en-US" sz="1400" dirty="0"/>
          </a:p>
        </p:txBody>
      </p:sp>
      <p:sp>
        <p:nvSpPr>
          <p:cNvPr id="14" name="Shape 12"/>
          <p:cNvSpPr/>
          <p:nvPr/>
        </p:nvSpPr>
        <p:spPr>
          <a:xfrm>
            <a:off x="548640" y="5193792"/>
            <a:ext cx="11094415" cy="960120"/>
          </a:xfrm>
          <a:prstGeom prst="roundRect">
            <a:avLst>
              <a:gd name="adj" fmla="val 11429"/>
            </a:avLst>
          </a:prstGeom>
          <a:solidFill>
            <a:schemeClr val="accent3">
              <a:alpha val="13000"/>
            </a:schemeClr>
          </a:solidFill>
          <a:ln/>
        </p:spPr>
      </p:sp>
      <p:sp>
        <p:nvSpPr>
          <p:cNvPr id="15" name="Text 13"/>
          <p:cNvSpPr txBox="1"/>
          <p:nvPr/>
        </p:nvSpPr>
        <p:spPr>
          <a:xfrm>
            <a:off x="777240" y="5193792"/>
            <a:ext cx="10637215" cy="960120"/>
          </a:xfrm>
          <a:prstGeom prst="rect">
            <a:avLst/>
          </a:prstGeom>
          <a:noFill/>
          <a:ln/>
        </p:spPr>
        <p:txBody>
          <a:bodyPr wrap="square" lIns="0" tIns="0" rIns="0" bIns="0" rtlCol="0" anchor="ctr"/>
          <a:lstStyle/>
          <a:p>
            <a:pPr indent="0" marL="0">
              <a:buNone/>
            </a:pPr>
            <a:r>
              <a:rPr lang="en-US" sz="1250" b="1" dirty="0">
                <a:solidFill>
                  <a:schemeClr val="tx2"/>
                </a:solidFill>
              </a:rPr>
              <a:t>Flagged for review, not rewritten:  </a:t>
            </a:r>
            <a:pPr indent="0" marL="0">
              <a:buNone/>
            </a:pPr>
            <a:r>
              <a:rPr lang="en-US" sz="1250" dirty="0">
                <a:solidFill>
                  <a:schemeClr val="tx1"/>
                </a:solidFill>
              </a:rPr>
              <a:t>TokenLibrary (use notebookutils.credentials) · synapsesql writes · linked-service credentials (getSecretWithLS, getConnectionStringOrCreds, getPropertiesAll) · mssparkutils.env · direct storage paths.</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56</a:t>
            </a:fld>
            <a:endParaRPr lang="en-US"/>
          </a:p>
        </p:txBody>
      </p:sp>
    </p:spTree>
  </p:cSld>
  <p:clrMapOvr>
    <a:masterClrMapping/>
  </p:clrMapOvr>
  <p:transition spd="med">
    <p:fade/>
  </p:transition>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05 · ITEM BY ITEM</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Spark job definitions → Fabric Spark job definitions</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migration/jobs.py: spark_job · stages_fabric.py</a:t>
            </a:r>
            <a:endParaRPr lang="en-US" sz="1100" dirty="0"/>
          </a:p>
        </p:txBody>
      </p:sp>
      <p:sp>
        <p:nvSpPr>
          <p:cNvPr id="5" name="Shape 3"/>
          <p:cNvSpPr/>
          <p:nvPr/>
        </p:nvSpPr>
        <p:spPr>
          <a:xfrm>
            <a:off x="548640" y="1463040"/>
            <a:ext cx="3246120" cy="4114800"/>
          </a:xfrm>
          <a:prstGeom prst="roundRect">
            <a:avLst>
              <a:gd name="adj" fmla="val 3380"/>
            </a:avLst>
          </a:prstGeom>
          <a:solidFill>
            <a:schemeClr val="accent2">
              <a:alpha val="9000"/>
            </a:schemeClr>
          </a:solidFill>
          <a:ln/>
        </p:spPr>
      </p:sp>
      <p:sp>
        <p:nvSpPr>
          <p:cNvPr id="6" name="Text 4"/>
          <p:cNvSpPr txBox="1"/>
          <p:nvPr/>
        </p:nvSpPr>
        <p:spPr>
          <a:xfrm>
            <a:off x="749808" y="1627632"/>
            <a:ext cx="2880360" cy="3840480"/>
          </a:xfrm>
          <a:prstGeom prst="rect">
            <a:avLst/>
          </a:prstGeom>
          <a:noFill/>
          <a:ln/>
        </p:spPr>
        <p:txBody>
          <a:bodyPr wrap="square" lIns="0" tIns="0" rIns="0" bIns="0" rtlCol="0" anchor="t"/>
          <a:lstStyle/>
          <a:p>
            <a:pPr indent="0" marL="0">
              <a:buNone/>
            </a:pPr>
            <a:r>
              <a:rPr lang="en-US" sz="1100" b="1" spc="100" kern="0" dirty="0">
                <a:solidFill>
                  <a:schemeClr val="accent2"/>
                </a:solidFill>
              </a:rPr>
              <a:t>IN SYNAPSE</a:t>
            </a:r>
            <a:endParaRPr lang="en-US" sz="1400" dirty="0"/>
          </a:p>
          <a:p>
            <a:pPr indent="0" marL="0">
              <a:spcBef>
                <a:spcPts val="400"/>
              </a:spcBef>
              <a:buNone/>
            </a:pPr>
            <a:r>
              <a:rPr lang="en-US" sz="1600" dirty="0">
                <a:solidFill>
                  <a:schemeClr val="tx2"/>
                </a:solidFill>
                <a:latin typeface="+mj-lt" pitchFamily="34" charset="0"/>
                <a:ea typeface="+mj-lt" pitchFamily="34" charset="-122"/>
                <a:cs typeface="+mj-lt" pitchFamily="34" charset="-120"/>
              </a:rPr>
              <a:t>Spark job definition</a:t>
            </a:r>
            <a:endParaRPr lang="en-US" sz="1400" dirty="0"/>
          </a:p>
          <a:p>
            <a:pPr indent="0" marL="0">
              <a:spcBef>
                <a:spcPts val="800"/>
              </a:spcBef>
              <a:buNone/>
            </a:pPr>
            <a:r>
              <a:rPr lang="en-US" sz="1050" b="1" dirty="0">
                <a:solidFill>
                  <a:schemeClr val="accent6"/>
                </a:solidFill>
              </a:rPr>
              <a:t>Format</a:t>
            </a:r>
            <a:endParaRPr lang="en-US" sz="1400" dirty="0"/>
          </a:p>
          <a:p>
            <a:pPr indent="0" marL="0">
              <a:buNone/>
            </a:pPr>
            <a:r>
              <a:rPr lang="en-US" sz="1200" dirty="0">
                <a:solidFill>
                  <a:schemeClr val="tx1"/>
                </a:solidFill>
              </a:rPr>
              <a:t>Resource JSON: language, targetBigDataPool, jobProperties (file, className, args, jars, files, conf, driver and executor sizing)</a:t>
            </a:r>
            <a:endParaRPr lang="en-US" sz="1400" dirty="0"/>
          </a:p>
          <a:p>
            <a:pPr marL="139700" indent="-139700">
              <a:spcBef>
                <a:spcPts val="900"/>
              </a:spcBef>
              <a:buSzPct val="100000"/>
              <a:buChar char="•"/>
            </a:pPr>
            <a:r>
              <a:rPr lang="en-US" sz="1200" dirty="0">
                <a:solidFill>
                  <a:schemeClr val="tx1"/>
                </a:solidFill>
              </a:rPr>
              <a:t>Bound to a Spark pool</a:t>
            </a:r>
            <a:endParaRPr lang="en-US" sz="1400" dirty="0"/>
          </a:p>
          <a:p>
            <a:pPr marL="139700" indent="-139700">
              <a:spcBef>
                <a:spcPts val="400"/>
              </a:spcBef>
              <a:buSzPct val="100000"/>
              <a:buChar char="•"/>
            </a:pPr>
            <a:r>
              <a:rPr lang="en-US" sz="1200" dirty="0">
                <a:solidFill>
                  <a:schemeClr val="tx1"/>
                </a:solidFill>
              </a:rPr>
              <a:t>Default file system: the workspace's ADLS account</a:t>
            </a:r>
            <a:endParaRPr lang="en-US" sz="1400" dirty="0"/>
          </a:p>
          <a:p>
            <a:pPr marL="139700" indent="-139700">
              <a:spcBef>
                <a:spcPts val="400"/>
              </a:spcBef>
              <a:buSzPct val="100000"/>
              <a:buChar char="•"/>
            </a:pPr>
            <a:r>
              <a:rPr lang="en-US" sz="1200" dirty="0">
                <a:solidFill>
                  <a:schemeClr val="tx1"/>
                </a:solidFill>
              </a:rPr>
              <a:t>Main file on storage (abfss://)</a:t>
            </a:r>
            <a:endParaRPr lang="en-US" sz="1400" dirty="0"/>
          </a:p>
        </p:txBody>
      </p:sp>
      <p:sp>
        <p:nvSpPr>
          <p:cNvPr id="7" name="Shape 5"/>
          <p:cNvSpPr/>
          <p:nvPr/>
        </p:nvSpPr>
        <p:spPr>
          <a:xfrm>
            <a:off x="4114800" y="1463040"/>
            <a:ext cx="3959352" cy="4114800"/>
          </a:xfrm>
          <a:prstGeom prst="roundRect">
            <a:avLst>
              <a:gd name="adj" fmla="val 2771"/>
            </a:avLst>
          </a:prstGeom>
          <a:solidFill>
            <a:schemeClr val="bg2"/>
          </a:solidFill>
          <a:ln/>
        </p:spPr>
      </p:sp>
      <p:sp>
        <p:nvSpPr>
          <p:cNvPr id="8" name="Text 6"/>
          <p:cNvSpPr txBox="1"/>
          <p:nvPr/>
        </p:nvSpPr>
        <p:spPr>
          <a:xfrm>
            <a:off x="4315968" y="1627632"/>
            <a:ext cx="3593592" cy="3840480"/>
          </a:xfrm>
          <a:prstGeom prst="rect">
            <a:avLst/>
          </a:prstGeom>
          <a:noFill/>
          <a:ln/>
        </p:spPr>
        <p:txBody>
          <a:bodyPr wrap="square" lIns="0" tIns="0" rIns="0" bIns="0" rtlCol="0" anchor="t"/>
          <a:lstStyle/>
          <a:p>
            <a:pPr indent="0" marL="0">
              <a:buNone/>
            </a:pPr>
            <a:r>
              <a:rPr lang="en-US" sz="1100" b="1" spc="100" kern="0" dirty="0">
                <a:solidFill>
                  <a:schemeClr val="accent6"/>
                </a:solidFill>
              </a:rPr>
              <a:t>HOW IT IS CONVERTED</a:t>
            </a:r>
            <a:endParaRPr lang="en-US" sz="1400" dirty="0"/>
          </a:p>
          <a:p>
            <a:pPr marL="342900" indent="-342900">
              <a:spcBef>
                <a:spcPts val="900"/>
              </a:spcBef>
              <a:buSzPct val="100000"/>
              <a:buFont typeface="+mj-lt"/>
              <a:buAutoNum type="arabicPeriod" startAt="1"/>
            </a:pPr>
            <a:r>
              <a:rPr lang="en-US" sz="1250" dirty="0">
                <a:solidFill>
                  <a:schemeClr val="tx1"/>
                </a:solidFill>
              </a:rPr>
              <a:t>Check the language (Python, Scala or Java, R) and that a main file exists</a:t>
            </a:r>
            <a:endParaRPr lang="en-US" sz="1400" dirty="0"/>
          </a:p>
          <a:p>
            <a:pPr marL="342900" indent="-342900">
              <a:spcBef>
                <a:spcPts val="500"/>
              </a:spcBef>
              <a:buSzPct val="100000"/>
              <a:buFont typeface="+mj-lt"/>
              <a:buAutoNum type="arabicPeriod" startAt="1"/>
            </a:pPr>
            <a:r>
              <a:rPr lang="en-US" sz="1250" dirty="0">
                <a:solidFill>
                  <a:schemeClr val="tx1"/>
                </a:solidFill>
              </a:rPr>
              <a:t>Map the fields into SparkJobDefinitionV1</a:t>
            </a:r>
            <a:endParaRPr lang="en-US" sz="1400" dirty="0"/>
          </a:p>
          <a:p>
            <a:pPr marL="342900" indent="-342900">
              <a:spcBef>
                <a:spcPts val="500"/>
              </a:spcBef>
              <a:buSzPct val="100000"/>
              <a:buFont typeface="+mj-lt"/>
              <a:buAutoNum type="arabicPeriod" startAt="1"/>
            </a:pPr>
            <a:r>
              <a:rPr lang="en-US" sz="1250" dirty="0">
                <a:solidFill>
                  <a:schemeClr val="tx1"/>
                </a:solidFill>
              </a:rPr>
              <a:t>Attach the Environment named like the target pool</a:t>
            </a:r>
            <a:endParaRPr lang="en-US" sz="1400" dirty="0"/>
          </a:p>
          <a:p>
            <a:pPr marL="342900" indent="-342900">
              <a:spcBef>
                <a:spcPts val="500"/>
              </a:spcBef>
              <a:buSzPct val="100000"/>
              <a:buFont typeface="+mj-lt"/>
              <a:buAutoNum type="arabicPeriod" startAt="1"/>
            </a:pPr>
            <a:r>
              <a:rPr lang="en-US" sz="1250" dirty="0">
                <a:solidFill>
                  <a:schemeClr val="tx1"/>
                </a:solidFill>
              </a:rPr>
              <a:t>Set a default Lakehouse: the run's &lt;warehouse&gt;_lakehouse</a:t>
            </a:r>
            <a:endParaRPr lang="en-US" sz="1400" dirty="0"/>
          </a:p>
          <a:p>
            <a:pPr marL="342900" indent="-342900">
              <a:spcBef>
                <a:spcPts val="500"/>
              </a:spcBef>
              <a:buSzPct val="100000"/>
              <a:buFont typeface="+mj-lt"/>
              <a:buAutoNum type="arabicPeriod" startAt="1"/>
            </a:pPr>
            <a:r>
              <a:rPr lang="en-US" sz="1250" dirty="0">
                <a:solidFill>
                  <a:schemeClr val="tx1"/>
                </a:solidFill>
              </a:rPr>
              <a:t>Main file on a routed account: run it through the shortcut; a script naming storage runs from a rewritten copy in Files/_migrated_jobs/</a:t>
            </a:r>
            <a:endParaRPr lang="en-US" sz="1400" dirty="0"/>
          </a:p>
          <a:p>
            <a:pPr marL="342900" indent="-342900">
              <a:spcBef>
                <a:spcPts val="500"/>
              </a:spcBef>
              <a:buSzPct val="100000"/>
              <a:buFont typeface="+mj-lt"/>
              <a:buAutoNum type="arabicPeriod" startAt="1"/>
            </a:pPr>
            <a:r>
              <a:rPr lang="en-US" sz="1250" dirty="0">
                <a:solidFill>
                  <a:schemeClr val="tx1"/>
                </a:solidFill>
              </a:rPr>
              <a:t>Create it with POST /sparkJobDefinitions, or replace its definition</a:t>
            </a:r>
            <a:endParaRPr lang="en-US" sz="1400" dirty="0"/>
          </a:p>
        </p:txBody>
      </p:sp>
      <p:sp>
        <p:nvSpPr>
          <p:cNvPr id="9" name="Shape 7"/>
          <p:cNvSpPr/>
          <p:nvPr/>
        </p:nvSpPr>
        <p:spPr>
          <a:xfrm>
            <a:off x="8394192" y="1463040"/>
            <a:ext cx="3246120" cy="4114800"/>
          </a:xfrm>
          <a:prstGeom prst="roundRect">
            <a:avLst>
              <a:gd name="adj" fmla="val 3380"/>
            </a:avLst>
          </a:prstGeom>
          <a:solidFill>
            <a:schemeClr val="accent1">
              <a:alpha val="10000"/>
            </a:schemeClr>
          </a:solidFill>
          <a:ln/>
        </p:spPr>
      </p:sp>
      <p:sp>
        <p:nvSpPr>
          <p:cNvPr id="10" name="Text 8"/>
          <p:cNvSpPr txBox="1"/>
          <p:nvPr/>
        </p:nvSpPr>
        <p:spPr>
          <a:xfrm>
            <a:off x="8595360" y="1627632"/>
            <a:ext cx="2880360" cy="3840480"/>
          </a:xfrm>
          <a:prstGeom prst="rect">
            <a:avLst/>
          </a:prstGeom>
          <a:noFill/>
          <a:ln/>
        </p:spPr>
        <p:txBody>
          <a:bodyPr wrap="square" lIns="0" tIns="0" rIns="0" bIns="0" rtlCol="0" anchor="t"/>
          <a:lstStyle/>
          <a:p>
            <a:pPr indent="0" marL="0">
              <a:buNone/>
            </a:pPr>
            <a:r>
              <a:rPr lang="en-US" sz="1100" b="1" spc="100" kern="0" dirty="0">
                <a:solidFill>
                  <a:schemeClr val="accent1"/>
                </a:solidFill>
              </a:rPr>
              <a:t>IN FABRIC</a:t>
            </a:r>
            <a:endParaRPr lang="en-US" sz="1400" dirty="0"/>
          </a:p>
          <a:p>
            <a:pPr indent="0" marL="0">
              <a:spcBef>
                <a:spcPts val="400"/>
              </a:spcBef>
              <a:buNone/>
            </a:pPr>
            <a:r>
              <a:rPr lang="en-US" sz="1600" dirty="0">
                <a:solidFill>
                  <a:schemeClr val="tx2"/>
                </a:solidFill>
                <a:latin typeface="+mj-lt" pitchFamily="34" charset="0"/>
                <a:ea typeface="+mj-lt" pitchFamily="34" charset="-122"/>
                <a:cs typeface="+mj-lt" pitchFamily="34" charset="-120"/>
              </a:rPr>
              <a:t>Spark job definition</a:t>
            </a:r>
            <a:endParaRPr lang="en-US" sz="1400" dirty="0"/>
          </a:p>
          <a:p>
            <a:pPr indent="0" marL="0">
              <a:spcBef>
                <a:spcPts val="800"/>
              </a:spcBef>
              <a:buNone/>
            </a:pPr>
            <a:r>
              <a:rPr lang="en-US" sz="1050" b="1" dirty="0">
                <a:solidFill>
                  <a:schemeClr val="accent6"/>
                </a:solidFill>
              </a:rPr>
              <a:t>Format</a:t>
            </a:r>
            <a:endParaRPr lang="en-US" sz="1400" dirty="0"/>
          </a:p>
          <a:p>
            <a:pPr indent="0" marL="0">
              <a:buNone/>
            </a:pPr>
            <a:r>
              <a:rPr lang="en-US" sz="1200" dirty="0">
                <a:solidFill>
                  <a:schemeClr val="tx1"/>
                </a:solidFill>
              </a:rPr>
              <a:t>SparkJobDefinitionV1.json: executableFile, mainClass, commandLineArguments, additionalLibraryUris, language, environmentArtifactId, defaultLakehouseArtifactId</a:t>
            </a:r>
            <a:endParaRPr lang="en-US" sz="1400" dirty="0"/>
          </a:p>
          <a:p>
            <a:pPr marL="139700" indent="-139700">
              <a:spcBef>
                <a:spcPts val="900"/>
              </a:spcBef>
              <a:buSzPct val="100000"/>
              <a:buChar char="•"/>
            </a:pPr>
            <a:r>
              <a:rPr lang="en-US" sz="1200" dirty="0">
                <a:solidFill>
                  <a:schemeClr val="tx1"/>
                </a:solidFill>
              </a:rPr>
              <a:t>Sizing and conf dropped: set them in the Environment</a:t>
            </a:r>
            <a:endParaRPr lang="en-US" sz="1400" dirty="0"/>
          </a:p>
          <a:p>
            <a:pPr marL="139700" indent="-139700">
              <a:spcBef>
                <a:spcPts val="400"/>
              </a:spcBef>
              <a:buSzPct val="100000"/>
              <a:buChar char="•"/>
            </a:pPr>
            <a:r>
              <a:rPr lang="en-US" sz="1200" dirty="0">
                <a:solidFill>
                  <a:schemeClr val="tx1"/>
                </a:solidFill>
              </a:rPr>
              <a:t>The original main file stays untouched, for Synapse</a:t>
            </a:r>
            <a:endParaRPr lang="en-US" sz="1400" dirty="0"/>
          </a:p>
        </p:txBody>
      </p:sp>
      <p:sp>
        <p:nvSpPr>
          <p:cNvPr id="11" name="Shape 9"/>
          <p:cNvSpPr/>
          <p:nvPr/>
        </p:nvSpPr>
        <p:spPr>
          <a:xfrm>
            <a:off x="3867912" y="3337560"/>
            <a:ext cx="182880" cy="365760"/>
          </a:xfrm>
          <a:prstGeom prst="chevron">
            <a:avLst/>
          </a:prstGeom>
          <a:solidFill>
            <a:schemeClr val="accent6"/>
          </a:solidFill>
          <a:ln/>
        </p:spPr>
      </p:sp>
      <p:sp>
        <p:nvSpPr>
          <p:cNvPr id="12" name="Shape 10"/>
          <p:cNvSpPr/>
          <p:nvPr/>
        </p:nvSpPr>
        <p:spPr>
          <a:xfrm>
            <a:off x="8147304" y="3337560"/>
            <a:ext cx="182880" cy="365760"/>
          </a:xfrm>
          <a:prstGeom prst="chevron">
            <a:avLst/>
          </a:prstGeom>
          <a:solidFill>
            <a:schemeClr val="accent6"/>
          </a:solidFill>
          <a:ln/>
        </p:spPr>
      </p:sp>
      <p:sp>
        <p:nvSpPr>
          <p:cNvPr id="13" name="Shape 11"/>
          <p:cNvSpPr/>
          <p:nvPr/>
        </p:nvSpPr>
        <p:spPr>
          <a:xfrm>
            <a:off x="548640" y="5687568"/>
            <a:ext cx="11094415" cy="530352"/>
          </a:xfrm>
          <a:prstGeom prst="roundRect">
            <a:avLst>
              <a:gd name="adj" fmla="val 20690"/>
            </a:avLst>
          </a:prstGeom>
          <a:solidFill>
            <a:schemeClr val="accent3">
              <a:alpha val="13000"/>
            </a:schemeClr>
          </a:solidFill>
          <a:ln/>
        </p:spPr>
      </p:sp>
      <p:sp>
        <p:nvSpPr>
          <p:cNvPr id="14" name="Text 12"/>
          <p:cNvSpPr txBox="1"/>
          <p:nvPr/>
        </p:nvSpPr>
        <p:spPr>
          <a:xfrm>
            <a:off x="777240" y="5687568"/>
            <a:ext cx="10637215" cy="530352"/>
          </a:xfrm>
          <a:prstGeom prst="rect">
            <a:avLst/>
          </a:prstGeom>
          <a:noFill/>
          <a:ln/>
        </p:spPr>
        <p:txBody>
          <a:bodyPr wrap="square" lIns="0" tIns="0" rIns="0" bIns="0" rtlCol="0" anchor="ctr"/>
          <a:lstStyle/>
          <a:p>
            <a:pPr indent="0" marL="0">
              <a:buNone/>
            </a:pPr>
            <a:r>
              <a:rPr lang="en-US" sz="1250" b="1" dirty="0">
                <a:solidFill>
                  <a:schemeClr val="tx2"/>
                </a:solidFill>
              </a:rPr>
              <a:t>Left for a person:  </a:t>
            </a:r>
            <a:pPr indent="0" marL="0">
              <a:buNone/>
            </a:pPr>
            <a:r>
              <a:rPr lang="en-US" sz="1250" dirty="0">
                <a:solidFill>
                  <a:schemeClr val="tx1"/>
                </a:solidFill>
              </a:rPr>
              <a:t>.NET (C#, F#) jobs and jobs without a main file. Fabric refuses to run a job without a default Lakehouse, so one is always set.</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57</a:t>
            </a:fld>
            <a:endParaRPr lang="en-US"/>
          </a:p>
        </p:txBody>
      </p:sp>
    </p:spTree>
  </p:cSld>
  <p:clrMapOvr>
    <a:masterClrMapping/>
  </p:clrMapOvr>
  <p:transition spd="med">
    <p:fade/>
  </p:transition>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05 · ITEM BY ITEM</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Linked services → Fabric connections</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migration/fabric_connections.py</a:t>
            </a:r>
            <a:endParaRPr lang="en-US" sz="1100" dirty="0"/>
          </a:p>
        </p:txBody>
      </p:sp>
      <p:sp>
        <p:nvSpPr>
          <p:cNvPr id="5" name="Shape 3"/>
          <p:cNvSpPr/>
          <p:nvPr/>
        </p:nvSpPr>
        <p:spPr>
          <a:xfrm>
            <a:off x="548640" y="1463040"/>
            <a:ext cx="3246120" cy="4114800"/>
          </a:xfrm>
          <a:prstGeom prst="roundRect">
            <a:avLst>
              <a:gd name="adj" fmla="val 3380"/>
            </a:avLst>
          </a:prstGeom>
          <a:solidFill>
            <a:schemeClr val="accent2">
              <a:alpha val="9000"/>
            </a:schemeClr>
          </a:solidFill>
          <a:ln/>
        </p:spPr>
      </p:sp>
      <p:sp>
        <p:nvSpPr>
          <p:cNvPr id="6" name="Text 4"/>
          <p:cNvSpPr txBox="1"/>
          <p:nvPr/>
        </p:nvSpPr>
        <p:spPr>
          <a:xfrm>
            <a:off x="749808" y="1627632"/>
            <a:ext cx="2880360" cy="3840480"/>
          </a:xfrm>
          <a:prstGeom prst="rect">
            <a:avLst/>
          </a:prstGeom>
          <a:noFill/>
          <a:ln/>
        </p:spPr>
        <p:txBody>
          <a:bodyPr wrap="square" lIns="0" tIns="0" rIns="0" bIns="0" rtlCol="0" anchor="t"/>
          <a:lstStyle/>
          <a:p>
            <a:pPr indent="0" marL="0">
              <a:buNone/>
            </a:pPr>
            <a:r>
              <a:rPr lang="en-US" sz="1100" b="1" spc="100" kern="0" dirty="0">
                <a:solidFill>
                  <a:schemeClr val="accent2"/>
                </a:solidFill>
              </a:rPr>
              <a:t>IN SYNAPSE</a:t>
            </a:r>
            <a:endParaRPr lang="en-US" sz="1400" dirty="0"/>
          </a:p>
          <a:p>
            <a:pPr indent="0" marL="0">
              <a:spcBef>
                <a:spcPts val="400"/>
              </a:spcBef>
              <a:buNone/>
            </a:pPr>
            <a:r>
              <a:rPr lang="en-US" sz="1600" dirty="0">
                <a:solidFill>
                  <a:schemeClr val="tx2"/>
                </a:solidFill>
                <a:latin typeface="+mj-lt" pitchFamily="34" charset="0"/>
                <a:ea typeface="+mj-lt" pitchFamily="34" charset="-122"/>
                <a:cs typeface="+mj-lt" pitchFamily="34" charset="-120"/>
              </a:rPr>
              <a:t>Linked service</a:t>
            </a:r>
            <a:endParaRPr lang="en-US" sz="1400" dirty="0"/>
          </a:p>
          <a:p>
            <a:pPr indent="0" marL="0">
              <a:spcBef>
                <a:spcPts val="800"/>
              </a:spcBef>
              <a:buNone/>
            </a:pPr>
            <a:r>
              <a:rPr lang="en-US" sz="1050" b="1" dirty="0">
                <a:solidFill>
                  <a:schemeClr val="accent6"/>
                </a:solidFill>
              </a:rPr>
              <a:t>Format</a:t>
            </a:r>
            <a:endParaRPr lang="en-US" sz="1400" dirty="0"/>
          </a:p>
          <a:p>
            <a:pPr indent="0" marL="0">
              <a:buNone/>
            </a:pPr>
            <a:r>
              <a:rPr lang="en-US" sz="1200" dirty="0">
                <a:solidFill>
                  <a:schemeClr val="tx1"/>
                </a:solidFill>
              </a:rPr>
              <a:t>Resource JSON: type, typeProperties (connectionString, url, server, database…), connectVia, parameters</a:t>
            </a:r>
            <a:endParaRPr lang="en-US" sz="1400" dirty="0"/>
          </a:p>
          <a:p>
            <a:pPr marL="139700" indent="-139700">
              <a:spcBef>
                <a:spcPts val="900"/>
              </a:spcBef>
              <a:buSzPct val="100000"/>
              <a:buChar char="•"/>
            </a:pPr>
            <a:r>
              <a:rPr lang="en-US" sz="1200" dirty="0">
                <a:solidFill>
                  <a:schemeClr val="tx1"/>
                </a:solidFill>
              </a:rPr>
              <a:t>Secrets stay in Synapse or Key Vault and are never exported</a:t>
            </a:r>
            <a:endParaRPr lang="en-US" sz="1400" dirty="0"/>
          </a:p>
          <a:p>
            <a:pPr marL="139700" indent="-139700">
              <a:spcBef>
                <a:spcPts val="400"/>
              </a:spcBef>
              <a:buSzPct val="100000"/>
              <a:buChar char="•"/>
            </a:pPr>
            <a:r>
              <a:rPr lang="en-US" sz="1200" dirty="0">
                <a:solidFill>
                  <a:schemeClr val="tx1"/>
                </a:solidFill>
              </a:rPr>
              <a:t>Can be parameterised: @{linkedService().name}</a:t>
            </a:r>
            <a:endParaRPr lang="en-US" sz="1400" dirty="0"/>
          </a:p>
          <a:p>
            <a:pPr marL="139700" indent="-139700">
              <a:spcBef>
                <a:spcPts val="400"/>
              </a:spcBef>
              <a:buSzPct val="100000"/>
              <a:buChar char="•"/>
            </a:pPr>
            <a:r>
              <a:rPr lang="en-US" sz="1200" dirty="0">
                <a:solidFill>
                  <a:schemeClr val="tx1"/>
                </a:solidFill>
              </a:rPr>
              <a:t>Runs through an integration runtime</a:t>
            </a:r>
            <a:endParaRPr lang="en-US" sz="1400" dirty="0"/>
          </a:p>
        </p:txBody>
      </p:sp>
      <p:sp>
        <p:nvSpPr>
          <p:cNvPr id="7" name="Shape 5"/>
          <p:cNvSpPr/>
          <p:nvPr/>
        </p:nvSpPr>
        <p:spPr>
          <a:xfrm>
            <a:off x="4114800" y="1463040"/>
            <a:ext cx="3959352" cy="4114800"/>
          </a:xfrm>
          <a:prstGeom prst="roundRect">
            <a:avLst>
              <a:gd name="adj" fmla="val 2771"/>
            </a:avLst>
          </a:prstGeom>
          <a:solidFill>
            <a:schemeClr val="bg2"/>
          </a:solidFill>
          <a:ln/>
        </p:spPr>
      </p:sp>
      <p:sp>
        <p:nvSpPr>
          <p:cNvPr id="8" name="Text 6"/>
          <p:cNvSpPr txBox="1"/>
          <p:nvPr/>
        </p:nvSpPr>
        <p:spPr>
          <a:xfrm>
            <a:off x="4315968" y="1627632"/>
            <a:ext cx="3593592" cy="3840480"/>
          </a:xfrm>
          <a:prstGeom prst="rect">
            <a:avLst/>
          </a:prstGeom>
          <a:noFill/>
          <a:ln/>
        </p:spPr>
        <p:txBody>
          <a:bodyPr wrap="square" lIns="0" tIns="0" rIns="0" bIns="0" rtlCol="0" anchor="t"/>
          <a:lstStyle/>
          <a:p>
            <a:pPr indent="0" marL="0">
              <a:buNone/>
            </a:pPr>
            <a:r>
              <a:rPr lang="en-US" sz="1100" b="1" spc="100" kern="0" dirty="0">
                <a:solidFill>
                  <a:schemeClr val="accent6"/>
                </a:solidFill>
              </a:rPr>
              <a:t>HOW IT IS CONVERTED</a:t>
            </a:r>
            <a:endParaRPr lang="en-US" sz="1400" dirty="0"/>
          </a:p>
          <a:p>
            <a:pPr marL="342900" indent="-342900">
              <a:spcBef>
                <a:spcPts val="900"/>
              </a:spcBef>
              <a:buSzPct val="100000"/>
              <a:buFont typeface="+mj-lt"/>
              <a:buAutoNum type="arabicPeriod" startAt="1"/>
            </a:pPr>
            <a:r>
              <a:rPr lang="en-US" sz="1250" dirty="0">
                <a:solidFill>
                  <a:schemeClr val="tx1"/>
                </a:solidFill>
              </a:rPr>
              <a:t>Map the type: Azure SQL Database, Synapse (2 types) and SQL Server → SQL; ADLS Gen2 → AzureDataLakeStorage; Blob → AzureBlobs</a:t>
            </a:r>
            <a:endParaRPr lang="en-US" sz="1400" dirty="0"/>
          </a:p>
          <a:p>
            <a:pPr marL="342900" indent="-342900">
              <a:spcBef>
                <a:spcPts val="500"/>
              </a:spcBef>
              <a:buSzPct val="100000"/>
              <a:buFont typeface="+mj-lt"/>
              <a:buAutoNum type="arabicPeriod" startAt="1"/>
            </a:pPr>
            <a:r>
              <a:rPr lang="en-US" sz="1250" dirty="0">
                <a:solidFill>
                  <a:schemeClr val="tx1"/>
                </a:solidFill>
              </a:rPr>
              <a:t>Read the address: server and database (SQL), URL (ADLS Gen2; you type the container or path), account (Blob)</a:t>
            </a:r>
            <a:endParaRPr lang="en-US" sz="1400" dirty="0"/>
          </a:p>
          <a:p>
            <a:pPr marL="342900" indent="-342900">
              <a:spcBef>
                <a:spcPts val="500"/>
              </a:spcBef>
              <a:buSzPct val="100000"/>
              <a:buFont typeface="+mj-lt"/>
              <a:buAutoNum type="arabicPeriod" startAt="1"/>
            </a:pPr>
            <a:r>
              <a:rPr lang="en-US" sz="1250" dirty="0">
                <a:solidFill>
                  <a:schemeClr val="tx1"/>
                </a:solidFill>
              </a:rPr>
              <a:t>Parameterised: use the parameters' defaults; no default → by hand</a:t>
            </a:r>
            <a:endParaRPr lang="en-US" sz="1400" dirty="0"/>
          </a:p>
          <a:p>
            <a:pPr marL="342900" indent="-342900">
              <a:spcBef>
                <a:spcPts val="500"/>
              </a:spcBef>
              <a:buSzPct val="100000"/>
              <a:buFont typeface="+mj-lt"/>
              <a:buAutoNum type="arabicPeriod" startAt="1"/>
            </a:pPr>
            <a:r>
              <a:rPr lang="en-US" sz="1250" dirty="0">
                <a:solidFill>
                  <a:schemeClr val="tx1"/>
                </a:solidFill>
              </a:rPr>
              <a:t>Add the credential chosen in Plan (next slide)</a:t>
            </a:r>
            <a:endParaRPr lang="en-US" sz="1400" dirty="0"/>
          </a:p>
          <a:p>
            <a:pPr marL="342900" indent="-342900">
              <a:spcBef>
                <a:spcPts val="500"/>
              </a:spcBef>
              <a:buSzPct val="100000"/>
              <a:buFont typeface="+mj-lt"/>
              <a:buAutoNum type="arabicPeriod" startAt="1"/>
            </a:pPr>
            <a:r>
              <a:rPr lang="en-US" sz="1250" dirty="0">
                <a:solidFill>
                  <a:schemeClr val="tx1"/>
                </a:solidFill>
              </a:rPr>
              <a:t>POST /v1/connections; a connection with the same name is reused</a:t>
            </a:r>
            <a:endParaRPr lang="en-US" sz="1400" dirty="0"/>
          </a:p>
        </p:txBody>
      </p:sp>
      <p:sp>
        <p:nvSpPr>
          <p:cNvPr id="9" name="Shape 7"/>
          <p:cNvSpPr/>
          <p:nvPr/>
        </p:nvSpPr>
        <p:spPr>
          <a:xfrm>
            <a:off x="8394192" y="1463040"/>
            <a:ext cx="3246120" cy="4114800"/>
          </a:xfrm>
          <a:prstGeom prst="roundRect">
            <a:avLst>
              <a:gd name="adj" fmla="val 3380"/>
            </a:avLst>
          </a:prstGeom>
          <a:solidFill>
            <a:schemeClr val="accent1">
              <a:alpha val="10000"/>
            </a:schemeClr>
          </a:solidFill>
          <a:ln/>
        </p:spPr>
      </p:sp>
      <p:sp>
        <p:nvSpPr>
          <p:cNvPr id="10" name="Text 8"/>
          <p:cNvSpPr txBox="1"/>
          <p:nvPr/>
        </p:nvSpPr>
        <p:spPr>
          <a:xfrm>
            <a:off x="8595360" y="1627632"/>
            <a:ext cx="2880360" cy="3840480"/>
          </a:xfrm>
          <a:prstGeom prst="rect">
            <a:avLst/>
          </a:prstGeom>
          <a:noFill/>
          <a:ln/>
        </p:spPr>
        <p:txBody>
          <a:bodyPr wrap="square" lIns="0" tIns="0" rIns="0" bIns="0" rtlCol="0" anchor="t"/>
          <a:lstStyle/>
          <a:p>
            <a:pPr indent="0" marL="0">
              <a:buNone/>
            </a:pPr>
            <a:r>
              <a:rPr lang="en-US" sz="1100" b="1" spc="100" kern="0" dirty="0">
                <a:solidFill>
                  <a:schemeClr val="accent1"/>
                </a:solidFill>
              </a:rPr>
              <a:t>IN FABRIC</a:t>
            </a:r>
            <a:endParaRPr lang="en-US" sz="1400" dirty="0"/>
          </a:p>
          <a:p>
            <a:pPr indent="0" marL="0">
              <a:spcBef>
                <a:spcPts val="400"/>
              </a:spcBef>
              <a:buNone/>
            </a:pPr>
            <a:r>
              <a:rPr lang="en-US" sz="1600" dirty="0">
                <a:solidFill>
                  <a:schemeClr val="tx2"/>
                </a:solidFill>
                <a:latin typeface="+mj-lt" pitchFamily="34" charset="0"/>
                <a:ea typeface="+mj-lt" pitchFamily="34" charset="-122"/>
                <a:cs typeface="+mj-lt" pitchFamily="34" charset="-120"/>
              </a:rPr>
              <a:t>Connection</a:t>
            </a:r>
            <a:endParaRPr lang="en-US" sz="1400" dirty="0"/>
          </a:p>
          <a:p>
            <a:pPr indent="0" marL="0">
              <a:spcBef>
                <a:spcPts val="800"/>
              </a:spcBef>
              <a:buNone/>
            </a:pPr>
            <a:r>
              <a:rPr lang="en-US" sz="1050" b="1" dirty="0">
                <a:solidFill>
                  <a:schemeClr val="accent6"/>
                </a:solidFill>
              </a:rPr>
              <a:t>Format</a:t>
            </a:r>
            <a:endParaRPr lang="en-US" sz="1400" dirty="0"/>
          </a:p>
          <a:p>
            <a:pPr indent="0" marL="0">
              <a:buNone/>
            </a:pPr>
            <a:r>
              <a:rPr lang="en-US" sz="1200" dirty="0">
                <a:solidFill>
                  <a:schemeClr val="tx1"/>
                </a:solidFill>
              </a:rPr>
              <a:t>A tenant-level ShareableCloud connection: type, creation method, parameters, credential details; privacy Organizational</a:t>
            </a:r>
            <a:endParaRPr lang="en-US" sz="1400" dirty="0"/>
          </a:p>
          <a:p>
            <a:pPr marL="139700" indent="-139700">
              <a:spcBef>
                <a:spcPts val="900"/>
              </a:spcBef>
              <a:buSzPct val="100000"/>
              <a:buChar char="•"/>
            </a:pPr>
            <a:r>
              <a:rPr lang="en-US" sz="1200" dirty="0">
                <a:solidFill>
                  <a:schemeClr val="tx1"/>
                </a:solidFill>
              </a:rPr>
              <a:t>Same display name as the linked service, so pipelines find it</a:t>
            </a:r>
            <a:endParaRPr lang="en-US" sz="1400" dirty="0"/>
          </a:p>
          <a:p>
            <a:pPr marL="139700" indent="-139700">
              <a:spcBef>
                <a:spcPts val="400"/>
              </a:spcBef>
              <a:buSzPct val="100000"/>
              <a:buChar char="•"/>
            </a:pPr>
            <a:r>
              <a:rPr lang="en-US" sz="1200" dirty="0">
                <a:solidFill>
                  <a:schemeClr val="tx1"/>
                </a:solidFill>
              </a:rPr>
              <a:t>No parameters: one connection per address</a:t>
            </a:r>
            <a:endParaRPr lang="en-US" sz="1400" dirty="0"/>
          </a:p>
        </p:txBody>
      </p:sp>
      <p:sp>
        <p:nvSpPr>
          <p:cNvPr id="11" name="Shape 9"/>
          <p:cNvSpPr/>
          <p:nvPr/>
        </p:nvSpPr>
        <p:spPr>
          <a:xfrm>
            <a:off x="3867912" y="3337560"/>
            <a:ext cx="182880" cy="365760"/>
          </a:xfrm>
          <a:prstGeom prst="chevron">
            <a:avLst/>
          </a:prstGeom>
          <a:solidFill>
            <a:schemeClr val="accent6"/>
          </a:solidFill>
          <a:ln/>
        </p:spPr>
      </p:sp>
      <p:sp>
        <p:nvSpPr>
          <p:cNvPr id="12" name="Shape 10"/>
          <p:cNvSpPr/>
          <p:nvPr/>
        </p:nvSpPr>
        <p:spPr>
          <a:xfrm>
            <a:off x="8147304" y="3337560"/>
            <a:ext cx="182880" cy="365760"/>
          </a:xfrm>
          <a:prstGeom prst="chevron">
            <a:avLst/>
          </a:prstGeom>
          <a:solidFill>
            <a:schemeClr val="accent6"/>
          </a:solidFill>
          <a:ln/>
        </p:spPr>
      </p:sp>
      <p:sp>
        <p:nvSpPr>
          <p:cNvPr id="13" name="Shape 11"/>
          <p:cNvSpPr/>
          <p:nvPr/>
        </p:nvSpPr>
        <p:spPr>
          <a:xfrm>
            <a:off x="548640" y="5687568"/>
            <a:ext cx="11094415" cy="530352"/>
          </a:xfrm>
          <a:prstGeom prst="roundRect">
            <a:avLst>
              <a:gd name="adj" fmla="val 20690"/>
            </a:avLst>
          </a:prstGeom>
          <a:solidFill>
            <a:schemeClr val="accent3">
              <a:alpha val="13000"/>
            </a:schemeClr>
          </a:solidFill>
          <a:ln/>
        </p:spPr>
      </p:sp>
      <p:sp>
        <p:nvSpPr>
          <p:cNvPr id="14" name="Text 12"/>
          <p:cNvSpPr txBox="1"/>
          <p:nvPr/>
        </p:nvSpPr>
        <p:spPr>
          <a:xfrm>
            <a:off x="777240" y="5687568"/>
            <a:ext cx="10637215" cy="530352"/>
          </a:xfrm>
          <a:prstGeom prst="rect">
            <a:avLst/>
          </a:prstGeom>
          <a:noFill/>
          <a:ln/>
        </p:spPr>
        <p:txBody>
          <a:bodyPr wrap="square" lIns="0" tIns="0" rIns="0" bIns="0" rtlCol="0" anchor="ctr"/>
          <a:lstStyle/>
          <a:p>
            <a:pPr indent="0" marL="0">
              <a:buNone/>
            </a:pPr>
            <a:r>
              <a:rPr lang="en-US" sz="1250" b="1" dirty="0">
                <a:solidFill>
                  <a:schemeClr val="tx2"/>
                </a:solidFill>
              </a:rPr>
              <a:t>Note:  </a:t>
            </a:r>
            <a:pPr indent="0" marL="0">
              <a:buNone/>
            </a:pPr>
            <a:r>
              <a:rPr lang="en-US" sz="1250" dirty="0">
                <a:solidFill>
                  <a:schemeClr val="tx1"/>
                </a:solidFill>
              </a:rPr>
              <a:t>a parameterised pool linked service used only against the pool is replaced by the Warehouse, not a connection. Other types: by hand, same name. Integration runtimes are not carried.</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58</a:t>
            </a:fld>
            <a:endParaRPr lang="en-US"/>
          </a:p>
        </p:txBody>
      </p:sp>
    </p:spTree>
  </p:cSld>
  <p:clrMapOvr>
    <a:masterClrMapping/>
  </p:clrMapOvr>
  <p:transition spd="med">
    <p:fade/>
  </p:transition>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05 · ITEM BY ITEM</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Connections: the credential choices</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migration/fabric_connections.py: AUTH_FIELDS</a:t>
            </a:r>
            <a:endParaRPr lang="en-US" sz="11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548640" y="1444752"/>
          <a:ext cx="11094415" cy="914400"/>
        </p:xfrm>
        <a:graphic>
          <a:graphicData uri="http://schemas.openxmlformats.org/drawingml/2006/table">
            <a:tbl>
              <a:tblPr/>
              <a:tblGrid>
                <a:gridCol w="4023360"/>
                <a:gridCol w="1143000"/>
                <a:gridCol w="1920240"/>
                <a:gridCol w="4005072"/>
              </a:tblGrid>
              <a:tr h="329184">
                <a:tc>
                  <a:txBody>
                    <a:bodyPr/>
                    <a:lstStyle/>
                    <a:p>
                      <a:pPr indent="0" marL="0">
                        <a:buNone/>
                      </a:pPr>
                      <a:r>
                        <a:rPr lang="en-US" sz="1250" b="1" dirty="0">
                          <a:solidFill>
                            <a:schemeClr val="bg1"/>
                          </a:solidFill>
                        </a:rPr>
                        <a:t>Choice</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indent="0" marL="0">
                        <a:buNone/>
                      </a:pPr>
                      <a:r>
                        <a:rPr lang="en-US" sz="1250" b="1" dirty="0">
                          <a:solidFill>
                            <a:schemeClr val="bg1"/>
                          </a:solidFill>
                        </a:rPr>
                        <a:t>SQL</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indent="0" marL="0">
                        <a:buNone/>
                      </a:pPr>
                      <a:r>
                        <a:rPr lang="en-US" sz="1250" b="1" dirty="0">
                          <a:solidFill>
                            <a:schemeClr val="bg1"/>
                          </a:solidFill>
                        </a:rPr>
                        <a:t>ADLS Gen2, Blob</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indent="0" marL="0">
                        <a:buNone/>
                      </a:pPr>
                      <a:r>
                        <a:rPr lang="en-US" sz="1250" b="1" dirty="0">
                          <a:solidFill>
                            <a:schemeClr val="bg1"/>
                          </a:solidFill>
                        </a:rPr>
                        <a:t>Does a secret pass through the tool?</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r>
              <a:tr h="338328">
                <a:tc>
                  <a:txBody>
                    <a:bodyPr/>
                    <a:lstStyle/>
                    <a:p>
                      <a:pPr indent="0" marL="0">
                        <a:buNone/>
                      </a:pPr>
                      <a:r>
                        <a:rPr lang="en-US" sz="1250" b="1" dirty="0">
                          <a:solidFill>
                            <a:schemeClr val="tx2"/>
                          </a:solidFill>
                        </a:rPr>
                        <a:t>Workspace identity</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algn="ctr" indent="0" marL="0">
                        <a:buNone/>
                      </a:pPr>
                      <a:r>
                        <a:rPr lang="en-US" sz="1250" b="1" dirty="0">
                          <a:solidFill>
                            <a:schemeClr val="accent1"/>
                          </a:solidFill>
                          <a:latin typeface="Segoe UI Symbol" pitchFamily="34" charset="0"/>
                          <a:ea typeface="Segoe UI Symbol" pitchFamily="34" charset="-122"/>
                          <a:cs typeface="Segoe UI Symbol" pitchFamily="34" charset="-120"/>
                        </a:rPr>
                        <a:t>✓</a:t>
                      </a:r>
                      <a:endParaRPr lang="en-US" sz="1250" dirty="0">
                        <a:latin typeface="Segoe UI Symbol" charset="0"/>
                        <a:ea typeface="Segoe UI Symbol" charset="0"/>
                        <a:cs typeface="Segoe UI Symbol" charset="0"/>
                      </a:endParaRPr>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algn="ctr" indent="0" marL="0">
                        <a:buNone/>
                      </a:pPr>
                      <a:r>
                        <a:rPr lang="en-US" sz="1250" b="1" dirty="0">
                          <a:solidFill>
                            <a:schemeClr val="accent1"/>
                          </a:solidFill>
                          <a:latin typeface="Segoe UI Symbol" pitchFamily="34" charset="0"/>
                          <a:ea typeface="Segoe UI Symbol" pitchFamily="34" charset="-122"/>
                          <a:cs typeface="Segoe UI Symbol" pitchFamily="34" charset="-120"/>
                        </a:rPr>
                        <a:t>✓</a:t>
                      </a:r>
                      <a:endParaRPr lang="en-US" sz="1250" dirty="0">
                        <a:latin typeface="Segoe UI Symbol" charset="0"/>
                        <a:ea typeface="Segoe UI Symbol" charset="0"/>
                        <a:cs typeface="Segoe UI Symbol" charset="0"/>
                      </a:endParaRPr>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No: grant the identity access first</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38328">
                <a:tc>
                  <a:txBody>
                    <a:bodyPr/>
                    <a:lstStyle/>
                    <a:p>
                      <a:pPr indent="0" marL="0">
                        <a:buNone/>
                      </a:pPr>
                      <a:r>
                        <a:rPr lang="en-US" sz="1250" b="1" dirty="0">
                          <a:solidFill>
                            <a:schemeClr val="tx2"/>
                          </a:solidFill>
                        </a:rPr>
                        <a:t>SQL login, password in Key Vault</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algn="ctr" indent="0" marL="0">
                        <a:buNone/>
                      </a:pPr>
                      <a:r>
                        <a:rPr lang="en-US" sz="1250" b="1" dirty="0">
                          <a:solidFill>
                            <a:schemeClr val="accent1"/>
                          </a:solidFill>
                          <a:latin typeface="Segoe UI Symbol" pitchFamily="34" charset="0"/>
                          <a:ea typeface="Segoe UI Symbol" pitchFamily="34" charset="-122"/>
                          <a:cs typeface="Segoe UI Symbol" pitchFamily="34" charset="-120"/>
                        </a:rPr>
                        <a:t>✓</a:t>
                      </a:r>
                      <a:endParaRPr lang="en-US" sz="1250" dirty="0">
                        <a:latin typeface="Segoe UI Symbol" charset="0"/>
                        <a:ea typeface="Segoe UI Symbol" charset="0"/>
                        <a:cs typeface="Segoe UI Symbol" charset="0"/>
                      </a:endParaRPr>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algn="ctr" indent="0" marL="0">
                        <a:buNone/>
                      </a:pPr>
                      <a:r>
                        <a:rPr lang="en-US" sz="1250" dirty="0">
                          <a:solidFill>
                            <a:schemeClr val="accent6"/>
                          </a:solidFill>
                        </a:rPr>
                        <a:t>—</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50" dirty="0">
                          <a:solidFill>
                            <a:schemeClr val="tx1"/>
                          </a:solidFill>
                        </a:rPr>
                        <a:t>No: a Key Vault reference</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38328">
                <a:tc>
                  <a:txBody>
                    <a:bodyPr/>
                    <a:lstStyle/>
                    <a:p>
                      <a:pPr indent="0" marL="0">
                        <a:buNone/>
                      </a:pPr>
                      <a:r>
                        <a:rPr lang="en-US" sz="1250" b="1" dirty="0">
                          <a:solidFill>
                            <a:schemeClr val="tx2"/>
                          </a:solidFill>
                        </a:rPr>
                        <a:t>Service principal, secret in Key Vault</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algn="ctr" indent="0" marL="0">
                        <a:buNone/>
                      </a:pPr>
                      <a:r>
                        <a:rPr lang="en-US" sz="1250" b="1" dirty="0">
                          <a:solidFill>
                            <a:schemeClr val="accent1"/>
                          </a:solidFill>
                          <a:latin typeface="Segoe UI Symbol" pitchFamily="34" charset="0"/>
                          <a:ea typeface="Segoe UI Symbol" pitchFamily="34" charset="-122"/>
                          <a:cs typeface="Segoe UI Symbol" pitchFamily="34" charset="-120"/>
                        </a:rPr>
                        <a:t>✓</a:t>
                      </a:r>
                      <a:endParaRPr lang="en-US" sz="1250" dirty="0">
                        <a:latin typeface="Segoe UI Symbol" charset="0"/>
                        <a:ea typeface="Segoe UI Symbol" charset="0"/>
                        <a:cs typeface="Segoe UI Symbol" charset="0"/>
                      </a:endParaRPr>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algn="ctr" indent="0" marL="0">
                        <a:buNone/>
                      </a:pPr>
                      <a:r>
                        <a:rPr lang="en-US" sz="1250" b="1" dirty="0">
                          <a:solidFill>
                            <a:schemeClr val="accent1"/>
                          </a:solidFill>
                          <a:latin typeface="Segoe UI Symbol" pitchFamily="34" charset="0"/>
                          <a:ea typeface="Segoe UI Symbol" pitchFamily="34" charset="-122"/>
                          <a:cs typeface="Segoe UI Symbol" pitchFamily="34" charset="-120"/>
                        </a:rPr>
                        <a:t>✓</a:t>
                      </a:r>
                      <a:endParaRPr lang="en-US" sz="1250" dirty="0">
                        <a:latin typeface="Segoe UI Symbol" charset="0"/>
                        <a:ea typeface="Segoe UI Symbol" charset="0"/>
                        <a:cs typeface="Segoe UI Symbol" charset="0"/>
                      </a:endParaRPr>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No: a Key Vault reference</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38328">
                <a:tc>
                  <a:txBody>
                    <a:bodyPr/>
                    <a:lstStyle/>
                    <a:p>
                      <a:pPr indent="0" marL="0">
                        <a:buNone/>
                      </a:pPr>
                      <a:r>
                        <a:rPr lang="en-US" sz="1250" b="1" dirty="0">
                          <a:solidFill>
                            <a:schemeClr val="tx2"/>
                          </a:solidFill>
                        </a:rPr>
                        <a:t>Account key in Key Vault</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algn="ctr" indent="0" marL="0">
                        <a:buNone/>
                      </a:pPr>
                      <a:r>
                        <a:rPr lang="en-US" sz="1250" dirty="0">
                          <a:solidFill>
                            <a:schemeClr val="accent6"/>
                          </a:solidFill>
                        </a:rPr>
                        <a:t>—</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algn="ctr" indent="0" marL="0">
                        <a:buNone/>
                      </a:pPr>
                      <a:r>
                        <a:rPr lang="en-US" sz="1250" b="1" dirty="0">
                          <a:solidFill>
                            <a:schemeClr val="accent1"/>
                          </a:solidFill>
                          <a:latin typeface="Segoe UI Symbol" pitchFamily="34" charset="0"/>
                          <a:ea typeface="Segoe UI Symbol" pitchFamily="34" charset="-122"/>
                          <a:cs typeface="Segoe UI Symbol" pitchFamily="34" charset="-120"/>
                        </a:rPr>
                        <a:t>✓</a:t>
                      </a:r>
                      <a:endParaRPr lang="en-US" sz="1250" dirty="0">
                        <a:latin typeface="Segoe UI Symbol" charset="0"/>
                        <a:ea typeface="Segoe UI Symbol" charset="0"/>
                        <a:cs typeface="Segoe UI Symbol" charset="0"/>
                      </a:endParaRPr>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50" dirty="0">
                          <a:solidFill>
                            <a:schemeClr val="tx1"/>
                          </a:solidFill>
                        </a:rPr>
                        <a:t>No: a Key Vault reference</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38328">
                <a:tc>
                  <a:txBody>
                    <a:bodyPr/>
                    <a:lstStyle/>
                    <a:p>
                      <a:pPr indent="0" marL="0">
                        <a:buNone/>
                      </a:pPr>
                      <a:r>
                        <a:rPr lang="en-US" sz="1250" b="1" dirty="0">
                          <a:solidFill>
                            <a:schemeClr val="tx2"/>
                          </a:solidFill>
                        </a:rPr>
                        <a:t>SAS token in Key Vault</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algn="ctr" indent="0" marL="0">
                        <a:buNone/>
                      </a:pPr>
                      <a:r>
                        <a:rPr lang="en-US" sz="1250" dirty="0">
                          <a:solidFill>
                            <a:schemeClr val="accent6"/>
                          </a:solidFill>
                        </a:rPr>
                        <a:t>—</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algn="ctr" indent="0" marL="0">
                        <a:buNone/>
                      </a:pPr>
                      <a:r>
                        <a:rPr lang="en-US" sz="1250" b="1" dirty="0">
                          <a:solidFill>
                            <a:schemeClr val="accent1"/>
                          </a:solidFill>
                          <a:latin typeface="Segoe UI Symbol" pitchFamily="34" charset="0"/>
                          <a:ea typeface="Segoe UI Symbol" pitchFamily="34" charset="-122"/>
                          <a:cs typeface="Segoe UI Symbol" pitchFamily="34" charset="-120"/>
                        </a:rPr>
                        <a:t>✓</a:t>
                      </a:r>
                      <a:endParaRPr lang="en-US" sz="1250" dirty="0">
                        <a:latin typeface="Segoe UI Symbol" charset="0"/>
                        <a:ea typeface="Segoe UI Symbol" charset="0"/>
                        <a:cs typeface="Segoe UI Symbol" charset="0"/>
                      </a:endParaRPr>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No: a Key Vault reference</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38328">
                <a:tc>
                  <a:txBody>
                    <a:bodyPr/>
                    <a:lstStyle/>
                    <a:p>
                      <a:pPr indent="0" marL="0">
                        <a:buNone/>
                      </a:pPr>
                      <a:r>
                        <a:rPr lang="en-US" sz="1250" b="1" dirty="0">
                          <a:solidFill>
                            <a:schemeClr val="tx2"/>
                          </a:solidFill>
                        </a:rPr>
                        <a:t>SQL login</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algn="ctr" indent="0" marL="0">
                        <a:buNone/>
                      </a:pPr>
                      <a:r>
                        <a:rPr lang="en-US" sz="1250" b="1" dirty="0">
                          <a:solidFill>
                            <a:schemeClr val="accent1"/>
                          </a:solidFill>
                          <a:latin typeface="Segoe UI Symbol" pitchFamily="34" charset="0"/>
                          <a:ea typeface="Segoe UI Symbol" pitchFamily="34" charset="-122"/>
                          <a:cs typeface="Segoe UI Symbol" pitchFamily="34" charset="-120"/>
                        </a:rPr>
                        <a:t>✓</a:t>
                      </a:r>
                      <a:endParaRPr lang="en-US" sz="1250" dirty="0">
                        <a:latin typeface="Segoe UI Symbol" charset="0"/>
                        <a:ea typeface="Segoe UI Symbol" charset="0"/>
                        <a:cs typeface="Segoe UI Symbol" charset="0"/>
                      </a:endParaRPr>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algn="ctr" indent="0" marL="0">
                        <a:buNone/>
                      </a:pPr>
                      <a:r>
                        <a:rPr lang="en-US" sz="1250" dirty="0">
                          <a:solidFill>
                            <a:schemeClr val="accent6"/>
                          </a:solidFill>
                        </a:rPr>
                        <a:t>—</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50" dirty="0">
                          <a:solidFill>
                            <a:schemeClr val="tx1"/>
                          </a:solidFill>
                        </a:rPr>
                        <a:t>Yes: in memory for the run</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38328">
                <a:tc>
                  <a:txBody>
                    <a:bodyPr/>
                    <a:lstStyle/>
                    <a:p>
                      <a:pPr indent="0" marL="0">
                        <a:buNone/>
                      </a:pPr>
                      <a:r>
                        <a:rPr lang="en-US" sz="1250" b="1" dirty="0">
                          <a:solidFill>
                            <a:schemeClr val="tx2"/>
                          </a:solidFill>
                        </a:rPr>
                        <a:t>Service principal</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algn="ctr" indent="0" marL="0">
                        <a:buNone/>
                      </a:pPr>
                      <a:r>
                        <a:rPr lang="en-US" sz="1250" b="1" dirty="0">
                          <a:solidFill>
                            <a:schemeClr val="accent1"/>
                          </a:solidFill>
                          <a:latin typeface="Segoe UI Symbol" pitchFamily="34" charset="0"/>
                          <a:ea typeface="Segoe UI Symbol" pitchFamily="34" charset="-122"/>
                          <a:cs typeface="Segoe UI Symbol" pitchFamily="34" charset="-120"/>
                        </a:rPr>
                        <a:t>✓</a:t>
                      </a:r>
                      <a:endParaRPr lang="en-US" sz="1250" dirty="0">
                        <a:latin typeface="Segoe UI Symbol" charset="0"/>
                        <a:ea typeface="Segoe UI Symbol" charset="0"/>
                        <a:cs typeface="Segoe UI Symbol" charset="0"/>
                      </a:endParaRPr>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algn="ctr" indent="0" marL="0">
                        <a:buNone/>
                      </a:pPr>
                      <a:r>
                        <a:rPr lang="en-US" sz="1250" b="1" dirty="0">
                          <a:solidFill>
                            <a:schemeClr val="accent1"/>
                          </a:solidFill>
                          <a:latin typeface="Segoe UI Symbol" pitchFamily="34" charset="0"/>
                          <a:ea typeface="Segoe UI Symbol" pitchFamily="34" charset="-122"/>
                          <a:cs typeface="Segoe UI Symbol" pitchFamily="34" charset="-120"/>
                        </a:rPr>
                        <a:t>✓</a:t>
                      </a:r>
                      <a:endParaRPr lang="en-US" sz="1250" dirty="0">
                        <a:latin typeface="Segoe UI Symbol" charset="0"/>
                        <a:ea typeface="Segoe UI Symbol" charset="0"/>
                        <a:cs typeface="Segoe UI Symbol" charset="0"/>
                      </a:endParaRPr>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Yes: in memory for the run</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38328">
                <a:tc>
                  <a:txBody>
                    <a:bodyPr/>
                    <a:lstStyle/>
                    <a:p>
                      <a:pPr indent="0" marL="0">
                        <a:buNone/>
                      </a:pPr>
                      <a:r>
                        <a:rPr lang="en-US" sz="1250" b="1" dirty="0">
                          <a:solidFill>
                            <a:schemeClr val="tx2"/>
                          </a:solidFill>
                        </a:rPr>
                        <a:t>Account key</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algn="ctr" indent="0" marL="0">
                        <a:buNone/>
                      </a:pPr>
                      <a:r>
                        <a:rPr lang="en-US" sz="1250" dirty="0">
                          <a:solidFill>
                            <a:schemeClr val="accent6"/>
                          </a:solidFill>
                        </a:rPr>
                        <a:t>—</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algn="ctr" indent="0" marL="0">
                        <a:buNone/>
                      </a:pPr>
                      <a:r>
                        <a:rPr lang="en-US" sz="1250" b="1" dirty="0">
                          <a:solidFill>
                            <a:schemeClr val="accent1"/>
                          </a:solidFill>
                          <a:latin typeface="Segoe UI Symbol" pitchFamily="34" charset="0"/>
                          <a:ea typeface="Segoe UI Symbol" pitchFamily="34" charset="-122"/>
                          <a:cs typeface="Segoe UI Symbol" pitchFamily="34" charset="-120"/>
                        </a:rPr>
                        <a:t>✓</a:t>
                      </a:r>
                      <a:endParaRPr lang="en-US" sz="1250" dirty="0">
                        <a:latin typeface="Segoe UI Symbol" charset="0"/>
                        <a:ea typeface="Segoe UI Symbol" charset="0"/>
                        <a:cs typeface="Segoe UI Symbol" charset="0"/>
                      </a:endParaRPr>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50" dirty="0">
                          <a:solidFill>
                            <a:schemeClr val="tx1"/>
                          </a:solidFill>
                        </a:rPr>
                        <a:t>Yes: in memory for the run</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38328">
                <a:tc>
                  <a:txBody>
                    <a:bodyPr/>
                    <a:lstStyle/>
                    <a:p>
                      <a:pPr indent="0" marL="0">
                        <a:buNone/>
                      </a:pPr>
                      <a:r>
                        <a:rPr lang="en-US" sz="1250" b="1" dirty="0">
                          <a:solidFill>
                            <a:schemeClr val="tx2"/>
                          </a:solidFill>
                        </a:rPr>
                        <a:t>SAS token</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algn="ctr" indent="0" marL="0">
                        <a:buNone/>
                      </a:pPr>
                      <a:r>
                        <a:rPr lang="en-US" sz="1250" dirty="0">
                          <a:solidFill>
                            <a:schemeClr val="accent6"/>
                          </a:solidFill>
                        </a:rPr>
                        <a:t>—</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algn="ctr" indent="0" marL="0">
                        <a:buNone/>
                      </a:pPr>
                      <a:r>
                        <a:rPr lang="en-US" sz="1250" b="1" dirty="0">
                          <a:solidFill>
                            <a:schemeClr val="accent1"/>
                          </a:solidFill>
                          <a:latin typeface="Segoe UI Symbol" pitchFamily="34" charset="0"/>
                          <a:ea typeface="Segoe UI Symbol" pitchFamily="34" charset="-122"/>
                          <a:cs typeface="Segoe UI Symbol" pitchFamily="34" charset="-120"/>
                        </a:rPr>
                        <a:t>✓</a:t>
                      </a:r>
                      <a:endParaRPr lang="en-US" sz="1250" dirty="0">
                        <a:latin typeface="Segoe UI Symbol" charset="0"/>
                        <a:ea typeface="Segoe UI Symbol" charset="0"/>
                        <a:cs typeface="Segoe UI Symbol" charset="0"/>
                      </a:endParaRPr>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Yes: in memory for the run</a:t>
                      </a:r>
                      <a:endParaRPr lang="en-US" sz="12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4892040"/>
            <a:ext cx="3547872" cy="1280160"/>
          </a:xfrm>
          <a:prstGeom prst="roundRect">
            <a:avLst>
              <a:gd name="adj" fmla="val 8571"/>
            </a:avLst>
          </a:prstGeom>
          <a:solidFill>
            <a:schemeClr val="bg2"/>
          </a:solidFill>
          <a:ln/>
        </p:spPr>
      </p:sp>
      <p:sp>
        <p:nvSpPr>
          <p:cNvPr id="7" name="Text 4"/>
          <p:cNvSpPr txBox="1"/>
          <p:nvPr/>
        </p:nvSpPr>
        <p:spPr>
          <a:xfrm>
            <a:off x="777240" y="5074920"/>
            <a:ext cx="3090672"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WORKSPACE IDENTITY</a:t>
            </a:r>
            <a:endParaRPr lang="en-US" sz="1100" dirty="0"/>
          </a:p>
        </p:txBody>
      </p:sp>
      <p:sp>
        <p:nvSpPr>
          <p:cNvPr id="8" name="Text 5"/>
          <p:cNvSpPr txBox="1"/>
          <p:nvPr/>
        </p:nvSpPr>
        <p:spPr>
          <a:xfrm>
            <a:off x="749808" y="5394960"/>
            <a:ext cx="3163824" cy="640080"/>
          </a:xfrm>
          <a:prstGeom prst="rect">
            <a:avLst/>
          </a:prstGeom>
          <a:noFill/>
          <a:ln/>
        </p:spPr>
        <p:txBody>
          <a:bodyPr wrap="square" lIns="0" tIns="0" rIns="0" bIns="0" rtlCol="0" anchor="t"/>
          <a:lstStyle/>
          <a:p>
            <a:pPr indent="0" marL="0">
              <a:buNone/>
            </a:pPr>
            <a:r>
              <a:rPr lang="en-US" sz="1200" dirty="0">
                <a:solidFill>
                  <a:schemeClr val="tx1"/>
                </a:solidFill>
              </a:rPr>
              <a:t>A workspace admin creates it. SQL: CREATE USER [&lt;workspace&gt;] FROM EXTERNAL PROVIDER and db_datareader. Storage: Storage Blob Data Reader.</a:t>
            </a:r>
            <a:endParaRPr lang="en-US" sz="1400" dirty="0"/>
          </a:p>
        </p:txBody>
      </p:sp>
      <p:sp>
        <p:nvSpPr>
          <p:cNvPr id="9" name="Shape 6"/>
          <p:cNvSpPr/>
          <p:nvPr/>
        </p:nvSpPr>
        <p:spPr>
          <a:xfrm>
            <a:off x="4315968" y="4892040"/>
            <a:ext cx="3547872" cy="1280160"/>
          </a:xfrm>
          <a:prstGeom prst="roundRect">
            <a:avLst>
              <a:gd name="adj" fmla="val 8571"/>
            </a:avLst>
          </a:prstGeom>
          <a:solidFill>
            <a:schemeClr val="bg2"/>
          </a:solidFill>
          <a:ln/>
        </p:spPr>
      </p:sp>
      <p:sp>
        <p:nvSpPr>
          <p:cNvPr id="10" name="Text 7"/>
          <p:cNvSpPr txBox="1"/>
          <p:nvPr/>
        </p:nvSpPr>
        <p:spPr>
          <a:xfrm>
            <a:off x="4544568" y="5074920"/>
            <a:ext cx="3090672"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KEY VAULT REFERENCE</a:t>
            </a:r>
            <a:endParaRPr lang="en-US" sz="1100" dirty="0"/>
          </a:p>
        </p:txBody>
      </p:sp>
      <p:sp>
        <p:nvSpPr>
          <p:cNvPr id="11" name="Text 8"/>
          <p:cNvSpPr txBox="1"/>
          <p:nvPr/>
        </p:nvSpPr>
        <p:spPr>
          <a:xfrm>
            <a:off x="4517136" y="5394960"/>
            <a:ext cx="3163824" cy="640080"/>
          </a:xfrm>
          <a:prstGeom prst="rect">
            <a:avLst/>
          </a:prstGeom>
          <a:noFill/>
          <a:ln/>
        </p:spPr>
        <p:txBody>
          <a:bodyPr wrap="square" lIns="0" tIns="0" rIns="0" bIns="0" rtlCol="0" anchor="t"/>
          <a:lstStyle/>
          <a:p>
            <a:pPr indent="0" marL="0">
              <a:buNone/>
            </a:pPr>
            <a:r>
              <a:rPr lang="en-US" sz="1200" dirty="0">
                <a:solidFill>
                  <a:schemeClr val="tx1"/>
                </a:solidFill>
              </a:rPr>
              <a:t>Create it in Fabric (Manage connections and gateways), then enter its alias or ID and the secret's name. Fabric reads the latest version.</a:t>
            </a:r>
            <a:endParaRPr lang="en-US" sz="1400" dirty="0"/>
          </a:p>
        </p:txBody>
      </p:sp>
      <p:sp>
        <p:nvSpPr>
          <p:cNvPr id="12" name="Shape 9"/>
          <p:cNvSpPr/>
          <p:nvPr/>
        </p:nvSpPr>
        <p:spPr>
          <a:xfrm>
            <a:off x="8083296" y="4892040"/>
            <a:ext cx="3547872" cy="1280160"/>
          </a:xfrm>
          <a:prstGeom prst="roundRect">
            <a:avLst>
              <a:gd name="adj" fmla="val 8571"/>
            </a:avLst>
          </a:prstGeom>
          <a:solidFill>
            <a:schemeClr val="bg2"/>
          </a:solidFill>
          <a:ln/>
        </p:spPr>
      </p:sp>
      <p:sp>
        <p:nvSpPr>
          <p:cNvPr id="13" name="Text 10"/>
          <p:cNvSpPr txBox="1"/>
          <p:nvPr/>
        </p:nvSpPr>
        <p:spPr>
          <a:xfrm>
            <a:off x="8311896" y="5074920"/>
            <a:ext cx="3090672"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TYPED SECRETS</a:t>
            </a:r>
            <a:endParaRPr lang="en-US" sz="1100" dirty="0"/>
          </a:p>
        </p:txBody>
      </p:sp>
      <p:sp>
        <p:nvSpPr>
          <p:cNvPr id="14" name="Text 11"/>
          <p:cNvSpPr txBox="1"/>
          <p:nvPr/>
        </p:nvSpPr>
        <p:spPr>
          <a:xfrm>
            <a:off x="8284464" y="5394960"/>
            <a:ext cx="3163824" cy="640080"/>
          </a:xfrm>
          <a:prstGeom prst="rect">
            <a:avLst/>
          </a:prstGeom>
          <a:noFill/>
          <a:ln/>
        </p:spPr>
        <p:txBody>
          <a:bodyPr wrap="square" lIns="0" tIns="0" rIns="0" bIns="0" rtlCol="0" anchor="t"/>
          <a:lstStyle/>
          <a:p>
            <a:pPr indent="0" marL="0">
              <a:buNone/>
            </a:pPr>
            <a:r>
              <a:rPr lang="en-US" sz="1200" dirty="0">
                <a:solidFill>
                  <a:schemeClr val="tx1"/>
                </a:solidFill>
              </a:rPr>
              <a:t>Kept in memory for the run (Retry reuses them) and passed into Fabric's create call; never written to disk, logged or returned.</a:t>
            </a:r>
            <a:endParaRPr lang="en-US" sz="14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59</a:t>
            </a:fld>
            <a:endParaRPr lang="en-US"/>
          </a:p>
        </p:txBody>
      </p:sp>
    </p:spTree>
  </p:cSld>
  <p:clrMapOvr>
    <a:masterClrMapping/>
  </p:clrMapOvr>
  <p:transition spd="med">
    <p:fade/>
  </p:transition>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05 · ITEM BY ITEM</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Pipelines → Fabric data pipelines</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migration/pipelines.py: convert · stages_fabric.py: _pipeline</a:t>
            </a:r>
            <a:endParaRPr lang="en-US" sz="1100" dirty="0"/>
          </a:p>
        </p:txBody>
      </p:sp>
      <p:sp>
        <p:nvSpPr>
          <p:cNvPr id="5" name="Shape 3"/>
          <p:cNvSpPr/>
          <p:nvPr/>
        </p:nvSpPr>
        <p:spPr>
          <a:xfrm>
            <a:off x="548640" y="1463040"/>
            <a:ext cx="3246120" cy="4114800"/>
          </a:xfrm>
          <a:prstGeom prst="roundRect">
            <a:avLst>
              <a:gd name="adj" fmla="val 3380"/>
            </a:avLst>
          </a:prstGeom>
          <a:solidFill>
            <a:schemeClr val="accent2">
              <a:alpha val="9000"/>
            </a:schemeClr>
          </a:solidFill>
          <a:ln/>
        </p:spPr>
      </p:sp>
      <p:sp>
        <p:nvSpPr>
          <p:cNvPr id="6" name="Text 4"/>
          <p:cNvSpPr txBox="1"/>
          <p:nvPr/>
        </p:nvSpPr>
        <p:spPr>
          <a:xfrm>
            <a:off x="749808" y="1627632"/>
            <a:ext cx="2880360" cy="3840480"/>
          </a:xfrm>
          <a:prstGeom prst="rect">
            <a:avLst/>
          </a:prstGeom>
          <a:noFill/>
          <a:ln/>
        </p:spPr>
        <p:txBody>
          <a:bodyPr wrap="square" lIns="0" tIns="0" rIns="0" bIns="0" rtlCol="0" anchor="t"/>
          <a:lstStyle/>
          <a:p>
            <a:pPr indent="0" marL="0">
              <a:buNone/>
            </a:pPr>
            <a:r>
              <a:rPr lang="en-US" sz="1100" b="1" spc="100" kern="0" dirty="0">
                <a:solidFill>
                  <a:schemeClr val="accent2"/>
                </a:solidFill>
              </a:rPr>
              <a:t>IN SYNAPSE</a:t>
            </a:r>
            <a:endParaRPr lang="en-US" sz="1400" dirty="0"/>
          </a:p>
          <a:p>
            <a:pPr indent="0" marL="0">
              <a:spcBef>
                <a:spcPts val="400"/>
              </a:spcBef>
              <a:buNone/>
            </a:pPr>
            <a:r>
              <a:rPr lang="en-US" sz="1600" dirty="0">
                <a:solidFill>
                  <a:schemeClr val="tx2"/>
                </a:solidFill>
                <a:latin typeface="+mj-lt" pitchFamily="34" charset="0"/>
                <a:ea typeface="+mj-lt" pitchFamily="34" charset="-122"/>
                <a:cs typeface="+mj-lt" pitchFamily="34" charset="-120"/>
              </a:rPr>
              <a:t>Pipeline, with its datasets</a:t>
            </a:r>
            <a:endParaRPr lang="en-US" sz="1400" dirty="0"/>
          </a:p>
          <a:p>
            <a:pPr indent="0" marL="0">
              <a:spcBef>
                <a:spcPts val="800"/>
              </a:spcBef>
              <a:buNone/>
            </a:pPr>
            <a:r>
              <a:rPr lang="en-US" sz="1050" b="1" dirty="0">
                <a:solidFill>
                  <a:schemeClr val="accent6"/>
                </a:solidFill>
              </a:rPr>
              <a:t>Format</a:t>
            </a:r>
            <a:endParaRPr lang="en-US" sz="1400" dirty="0"/>
          </a:p>
          <a:p>
            <a:pPr indent="0" marL="0">
              <a:buNone/>
            </a:pPr>
            <a:r>
              <a:rPr lang="en-US" sz="1200" dirty="0">
                <a:solidFill>
                  <a:schemeClr val="tx1"/>
                </a:solidFill>
              </a:rPr>
              <a:t>Resource JSON: properties.activities, parameters, variables, concurrency, annotations, folder</a:t>
            </a:r>
            <a:endParaRPr lang="en-US" sz="1400" dirty="0"/>
          </a:p>
          <a:p>
            <a:pPr marL="139700" indent="-139700">
              <a:spcBef>
                <a:spcPts val="900"/>
              </a:spcBef>
              <a:buSzPct val="100000"/>
              <a:buChar char="•"/>
            </a:pPr>
            <a:r>
              <a:rPr lang="en-US" sz="1200" dirty="0">
                <a:solidFill>
                  <a:schemeClr val="tx1"/>
                </a:solidFill>
              </a:rPr>
              <a:t>Activities read data through datasets, which point at linked services</a:t>
            </a:r>
            <a:endParaRPr lang="en-US" sz="1400" dirty="0"/>
          </a:p>
          <a:p>
            <a:pPr marL="139700" indent="-139700">
              <a:spcBef>
                <a:spcPts val="400"/>
              </a:spcBef>
              <a:buSzPct val="100000"/>
              <a:buChar char="•"/>
            </a:pPr>
            <a:r>
              <a:rPr lang="en-US" sz="1200" dirty="0">
                <a:solidFill>
                  <a:schemeClr val="tx1"/>
                </a:solidFill>
              </a:rPr>
              <a:t>Notebooks, pipelines and Spark jobs called by name</a:t>
            </a:r>
            <a:endParaRPr lang="en-US" sz="1400" dirty="0"/>
          </a:p>
          <a:p>
            <a:pPr marL="139700" indent="-139700">
              <a:spcBef>
                <a:spcPts val="400"/>
              </a:spcBef>
              <a:buSzPct val="100000"/>
              <a:buChar char="•"/>
            </a:pPr>
            <a:r>
              <a:rPr lang="en-US" sz="1200" dirty="0">
                <a:solidFill>
                  <a:schemeClr val="tx1"/>
                </a:solidFill>
              </a:rPr>
              <a:t>SQL steps run on the pool</a:t>
            </a:r>
            <a:endParaRPr lang="en-US" sz="1400" dirty="0"/>
          </a:p>
        </p:txBody>
      </p:sp>
      <p:sp>
        <p:nvSpPr>
          <p:cNvPr id="7" name="Shape 5"/>
          <p:cNvSpPr/>
          <p:nvPr/>
        </p:nvSpPr>
        <p:spPr>
          <a:xfrm>
            <a:off x="4114800" y="1463040"/>
            <a:ext cx="3959352" cy="4114800"/>
          </a:xfrm>
          <a:prstGeom prst="roundRect">
            <a:avLst>
              <a:gd name="adj" fmla="val 2771"/>
            </a:avLst>
          </a:prstGeom>
          <a:solidFill>
            <a:schemeClr val="bg2"/>
          </a:solidFill>
          <a:ln/>
        </p:spPr>
      </p:sp>
      <p:sp>
        <p:nvSpPr>
          <p:cNvPr id="8" name="Text 6"/>
          <p:cNvSpPr txBox="1"/>
          <p:nvPr/>
        </p:nvSpPr>
        <p:spPr>
          <a:xfrm>
            <a:off x="4315968" y="1627632"/>
            <a:ext cx="3593592" cy="3840480"/>
          </a:xfrm>
          <a:prstGeom prst="rect">
            <a:avLst/>
          </a:prstGeom>
          <a:noFill/>
          <a:ln/>
        </p:spPr>
        <p:txBody>
          <a:bodyPr wrap="square" lIns="0" tIns="0" rIns="0" bIns="0" rtlCol="0" anchor="t"/>
          <a:lstStyle/>
          <a:p>
            <a:pPr indent="0" marL="0">
              <a:buNone/>
            </a:pPr>
            <a:r>
              <a:rPr lang="en-US" sz="1100" b="1" spc="100" kern="0" dirty="0">
                <a:solidFill>
                  <a:schemeClr val="accent6"/>
                </a:solidFill>
              </a:rPr>
              <a:t>HOW IT IS CONVERTED</a:t>
            </a:r>
            <a:endParaRPr lang="en-US" sz="1400" dirty="0"/>
          </a:p>
          <a:p>
            <a:pPr marL="342900" indent="-342900">
              <a:spcBef>
                <a:spcPts val="900"/>
              </a:spcBef>
              <a:buSzPct val="100000"/>
              <a:buFont typeface="+mj-lt"/>
              <a:buAutoNum type="arabicPeriod" startAt="1"/>
            </a:pPr>
            <a:r>
              <a:rPr lang="en-US" sz="1250" dirty="0">
                <a:solidFill>
                  <a:schemeClr val="tx1"/>
                </a:solidFill>
              </a:rPr>
              <a:t>Bundle the pipeline with the datasets and linked services it uses</a:t>
            </a:r>
            <a:endParaRPr lang="en-US" sz="1400" dirty="0"/>
          </a:p>
          <a:p>
            <a:pPr marL="342900" indent="-342900">
              <a:spcBef>
                <a:spcPts val="500"/>
              </a:spcBef>
              <a:buSzPct val="100000"/>
              <a:buFont typeface="+mj-lt"/>
              <a:buAutoNum type="arabicPeriod" startAt="1"/>
            </a:pPr>
            <a:r>
              <a:rPr lang="en-US" sz="1250" dirty="0">
                <a:solidFill>
                  <a:schemeClr val="tx1"/>
                </a:solidFill>
              </a:rPr>
              <a:t>Convert every activity, recursing into ForEach, Until, If and Switch</a:t>
            </a:r>
            <a:endParaRPr lang="en-US" sz="1400" dirty="0"/>
          </a:p>
          <a:p>
            <a:pPr marL="342900" indent="-342900">
              <a:spcBef>
                <a:spcPts val="500"/>
              </a:spcBef>
              <a:buSzPct val="100000"/>
              <a:buFont typeface="+mj-lt"/>
              <a:buAutoNum type="arabicPeriod" startAt="1"/>
            </a:pPr>
            <a:r>
              <a:rPr lang="en-US" sz="1250" dirty="0">
                <a:solidFill>
                  <a:schemeClr val="tx1"/>
                </a:solidFill>
              </a:rPr>
              <a:t>Fold each dataset's settings into its activity</a:t>
            </a:r>
            <a:endParaRPr lang="en-US" sz="1400" dirty="0"/>
          </a:p>
          <a:p>
            <a:pPr marL="342900" indent="-342900">
              <a:spcBef>
                <a:spcPts val="500"/>
              </a:spcBef>
              <a:buSzPct val="100000"/>
              <a:buFont typeface="+mj-lt"/>
              <a:buAutoNum type="arabicPeriod" startAt="1"/>
            </a:pPr>
            <a:r>
              <a:rPr lang="en-US" sz="1250" dirty="0">
                <a:solidFill>
                  <a:schemeClr val="tx1"/>
                </a:solidFill>
              </a:rPr>
              <a:t>Resolve Fabric ids: connections, notebooks, pipelines, Spark jobs, the Warehouse</a:t>
            </a:r>
            <a:endParaRPr lang="en-US" sz="1400" dirty="0"/>
          </a:p>
          <a:p>
            <a:pPr marL="342900" indent="-342900">
              <a:spcBef>
                <a:spcPts val="500"/>
              </a:spcBef>
              <a:buSzPct val="100000"/>
              <a:buFont typeface="+mj-lt"/>
              <a:buAutoNum type="arabicPeriod" startAt="1"/>
            </a:pPr>
            <a:r>
              <a:rPr lang="en-US" sz="1250" dirty="0">
                <a:solidFill>
                  <a:schemeClr val="tx1"/>
                </a:solidFill>
              </a:rPr>
              <a:t>Route storage paths found in SQL text</a:t>
            </a:r>
            <a:endParaRPr lang="en-US" sz="1400" dirty="0"/>
          </a:p>
          <a:p>
            <a:pPr marL="342900" indent="-342900">
              <a:spcBef>
                <a:spcPts val="500"/>
              </a:spcBef>
              <a:buSzPct val="100000"/>
              <a:buFont typeface="+mj-lt"/>
              <a:buAutoNum type="arabicPeriod" startAt="1"/>
            </a:pPr>
            <a:r>
              <a:rPr lang="en-US" sz="1250" dirty="0">
                <a:solidFill>
                  <a:schemeClr val="tx1"/>
                </a:solidFill>
              </a:rPr>
              <a:t>Create it: POST /dataPipelines with pipeline-content.json, or replace its definition</a:t>
            </a:r>
            <a:endParaRPr lang="en-US" sz="1400" dirty="0"/>
          </a:p>
        </p:txBody>
      </p:sp>
      <p:sp>
        <p:nvSpPr>
          <p:cNvPr id="9" name="Shape 7"/>
          <p:cNvSpPr/>
          <p:nvPr/>
        </p:nvSpPr>
        <p:spPr>
          <a:xfrm>
            <a:off x="8394192" y="1463040"/>
            <a:ext cx="3246120" cy="4114800"/>
          </a:xfrm>
          <a:prstGeom prst="roundRect">
            <a:avLst>
              <a:gd name="adj" fmla="val 3380"/>
            </a:avLst>
          </a:prstGeom>
          <a:solidFill>
            <a:schemeClr val="accent1">
              <a:alpha val="10000"/>
            </a:schemeClr>
          </a:solidFill>
          <a:ln/>
        </p:spPr>
      </p:sp>
      <p:sp>
        <p:nvSpPr>
          <p:cNvPr id="10" name="Text 8"/>
          <p:cNvSpPr txBox="1"/>
          <p:nvPr/>
        </p:nvSpPr>
        <p:spPr>
          <a:xfrm>
            <a:off x="8595360" y="1627632"/>
            <a:ext cx="2880360" cy="3840480"/>
          </a:xfrm>
          <a:prstGeom prst="rect">
            <a:avLst/>
          </a:prstGeom>
          <a:noFill/>
          <a:ln/>
        </p:spPr>
        <p:txBody>
          <a:bodyPr wrap="square" lIns="0" tIns="0" rIns="0" bIns="0" rtlCol="0" anchor="t"/>
          <a:lstStyle/>
          <a:p>
            <a:pPr indent="0" marL="0">
              <a:buNone/>
            </a:pPr>
            <a:r>
              <a:rPr lang="en-US" sz="1100" b="1" spc="100" kern="0" dirty="0">
                <a:solidFill>
                  <a:schemeClr val="accent1"/>
                </a:solidFill>
              </a:rPr>
              <a:t>IN FABRIC</a:t>
            </a:r>
            <a:endParaRPr lang="en-US" sz="1400" dirty="0"/>
          </a:p>
          <a:p>
            <a:pPr indent="0" marL="0">
              <a:spcBef>
                <a:spcPts val="400"/>
              </a:spcBef>
              <a:buNone/>
            </a:pPr>
            <a:r>
              <a:rPr lang="en-US" sz="1600" dirty="0">
                <a:solidFill>
                  <a:schemeClr val="tx2"/>
                </a:solidFill>
                <a:latin typeface="+mj-lt" pitchFamily="34" charset="0"/>
                <a:ea typeface="+mj-lt" pitchFamily="34" charset="-122"/>
                <a:cs typeface="+mj-lt" pitchFamily="34" charset="-120"/>
              </a:rPr>
              <a:t>Data pipeline</a:t>
            </a:r>
            <a:endParaRPr lang="en-US" sz="1400" dirty="0"/>
          </a:p>
          <a:p>
            <a:pPr indent="0" marL="0">
              <a:spcBef>
                <a:spcPts val="800"/>
              </a:spcBef>
              <a:buNone/>
            </a:pPr>
            <a:r>
              <a:rPr lang="en-US" sz="1050" b="1" dirty="0">
                <a:solidFill>
                  <a:schemeClr val="accent6"/>
                </a:solidFill>
              </a:rPr>
              <a:t>Format</a:t>
            </a:r>
            <a:endParaRPr lang="en-US" sz="1400" dirty="0"/>
          </a:p>
          <a:p>
            <a:pPr indent="0" marL="0">
              <a:buNone/>
            </a:pPr>
            <a:r>
              <a:rPr lang="en-US" sz="1200" dirty="0">
                <a:solidFill>
                  <a:schemeClr val="tx1"/>
                </a:solidFill>
              </a:rPr>
              <a:t>pipeline-content.json: properties.activities, parameters, variables, concurrency, annotations</a:t>
            </a:r>
            <a:endParaRPr lang="en-US" sz="1400" dirty="0"/>
          </a:p>
          <a:p>
            <a:pPr marL="139700" indent="-139700">
              <a:spcBef>
                <a:spcPts val="900"/>
              </a:spcBef>
              <a:buSzPct val="100000"/>
              <a:buChar char="•"/>
            </a:pPr>
            <a:r>
              <a:rPr lang="en-US" sz="1200" dirty="0">
                <a:solidFill>
                  <a:schemeClr val="tx1"/>
                </a:solidFill>
              </a:rPr>
              <a:t>The same activity JSON family, with dataset settings inline</a:t>
            </a:r>
            <a:endParaRPr lang="en-US" sz="1400" dirty="0"/>
          </a:p>
          <a:p>
            <a:pPr marL="139700" indent="-139700">
              <a:spcBef>
                <a:spcPts val="400"/>
              </a:spcBef>
              <a:buSzPct val="100000"/>
              <a:buChar char="•"/>
            </a:pPr>
            <a:r>
              <a:rPr lang="en-US" sz="1200" dirty="0">
                <a:solidFill>
                  <a:schemeClr val="tx1"/>
                </a:solidFill>
              </a:rPr>
              <a:t>Items referenced by id, so they must exist first</a:t>
            </a:r>
            <a:endParaRPr lang="en-US" sz="1400" dirty="0"/>
          </a:p>
          <a:p>
            <a:pPr marL="139700" indent="-139700">
              <a:spcBef>
                <a:spcPts val="400"/>
              </a:spcBef>
              <a:buSzPct val="100000"/>
              <a:buChar char="•"/>
            </a:pPr>
            <a:r>
              <a:rPr lang="en-US" sz="1200" dirty="0">
                <a:solidFill>
                  <a:schemeClr val="tx1"/>
                </a:solidFill>
              </a:rPr>
              <a:t>Placed at the workspace root</a:t>
            </a:r>
            <a:endParaRPr lang="en-US" sz="1400" dirty="0"/>
          </a:p>
        </p:txBody>
      </p:sp>
      <p:sp>
        <p:nvSpPr>
          <p:cNvPr id="11" name="Shape 9"/>
          <p:cNvSpPr/>
          <p:nvPr/>
        </p:nvSpPr>
        <p:spPr>
          <a:xfrm>
            <a:off x="3867912" y="3337560"/>
            <a:ext cx="182880" cy="365760"/>
          </a:xfrm>
          <a:prstGeom prst="chevron">
            <a:avLst/>
          </a:prstGeom>
          <a:solidFill>
            <a:schemeClr val="accent6"/>
          </a:solidFill>
          <a:ln/>
        </p:spPr>
      </p:sp>
      <p:sp>
        <p:nvSpPr>
          <p:cNvPr id="12" name="Shape 10"/>
          <p:cNvSpPr/>
          <p:nvPr/>
        </p:nvSpPr>
        <p:spPr>
          <a:xfrm>
            <a:off x="8147304" y="3337560"/>
            <a:ext cx="182880" cy="365760"/>
          </a:xfrm>
          <a:prstGeom prst="chevron">
            <a:avLst/>
          </a:prstGeom>
          <a:solidFill>
            <a:schemeClr val="accent6"/>
          </a:solidFill>
          <a:ln/>
        </p:spPr>
      </p:sp>
      <p:sp>
        <p:nvSpPr>
          <p:cNvPr id="13" name="Shape 11"/>
          <p:cNvSpPr/>
          <p:nvPr/>
        </p:nvSpPr>
        <p:spPr>
          <a:xfrm>
            <a:off x="548640" y="5687568"/>
            <a:ext cx="11094415" cy="530352"/>
          </a:xfrm>
          <a:prstGeom prst="roundRect">
            <a:avLst>
              <a:gd name="adj" fmla="val 20690"/>
            </a:avLst>
          </a:prstGeom>
          <a:solidFill>
            <a:schemeClr val="accent3">
              <a:alpha val="13000"/>
            </a:schemeClr>
          </a:solidFill>
          <a:ln/>
        </p:spPr>
      </p:sp>
      <p:sp>
        <p:nvSpPr>
          <p:cNvPr id="14" name="Text 12"/>
          <p:cNvSpPr txBox="1"/>
          <p:nvPr/>
        </p:nvSpPr>
        <p:spPr>
          <a:xfrm>
            <a:off x="777240" y="5687568"/>
            <a:ext cx="10637215" cy="530352"/>
          </a:xfrm>
          <a:prstGeom prst="rect">
            <a:avLst/>
          </a:prstGeom>
          <a:noFill/>
          <a:ln/>
        </p:spPr>
        <p:txBody>
          <a:bodyPr wrap="square" lIns="0" tIns="0" rIns="0" bIns="0" rtlCol="0" anchor="ctr"/>
          <a:lstStyle/>
          <a:p>
            <a:pPr indent="0" marL="0">
              <a:buNone/>
            </a:pPr>
            <a:r>
              <a:rPr lang="en-US" sz="1250" b="1" dirty="0">
                <a:solidFill>
                  <a:schemeClr val="tx2"/>
                </a:solidFill>
              </a:rPr>
              <a:t>Not created:  </a:t>
            </a:r>
            <a:pPr indent="0" marL="0">
              <a:buNone/>
            </a:pPr>
            <a:r>
              <a:rPr lang="en-US" sz="1250" dirty="0">
                <a:solidFill>
                  <a:schemeClr val="tx1"/>
                </a:solidFill>
              </a:rPr>
              <a:t>a pipeline with an activity that has no Fabric form, such as a mapping data flow (the activity names are reported). Missing connections, notebooks or Warehouse: it fails with what to run first.</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60</a:t>
            </a:fld>
            <a:endParaRPr lang="en-US"/>
          </a:p>
        </p:txBody>
      </p:sp>
    </p:spTree>
  </p:cSld>
  <p:clrMapOvr>
    <a:masterClrMapping/>
  </p:clrMapOvr>
  <p:transition spd="med">
    <p:fade/>
  </p:transition>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05 · ITEM BY ITEM</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Pipelines: activity by activity</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migration/pipelines.py: convert_activity</a:t>
            </a:r>
            <a:endParaRPr lang="en-US" sz="11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548640" y="1444752"/>
          <a:ext cx="11094415" cy="914400"/>
        </p:xfrm>
        <a:graphic>
          <a:graphicData uri="http://schemas.openxmlformats.org/drawingml/2006/table">
            <a:tbl>
              <a:tblPr/>
              <a:tblGrid>
                <a:gridCol w="3520440"/>
                <a:gridCol w="2148840"/>
                <a:gridCol w="5422392"/>
              </a:tblGrid>
              <a:tr h="310896">
                <a:tc>
                  <a:txBody>
                    <a:bodyPr/>
                    <a:lstStyle/>
                    <a:p>
                      <a:pPr indent="0" marL="0">
                        <a:buNone/>
                      </a:pPr>
                      <a:r>
                        <a:rPr lang="en-US" sz="1150" b="1" dirty="0">
                          <a:solidFill>
                            <a:schemeClr val="bg1"/>
                          </a:solidFill>
                        </a:rPr>
                        <a:t>Synapse activity</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4157D6"/>
                    </a:solidFill>
                  </a:tcPr>
                </a:tc>
                <a:tc>
                  <a:txBody>
                    <a:bodyPr/>
                    <a:lstStyle/>
                    <a:p>
                      <a:pPr indent="0" marL="0">
                        <a:buNone/>
                      </a:pPr>
                      <a:r>
                        <a:rPr lang="en-US" sz="1150" b="1" dirty="0">
                          <a:solidFill>
                            <a:schemeClr val="bg1"/>
                          </a:solidFill>
                        </a:rPr>
                        <a:t>Fabric activity</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7F70"/>
                    </a:solidFill>
                  </a:tcPr>
                </a:tc>
                <a:tc>
                  <a:txBody>
                    <a:bodyPr/>
                    <a:lstStyle/>
                    <a:p>
                      <a:pPr indent="0" marL="0">
                        <a:buNone/>
                      </a:pPr>
                      <a:r>
                        <a:rPr lang="en-US" sz="1150" b="1" dirty="0">
                          <a:solidFill>
                            <a:schemeClr val="bg1"/>
                          </a:solidFill>
                        </a:rPr>
                        <a:t>What changes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r>
              <a:tr h="324612">
                <a:tc>
                  <a:txBody>
                    <a:bodyPr/>
                    <a:lstStyle/>
                    <a:p>
                      <a:pPr indent="0" marL="0">
                        <a:buNone/>
                      </a:pPr>
                      <a:r>
                        <a:rPr lang="en-US" sz="1150" b="1" dirty="0">
                          <a:solidFill>
                            <a:schemeClr val="tx2"/>
                          </a:solidFill>
                        </a:rPr>
                        <a:t>Copy</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Copy</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Datasets inline; staging dropped; on the pool: Warehouse source and sink</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24612">
                <a:tc>
                  <a:txBody>
                    <a:bodyPr/>
                    <a:lstStyle/>
                    <a:p>
                      <a:pPr indent="0" marL="0">
                        <a:buNone/>
                      </a:pPr>
                      <a:r>
                        <a:rPr lang="en-US" sz="1150" b="1" dirty="0">
                          <a:solidFill>
                            <a:schemeClr val="tx2"/>
                          </a:solidFill>
                        </a:rPr>
                        <a:t>Lookup, GetMetadata, Delete, Validation</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The same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dataset → datasetSettings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24612">
                <a:tc>
                  <a:txBody>
                    <a:bodyPr/>
                    <a:lstStyle/>
                    <a:p>
                      <a:pPr indent="0" marL="0">
                        <a:buNone/>
                      </a:pPr>
                      <a:r>
                        <a:rPr lang="en-US" sz="1150" b="1" dirty="0">
                          <a:solidFill>
                            <a:schemeClr val="tx2"/>
                          </a:solidFill>
                        </a:rPr>
                        <a:t>SynapseNotebook</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Notebook</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notebookId and workspaceId; pool and size settings dropped</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24612">
                <a:tc>
                  <a:txBody>
                    <a:bodyPr/>
                    <a:lstStyle/>
                    <a:p>
                      <a:pPr indent="0" marL="0">
                        <a:buNone/>
                      </a:pPr>
                      <a:r>
                        <a:rPr lang="en-US" sz="1150" b="1" dirty="0">
                          <a:solidFill>
                            <a:schemeClr val="tx2"/>
                          </a:solidFill>
                        </a:rPr>
                        <a:t>ExecutePipeline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Execute Pipeline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Calls the Fabric pipeline by id</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24612">
                <a:tc>
                  <a:txBody>
                    <a:bodyPr/>
                    <a:lstStyle/>
                    <a:p>
                      <a:pPr indent="0" marL="0">
                        <a:buNone/>
                      </a:pPr>
                      <a:r>
                        <a:rPr lang="en-US" sz="1150" b="1" dirty="0">
                          <a:solidFill>
                            <a:schemeClr val="tx2"/>
                          </a:solidFill>
                        </a:rPr>
                        <a:t>SparkJob</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Spark job definition</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sparkJobDefinitionId and workspaceId</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24612">
                <a:tc>
                  <a:txBody>
                    <a:bodyPr/>
                    <a:lstStyle/>
                    <a:p>
                      <a:pPr indent="0" marL="0">
                        <a:buNone/>
                      </a:pPr>
                      <a:r>
                        <a:rPr lang="en-US" sz="1150" b="1" dirty="0">
                          <a:solidFill>
                            <a:schemeClr val="tx2"/>
                          </a:solidFill>
                        </a:rPr>
                        <a:t>SqlPoolStoredProcedure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Stored procedure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Runs in the Warehouse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24612">
                <a:tc>
                  <a:txBody>
                    <a:bodyPr/>
                    <a:lstStyle/>
                    <a:p>
                      <a:pPr indent="0" marL="0">
                        <a:buNone/>
                      </a:pPr>
                      <a:r>
                        <a:rPr lang="en-US" sz="1150" b="1" dirty="0">
                          <a:solidFill>
                            <a:schemeClr val="tx2"/>
                          </a:solidFill>
                        </a:rPr>
                        <a:t>SqlServerStoredProcedure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Stored procedure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The Warehouse when its linked service is the pool; else its connection</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24612">
                <a:tc>
                  <a:txBody>
                    <a:bodyPr/>
                    <a:lstStyle/>
                    <a:p>
                      <a:pPr indent="0" marL="0">
                        <a:buNone/>
                      </a:pPr>
                      <a:r>
                        <a:rPr lang="en-US" sz="1150" b="1" dirty="0">
                          <a:solidFill>
                            <a:schemeClr val="tx2"/>
                          </a:solidFill>
                        </a:rPr>
                        <a:t>Script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Script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The Warehouse (pool or serverless); else its connection</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24612">
                <a:tc>
                  <a:txBody>
                    <a:bodyPr/>
                    <a:lstStyle/>
                    <a:p>
                      <a:pPr indent="0" marL="0">
                        <a:buNone/>
                      </a:pPr>
                      <a:r>
                        <a:rPr lang="en-US" sz="1150" b="1" dirty="0">
                          <a:solidFill>
                            <a:schemeClr val="tx2"/>
                          </a:solidFill>
                        </a:rPr>
                        <a:t>ForEach, Until, IfCondition, Switch</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The same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Their children are converted</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24612">
                <a:tc>
                  <a:txBody>
                    <a:bodyPr/>
                    <a:lstStyle/>
                    <a:p>
                      <a:pPr indent="0" marL="0">
                        <a:buNone/>
                      </a:pPr>
                      <a:r>
                        <a:rPr lang="en-US" sz="1150" b="1" dirty="0">
                          <a:solidFill>
                            <a:schemeClr val="tx2"/>
                          </a:solidFill>
                        </a:rPr>
                        <a:t>Wait, variables, Filter, Fail, Web, WebHook</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The same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Passed through</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24612">
                <a:tc>
                  <a:txBody>
                    <a:bodyPr/>
                    <a:lstStyle/>
                    <a:p>
                      <a:pPr indent="0" marL="0">
                        <a:buNone/>
                      </a:pPr>
                      <a:r>
                        <a:rPr lang="en-US" sz="1150" b="1" dirty="0">
                          <a:solidFill>
                            <a:schemeClr val="tx2"/>
                          </a:solidFill>
                        </a:rPr>
                        <a:t>External compute (Functions, Databricks…)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The same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Through the connection named like the linked service</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24612">
                <a:tc>
                  <a:txBody>
                    <a:bodyPr/>
                    <a:lstStyle/>
                    <a:p>
                      <a:pPr indent="0" marL="0">
                        <a:buNone/>
                      </a:pPr>
                      <a:r>
                        <a:rPr lang="en-US" sz="1150" b="1" dirty="0">
                          <a:solidFill>
                            <a:schemeClr val="tx2"/>
                          </a:solidFill>
                        </a:rPr>
                        <a:t>Anything else (ExecuteDataFlow, SSIS…)</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50" dirty="0">
                          <a:solidFill>
                            <a:schemeClr val="tx1"/>
                          </a:solidFill>
                        </a:rPr>
                        <a:t>The pipeline is not created; activity names reported</a:t>
                      </a:r>
                      <a:endParaRPr lang="en-US" sz="115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bl>
          </a:graphicData>
        </a:graphic>
      </p:graphicFrame>
      <p:sp>
        <p:nvSpPr>
          <p:cNvPr id="6" name="Text 3"/>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200" dirty="0">
                <a:solidFill>
                  <a:schemeClr val="accent6"/>
                </a:solidFill>
              </a:rPr>
              <a:t>33 activity types are converted in all (listed in the notes). A Copy on the migrated pool uses DataWarehouseSource / DataWarehouseSink, without type conversion.</a:t>
            </a:r>
            <a:endParaRPr lang="en-US" sz="12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61</a:t>
            </a:fld>
            <a:endParaRPr lang="en-US"/>
          </a:p>
        </p:txBody>
      </p:sp>
    </p:spTree>
  </p:cSld>
  <p:clrMapOvr>
    <a:masterClrMapping/>
  </p:clrMapOvr>
  <p:transition spd="med">
    <p:fade/>
  </p:transition>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05 · ITEM BY ITEM</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Pipelines: how a dataset is folded into an activity</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migration/pipelines.py: dataset_settings</a:t>
            </a:r>
            <a:endParaRPr lang="en-US" sz="1100" dirty="0"/>
          </a:p>
        </p:txBody>
      </p:sp>
      <p:sp>
        <p:nvSpPr>
          <p:cNvPr id="5" name="Shape 3"/>
          <p:cNvSpPr/>
          <p:nvPr/>
        </p:nvSpPr>
        <p:spPr>
          <a:xfrm>
            <a:off x="548640" y="1481328"/>
            <a:ext cx="5486400" cy="2834640"/>
          </a:xfrm>
          <a:prstGeom prst="roundRect">
            <a:avLst>
              <a:gd name="adj" fmla="val 2581"/>
            </a:avLst>
          </a:prstGeom>
          <a:solidFill>
            <a:schemeClr val="tx2"/>
          </a:solidFill>
          <a:ln/>
        </p:spPr>
      </p:sp>
      <p:sp>
        <p:nvSpPr>
          <p:cNvPr id="6" name="Text 4"/>
          <p:cNvSpPr txBox="1"/>
          <p:nvPr/>
        </p:nvSpPr>
        <p:spPr>
          <a:xfrm>
            <a:off x="731520" y="1591056"/>
            <a:ext cx="5120640" cy="256032"/>
          </a:xfrm>
          <a:prstGeom prst="rect">
            <a:avLst/>
          </a:prstGeom>
          <a:noFill/>
          <a:ln/>
        </p:spPr>
        <p:txBody>
          <a:bodyPr wrap="square" lIns="0" tIns="0" rIns="0" bIns="0" rtlCol="0" anchor="t"/>
          <a:lstStyle/>
          <a:p>
            <a:pPr indent="0" marL="0">
              <a:buNone/>
            </a:pPr>
            <a:r>
              <a:rPr lang="en-US" sz="1100" b="1" dirty="0">
                <a:solidFill>
                  <a:srgbClr val="9DB2F5"/>
                </a:solidFill>
              </a:rPr>
              <a:t>IN SYNAPSE: ACTIVITY INPUT AND ITS DATASET</a:t>
            </a:r>
            <a:endParaRPr lang="en-US" sz="1100" dirty="0"/>
          </a:p>
        </p:txBody>
      </p:sp>
      <p:sp>
        <p:nvSpPr>
          <p:cNvPr id="7" name="Text 5"/>
          <p:cNvSpPr txBox="1"/>
          <p:nvPr/>
        </p:nvSpPr>
        <p:spPr>
          <a:xfrm>
            <a:off x="731520" y="1892808"/>
            <a:ext cx="5120640" cy="2331720"/>
          </a:xfrm>
          <a:prstGeom prst="rect">
            <a:avLst/>
          </a:prstGeom>
          <a:noFill/>
          <a:ln/>
        </p:spPr>
        <p:txBody>
          <a:bodyPr wrap="square" lIns="0" tIns="0" rIns="0" bIns="0" rtlCol="0" anchor="t"/>
          <a:lstStyle/>
          <a:p>
            <a:pPr indent="0" marL="0">
              <a:buNone/>
            </a:pPr>
            <a:r>
              <a:rPr lang="en-US" sz="1050" dirty="0">
                <a:solidFill>
                  <a:srgbClr val="E6EDF5"/>
                </a:solidFill>
                <a:latin typeface="Consolas" pitchFamily="34" charset="0"/>
                <a:ea typeface="Consolas" pitchFamily="34" charset="-122"/>
                <a:cs typeface="Consolas" pitchFamily="34" charset="-120"/>
              </a:rPr>
              <a:t>"inputs": [{ "referenceName": "SalesCsv",</a:t>
            </a:r>
            <a:endParaRPr lang="en-US" sz="1050" dirty="0"/>
          </a:p>
          <a:p>
            <a:pPr indent="0" marL="0">
              <a:buNone/>
            </a:pPr>
            <a:r>
              <a:rPr lang="en-US" sz="1050" dirty="0">
                <a:solidFill>
                  <a:srgbClr val="E6EDF5"/>
                </a:solidFill>
                <a:latin typeface="Consolas" pitchFamily="34" charset="0"/>
                <a:ea typeface="Consolas" pitchFamily="34" charset="-122"/>
                <a:cs typeface="Consolas" pitchFamily="34" charset="-120"/>
              </a:rPr>
              <a:t>             "type": "DatasetReference",</a:t>
            </a:r>
            <a:endParaRPr lang="en-US" sz="1050" dirty="0"/>
          </a:p>
          <a:p>
            <a:pPr indent="0" marL="0">
              <a:buNone/>
            </a:pPr>
            <a:r>
              <a:rPr lang="en-US" sz="1050" dirty="0">
                <a:solidFill>
                  <a:srgbClr val="E6EDF5"/>
                </a:solidFill>
                <a:latin typeface="Consolas" pitchFamily="34" charset="0"/>
                <a:ea typeface="Consolas" pitchFamily="34" charset="-122"/>
                <a:cs typeface="Consolas" pitchFamily="34" charset="-120"/>
              </a:rPr>
              <a:t>             "parameters": { "folder": "2026/10" } }]</a:t>
            </a:r>
            <a:endParaRPr lang="en-US" sz="1050" dirty="0"/>
          </a:p>
          <a:p>
            <a:pPr indent="0" marL="0">
              <a:buNone/>
            </a:pPr>
            <a:endParaRPr lang="en-US" sz="1050" dirty="0"/>
          </a:p>
          <a:p>
            <a:pPr indent="0" marL="0">
              <a:buNone/>
            </a:pPr>
            <a:r>
              <a:rPr lang="en-US" sz="1050" dirty="0">
                <a:solidFill>
                  <a:srgbClr val="E6EDF5"/>
                </a:solidFill>
                <a:latin typeface="Consolas" pitchFamily="34" charset="0"/>
                <a:ea typeface="Consolas" pitchFamily="34" charset="-122"/>
                <a:cs typeface="Consolas" pitchFamily="34" charset="-120"/>
              </a:rPr>
              <a:t>// dataset SalesCsv</a:t>
            </a:r>
            <a:endParaRPr lang="en-US" sz="1050" dirty="0"/>
          </a:p>
          <a:p>
            <a:pPr indent="0" marL="0">
              <a:buNone/>
            </a:pPr>
            <a:r>
              <a:rPr lang="en-US" sz="1050" dirty="0">
                <a:solidFill>
                  <a:srgbClr val="E6EDF5"/>
                </a:solidFill>
                <a:latin typeface="Consolas" pitchFamily="34" charset="0"/>
                <a:ea typeface="Consolas" pitchFamily="34" charset="-122"/>
                <a:cs typeface="Consolas" pitchFamily="34" charset="-120"/>
              </a:rPr>
              <a:t>{ "linkedServiceName": { "referenceName": "RawLake" },</a:t>
            </a:r>
            <a:endParaRPr lang="en-US" sz="1050" dirty="0"/>
          </a:p>
          <a:p>
            <a:pPr indent="0" marL="0">
              <a:buNone/>
            </a:pPr>
            <a:r>
              <a:rPr lang="en-US" sz="1050" dirty="0">
                <a:solidFill>
                  <a:srgbClr val="E6EDF5"/>
                </a:solidFill>
                <a:latin typeface="Consolas" pitchFamily="34" charset="0"/>
                <a:ea typeface="Consolas" pitchFamily="34" charset="-122"/>
                <a:cs typeface="Consolas" pitchFamily="34" charset="-120"/>
              </a:rPr>
              <a:t>  "type": "DelimitedText",</a:t>
            </a:r>
            <a:endParaRPr lang="en-US" sz="1050" dirty="0"/>
          </a:p>
          <a:p>
            <a:pPr indent="0" marL="0">
              <a:buNone/>
            </a:pPr>
            <a:r>
              <a:rPr lang="en-US" sz="1050" dirty="0">
                <a:solidFill>
                  <a:srgbClr val="E6EDF5"/>
                </a:solidFill>
                <a:latin typeface="Consolas" pitchFamily="34" charset="0"/>
                <a:ea typeface="Consolas" pitchFamily="34" charset="-122"/>
                <a:cs typeface="Consolas" pitchFamily="34" charset="-120"/>
              </a:rPr>
              <a:t>  "typeProperties": { "location": {</a:t>
            </a:r>
            <a:endParaRPr lang="en-US" sz="1050" dirty="0"/>
          </a:p>
          <a:p>
            <a:pPr indent="0" marL="0">
              <a:buNone/>
            </a:pPr>
            <a:r>
              <a:rPr lang="en-US" sz="1050" dirty="0">
                <a:solidFill>
                  <a:srgbClr val="E6EDF5"/>
                </a:solidFill>
                <a:latin typeface="Consolas" pitchFamily="34" charset="0"/>
                <a:ea typeface="Consolas" pitchFamily="34" charset="-122"/>
                <a:cs typeface="Consolas" pitchFamily="34" charset="-120"/>
              </a:rPr>
              <a:t>      "folderPath": "@dataset().folder" } } }</a:t>
            </a:r>
            <a:endParaRPr lang="en-US" sz="1050" dirty="0"/>
          </a:p>
        </p:txBody>
      </p:sp>
      <p:sp>
        <p:nvSpPr>
          <p:cNvPr id="8" name="Shape 6"/>
          <p:cNvSpPr/>
          <p:nvPr/>
        </p:nvSpPr>
        <p:spPr>
          <a:xfrm>
            <a:off x="6153912" y="1481328"/>
            <a:ext cx="5486400" cy="2834640"/>
          </a:xfrm>
          <a:prstGeom prst="roundRect">
            <a:avLst>
              <a:gd name="adj" fmla="val 2581"/>
            </a:avLst>
          </a:prstGeom>
          <a:solidFill>
            <a:schemeClr val="tx2"/>
          </a:solidFill>
          <a:ln/>
        </p:spPr>
      </p:sp>
      <p:sp>
        <p:nvSpPr>
          <p:cNvPr id="9" name="Text 7"/>
          <p:cNvSpPr txBox="1"/>
          <p:nvPr/>
        </p:nvSpPr>
        <p:spPr>
          <a:xfrm>
            <a:off x="6336792" y="1591056"/>
            <a:ext cx="5120640" cy="256032"/>
          </a:xfrm>
          <a:prstGeom prst="rect">
            <a:avLst/>
          </a:prstGeom>
          <a:noFill/>
          <a:ln/>
        </p:spPr>
        <p:txBody>
          <a:bodyPr wrap="square" lIns="0" tIns="0" rIns="0" bIns="0" rtlCol="0" anchor="t"/>
          <a:lstStyle/>
          <a:p>
            <a:pPr indent="0" marL="0">
              <a:buNone/>
            </a:pPr>
            <a:r>
              <a:rPr lang="en-US" sz="1100" b="1" dirty="0">
                <a:solidFill>
                  <a:schemeClr val="accent5"/>
                </a:solidFill>
              </a:rPr>
              <a:t>IN FABRIC: SETTINGS INSIDE THE ACTIVITY</a:t>
            </a:r>
            <a:endParaRPr lang="en-US" sz="1100" dirty="0"/>
          </a:p>
        </p:txBody>
      </p:sp>
      <p:sp>
        <p:nvSpPr>
          <p:cNvPr id="10" name="Text 8"/>
          <p:cNvSpPr txBox="1"/>
          <p:nvPr/>
        </p:nvSpPr>
        <p:spPr>
          <a:xfrm>
            <a:off x="6336792" y="1892808"/>
            <a:ext cx="5120640" cy="2331720"/>
          </a:xfrm>
          <a:prstGeom prst="rect">
            <a:avLst/>
          </a:prstGeom>
          <a:noFill/>
          <a:ln/>
        </p:spPr>
        <p:txBody>
          <a:bodyPr wrap="square" lIns="0" tIns="0" rIns="0" bIns="0" rtlCol="0" anchor="t"/>
          <a:lstStyle/>
          <a:p>
            <a:pPr indent="0" marL="0">
              <a:buNone/>
            </a:pPr>
            <a:r>
              <a:rPr lang="en-US" sz="1050" dirty="0">
                <a:solidFill>
                  <a:srgbClr val="E6EDF5"/>
                </a:solidFill>
                <a:latin typeface="Consolas" pitchFamily="34" charset="0"/>
                <a:ea typeface="Consolas" pitchFamily="34" charset="-122"/>
                <a:cs typeface="Consolas" pitchFamily="34" charset="-120"/>
              </a:rPr>
              <a:t>"source": { "datasetSettings": {</a:t>
            </a:r>
            <a:endParaRPr lang="en-US" sz="1050" dirty="0"/>
          </a:p>
          <a:p>
            <a:pPr indent="0" marL="0">
              <a:buNone/>
            </a:pPr>
            <a:r>
              <a:rPr lang="en-US" sz="1050" dirty="0">
                <a:solidFill>
                  <a:srgbClr val="E6EDF5"/>
                </a:solidFill>
                <a:latin typeface="Consolas" pitchFamily="34" charset="0"/>
                <a:ea typeface="Consolas" pitchFamily="34" charset="-122"/>
                <a:cs typeface="Consolas" pitchFamily="34" charset="-120"/>
              </a:rPr>
              <a:t>    "annotations": [],</a:t>
            </a:r>
            <a:endParaRPr lang="en-US" sz="1050" dirty="0"/>
          </a:p>
          <a:p>
            <a:pPr indent="0" marL="0">
              <a:buNone/>
            </a:pPr>
            <a:r>
              <a:rPr lang="en-US" sz="1050" dirty="0">
                <a:solidFill>
                  <a:srgbClr val="E6EDF5"/>
                </a:solidFill>
                <a:latin typeface="Consolas" pitchFamily="34" charset="0"/>
                <a:ea typeface="Consolas" pitchFamily="34" charset="-122"/>
                <a:cs typeface="Consolas" pitchFamily="34" charset="-120"/>
              </a:rPr>
              <a:t>    "type": "DelimitedText",</a:t>
            </a:r>
            <a:endParaRPr lang="en-US" sz="1050" dirty="0"/>
          </a:p>
          <a:p>
            <a:pPr indent="0" marL="0">
              <a:buNone/>
            </a:pPr>
            <a:r>
              <a:rPr lang="en-US" sz="1050" dirty="0">
                <a:solidFill>
                  <a:srgbClr val="E6EDF5"/>
                </a:solidFill>
                <a:latin typeface="Consolas" pitchFamily="34" charset="0"/>
                <a:ea typeface="Consolas" pitchFamily="34" charset="-122"/>
                <a:cs typeface="Consolas" pitchFamily="34" charset="-120"/>
              </a:rPr>
              <a:t>    "schema": [],</a:t>
            </a:r>
            <a:endParaRPr lang="en-US" sz="1050" dirty="0"/>
          </a:p>
          <a:p>
            <a:pPr indent="0" marL="0">
              <a:buNone/>
            </a:pPr>
            <a:r>
              <a:rPr lang="en-US" sz="1050" dirty="0">
                <a:solidFill>
                  <a:srgbClr val="E6EDF5"/>
                </a:solidFill>
                <a:latin typeface="Consolas" pitchFamily="34" charset="0"/>
                <a:ea typeface="Consolas" pitchFamily="34" charset="-122"/>
                <a:cs typeface="Consolas" pitchFamily="34" charset="-120"/>
              </a:rPr>
              <a:t>    "typeProperties": { "location": {</a:t>
            </a:r>
            <a:endParaRPr lang="en-US" sz="1050" dirty="0"/>
          </a:p>
          <a:p>
            <a:pPr indent="0" marL="0">
              <a:buNone/>
            </a:pPr>
            <a:r>
              <a:rPr lang="en-US" sz="1050" dirty="0">
                <a:solidFill>
                  <a:srgbClr val="E6EDF5"/>
                </a:solidFill>
                <a:latin typeface="Consolas" pitchFamily="34" charset="0"/>
                <a:ea typeface="Consolas" pitchFamily="34" charset="-122"/>
                <a:cs typeface="Consolas" pitchFamily="34" charset="-120"/>
              </a:rPr>
              <a:t>        "folderPath": "2026/10" } },</a:t>
            </a:r>
            <a:endParaRPr lang="en-US" sz="1050" dirty="0"/>
          </a:p>
          <a:p>
            <a:pPr indent="0" marL="0">
              <a:buNone/>
            </a:pPr>
            <a:r>
              <a:rPr lang="en-US" sz="1050" dirty="0">
                <a:solidFill>
                  <a:srgbClr val="E6EDF5"/>
                </a:solidFill>
                <a:latin typeface="Consolas" pitchFamily="34" charset="0"/>
                <a:ea typeface="Consolas" pitchFamily="34" charset="-122"/>
                <a:cs typeface="Consolas" pitchFamily="34" charset="-120"/>
              </a:rPr>
              <a:t>    "externalReferences": {</a:t>
            </a:r>
            <a:endParaRPr lang="en-US" sz="1050" dirty="0"/>
          </a:p>
          <a:p>
            <a:pPr indent="0" marL="0">
              <a:buNone/>
            </a:pPr>
            <a:r>
              <a:rPr lang="en-US" sz="1050" dirty="0">
                <a:solidFill>
                  <a:srgbClr val="E6EDF5"/>
                </a:solidFill>
                <a:latin typeface="Consolas" pitchFamily="34" charset="0"/>
                <a:ea typeface="Consolas" pitchFamily="34" charset="-122"/>
                <a:cs typeface="Consolas" pitchFamily="34" charset="-120"/>
              </a:rPr>
              <a:t>        "connection": "&lt;id of connection RawLake&gt;" }</a:t>
            </a:r>
            <a:endParaRPr lang="en-US" sz="1050" dirty="0"/>
          </a:p>
          <a:p>
            <a:pPr indent="0" marL="0">
              <a:buNone/>
            </a:pPr>
            <a:r>
              <a:rPr lang="en-US" sz="1050" dirty="0">
                <a:solidFill>
                  <a:srgbClr val="E6EDF5"/>
                </a:solidFill>
                <a:latin typeface="Consolas" pitchFamily="34" charset="0"/>
                <a:ea typeface="Consolas" pitchFamily="34" charset="-122"/>
                <a:cs typeface="Consolas" pitchFamily="34" charset="-120"/>
              </a:rPr>
              <a:t>} }</a:t>
            </a:r>
            <a:endParaRPr lang="en-US" sz="1050" dirty="0"/>
          </a:p>
        </p:txBody>
      </p:sp>
      <p:sp>
        <p:nvSpPr>
          <p:cNvPr id="11" name="Shape 9"/>
          <p:cNvSpPr/>
          <p:nvPr/>
        </p:nvSpPr>
        <p:spPr>
          <a:xfrm>
            <a:off x="548640" y="4498848"/>
            <a:ext cx="11094415" cy="1664208"/>
          </a:xfrm>
          <a:prstGeom prst="roundRect">
            <a:avLst>
              <a:gd name="adj" fmla="val 6593"/>
            </a:avLst>
          </a:prstGeom>
          <a:solidFill>
            <a:schemeClr val="bg2"/>
          </a:solidFill>
          <a:ln/>
        </p:spPr>
      </p:sp>
      <p:sp>
        <p:nvSpPr>
          <p:cNvPr id="12" name="Text 10"/>
          <p:cNvSpPr txBox="1"/>
          <p:nvPr/>
        </p:nvSpPr>
        <p:spPr>
          <a:xfrm>
            <a:off x="777240" y="4681728"/>
            <a:ext cx="10637215"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HOW IT WORKS</a:t>
            </a:r>
            <a:endParaRPr lang="en-US" sz="1100" dirty="0"/>
          </a:p>
        </p:txBody>
      </p:sp>
      <p:sp>
        <p:nvSpPr>
          <p:cNvPr id="13" name="Text 11"/>
          <p:cNvSpPr txBox="1"/>
          <p:nvPr/>
        </p:nvSpPr>
        <p:spPr>
          <a:xfrm>
            <a:off x="749808" y="5001768"/>
            <a:ext cx="10710367" cy="1024128"/>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chemeClr val="tx1"/>
                </a:solidFill>
              </a:rPr>
              <a:t>@dataset().x is replaced by the value the activity passes; one it does not pass stays an expression (defaults are not applied)</a:t>
            </a:r>
            <a:endParaRPr lang="en-US" sz="1400" dirty="0"/>
          </a:p>
          <a:p>
            <a:pPr marL="177800" indent="-177800">
              <a:spcAft>
                <a:spcPts val="400"/>
              </a:spcAft>
              <a:buSzPct val="100000"/>
              <a:buChar char="•"/>
            </a:pPr>
            <a:r>
              <a:rPr lang="en-US" sz="1250" dirty="0">
                <a:solidFill>
                  <a:schemeClr val="tx1"/>
                </a:solidFill>
              </a:rPr>
              <a:t>A dataset on the migrated pool becomes a DataWarehouseTable on the Warehouse (its artifact id, endpoint and workspace id)</a:t>
            </a:r>
            <a:endParaRPr lang="en-US" sz="1400" dirty="0"/>
          </a:p>
          <a:p>
            <a:pPr marL="177800" indent="-177800">
              <a:spcAft>
                <a:spcPts val="400"/>
              </a:spcAft>
              <a:buSzPct val="100000"/>
              <a:buChar char="•"/>
            </a:pPr>
            <a:r>
              <a:rPr lang="en-US" sz="1250" dirty="0">
                <a:solidFill>
                  <a:schemeClr val="tx1"/>
                </a:solidFill>
              </a:rPr>
              <a:t>Fabric connections take no parameters: the one connection is used, with a note. The dataset itself is 'Embedded in the pipelines that use it'</a:t>
            </a:r>
            <a:endParaRPr lang="en-US" sz="14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62</a:t>
            </a:fld>
            <a:endParaRPr lang="en-US"/>
          </a:p>
        </p:txBody>
      </p:sp>
    </p:spTree>
  </p:cSld>
  <p:clrMapOvr>
    <a:masterClrMapping/>
  </p:clrMapOvr>
  <p:transition spd="med">
    <p:fade/>
  </p:transition>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05 · ITEM BY ITEM</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SQL scripts → notebooks with a T-SQL cell</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migration/jobs.py: sql_script_notebook</a:t>
            </a:r>
            <a:endParaRPr lang="en-US" sz="1100" dirty="0"/>
          </a:p>
        </p:txBody>
      </p:sp>
      <p:sp>
        <p:nvSpPr>
          <p:cNvPr id="5" name="Shape 3"/>
          <p:cNvSpPr/>
          <p:nvPr/>
        </p:nvSpPr>
        <p:spPr>
          <a:xfrm>
            <a:off x="548640" y="1463040"/>
            <a:ext cx="3246120" cy="4114800"/>
          </a:xfrm>
          <a:prstGeom prst="roundRect">
            <a:avLst>
              <a:gd name="adj" fmla="val 3380"/>
            </a:avLst>
          </a:prstGeom>
          <a:solidFill>
            <a:schemeClr val="accent2">
              <a:alpha val="9000"/>
            </a:schemeClr>
          </a:solidFill>
          <a:ln/>
        </p:spPr>
      </p:sp>
      <p:sp>
        <p:nvSpPr>
          <p:cNvPr id="6" name="Text 4"/>
          <p:cNvSpPr txBox="1"/>
          <p:nvPr/>
        </p:nvSpPr>
        <p:spPr>
          <a:xfrm>
            <a:off x="749808" y="1627632"/>
            <a:ext cx="2880360" cy="3840480"/>
          </a:xfrm>
          <a:prstGeom prst="rect">
            <a:avLst/>
          </a:prstGeom>
          <a:noFill/>
          <a:ln/>
        </p:spPr>
        <p:txBody>
          <a:bodyPr wrap="square" lIns="0" tIns="0" rIns="0" bIns="0" rtlCol="0" anchor="t"/>
          <a:lstStyle/>
          <a:p>
            <a:pPr indent="0" marL="0">
              <a:buNone/>
            </a:pPr>
            <a:r>
              <a:rPr lang="en-US" sz="1100" b="1" spc="100" kern="0" dirty="0">
                <a:solidFill>
                  <a:schemeClr val="accent2"/>
                </a:solidFill>
              </a:rPr>
              <a:t>IN SYNAPSE</a:t>
            </a:r>
            <a:endParaRPr lang="en-US" sz="1400" dirty="0"/>
          </a:p>
          <a:p>
            <a:pPr indent="0" marL="0">
              <a:spcBef>
                <a:spcPts val="400"/>
              </a:spcBef>
              <a:buNone/>
            </a:pPr>
            <a:r>
              <a:rPr lang="en-US" sz="1600" dirty="0">
                <a:solidFill>
                  <a:schemeClr val="tx2"/>
                </a:solidFill>
                <a:latin typeface="+mj-lt" pitchFamily="34" charset="0"/>
                <a:ea typeface="+mj-lt" pitchFamily="34" charset="-122"/>
                <a:cs typeface="+mj-lt" pitchFamily="34" charset="-120"/>
              </a:rPr>
              <a:t>SQL script</a:t>
            </a:r>
            <a:endParaRPr lang="en-US" sz="1400" dirty="0"/>
          </a:p>
          <a:p>
            <a:pPr indent="0" marL="0">
              <a:spcBef>
                <a:spcPts val="800"/>
              </a:spcBef>
              <a:buNone/>
            </a:pPr>
            <a:r>
              <a:rPr lang="en-US" sz="1050" b="1" dirty="0">
                <a:solidFill>
                  <a:schemeClr val="accent6"/>
                </a:solidFill>
              </a:rPr>
              <a:t>Format</a:t>
            </a:r>
            <a:endParaRPr lang="en-US" sz="1400" dirty="0"/>
          </a:p>
          <a:p>
            <a:pPr indent="0" marL="0">
              <a:buNone/>
            </a:pPr>
            <a:r>
              <a:rPr lang="en-US" sz="1200" dirty="0">
                <a:solidFill>
                  <a:schemeClr val="tx1"/>
                </a:solidFill>
              </a:rPr>
              <a:t>Resource JSON: properties.content.query, metadata.language, currentConnection (poolName, databaseName)</a:t>
            </a:r>
            <a:endParaRPr lang="en-US" sz="1400" dirty="0"/>
          </a:p>
          <a:p>
            <a:pPr marL="139700" indent="-139700">
              <a:spcBef>
                <a:spcPts val="900"/>
              </a:spcBef>
              <a:buSzPct val="100000"/>
              <a:buChar char="•"/>
            </a:pPr>
            <a:r>
              <a:rPr lang="en-US" sz="1200" dirty="0">
                <a:solidFill>
                  <a:schemeClr val="tx1"/>
                </a:solidFill>
              </a:rPr>
              <a:t>Runs against the dedicated pool or the serverless (Built-in) pool</a:t>
            </a:r>
            <a:endParaRPr lang="en-US" sz="1400" dirty="0"/>
          </a:p>
          <a:p>
            <a:pPr marL="139700" indent="-139700">
              <a:spcBef>
                <a:spcPts val="400"/>
              </a:spcBef>
              <a:buSzPct val="100000"/>
              <a:buChar char="•"/>
            </a:pPr>
            <a:r>
              <a:rPr lang="en-US" sz="1200" dirty="0">
                <a:solidFill>
                  <a:schemeClr val="tx1"/>
                </a:solidFill>
              </a:rPr>
              <a:t>Holds its query text only</a:t>
            </a:r>
            <a:endParaRPr lang="en-US" sz="1400" dirty="0"/>
          </a:p>
        </p:txBody>
      </p:sp>
      <p:sp>
        <p:nvSpPr>
          <p:cNvPr id="7" name="Shape 5"/>
          <p:cNvSpPr/>
          <p:nvPr/>
        </p:nvSpPr>
        <p:spPr>
          <a:xfrm>
            <a:off x="4114800" y="1463040"/>
            <a:ext cx="3959352" cy="4114800"/>
          </a:xfrm>
          <a:prstGeom prst="roundRect">
            <a:avLst>
              <a:gd name="adj" fmla="val 2771"/>
            </a:avLst>
          </a:prstGeom>
          <a:solidFill>
            <a:schemeClr val="bg2"/>
          </a:solidFill>
          <a:ln/>
        </p:spPr>
      </p:sp>
      <p:sp>
        <p:nvSpPr>
          <p:cNvPr id="8" name="Text 6"/>
          <p:cNvSpPr txBox="1"/>
          <p:nvPr/>
        </p:nvSpPr>
        <p:spPr>
          <a:xfrm>
            <a:off x="4315968" y="1627632"/>
            <a:ext cx="3593592" cy="3840480"/>
          </a:xfrm>
          <a:prstGeom prst="rect">
            <a:avLst/>
          </a:prstGeom>
          <a:noFill/>
          <a:ln/>
        </p:spPr>
        <p:txBody>
          <a:bodyPr wrap="square" lIns="0" tIns="0" rIns="0" bIns="0" rtlCol="0" anchor="t"/>
          <a:lstStyle/>
          <a:p>
            <a:pPr indent="0" marL="0">
              <a:buNone/>
            </a:pPr>
            <a:r>
              <a:rPr lang="en-US" sz="1100" b="1" spc="100" kern="0" dirty="0">
                <a:solidFill>
                  <a:schemeClr val="accent6"/>
                </a:solidFill>
              </a:rPr>
              <a:t>HOW IT IS CONVERTED</a:t>
            </a:r>
            <a:endParaRPr lang="en-US" sz="1400" dirty="0"/>
          </a:p>
          <a:p>
            <a:pPr marL="342900" indent="-342900">
              <a:spcBef>
                <a:spcPts val="900"/>
              </a:spcBef>
              <a:buSzPct val="100000"/>
              <a:buFont typeface="+mj-lt"/>
              <a:buAutoNum type="arabicPeriod" startAt="1"/>
            </a:pPr>
            <a:r>
              <a:rPr lang="en-US" sz="1250" dirty="0">
                <a:solidFill>
                  <a:schemeClr val="tx1"/>
                </a:solidFill>
              </a:rPr>
              <a:t>It must be SQL and have query text</a:t>
            </a:r>
            <a:endParaRPr lang="en-US" sz="1400" dirty="0"/>
          </a:p>
          <a:p>
            <a:pPr marL="342900" indent="-342900">
              <a:spcBef>
                <a:spcPts val="500"/>
              </a:spcBef>
              <a:buSzPct val="100000"/>
              <a:buFont typeface="+mj-lt"/>
              <a:buAutoNum type="arabicPeriod" startAt="1"/>
            </a:pPr>
            <a:r>
              <a:rPr lang="en-US" sz="1250" dirty="0">
                <a:solidFill>
                  <a:schemeClr val="tx1"/>
                </a:solidFill>
              </a:rPr>
              <a:t>Apply the T-SQL rules and route storage paths</a:t>
            </a:r>
            <a:endParaRPr lang="en-US" sz="1400" dirty="0"/>
          </a:p>
          <a:p>
            <a:pPr marL="342900" indent="-342900">
              <a:spcBef>
                <a:spcPts val="500"/>
              </a:spcBef>
              <a:buSzPct val="100000"/>
              <a:buFont typeface="+mj-lt"/>
              <a:buAutoNum type="arabicPeriod" startAt="1"/>
            </a:pPr>
            <a:r>
              <a:rPr lang="en-US" sz="1250" dirty="0">
                <a:solidFill>
                  <a:schemeClr val="tx1"/>
                </a:solidFill>
              </a:rPr>
              <a:t>Put the query into one T-SQL cell</a:t>
            </a:r>
            <a:endParaRPr lang="en-US" sz="1400" dirty="0"/>
          </a:p>
          <a:p>
            <a:pPr marL="342900" indent="-342900">
              <a:spcBef>
                <a:spcPts val="500"/>
              </a:spcBef>
              <a:buSzPct val="100000"/>
              <a:buFont typeface="+mj-lt"/>
              <a:buAutoNum type="arabicPeriod" startAt="1"/>
            </a:pPr>
            <a:r>
              <a:rPr lang="en-US" sz="1250" dirty="0">
                <a:solidFill>
                  <a:schemeClr val="tx1"/>
                </a:solidFill>
              </a:rPr>
              <a:t>Bind the notebook to the Warehouse as its default</a:t>
            </a:r>
            <a:endParaRPr lang="en-US" sz="1400" dirty="0"/>
          </a:p>
          <a:p>
            <a:pPr marL="342900" indent="-342900">
              <a:spcBef>
                <a:spcPts val="500"/>
              </a:spcBef>
              <a:buSzPct val="100000"/>
              <a:buFont typeface="+mj-lt"/>
              <a:buAutoNum type="arabicPeriod" startAt="1"/>
            </a:pPr>
            <a:r>
              <a:rPr lang="en-US" sz="1250" dirty="0">
                <a:solidFill>
                  <a:schemeClr val="tx1"/>
                </a:solidFill>
              </a:rPr>
              <a:t>Create it: POST /notebooks with the sqldatawarehouse kernel</a:t>
            </a:r>
            <a:endParaRPr lang="en-US" sz="1400" dirty="0"/>
          </a:p>
        </p:txBody>
      </p:sp>
      <p:sp>
        <p:nvSpPr>
          <p:cNvPr id="9" name="Shape 7"/>
          <p:cNvSpPr/>
          <p:nvPr/>
        </p:nvSpPr>
        <p:spPr>
          <a:xfrm>
            <a:off x="8394192" y="1463040"/>
            <a:ext cx="3246120" cy="4114800"/>
          </a:xfrm>
          <a:prstGeom prst="roundRect">
            <a:avLst>
              <a:gd name="adj" fmla="val 3380"/>
            </a:avLst>
          </a:prstGeom>
          <a:solidFill>
            <a:schemeClr val="accent1">
              <a:alpha val="10000"/>
            </a:schemeClr>
          </a:solidFill>
          <a:ln/>
        </p:spPr>
      </p:sp>
      <p:sp>
        <p:nvSpPr>
          <p:cNvPr id="10" name="Text 8"/>
          <p:cNvSpPr txBox="1"/>
          <p:nvPr/>
        </p:nvSpPr>
        <p:spPr>
          <a:xfrm>
            <a:off x="8595360" y="1627632"/>
            <a:ext cx="2880360" cy="3840480"/>
          </a:xfrm>
          <a:prstGeom prst="rect">
            <a:avLst/>
          </a:prstGeom>
          <a:noFill/>
          <a:ln/>
        </p:spPr>
        <p:txBody>
          <a:bodyPr wrap="square" lIns="0" tIns="0" rIns="0" bIns="0" rtlCol="0" anchor="t"/>
          <a:lstStyle/>
          <a:p>
            <a:pPr indent="0" marL="0">
              <a:buNone/>
            </a:pPr>
            <a:r>
              <a:rPr lang="en-US" sz="1100" b="1" spc="100" kern="0" dirty="0">
                <a:solidFill>
                  <a:schemeClr val="accent1"/>
                </a:solidFill>
              </a:rPr>
              <a:t>IN FABRIC</a:t>
            </a:r>
            <a:endParaRPr lang="en-US" sz="1400" dirty="0"/>
          </a:p>
          <a:p>
            <a:pPr indent="0" marL="0">
              <a:spcBef>
                <a:spcPts val="400"/>
              </a:spcBef>
              <a:buNone/>
            </a:pPr>
            <a:r>
              <a:rPr lang="en-US" sz="1600" dirty="0">
                <a:solidFill>
                  <a:schemeClr val="tx2"/>
                </a:solidFill>
                <a:latin typeface="+mj-lt" pitchFamily="34" charset="0"/>
                <a:ea typeface="+mj-lt" pitchFamily="34" charset="-122"/>
                <a:cs typeface="+mj-lt" pitchFamily="34" charset="-120"/>
              </a:rPr>
              <a:t>Notebook with a T-SQL cell</a:t>
            </a:r>
            <a:endParaRPr lang="en-US" sz="1400" dirty="0"/>
          </a:p>
          <a:p>
            <a:pPr indent="0" marL="0">
              <a:spcBef>
                <a:spcPts val="800"/>
              </a:spcBef>
              <a:buNone/>
            </a:pPr>
            <a:r>
              <a:rPr lang="en-US" sz="1050" b="1" dirty="0">
                <a:solidFill>
                  <a:schemeClr val="accent6"/>
                </a:solidFill>
              </a:rPr>
              <a:t>Format</a:t>
            </a:r>
            <a:endParaRPr lang="en-US" sz="1400" dirty="0"/>
          </a:p>
          <a:p>
            <a:pPr indent="0" marL="0">
              <a:buNone/>
            </a:pPr>
            <a:r>
              <a:rPr lang="en-US" sz="1200" dirty="0">
                <a:solidFill>
                  <a:schemeClr val="tx1"/>
                </a:solidFill>
              </a:rPr>
              <a:t>ipynb with the sqldatawarehouse kernel; the Warehouse is its default (dependencies.warehouse)</a:t>
            </a:r>
            <a:endParaRPr lang="en-US" sz="1400" dirty="0"/>
          </a:p>
          <a:p>
            <a:pPr marL="139700" indent="-139700">
              <a:spcBef>
                <a:spcPts val="900"/>
              </a:spcBef>
              <a:buSzPct val="100000"/>
              <a:buChar char="•"/>
            </a:pPr>
            <a:r>
              <a:rPr lang="en-US" sz="1200" dirty="0">
                <a:solidFill>
                  <a:schemeClr val="tx1"/>
                </a:solidFill>
              </a:rPr>
              <a:t>One cell, language sql</a:t>
            </a:r>
            <a:endParaRPr lang="en-US" sz="1400" dirty="0"/>
          </a:p>
          <a:p>
            <a:pPr marL="139700" indent="-139700">
              <a:spcBef>
                <a:spcPts val="400"/>
              </a:spcBef>
              <a:buSzPct val="100000"/>
              <a:buChar char="•"/>
            </a:pPr>
            <a:r>
              <a:rPr lang="en-US" sz="1200" dirty="0">
                <a:solidFill>
                  <a:schemeClr val="tx1"/>
                </a:solidFill>
              </a:rPr>
              <a:t>Marked 'review before running'</a:t>
            </a:r>
            <a:endParaRPr lang="en-US" sz="1400" dirty="0"/>
          </a:p>
        </p:txBody>
      </p:sp>
      <p:sp>
        <p:nvSpPr>
          <p:cNvPr id="11" name="Shape 9"/>
          <p:cNvSpPr/>
          <p:nvPr/>
        </p:nvSpPr>
        <p:spPr>
          <a:xfrm>
            <a:off x="3867912" y="3337560"/>
            <a:ext cx="182880" cy="365760"/>
          </a:xfrm>
          <a:prstGeom prst="chevron">
            <a:avLst/>
          </a:prstGeom>
          <a:solidFill>
            <a:schemeClr val="accent6"/>
          </a:solidFill>
          <a:ln/>
        </p:spPr>
      </p:sp>
      <p:sp>
        <p:nvSpPr>
          <p:cNvPr id="12" name="Shape 10"/>
          <p:cNvSpPr/>
          <p:nvPr/>
        </p:nvSpPr>
        <p:spPr>
          <a:xfrm>
            <a:off x="8147304" y="3337560"/>
            <a:ext cx="182880" cy="365760"/>
          </a:xfrm>
          <a:prstGeom prst="chevron">
            <a:avLst/>
          </a:prstGeom>
          <a:solidFill>
            <a:schemeClr val="accent6"/>
          </a:solidFill>
          <a:ln/>
        </p:spPr>
      </p:sp>
      <p:sp>
        <p:nvSpPr>
          <p:cNvPr id="13" name="Shape 11"/>
          <p:cNvSpPr/>
          <p:nvPr/>
        </p:nvSpPr>
        <p:spPr>
          <a:xfrm>
            <a:off x="548640" y="5687568"/>
            <a:ext cx="11094415" cy="530352"/>
          </a:xfrm>
          <a:prstGeom prst="roundRect">
            <a:avLst>
              <a:gd name="adj" fmla="val 20690"/>
            </a:avLst>
          </a:prstGeom>
          <a:solidFill>
            <a:schemeClr val="accent3">
              <a:alpha val="13000"/>
            </a:schemeClr>
          </a:solidFill>
          <a:ln/>
        </p:spPr>
      </p:sp>
      <p:sp>
        <p:nvSpPr>
          <p:cNvPr id="14" name="Text 12"/>
          <p:cNvSpPr txBox="1"/>
          <p:nvPr/>
        </p:nvSpPr>
        <p:spPr>
          <a:xfrm>
            <a:off x="777240" y="5687568"/>
            <a:ext cx="10637215" cy="530352"/>
          </a:xfrm>
          <a:prstGeom prst="rect">
            <a:avLst/>
          </a:prstGeom>
          <a:noFill/>
          <a:ln/>
        </p:spPr>
        <p:txBody>
          <a:bodyPr wrap="square" lIns="0" tIns="0" rIns="0" bIns="0" rtlCol="0" anchor="ctr"/>
          <a:lstStyle/>
          <a:p>
            <a:pPr indent="0" marL="0">
              <a:buNone/>
            </a:pPr>
            <a:r>
              <a:rPr lang="en-US" sz="1250" b="1" dirty="0">
                <a:solidFill>
                  <a:schemeClr val="tx2"/>
                </a:solidFill>
              </a:rPr>
              <a:t>Serverless scripts:  </a:t>
            </a:r>
            <a:pPr indent="0" marL="0">
              <a:buNone/>
            </a:pPr>
            <a:r>
              <a:rPr lang="en-US" sz="1250" dirty="0">
                <a:solidFill>
                  <a:schemeClr val="tx1"/>
                </a:solidFill>
              </a:rPr>
              <a:t>flagged SERVERLESS_SQL. They run on the Warehouse in Fabric; their OPENROWSET over storage works once that storage goes through a OneLake shortcut.</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63</a:t>
            </a:fld>
            <a:endParaRPr lang="en-US"/>
          </a:p>
        </p:txBody>
      </p:sp>
    </p:spTree>
  </p:cSld>
  <p:clrMapOvr>
    <a:masterClrMapping/>
  </p:clrMapOvr>
  <p:transition spd="med">
    <p:fade/>
  </p:transition>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05 · ITEM BY ITEM</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Triggers → pipeline schedules</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migration/jobs.py: schedule_bodies</a:t>
            </a:r>
            <a:endParaRPr lang="en-US" sz="1100" dirty="0"/>
          </a:p>
        </p:txBody>
      </p:sp>
      <p:sp>
        <p:nvSpPr>
          <p:cNvPr id="5" name="Shape 3"/>
          <p:cNvSpPr/>
          <p:nvPr/>
        </p:nvSpPr>
        <p:spPr>
          <a:xfrm>
            <a:off x="548640" y="1481328"/>
            <a:ext cx="3063240" cy="4069080"/>
          </a:xfrm>
          <a:prstGeom prst="roundRect">
            <a:avLst>
              <a:gd name="adj" fmla="val 3582"/>
            </a:avLst>
          </a:prstGeom>
          <a:solidFill>
            <a:schemeClr val="accent2">
              <a:alpha val="9000"/>
            </a:schemeClr>
          </a:solidFill>
          <a:ln/>
        </p:spPr>
      </p:sp>
      <p:sp>
        <p:nvSpPr>
          <p:cNvPr id="6" name="Text 4"/>
          <p:cNvSpPr txBox="1"/>
          <p:nvPr/>
        </p:nvSpPr>
        <p:spPr>
          <a:xfrm>
            <a:off x="777240" y="1664208"/>
            <a:ext cx="2606040" cy="237744"/>
          </a:xfrm>
          <a:prstGeom prst="rect">
            <a:avLst/>
          </a:prstGeom>
          <a:noFill/>
          <a:ln/>
        </p:spPr>
        <p:txBody>
          <a:bodyPr wrap="square" lIns="0" tIns="0" rIns="0" bIns="0" rtlCol="0" anchor="t"/>
          <a:lstStyle/>
          <a:p>
            <a:pPr indent="0" marL="0">
              <a:buNone/>
            </a:pPr>
            <a:r>
              <a:rPr lang="en-US" sz="1100" b="1" spc="100" kern="0" dirty="0">
                <a:solidFill>
                  <a:schemeClr val="accent2"/>
                </a:solidFill>
              </a:rPr>
              <a:t>IN SYNAPSE</a:t>
            </a:r>
            <a:endParaRPr lang="en-US" sz="1100" dirty="0"/>
          </a:p>
        </p:txBody>
      </p:sp>
      <p:sp>
        <p:nvSpPr>
          <p:cNvPr id="7" name="Text 5"/>
          <p:cNvSpPr txBox="1"/>
          <p:nvPr/>
        </p:nvSpPr>
        <p:spPr>
          <a:xfrm>
            <a:off x="777240" y="1938528"/>
            <a:ext cx="2606040" cy="384048"/>
          </a:xfrm>
          <a:prstGeom prst="rect">
            <a:avLst/>
          </a:prstGeom>
          <a:noFill/>
          <a:ln/>
        </p:spPr>
        <p:txBody>
          <a:bodyPr wrap="square" lIns="0" tIns="0" rIns="0" bIns="0" rtlCol="0" anchor="t"/>
          <a:lstStyle/>
          <a:p>
            <a:pPr indent="0" marL="0">
              <a:buNone/>
            </a:pPr>
            <a:r>
              <a:rPr lang="en-US" sz="1700" dirty="0">
                <a:solidFill>
                  <a:schemeClr val="tx2"/>
                </a:solidFill>
                <a:latin typeface="+mj-lt" pitchFamily="34" charset="0"/>
                <a:ea typeface="+mj-lt" pitchFamily="34" charset="-122"/>
                <a:cs typeface="+mj-lt" pitchFamily="34" charset="-120"/>
              </a:rPr>
              <a:t>Trigger</a:t>
            </a:r>
            <a:endParaRPr lang="en-US" sz="1700" dirty="0"/>
          </a:p>
        </p:txBody>
      </p:sp>
      <p:sp>
        <p:nvSpPr>
          <p:cNvPr id="8" name="Text 6"/>
          <p:cNvSpPr txBox="1"/>
          <p:nvPr/>
        </p:nvSpPr>
        <p:spPr>
          <a:xfrm>
            <a:off x="749808" y="2441448"/>
            <a:ext cx="2679192" cy="297180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1"/>
                </a:solidFill>
              </a:rPr>
              <a:t>Format: resource JSON with its type, a recurrence (frequency, interval, start, end, time zone, schedule) and the pipelines it starts</a:t>
            </a:r>
            <a:endParaRPr lang="en-US" sz="1400" dirty="0"/>
          </a:p>
          <a:p>
            <a:pPr marL="177800" indent="-177800">
              <a:spcAft>
                <a:spcPts val="400"/>
              </a:spcAft>
              <a:buSzPct val="100000"/>
              <a:buChar char="•"/>
            </a:pPr>
            <a:r>
              <a:rPr lang="en-US" sz="1200" dirty="0">
                <a:solidFill>
                  <a:schemeClr val="tx1"/>
                </a:solidFill>
              </a:rPr>
              <a:t>One trigger can start several pipelines</a:t>
            </a:r>
            <a:endParaRPr lang="en-US" sz="1400" dirty="0"/>
          </a:p>
          <a:p>
            <a:pPr marL="177800" indent="-177800">
              <a:spcAft>
                <a:spcPts val="400"/>
              </a:spcAft>
              <a:buSzPct val="100000"/>
              <a:buChar char="•"/>
            </a:pPr>
            <a:r>
              <a:rPr lang="en-US" sz="1200" dirty="0">
                <a:solidFill>
                  <a:schemeClr val="tx1"/>
                </a:solidFill>
              </a:rPr>
              <a:t>Types: schedule, tumbling window, storage event, custom event</a:t>
            </a:r>
            <a:endParaRPr lang="en-US" sz="14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3794760" y="1481328"/>
          <a:ext cx="4572000" cy="914400"/>
        </p:xfrm>
        <a:graphic>
          <a:graphicData uri="http://schemas.openxmlformats.org/drawingml/2006/table">
            <a:tbl>
              <a:tblPr/>
              <a:tblGrid>
                <a:gridCol w="2011680"/>
                <a:gridCol w="2560320"/>
              </a:tblGrid>
              <a:tr h="329184">
                <a:tc>
                  <a:txBody>
                    <a:bodyPr/>
                    <a:lstStyle/>
                    <a:p>
                      <a:pPr indent="0" marL="0">
                        <a:buNone/>
                      </a:pPr>
                      <a:r>
                        <a:rPr lang="en-US" sz="1200" b="1" dirty="0">
                          <a:solidFill>
                            <a:schemeClr val="bg1"/>
                          </a:solidFill>
                        </a:rPr>
                        <a:t>Synapse recurrence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indent="0" marL="0">
                        <a:buNone/>
                      </a:pPr>
                      <a:r>
                        <a:rPr lang="en-US" sz="1200" b="1" dirty="0">
                          <a:solidFill>
                            <a:schemeClr val="bg1"/>
                          </a:solidFill>
                        </a:rPr>
                        <a:t>Fabric schedule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r>
              <a:tr h="612648">
                <a:tc>
                  <a:txBody>
                    <a:bodyPr/>
                    <a:lstStyle/>
                    <a:p>
                      <a:pPr indent="0" marL="0">
                        <a:buNone/>
                      </a:pPr>
                      <a:r>
                        <a:rPr lang="en-US" sz="1200" b="1" dirty="0">
                          <a:solidFill>
                            <a:schemeClr val="tx2"/>
                          </a:solidFill>
                        </a:rPr>
                        <a:t>Every N minutes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Cron, every N minutes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612648">
                <a:tc>
                  <a:txBody>
                    <a:bodyPr/>
                    <a:lstStyle/>
                    <a:p>
                      <a:pPr indent="0" marL="0">
                        <a:buNone/>
                      </a:pPr>
                      <a:r>
                        <a:rPr lang="en-US" sz="1200" b="1" dirty="0">
                          <a:solidFill>
                            <a:schemeClr val="tx2"/>
                          </a:solidFill>
                        </a:rPr>
                        <a:t>Every N hours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Cron, every N × 60 minutes; minute offset not kept</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612648">
                <a:tc>
                  <a:txBody>
                    <a:bodyPr/>
                    <a:lstStyle/>
                    <a:p>
                      <a:pPr indent="0" marL="0">
                        <a:buNone/>
                      </a:pPr>
                      <a:r>
                        <a:rPr lang="en-US" sz="1200" b="1" dirty="0">
                          <a:solidFill>
                            <a:schemeClr val="tx2"/>
                          </a:solidFill>
                        </a:rPr>
                        <a:t>Daily, interval 1</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Daily, at the hours × minutes listed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612648">
                <a:tc>
                  <a:txBody>
                    <a:bodyPr/>
                    <a:lstStyle/>
                    <a:p>
                      <a:pPr indent="0" marL="0">
                        <a:buNone/>
                      </a:pPr>
                      <a:r>
                        <a:rPr lang="en-US" sz="1200" b="1" dirty="0">
                          <a:solidFill>
                            <a:schemeClr val="tx2"/>
                          </a:solidFill>
                        </a:rPr>
                        <a:t>Weekly, interval 1</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Weekly, on its weekdays and times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612648">
                <a:tc>
                  <a:txBody>
                    <a:bodyPr/>
                    <a:lstStyle/>
                    <a:p>
                      <a:pPr indent="0" marL="0">
                        <a:buNone/>
                      </a:pPr>
                      <a:r>
                        <a:rPr lang="en-US" sz="1200" b="1" dirty="0">
                          <a:solidFill>
                            <a:schemeClr val="tx2"/>
                          </a:solidFill>
                        </a:rPr>
                        <a:t>Every N days or weeks; monthly</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By hand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612648">
                <a:tc>
                  <a:txBody>
                    <a:bodyPr/>
                    <a:lstStyle/>
                    <a:p>
                      <a:pPr indent="0" marL="0">
                        <a:buNone/>
                      </a:pPr>
                      <a:r>
                        <a:rPr lang="en-US" sz="1200" b="1" dirty="0">
                          <a:solidFill>
                            <a:schemeClr val="tx2"/>
                          </a:solidFill>
                        </a:rPr>
                        <a:t>Tumbling window; events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By hand (events: Activator)</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bl>
          </a:graphicData>
        </a:graphic>
      </p:graphicFrame>
      <p:sp>
        <p:nvSpPr>
          <p:cNvPr id="10" name="Shape 7"/>
          <p:cNvSpPr/>
          <p:nvPr/>
        </p:nvSpPr>
        <p:spPr>
          <a:xfrm>
            <a:off x="8549640" y="1481328"/>
            <a:ext cx="3090672" cy="4069080"/>
          </a:xfrm>
          <a:prstGeom prst="roundRect">
            <a:avLst>
              <a:gd name="adj" fmla="val 3550"/>
            </a:avLst>
          </a:prstGeom>
          <a:solidFill>
            <a:schemeClr val="accent1">
              <a:alpha val="10000"/>
            </a:schemeClr>
          </a:solidFill>
          <a:ln/>
        </p:spPr>
      </p:sp>
      <p:sp>
        <p:nvSpPr>
          <p:cNvPr id="11" name="Text 8"/>
          <p:cNvSpPr txBox="1"/>
          <p:nvPr/>
        </p:nvSpPr>
        <p:spPr>
          <a:xfrm>
            <a:off x="8778240" y="1664208"/>
            <a:ext cx="2633472" cy="237744"/>
          </a:xfrm>
          <a:prstGeom prst="rect">
            <a:avLst/>
          </a:prstGeom>
          <a:noFill/>
          <a:ln/>
        </p:spPr>
        <p:txBody>
          <a:bodyPr wrap="square" lIns="0" tIns="0" rIns="0" bIns="0" rtlCol="0" anchor="t"/>
          <a:lstStyle/>
          <a:p>
            <a:pPr indent="0" marL="0">
              <a:buNone/>
            </a:pPr>
            <a:r>
              <a:rPr lang="en-US" sz="1100" b="1" spc="100" kern="0" dirty="0">
                <a:solidFill>
                  <a:schemeClr val="accent1"/>
                </a:solidFill>
              </a:rPr>
              <a:t>IN FABRIC</a:t>
            </a:r>
            <a:endParaRPr lang="en-US" sz="1100" dirty="0"/>
          </a:p>
        </p:txBody>
      </p:sp>
      <p:sp>
        <p:nvSpPr>
          <p:cNvPr id="12" name="Text 9"/>
          <p:cNvSpPr txBox="1"/>
          <p:nvPr/>
        </p:nvSpPr>
        <p:spPr>
          <a:xfrm>
            <a:off x="8778240" y="1938528"/>
            <a:ext cx="2633472" cy="384048"/>
          </a:xfrm>
          <a:prstGeom prst="rect">
            <a:avLst/>
          </a:prstGeom>
          <a:noFill/>
          <a:ln/>
        </p:spPr>
        <p:txBody>
          <a:bodyPr wrap="square" lIns="0" tIns="0" rIns="0" bIns="0" rtlCol="0" anchor="t"/>
          <a:lstStyle/>
          <a:p>
            <a:pPr indent="0" marL="0">
              <a:buNone/>
            </a:pPr>
            <a:r>
              <a:rPr lang="en-US" sz="1700" dirty="0">
                <a:solidFill>
                  <a:schemeClr val="tx2"/>
                </a:solidFill>
                <a:latin typeface="+mj-lt" pitchFamily="34" charset="0"/>
                <a:ea typeface="+mj-lt" pitchFamily="34" charset="-122"/>
                <a:cs typeface="+mj-lt" pitchFamily="34" charset="-120"/>
              </a:rPr>
              <a:t>Pipeline schedule</a:t>
            </a:r>
            <a:endParaRPr lang="en-US" sz="1700" dirty="0"/>
          </a:p>
        </p:txBody>
      </p:sp>
      <p:sp>
        <p:nvSpPr>
          <p:cNvPr id="13" name="Text 10"/>
          <p:cNvSpPr txBox="1"/>
          <p:nvPr/>
        </p:nvSpPr>
        <p:spPr>
          <a:xfrm>
            <a:off x="8750808" y="2441448"/>
            <a:ext cx="2706624" cy="297180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1"/>
                </a:solidFill>
              </a:rPr>
              <a:t>POST …/jobs/Pipeline/schedules on the pipeline, with enabled: false</a:t>
            </a:r>
            <a:endParaRPr lang="en-US" sz="1400" dirty="0"/>
          </a:p>
          <a:p>
            <a:pPr marL="177800" indent="-177800">
              <a:spcAft>
                <a:spcPts val="400"/>
              </a:spcAft>
              <a:buSzPct val="100000"/>
              <a:buChar char="•"/>
            </a:pPr>
            <a:r>
              <a:rPr lang="en-US" sz="1200" dirty="0">
                <a:solidFill>
                  <a:schemeClr val="tx1"/>
                </a:solidFill>
              </a:rPr>
              <a:t>One schedule per pipeline the trigger starts</a:t>
            </a:r>
            <a:endParaRPr lang="en-US" sz="1400" dirty="0"/>
          </a:p>
          <a:p>
            <a:pPr marL="177800" indent="-177800">
              <a:spcAft>
                <a:spcPts val="400"/>
              </a:spcAft>
              <a:buSzPct val="100000"/>
              <a:buChar char="•"/>
            </a:pPr>
            <a:r>
              <a:rPr lang="en-US" sz="1200" dirty="0">
                <a:solidFill>
                  <a:schemeClr val="tx1"/>
                </a:solidFill>
              </a:rPr>
              <a:t>Always created switched off</a:t>
            </a:r>
            <a:endParaRPr lang="en-US" sz="1400" dirty="0"/>
          </a:p>
          <a:p>
            <a:pPr marL="177800" indent="-177800">
              <a:spcAft>
                <a:spcPts val="400"/>
              </a:spcAft>
              <a:buSzPct val="100000"/>
              <a:buChar char="•"/>
            </a:pPr>
            <a:r>
              <a:rPr lang="en-US" sz="1200" dirty="0">
                <a:solidFill>
                  <a:schemeClr val="tx1"/>
                </a:solidFill>
              </a:rPr>
              <a:t>End: the trigger's, or 10 years after its start; time zone kept</a:t>
            </a:r>
            <a:endParaRPr lang="en-US" sz="1400" dirty="0"/>
          </a:p>
        </p:txBody>
      </p:sp>
      <p:sp>
        <p:nvSpPr>
          <p:cNvPr id="14" name="Shape 11"/>
          <p:cNvSpPr/>
          <p:nvPr/>
        </p:nvSpPr>
        <p:spPr>
          <a:xfrm>
            <a:off x="548640" y="5687568"/>
            <a:ext cx="11094415" cy="512064"/>
          </a:xfrm>
          <a:prstGeom prst="roundRect">
            <a:avLst>
              <a:gd name="adj" fmla="val 21429"/>
            </a:avLst>
          </a:prstGeom>
          <a:solidFill>
            <a:schemeClr val="accent3">
              <a:alpha val="13000"/>
            </a:schemeClr>
          </a:solidFill>
          <a:ln/>
        </p:spPr>
      </p:sp>
      <p:sp>
        <p:nvSpPr>
          <p:cNvPr id="15" name="Text 12"/>
          <p:cNvSpPr txBox="1"/>
          <p:nvPr/>
        </p:nvSpPr>
        <p:spPr>
          <a:xfrm>
            <a:off x="777240" y="5687568"/>
            <a:ext cx="10637215" cy="512064"/>
          </a:xfrm>
          <a:prstGeom prst="rect">
            <a:avLst/>
          </a:prstGeom>
          <a:noFill/>
          <a:ln/>
        </p:spPr>
        <p:txBody>
          <a:bodyPr wrap="square" lIns="0" tIns="0" rIns="0" bIns="0" rtlCol="0" anchor="ctr"/>
          <a:lstStyle/>
          <a:p>
            <a:pPr indent="0" marL="0">
              <a:buNone/>
            </a:pPr>
            <a:r>
              <a:rPr lang="en-US" sz="1250" b="1" dirty="0">
                <a:solidFill>
                  <a:schemeClr val="tx2"/>
                </a:solidFill>
              </a:rPr>
              <a:t>Note:  </a:t>
            </a:r>
            <a:pPr indent="0" marL="0">
              <a:buNone/>
            </a:pPr>
            <a:r>
              <a:rPr lang="en-US" sz="1250" dirty="0">
                <a:solidFill>
                  <a:schemeClr val="tx1"/>
                </a:solidFill>
              </a:rPr>
              <a:t>a pipeline that already has any schedule is left alone, so a second trigger on it is not created; the trigger's parameter values are not carried.</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64</a:t>
            </a:fld>
            <a:endParaRPr lang="en-US"/>
          </a:p>
        </p:txBody>
      </p:sp>
    </p:spTree>
  </p:cSld>
  <p:clrMapOvr>
    <a:masterClrMapping/>
  </p:clrMapOvr>
  <p:transition spd="med">
    <p:fade/>
  </p:transition>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05 · ITEM BY ITEM</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External tables → OneLake shortcuts</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migration/jobs.py: shortcut_target · stages_fabric.py: _shortcut</a:t>
            </a:r>
            <a:endParaRPr lang="en-US" sz="1100" dirty="0"/>
          </a:p>
        </p:txBody>
      </p:sp>
      <p:sp>
        <p:nvSpPr>
          <p:cNvPr id="5" name="Shape 3"/>
          <p:cNvSpPr/>
          <p:nvPr/>
        </p:nvSpPr>
        <p:spPr>
          <a:xfrm>
            <a:off x="548640" y="1463040"/>
            <a:ext cx="3246120" cy="4114800"/>
          </a:xfrm>
          <a:prstGeom prst="roundRect">
            <a:avLst>
              <a:gd name="adj" fmla="val 3380"/>
            </a:avLst>
          </a:prstGeom>
          <a:solidFill>
            <a:schemeClr val="accent2">
              <a:alpha val="9000"/>
            </a:schemeClr>
          </a:solidFill>
          <a:ln/>
        </p:spPr>
      </p:sp>
      <p:sp>
        <p:nvSpPr>
          <p:cNvPr id="6" name="Text 4"/>
          <p:cNvSpPr txBox="1"/>
          <p:nvPr/>
        </p:nvSpPr>
        <p:spPr>
          <a:xfrm>
            <a:off x="749808" y="1627632"/>
            <a:ext cx="2880360" cy="3840480"/>
          </a:xfrm>
          <a:prstGeom prst="rect">
            <a:avLst/>
          </a:prstGeom>
          <a:noFill/>
          <a:ln/>
        </p:spPr>
        <p:txBody>
          <a:bodyPr wrap="square" lIns="0" tIns="0" rIns="0" bIns="0" rtlCol="0" anchor="t"/>
          <a:lstStyle/>
          <a:p>
            <a:pPr indent="0" marL="0">
              <a:buNone/>
            </a:pPr>
            <a:r>
              <a:rPr lang="en-US" sz="1100" b="1" spc="100" kern="0" dirty="0">
                <a:solidFill>
                  <a:schemeClr val="accent2"/>
                </a:solidFill>
              </a:rPr>
              <a:t>IN SYNAPSE</a:t>
            </a:r>
            <a:endParaRPr lang="en-US" sz="1400" dirty="0"/>
          </a:p>
          <a:p>
            <a:pPr indent="0" marL="0">
              <a:spcBef>
                <a:spcPts val="400"/>
              </a:spcBef>
              <a:buNone/>
            </a:pPr>
            <a:r>
              <a:rPr lang="en-US" sz="1600" dirty="0">
                <a:solidFill>
                  <a:schemeClr val="tx2"/>
                </a:solidFill>
                <a:latin typeface="+mj-lt" pitchFamily="34" charset="0"/>
                <a:ea typeface="+mj-lt" pitchFamily="34" charset="-122"/>
                <a:cs typeface="+mj-lt" pitchFamily="34" charset="-120"/>
              </a:rPr>
              <a:t>External table</a:t>
            </a:r>
            <a:endParaRPr lang="en-US" sz="1400" dirty="0"/>
          </a:p>
          <a:p>
            <a:pPr indent="0" marL="0">
              <a:spcBef>
                <a:spcPts val="800"/>
              </a:spcBef>
              <a:buNone/>
            </a:pPr>
            <a:r>
              <a:rPr lang="en-US" sz="1050" b="1" dirty="0">
                <a:solidFill>
                  <a:schemeClr val="accent6"/>
                </a:solidFill>
              </a:rPr>
              <a:t>Format</a:t>
            </a:r>
            <a:endParaRPr lang="en-US" sz="1400" dirty="0"/>
          </a:p>
          <a:p>
            <a:pPr indent="0" marL="0">
              <a:buNone/>
            </a:pPr>
            <a:r>
              <a:rPr lang="en-US" sz="1200" dirty="0">
                <a:solidFill>
                  <a:schemeClr val="tx1"/>
                </a:solidFill>
              </a:rPr>
              <a:t>Catalog: sys.external_tables (location) joined to sys.external_data_sources (location)</a:t>
            </a:r>
            <a:endParaRPr lang="en-US" sz="1400" dirty="0"/>
          </a:p>
          <a:p>
            <a:pPr marL="139700" indent="-139700">
              <a:spcBef>
                <a:spcPts val="900"/>
              </a:spcBef>
              <a:buSzPct val="100000"/>
              <a:buChar char="•"/>
            </a:pPr>
            <a:r>
              <a:rPr lang="en-US" sz="1200" dirty="0">
                <a:solidFill>
                  <a:schemeClr val="tx1"/>
                </a:solidFill>
              </a:rPr>
              <a:t>The data stays in ADLS or Blob storage, read through PolyBase</a:t>
            </a:r>
            <a:endParaRPr lang="en-US" sz="1400" dirty="0"/>
          </a:p>
          <a:p>
            <a:pPr marL="139700" indent="-139700">
              <a:spcBef>
                <a:spcPts val="400"/>
              </a:spcBef>
              <a:buSzPct val="100000"/>
              <a:buChar char="•"/>
            </a:pPr>
            <a:r>
              <a:rPr lang="en-US" sz="1200" dirty="0">
                <a:solidFill>
                  <a:schemeClr val="tx1"/>
                </a:solidFill>
              </a:rPr>
              <a:t>No rows in the pool</a:t>
            </a:r>
            <a:endParaRPr lang="en-US" sz="1400" dirty="0"/>
          </a:p>
        </p:txBody>
      </p:sp>
      <p:sp>
        <p:nvSpPr>
          <p:cNvPr id="7" name="Shape 5"/>
          <p:cNvSpPr/>
          <p:nvPr/>
        </p:nvSpPr>
        <p:spPr>
          <a:xfrm>
            <a:off x="4114800" y="1463040"/>
            <a:ext cx="3959352" cy="4114800"/>
          </a:xfrm>
          <a:prstGeom prst="roundRect">
            <a:avLst>
              <a:gd name="adj" fmla="val 2771"/>
            </a:avLst>
          </a:prstGeom>
          <a:solidFill>
            <a:schemeClr val="bg2"/>
          </a:solidFill>
          <a:ln/>
        </p:spPr>
      </p:sp>
      <p:sp>
        <p:nvSpPr>
          <p:cNvPr id="8" name="Text 6"/>
          <p:cNvSpPr txBox="1"/>
          <p:nvPr/>
        </p:nvSpPr>
        <p:spPr>
          <a:xfrm>
            <a:off x="4315968" y="1627632"/>
            <a:ext cx="3593592" cy="3840480"/>
          </a:xfrm>
          <a:prstGeom prst="rect">
            <a:avLst/>
          </a:prstGeom>
          <a:noFill/>
          <a:ln/>
        </p:spPr>
        <p:txBody>
          <a:bodyPr wrap="square" lIns="0" tIns="0" rIns="0" bIns="0" rtlCol="0" anchor="t"/>
          <a:lstStyle/>
          <a:p>
            <a:pPr indent="0" marL="0">
              <a:buNone/>
            </a:pPr>
            <a:r>
              <a:rPr lang="en-US" sz="1100" b="1" spc="100" kern="0" dirty="0">
                <a:solidFill>
                  <a:schemeClr val="accent6"/>
                </a:solidFill>
              </a:rPr>
              <a:t>HOW IT IS CONVERTED</a:t>
            </a:r>
            <a:endParaRPr lang="en-US" sz="1400" dirty="0"/>
          </a:p>
          <a:p>
            <a:pPr marL="342900" indent="-342900">
              <a:spcBef>
                <a:spcPts val="900"/>
              </a:spcBef>
              <a:buSzPct val="100000"/>
              <a:buFont typeface="+mj-lt"/>
              <a:buAutoNum type="arabicPeriod" startAt="1"/>
            </a:pPr>
            <a:r>
              <a:rPr lang="en-US" sz="1250" dirty="0">
                <a:solidFill>
                  <a:schemeClr val="tx1"/>
                </a:solidFill>
              </a:rPr>
              <a:t>Read the data source's and the table's locations from the pool</a:t>
            </a:r>
            <a:endParaRPr lang="en-US" sz="1400" dirty="0"/>
          </a:p>
          <a:p>
            <a:pPr marL="342900" indent="-342900">
              <a:spcBef>
                <a:spcPts val="500"/>
              </a:spcBef>
              <a:buSzPct val="100000"/>
              <a:buFont typeface="+mj-lt"/>
              <a:buAutoNum type="arabicPeriod" startAt="1"/>
            </a:pPr>
            <a:r>
              <a:rPr lang="en-US" sz="1250" dirty="0">
                <a:solidFill>
                  <a:schemeClr val="tx1"/>
                </a:solidFill>
              </a:rPr>
              <a:t>It must be abfs[s]:// or wasb[s]:// on ADLS or Blob; an https:// location is left for a person</a:t>
            </a:r>
            <a:endParaRPr lang="en-US" sz="1400" dirty="0"/>
          </a:p>
          <a:p>
            <a:pPr marL="342900" indent="-342900">
              <a:spcBef>
                <a:spcPts val="500"/>
              </a:spcBef>
              <a:buSzPct val="100000"/>
              <a:buFont typeface="+mj-lt"/>
              <a:buAutoNum type="arabicPeriod" startAt="1"/>
            </a:pPr>
            <a:r>
              <a:rPr lang="en-US" sz="1250" dirty="0">
                <a:solidFill>
                  <a:schemeClr val="tx1"/>
                </a:solidFill>
              </a:rPr>
              <a:t>Find a Fabric connection to that storage account</a:t>
            </a:r>
            <a:endParaRPr lang="en-US" sz="1400" dirty="0"/>
          </a:p>
          <a:p>
            <a:pPr marL="342900" indent="-342900">
              <a:spcBef>
                <a:spcPts val="500"/>
              </a:spcBef>
              <a:buSzPct val="100000"/>
              <a:buFont typeface="+mj-lt"/>
              <a:buAutoNum type="arabicPeriod" startAt="1"/>
            </a:pPr>
            <a:r>
              <a:rPr lang="en-US" sz="1250" dirty="0">
                <a:solidFill>
                  <a:schemeClr val="tx1"/>
                </a:solidFill>
              </a:rPr>
              <a:t>Create the run's Lakehouse, &lt;warehouse&gt;_lakehouse, if needed</a:t>
            </a:r>
            <a:endParaRPr lang="en-US" sz="1400" dirty="0"/>
          </a:p>
          <a:p>
            <a:pPr marL="342900" indent="-342900">
              <a:spcBef>
                <a:spcPts val="500"/>
              </a:spcBef>
              <a:buSzPct val="100000"/>
              <a:buFont typeface="+mj-lt"/>
              <a:buAutoNum type="arabicPeriod" startAt="1"/>
            </a:pPr>
            <a:r>
              <a:rPr lang="en-US" sz="1250" dirty="0">
                <a:solidFill>
                  <a:schemeClr val="tx1"/>
                </a:solidFill>
              </a:rPr>
              <a:t>Create the shortcut Files/&lt;schema&gt;/&lt;table&gt; pointing at the same folder</a:t>
            </a:r>
            <a:endParaRPr lang="en-US" sz="1400" dirty="0"/>
          </a:p>
        </p:txBody>
      </p:sp>
      <p:sp>
        <p:nvSpPr>
          <p:cNvPr id="9" name="Shape 7"/>
          <p:cNvSpPr/>
          <p:nvPr/>
        </p:nvSpPr>
        <p:spPr>
          <a:xfrm>
            <a:off x="8394192" y="1463040"/>
            <a:ext cx="3246120" cy="4114800"/>
          </a:xfrm>
          <a:prstGeom prst="roundRect">
            <a:avLst>
              <a:gd name="adj" fmla="val 3380"/>
            </a:avLst>
          </a:prstGeom>
          <a:solidFill>
            <a:schemeClr val="accent1">
              <a:alpha val="10000"/>
            </a:schemeClr>
          </a:solidFill>
          <a:ln/>
        </p:spPr>
      </p:sp>
      <p:sp>
        <p:nvSpPr>
          <p:cNvPr id="10" name="Text 8"/>
          <p:cNvSpPr txBox="1"/>
          <p:nvPr/>
        </p:nvSpPr>
        <p:spPr>
          <a:xfrm>
            <a:off x="8595360" y="1627632"/>
            <a:ext cx="2880360" cy="3840480"/>
          </a:xfrm>
          <a:prstGeom prst="rect">
            <a:avLst/>
          </a:prstGeom>
          <a:noFill/>
          <a:ln/>
        </p:spPr>
        <p:txBody>
          <a:bodyPr wrap="square" lIns="0" tIns="0" rIns="0" bIns="0" rtlCol="0" anchor="t"/>
          <a:lstStyle/>
          <a:p>
            <a:pPr indent="0" marL="0">
              <a:buNone/>
            </a:pPr>
            <a:r>
              <a:rPr lang="en-US" sz="1100" b="1" spc="100" kern="0" dirty="0">
                <a:solidFill>
                  <a:schemeClr val="accent1"/>
                </a:solidFill>
              </a:rPr>
              <a:t>IN FABRIC</a:t>
            </a:r>
            <a:endParaRPr lang="en-US" sz="1400" dirty="0"/>
          </a:p>
          <a:p>
            <a:pPr indent="0" marL="0">
              <a:spcBef>
                <a:spcPts val="400"/>
              </a:spcBef>
              <a:buNone/>
            </a:pPr>
            <a:r>
              <a:rPr lang="en-US" sz="1600" dirty="0">
                <a:solidFill>
                  <a:schemeClr val="tx2"/>
                </a:solidFill>
                <a:latin typeface="+mj-lt" pitchFamily="34" charset="0"/>
                <a:ea typeface="+mj-lt" pitchFamily="34" charset="-122"/>
                <a:cs typeface="+mj-lt" pitchFamily="34" charset="-120"/>
              </a:rPr>
              <a:t>OneLake shortcut</a:t>
            </a:r>
            <a:endParaRPr lang="en-US" sz="1400" dirty="0"/>
          </a:p>
          <a:p>
            <a:pPr indent="0" marL="0">
              <a:spcBef>
                <a:spcPts val="800"/>
              </a:spcBef>
              <a:buNone/>
            </a:pPr>
            <a:r>
              <a:rPr lang="en-US" sz="1050" b="1" dirty="0">
                <a:solidFill>
                  <a:schemeClr val="accent6"/>
                </a:solidFill>
              </a:rPr>
              <a:t>Format</a:t>
            </a:r>
            <a:endParaRPr lang="en-US" sz="1400" dirty="0"/>
          </a:p>
          <a:p>
            <a:pPr indent="0" marL="0">
              <a:buNone/>
            </a:pPr>
            <a:r>
              <a:rPr lang="en-US" sz="1200" dirty="0">
                <a:solidFill>
                  <a:schemeClr val="tx1"/>
                </a:solidFill>
              </a:rPr>
              <a:t>POST items/{lakehouse}/shortcuts: path, name, target.adlsGen2 {location, subpath, connectionId}</a:t>
            </a:r>
            <a:endParaRPr lang="en-US" sz="1400" dirty="0"/>
          </a:p>
          <a:p>
            <a:pPr marL="139700" indent="-139700">
              <a:spcBef>
                <a:spcPts val="900"/>
              </a:spcBef>
              <a:buSzPct val="100000"/>
              <a:buChar char="•"/>
            </a:pPr>
            <a:r>
              <a:rPr lang="en-US" sz="1200" dirty="0">
                <a:solidFill>
                  <a:schemeClr val="tx1"/>
                </a:solidFill>
              </a:rPr>
              <a:t>Reads the files in place: nothing is copied</a:t>
            </a:r>
            <a:endParaRPr lang="en-US" sz="1400" dirty="0"/>
          </a:p>
          <a:p>
            <a:pPr marL="139700" indent="-139700">
              <a:spcBef>
                <a:spcPts val="400"/>
              </a:spcBef>
              <a:buSzPct val="100000"/>
              <a:buChar char="•"/>
            </a:pPr>
            <a:r>
              <a:rPr lang="en-US" sz="1200" dirty="0">
                <a:solidFill>
                  <a:schemeClr val="tx1"/>
                </a:solidFill>
              </a:rPr>
              <a:t>Promote it to a table to query it with SQL</a:t>
            </a:r>
            <a:endParaRPr lang="en-US" sz="1400" dirty="0"/>
          </a:p>
        </p:txBody>
      </p:sp>
      <p:sp>
        <p:nvSpPr>
          <p:cNvPr id="11" name="Shape 9"/>
          <p:cNvSpPr/>
          <p:nvPr/>
        </p:nvSpPr>
        <p:spPr>
          <a:xfrm>
            <a:off x="3867912" y="3337560"/>
            <a:ext cx="182880" cy="365760"/>
          </a:xfrm>
          <a:prstGeom prst="chevron">
            <a:avLst/>
          </a:prstGeom>
          <a:solidFill>
            <a:schemeClr val="accent6"/>
          </a:solidFill>
          <a:ln/>
        </p:spPr>
      </p:sp>
      <p:sp>
        <p:nvSpPr>
          <p:cNvPr id="12" name="Shape 10"/>
          <p:cNvSpPr/>
          <p:nvPr/>
        </p:nvSpPr>
        <p:spPr>
          <a:xfrm>
            <a:off x="8147304" y="3337560"/>
            <a:ext cx="182880" cy="365760"/>
          </a:xfrm>
          <a:prstGeom prst="chevron">
            <a:avLst/>
          </a:prstGeom>
          <a:solidFill>
            <a:schemeClr val="accent6"/>
          </a:solidFill>
          <a:ln/>
        </p:spPr>
      </p:sp>
      <p:sp>
        <p:nvSpPr>
          <p:cNvPr id="13" name="Shape 11"/>
          <p:cNvSpPr/>
          <p:nvPr/>
        </p:nvSpPr>
        <p:spPr>
          <a:xfrm>
            <a:off x="548640" y="5687568"/>
            <a:ext cx="11094415" cy="530352"/>
          </a:xfrm>
          <a:prstGeom prst="roundRect">
            <a:avLst>
              <a:gd name="adj" fmla="val 20690"/>
            </a:avLst>
          </a:prstGeom>
          <a:solidFill>
            <a:schemeClr val="accent3">
              <a:alpha val="13000"/>
            </a:schemeClr>
          </a:solidFill>
          <a:ln/>
        </p:spPr>
      </p:sp>
      <p:sp>
        <p:nvSpPr>
          <p:cNvPr id="14" name="Text 12"/>
          <p:cNvSpPr txBox="1"/>
          <p:nvPr/>
        </p:nvSpPr>
        <p:spPr>
          <a:xfrm>
            <a:off x="777240" y="5687568"/>
            <a:ext cx="10637215" cy="530352"/>
          </a:xfrm>
          <a:prstGeom prst="rect">
            <a:avLst/>
          </a:prstGeom>
          <a:noFill/>
          <a:ln/>
        </p:spPr>
        <p:txBody>
          <a:bodyPr wrap="square" lIns="0" tIns="0" rIns="0" bIns="0" rtlCol="0" anchor="ctr"/>
          <a:lstStyle/>
          <a:p>
            <a:pPr indent="0" marL="0">
              <a:buNone/>
            </a:pPr>
            <a:r>
              <a:rPr lang="en-US" sz="1250" b="1" dirty="0">
                <a:solidFill>
                  <a:schemeClr val="tx2"/>
                </a:solidFill>
              </a:rPr>
              <a:t>Needs:  </a:t>
            </a:r>
            <a:pPr indent="0" marL="0">
              <a:buNone/>
            </a:pPr>
            <a:r>
              <a:rPr lang="en-US" sz="1250" dirty="0">
                <a:solidFill>
                  <a:schemeClr val="tx1"/>
                </a:solidFill>
              </a:rPr>
              <a:t>the Connections stage for the storage linked service, and the Synapse source connected so the locations can be read. External tables get no data load.</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65</a:t>
            </a:fld>
            <a:endParaRPr lang="en-US"/>
          </a:p>
        </p:txBody>
      </p:sp>
    </p:spTree>
  </p:cSld>
  <p:clrMapOvr>
    <a:masterClrMapping/>
  </p:clrMapOvr>
  <p:transition spd="med">
    <p:fade/>
  </p:transition>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05 · ITEM BY ITEM</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Storage routing: code that read storage directly</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migration/storage_remap.py</a:t>
            </a:r>
            <a:endParaRPr lang="en-US" sz="1100" dirty="0"/>
          </a:p>
        </p:txBody>
      </p:sp>
      <p:sp>
        <p:nvSpPr>
          <p:cNvPr id="5" name="Shape 3"/>
          <p:cNvSpPr/>
          <p:nvPr/>
        </p:nvSpPr>
        <p:spPr>
          <a:xfrm>
            <a:off x="548640" y="1481328"/>
            <a:ext cx="3520440" cy="4069080"/>
          </a:xfrm>
          <a:prstGeom prst="roundRect">
            <a:avLst>
              <a:gd name="adj" fmla="val 3117"/>
            </a:avLst>
          </a:prstGeom>
          <a:solidFill>
            <a:schemeClr val="bg2"/>
          </a:solidFill>
          <a:ln/>
        </p:spPr>
      </p:sp>
      <p:sp>
        <p:nvSpPr>
          <p:cNvPr id="6" name="Text 4"/>
          <p:cNvSpPr txBox="1"/>
          <p:nvPr/>
        </p:nvSpPr>
        <p:spPr>
          <a:xfrm>
            <a:off x="777240" y="1664208"/>
            <a:ext cx="3063240"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THE PROBLEM</a:t>
            </a:r>
            <a:endParaRPr lang="en-US" sz="1100" dirty="0"/>
          </a:p>
        </p:txBody>
      </p:sp>
      <p:sp>
        <p:nvSpPr>
          <p:cNvPr id="7" name="Text 5"/>
          <p:cNvSpPr txBox="1"/>
          <p:nvPr/>
        </p:nvSpPr>
        <p:spPr>
          <a:xfrm>
            <a:off x="749808" y="1984248"/>
            <a:ext cx="3136392" cy="3429000"/>
          </a:xfrm>
          <a:prstGeom prst="rect">
            <a:avLst/>
          </a:prstGeom>
          <a:noFill/>
          <a:ln/>
        </p:spPr>
        <p:txBody>
          <a:bodyPr wrap="square" lIns="0" tIns="0" rIns="0" bIns="0" rtlCol="0" anchor="t"/>
          <a:lstStyle/>
          <a:p>
            <a:pPr indent="0" marL="0">
              <a:buNone/>
            </a:pPr>
            <a:r>
              <a:rPr lang="en-US" sz="1250" dirty="0">
                <a:solidFill>
                  <a:schemeClr val="tx1"/>
                </a:solidFill>
              </a:rPr>
              <a:t>In Synapse, code read abfss:// paths as the workspace's managed identity. In Fabric it runs as the signed-in user, and a storage account in another Microsoft Entra tenant rejects that user whatever roles it has (401, 'Cannot find the CREDENTIAL'). A Fabric connection with a key or SAS token still reaches it.</a:t>
            </a:r>
            <a:endParaRPr lang="en-US" sz="1400" dirty="0"/>
          </a:p>
        </p:txBody>
      </p:sp>
      <p:sp>
        <p:nvSpPr>
          <p:cNvPr id="8" name="Shape 6"/>
          <p:cNvSpPr/>
          <p:nvPr/>
        </p:nvSpPr>
        <p:spPr>
          <a:xfrm>
            <a:off x="4251960" y="1481328"/>
            <a:ext cx="2971800" cy="4069080"/>
          </a:xfrm>
          <a:prstGeom prst="roundRect">
            <a:avLst>
              <a:gd name="adj" fmla="val 3692"/>
            </a:avLst>
          </a:prstGeom>
          <a:solidFill>
            <a:schemeClr val="accent1">
              <a:alpha val="10000"/>
            </a:schemeClr>
          </a:solidFill>
          <a:ln/>
        </p:spPr>
      </p:sp>
      <p:sp>
        <p:nvSpPr>
          <p:cNvPr id="9" name="Text 7"/>
          <p:cNvSpPr txBox="1"/>
          <p:nvPr/>
        </p:nvSpPr>
        <p:spPr>
          <a:xfrm>
            <a:off x="4434840" y="1645920"/>
            <a:ext cx="2651760" cy="3749040"/>
          </a:xfrm>
          <a:prstGeom prst="rect">
            <a:avLst/>
          </a:prstGeom>
          <a:noFill/>
          <a:ln/>
        </p:spPr>
        <p:txBody>
          <a:bodyPr wrap="square" lIns="0" tIns="0" rIns="0" bIns="0" rtlCol="0" anchor="t"/>
          <a:lstStyle/>
          <a:p>
            <a:pPr indent="0" marL="0">
              <a:buNone/>
            </a:pPr>
            <a:r>
              <a:rPr lang="en-US" sz="1100" b="1" spc="100" kern="0" dirty="0">
                <a:solidFill>
                  <a:schemeClr val="accent1"/>
                </a:solidFill>
              </a:rPr>
              <a:t>THE FIX</a:t>
            </a:r>
            <a:endParaRPr lang="en-US" sz="1400" dirty="0"/>
          </a:p>
          <a:p>
            <a:pPr marL="342900" indent="-342900">
              <a:spcBef>
                <a:spcPts val="900"/>
              </a:spcBef>
              <a:buSzPct val="100000"/>
              <a:buFont typeface="+mj-lt"/>
              <a:buAutoNum type="arabicPeriod" startAt="1"/>
            </a:pPr>
            <a:r>
              <a:rPr lang="en-US" sz="1250" dirty="0">
                <a:solidFill>
                  <a:schemeClr val="tx1"/>
                </a:solidFill>
              </a:rPr>
              <a:t>Plan lists every account and container the code names</a:t>
            </a:r>
            <a:endParaRPr lang="en-US" sz="1400" dirty="0"/>
          </a:p>
          <a:p>
            <a:pPr marL="342900" indent="-342900">
              <a:spcBef>
                <a:spcPts val="600"/>
              </a:spcBef>
              <a:buSzPct val="100000"/>
              <a:buFont typeface="+mj-lt"/>
              <a:buAutoNum type="arabicPeriod" startAt="1"/>
            </a:pPr>
            <a:r>
              <a:rPr lang="en-US" sz="1250" dirty="0">
                <a:solidFill>
                  <a:schemeClr val="tx1"/>
                </a:solidFill>
              </a:rPr>
              <a:t>Each is matched to a Fabric connection: an existing one, or one the Connections stage makes</a:t>
            </a:r>
            <a:endParaRPr lang="en-US" sz="1400" dirty="0"/>
          </a:p>
          <a:p>
            <a:pPr marL="342900" indent="-342900">
              <a:spcBef>
                <a:spcPts val="600"/>
              </a:spcBef>
              <a:buSzPct val="100000"/>
              <a:buFont typeface="+mj-lt"/>
              <a:buAutoNum type="arabicPeriod" startAt="1"/>
            </a:pPr>
            <a:r>
              <a:rPr lang="en-US" sz="1250" dirty="0">
                <a:solidFill>
                  <a:schemeClr val="tx1"/>
                </a:solidFill>
              </a:rPr>
              <a:t>The run creates a shortcut Files/&lt;container&gt; in &lt;warehouse&gt;_lakehouse</a:t>
            </a:r>
            <a:endParaRPr lang="en-US" sz="1400" dirty="0"/>
          </a:p>
          <a:p>
            <a:pPr marL="342900" indent="-342900">
              <a:spcBef>
                <a:spcPts val="600"/>
              </a:spcBef>
              <a:buSzPct val="100000"/>
              <a:buFont typeface="+mj-lt"/>
              <a:buAutoNum type="arabicPeriod" startAt="1"/>
            </a:pPr>
            <a:r>
              <a:rPr lang="en-US" sz="1250" dirty="0">
                <a:solidFill>
                  <a:schemeClr val="tx1"/>
                </a:solidFill>
              </a:rPr>
              <a:t>Every path to it is rewritten</a:t>
            </a:r>
            <a:endParaRPr lang="en-US" sz="1400" dirty="0"/>
          </a:p>
        </p:txBody>
      </p:sp>
      <p:sp>
        <p:nvSpPr>
          <p:cNvPr id="10" name="Shape 8"/>
          <p:cNvSpPr/>
          <p:nvPr/>
        </p:nvSpPr>
        <p:spPr>
          <a:xfrm>
            <a:off x="7406640" y="1481328"/>
            <a:ext cx="4233672" cy="4069080"/>
          </a:xfrm>
          <a:prstGeom prst="roundRect">
            <a:avLst>
              <a:gd name="adj" fmla="val 1798"/>
            </a:avLst>
          </a:prstGeom>
          <a:solidFill>
            <a:schemeClr val="tx2"/>
          </a:solidFill>
          <a:ln/>
        </p:spPr>
      </p:sp>
      <p:sp>
        <p:nvSpPr>
          <p:cNvPr id="11" name="Text 9"/>
          <p:cNvSpPr txBox="1"/>
          <p:nvPr/>
        </p:nvSpPr>
        <p:spPr>
          <a:xfrm>
            <a:off x="7589520" y="1591056"/>
            <a:ext cx="3867912" cy="256032"/>
          </a:xfrm>
          <a:prstGeom prst="rect">
            <a:avLst/>
          </a:prstGeom>
          <a:noFill/>
          <a:ln/>
        </p:spPr>
        <p:txBody>
          <a:bodyPr wrap="square" lIns="0" tIns="0" rIns="0" bIns="0" rtlCol="0" anchor="t"/>
          <a:lstStyle/>
          <a:p>
            <a:pPr indent="0" marL="0">
              <a:buNone/>
            </a:pPr>
            <a:r>
              <a:rPr lang="en-US" sz="1100" b="1" dirty="0">
                <a:solidFill>
                  <a:schemeClr val="accent5"/>
                </a:solidFill>
              </a:rPr>
              <a:t>REWRITES</a:t>
            </a:r>
            <a:endParaRPr lang="en-US" sz="1100" dirty="0"/>
          </a:p>
        </p:txBody>
      </p:sp>
      <p:sp>
        <p:nvSpPr>
          <p:cNvPr id="12" name="Text 10"/>
          <p:cNvSpPr txBox="1"/>
          <p:nvPr/>
        </p:nvSpPr>
        <p:spPr>
          <a:xfrm>
            <a:off x="7589520" y="1892808"/>
            <a:ext cx="3867912" cy="3566160"/>
          </a:xfrm>
          <a:prstGeom prst="rect">
            <a:avLst/>
          </a:prstGeom>
          <a:noFill/>
          <a:ln/>
        </p:spPr>
        <p:txBody>
          <a:bodyPr wrap="square" lIns="0" tIns="0" rIns="0" bIns="0" rtlCol="0" anchor="t"/>
          <a:lstStyle/>
          <a:p>
            <a:pPr indent="0" marL="0">
              <a:buNone/>
            </a:pPr>
            <a:r>
              <a:rPr lang="en-US" sz="1000" dirty="0">
                <a:solidFill>
                  <a:srgbClr val="E6EDF5"/>
                </a:solidFill>
                <a:latin typeface="Consolas" pitchFamily="34" charset="0"/>
                <a:ea typeface="Consolas" pitchFamily="34" charset="-122"/>
                <a:cs typeface="Consolas" pitchFamily="34" charset="-120"/>
              </a:rPr>
              <a:t>abfss://raw@acct.dfs.core.windows.net/x</a:t>
            </a:r>
            <a:endParaRPr lang="en-US" sz="1000" dirty="0"/>
          </a:p>
          <a:p>
            <a:pPr indent="0" marL="0">
              <a:buNone/>
            </a:pPr>
            <a:r>
              <a:rPr lang="en-US" sz="1000" dirty="0">
                <a:solidFill>
                  <a:srgbClr val="E6EDF5"/>
                </a:solidFill>
                <a:latin typeface="Consolas" pitchFamily="34" charset="0"/>
                <a:ea typeface="Consolas" pitchFamily="34" charset="-122"/>
                <a:cs typeface="Consolas" pitchFamily="34" charset="-120"/>
              </a:rPr>
              <a:t>→ abfss://&lt;ws&gt;@onelake.dfs.fabric.microsoft.com</a:t>
            </a:r>
            <a:endParaRPr lang="en-US" sz="1000" dirty="0"/>
          </a:p>
          <a:p>
            <a:pPr indent="0" marL="0">
              <a:buNone/>
            </a:pPr>
            <a:r>
              <a:rPr lang="en-US" sz="1000" dirty="0">
                <a:solidFill>
                  <a:srgbClr val="E6EDF5"/>
                </a:solidFill>
                <a:latin typeface="Consolas" pitchFamily="34" charset="0"/>
                <a:ea typeface="Consolas" pitchFamily="34" charset="-122"/>
                <a:cs typeface="Consolas" pitchFamily="34" charset="-120"/>
              </a:rPr>
              <a:t>    /&lt;lh&gt;/Files/raw/x   (also abfs, wasb[s], blob)</a:t>
            </a:r>
            <a:endParaRPr lang="en-US" sz="1000" dirty="0"/>
          </a:p>
          <a:p>
            <a:pPr indent="0" marL="0">
              <a:buNone/>
            </a:pPr>
            <a:endParaRPr lang="en-US" sz="1000" dirty="0"/>
          </a:p>
          <a:p>
            <a:pPr indent="0" marL="0">
              <a:buNone/>
            </a:pPr>
            <a:r>
              <a:rPr lang="en-US" sz="1000" dirty="0">
                <a:solidFill>
                  <a:srgbClr val="E6EDF5"/>
                </a:solidFill>
                <a:latin typeface="Consolas" pitchFamily="34" charset="0"/>
                <a:ea typeface="Consolas" pitchFamily="34" charset="-122"/>
                <a:cs typeface="Consolas" pitchFamily="34" charset="-120"/>
              </a:rPr>
              <a:t>https://acct.dfs.core.windows.net/raw/x</a:t>
            </a:r>
            <a:endParaRPr lang="en-US" sz="1000" dirty="0"/>
          </a:p>
          <a:p>
            <a:pPr indent="0" marL="0">
              <a:buNone/>
            </a:pPr>
            <a:r>
              <a:rPr lang="en-US" sz="1000" dirty="0">
                <a:solidFill>
                  <a:srgbClr val="E6EDF5"/>
                </a:solidFill>
                <a:latin typeface="Consolas" pitchFamily="34" charset="0"/>
                <a:ea typeface="Consolas" pitchFamily="34" charset="-122"/>
                <a:cs typeface="Consolas" pitchFamily="34" charset="-120"/>
              </a:rPr>
              <a:t>→ https://onelake.dfs.fabric.microsoft.com</a:t>
            </a:r>
            <a:endParaRPr lang="en-US" sz="1000" dirty="0"/>
          </a:p>
          <a:p>
            <a:pPr indent="0" marL="0">
              <a:buNone/>
            </a:pPr>
            <a:r>
              <a:rPr lang="en-US" sz="1000" dirty="0">
                <a:solidFill>
                  <a:srgbClr val="E6EDF5"/>
                </a:solidFill>
                <a:latin typeface="Consolas" pitchFamily="34" charset="0"/>
                <a:ea typeface="Consolas" pitchFamily="34" charset="-122"/>
                <a:cs typeface="Consolas" pitchFamily="34" charset="-120"/>
              </a:rPr>
              <a:t>    /&lt;ws&gt;/&lt;lh&gt;/Files/raw/x</a:t>
            </a:r>
            <a:endParaRPr lang="en-US" sz="1000" dirty="0"/>
          </a:p>
          <a:p>
            <a:pPr indent="0" marL="0">
              <a:buNone/>
            </a:pPr>
            <a:endParaRPr lang="en-US" sz="1000" dirty="0"/>
          </a:p>
          <a:p>
            <a:pPr indent="0" marL="0">
              <a:buNone/>
            </a:pPr>
            <a:r>
              <a:rPr lang="en-US" sz="1000" dirty="0">
                <a:solidFill>
                  <a:srgbClr val="E6EDF5"/>
                </a:solidFill>
                <a:latin typeface="Consolas" pitchFamily="34" charset="0"/>
                <a:ea typeface="Consolas" pitchFamily="34" charset="-122"/>
                <a:cs typeface="Consolas" pitchFamily="34" charset="-120"/>
              </a:rPr>
              <a:t>f"abfss://{c}@acct.dfs.core.windows.net/x"</a:t>
            </a:r>
            <a:endParaRPr lang="en-US" sz="1000" dirty="0"/>
          </a:p>
          <a:p>
            <a:pPr indent="0" marL="0">
              <a:buNone/>
            </a:pPr>
            <a:r>
              <a:rPr lang="en-US" sz="1000" dirty="0">
                <a:solidFill>
                  <a:srgbClr val="E6EDF5"/>
                </a:solidFill>
                <a:latin typeface="Consolas" pitchFamily="34" charset="0"/>
                <a:ea typeface="Consolas" pitchFamily="34" charset="-122"/>
                <a:cs typeface="Consolas" pitchFamily="34" charset="-120"/>
              </a:rPr>
              <a:t>→ f"abfss://&lt;ws&gt;@onelake…/&lt;lh&gt;/Files/{c}/x"</a:t>
            </a:r>
            <a:endParaRPr lang="en-US" sz="1000" dirty="0"/>
          </a:p>
          <a:p>
            <a:pPr indent="0" marL="0">
              <a:buNone/>
            </a:pPr>
            <a:endParaRPr lang="en-US" sz="1000" dirty="0"/>
          </a:p>
          <a:p>
            <a:pPr indent="0" marL="0">
              <a:buNone/>
            </a:pPr>
            <a:r>
              <a:rPr lang="en-US" sz="1000" dirty="0">
                <a:solidFill>
                  <a:srgbClr val="E6EDF5"/>
                </a:solidFill>
                <a:latin typeface="Consolas" pitchFamily="34" charset="0"/>
                <a:ea typeface="Consolas" pitchFamily="34" charset="-122"/>
                <a:cs typeface="Consolas" pitchFamily="34" charset="-120"/>
              </a:rPr>
              <a:t>'https://' + @Acct + '.dfs.core.windows.net/'</a:t>
            </a:r>
            <a:endParaRPr lang="en-US" sz="1000" dirty="0"/>
          </a:p>
          <a:p>
            <a:pPr indent="0" marL="0">
              <a:buNone/>
            </a:pPr>
            <a:r>
              <a:rPr lang="en-US" sz="1000" dirty="0">
                <a:solidFill>
                  <a:srgbClr val="E6EDF5"/>
                </a:solidFill>
                <a:latin typeface="Consolas" pitchFamily="34" charset="0"/>
                <a:ea typeface="Consolas" pitchFamily="34" charset="-122"/>
                <a:cs typeface="Consolas" pitchFamily="34" charset="-120"/>
              </a:rPr>
              <a:t>→ 'https://onelake…/&lt;ws&gt;/&lt;lh&gt;/Files/'</a:t>
            </a:r>
            <a:endParaRPr lang="en-US" sz="1000" dirty="0"/>
          </a:p>
        </p:txBody>
      </p:sp>
      <p:sp>
        <p:nvSpPr>
          <p:cNvPr id="13" name="Shape 11"/>
          <p:cNvSpPr/>
          <p:nvPr/>
        </p:nvSpPr>
        <p:spPr>
          <a:xfrm>
            <a:off x="548640" y="5687568"/>
            <a:ext cx="11094415" cy="512064"/>
          </a:xfrm>
          <a:prstGeom prst="roundRect">
            <a:avLst>
              <a:gd name="adj" fmla="val 21429"/>
            </a:avLst>
          </a:prstGeom>
          <a:solidFill>
            <a:schemeClr val="accent1">
              <a:alpha val="13000"/>
            </a:schemeClr>
          </a:solidFill>
          <a:ln/>
        </p:spPr>
      </p:sp>
      <p:sp>
        <p:nvSpPr>
          <p:cNvPr id="14" name="Text 12"/>
          <p:cNvSpPr txBox="1"/>
          <p:nvPr/>
        </p:nvSpPr>
        <p:spPr>
          <a:xfrm>
            <a:off x="777240" y="5687568"/>
            <a:ext cx="10637215" cy="512064"/>
          </a:xfrm>
          <a:prstGeom prst="rect">
            <a:avLst/>
          </a:prstGeom>
          <a:noFill/>
          <a:ln/>
        </p:spPr>
        <p:txBody>
          <a:bodyPr wrap="square" lIns="0" tIns="0" rIns="0" bIns="0" rtlCol="0" anchor="ctr"/>
          <a:lstStyle/>
          <a:p>
            <a:pPr indent="0" marL="0">
              <a:buNone/>
            </a:pPr>
            <a:r>
              <a:rPr lang="en-US" sz="1250" b="1" dirty="0">
                <a:solidFill>
                  <a:schemeClr val="tx2"/>
                </a:solidFill>
              </a:rPr>
              <a:t>Applies to:  </a:t>
            </a:r>
            <a:pPr indent="0" marL="0">
              <a:buNone/>
            </a:pPr>
            <a:r>
              <a:rPr lang="en-US" sz="1250" dirty="0">
                <a:solidFill>
                  <a:schemeClr val="tx1"/>
                </a:solidFill>
              </a:rPr>
              <a:t>notebooks, SQL scripts, views, procedures, functions, SQL text in pipelines, and Spark job main files (copied, then rewritten).</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66</a:t>
            </a:fld>
            <a:endParaRPr lang="en-US"/>
          </a:p>
        </p:txBody>
      </p:sp>
    </p:spTree>
  </p:cSld>
  <p:clrMapOvr>
    <a:masterClrMapping/>
  </p:clrMapOvr>
  <p:transition spd="med">
    <p:fade/>
  </p:transition>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05 · ITEM BY ITEM</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What is left for a person, and what to do</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README.md → Left for a person · preflight.py</a:t>
            </a:r>
            <a:endParaRPr lang="en-US" sz="11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548640" y="1444752"/>
          <a:ext cx="11094415" cy="914400"/>
        </p:xfrm>
        <a:graphic>
          <a:graphicData uri="http://schemas.openxmlformats.org/drawingml/2006/table">
            <a:tbl>
              <a:tblPr/>
              <a:tblGrid>
                <a:gridCol w="2971800"/>
                <a:gridCol w="3063240"/>
                <a:gridCol w="5056632"/>
              </a:tblGrid>
              <a:tr h="329184">
                <a:tc>
                  <a:txBody>
                    <a:bodyPr/>
                    <a:lstStyle/>
                    <a:p>
                      <a:pPr indent="0" marL="0">
                        <a:buNone/>
                      </a:pPr>
                      <a:r>
                        <a:rPr lang="en-US" sz="1200" b="1" dirty="0">
                          <a:solidFill>
                            <a:schemeClr val="bg1"/>
                          </a:solidFill>
                        </a:rPr>
                        <a:t>Item</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indent="0" marL="0">
                        <a:buNone/>
                      </a:pPr>
                      <a:r>
                        <a:rPr lang="en-US" sz="1200" b="1" dirty="0">
                          <a:solidFill>
                            <a:schemeClr val="bg1"/>
                          </a:solidFill>
                        </a:rPr>
                        <a:t>Why</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indent="0" marL="0">
                        <a:buNone/>
                      </a:pPr>
                      <a:r>
                        <a:rPr lang="en-US" sz="1200" b="1" dirty="0">
                          <a:solidFill>
                            <a:schemeClr val="bg1"/>
                          </a:solidFill>
                        </a:rPr>
                        <a:t>What to do</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C77C0E"/>
                    </a:solidFill>
                  </a:tcPr>
                </a:tc>
              </a:tr>
              <a:tr h="384048">
                <a:tc>
                  <a:txBody>
                    <a:bodyPr/>
                    <a:lstStyle/>
                    <a:p>
                      <a:pPr indent="0" marL="0">
                        <a:buNone/>
                      </a:pPr>
                      <a:r>
                        <a:rPr lang="en-US" sz="1200" b="1" dirty="0">
                          <a:solidFill>
                            <a:schemeClr val="tx2"/>
                          </a:solidFill>
                        </a:rPr>
                        <a:t>Integration runtimes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Fabric uses built-in compute or gateways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Install an on-premises or VNet data gateway; bind connections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chemeClr val="tx2"/>
                          </a:solidFill>
                        </a:rPr>
                        <a:t>Other linked-service types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No mapping in this build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Create the connection by hand, with the same name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84048">
                <a:tc>
                  <a:txBody>
                    <a:bodyPr/>
                    <a:lstStyle/>
                    <a:p>
                      <a:pPr indent="0" marL="0">
                        <a:buNone/>
                      </a:pPr>
                      <a:r>
                        <a:rPr lang="en-US" sz="1200" b="1" dirty="0">
                          <a:solidFill>
                            <a:schemeClr val="tx2"/>
                          </a:solidFill>
                        </a:rPr>
                        <a:t>Event, tumbling-window, monthly triggers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No schedule form</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Events: Activator; windows: a schedule with parameters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chemeClr val="tx2"/>
                          </a:solidFill>
                        </a:rPr>
                        <a:t>Mapping data flows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No Fabric form inside pipelines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Rebuild (Dataflow Gen2 or a notebook); the pipeline then migrates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84048">
                <a:tc>
                  <a:txBody>
                    <a:bodyPr/>
                    <a:lstStyle/>
                    <a:p>
                      <a:pPr indent="0" marL="0">
                        <a:buNone/>
                      </a:pPr>
                      <a:r>
                        <a:rPr lang="en-US" sz="1200" b="1" dirty="0">
                          <a:solidFill>
                            <a:schemeClr val="tx2"/>
                          </a:solidFill>
                        </a:rPr>
                        <a:t>.NET notebooks and jobs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No .NET for Spark</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Rewrite in PySpark or Scala; an LLM draft can start it</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chemeClr val="tx2"/>
                          </a:solidFill>
                        </a:rPr>
                        <a:t>Spark libraries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Synapse keeps names, not files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Upload the packages to the Environment</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84048">
                <a:tc>
                  <a:txBody>
                    <a:bodyPr/>
                    <a:lstStyle/>
                    <a:p>
                      <a:pPr indent="0" marL="0">
                        <a:buNone/>
                      </a:pPr>
                      <a:r>
                        <a:rPr lang="en-US" sz="1200" b="1" dirty="0">
                          <a:solidFill>
                            <a:schemeClr val="tx2"/>
                          </a:solidFill>
                        </a:rPr>
                        <a:t>Multi-statement functions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Not supported by the Warehouse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Accept an inline LLM rewrite, or rebuild as a view</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chemeClr val="tx2"/>
                          </a:solidFill>
                        </a:rPr>
                        <a:t>SQL users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No SQL authentication</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Choose the Entra principal; run the grants listed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84048">
                <a:tc>
                  <a:txBody>
                    <a:bodyPr/>
                    <a:lstStyle/>
                    <a:p>
                      <a:pPr indent="0" marL="0">
                        <a:buNone/>
                      </a:pPr>
                      <a:r>
                        <a:rPr lang="en-US" sz="1200" b="1" dirty="0">
                          <a:solidFill>
                            <a:schemeClr val="tx2"/>
                          </a:solidFill>
                        </a:rPr>
                        <a:t>Materialized views, sys.pdw_*, encrypted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Unsupported, or no text to read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Rewrite, or get the source from its owner</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chemeClr val="tx2"/>
                          </a:solidFill>
                        </a:rPr>
                        <a:t>Lake and serverless databases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Not discovered yet</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Shortcuts plus Delta tables in a Lakehouse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84048">
                <a:tc>
                  <a:txBody>
                    <a:bodyPr/>
                    <a:lstStyle/>
                    <a:p>
                      <a:pPr indent="0" marL="0">
                        <a:buNone/>
                      </a:pPr>
                      <a:r>
                        <a:rPr lang="en-US" sz="1200" b="1" dirty="0">
                          <a:solidFill>
                            <a:schemeClr val="tx2"/>
                          </a:solidFill>
                        </a:rPr>
                        <a:t>Networking</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Not discovered; a different model</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Managed private endpoints, private links, gateways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67</a:t>
            </a:fld>
            <a:endParaRPr lang="en-US"/>
          </a:p>
        </p:txBody>
      </p:sp>
    </p:spTree>
  </p:cSld>
  <p:clrMapOvr>
    <a:masterClrMapping/>
  </p:clrMapOvr>
  <p:transition spd="med">
    <p:fade/>
  </p:transition>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txBox="1"/>
          <p:nvPr/>
        </p:nvSpPr>
        <p:spPr>
          <a:xfrm>
            <a:off x="731520" y="1417320"/>
            <a:ext cx="2743200" cy="1371600"/>
          </a:xfrm>
          <a:prstGeom prst="rect">
            <a:avLst/>
          </a:prstGeom>
          <a:noFill/>
          <a:ln/>
        </p:spPr>
        <p:txBody>
          <a:bodyPr wrap="square" lIns="0" tIns="0" rIns="0" bIns="0" rtlCol="0" anchor="t"/>
          <a:lstStyle/>
          <a:p>
            <a:pPr indent="0" marL="0">
              <a:buNone/>
            </a:pPr>
            <a:r>
              <a:rPr lang="en-US" sz="8800" dirty="0">
                <a:solidFill>
                  <a:schemeClr val="accent5"/>
                </a:solidFill>
                <a:latin typeface="+mj-lt" pitchFamily="34" charset="0"/>
                <a:ea typeface="+mj-lt" pitchFamily="34" charset="-122"/>
                <a:cs typeface="+mj-lt" pitchFamily="34" charset="-120"/>
              </a:rPr>
              <a:t>06</a:t>
            </a:r>
            <a:endParaRPr lang="en-US" sz="8800" dirty="0"/>
          </a:p>
        </p:txBody>
      </p:sp>
      <p:sp>
        <p:nvSpPr>
          <p:cNvPr id="3" name="Shape 1"/>
          <p:cNvSpPr/>
          <p:nvPr/>
        </p:nvSpPr>
        <p:spPr>
          <a:xfrm>
            <a:off x="8549640" y="2011680"/>
            <a:ext cx="2468880" cy="2468880"/>
          </a:xfrm>
          <a:prstGeom prst="ellipse">
            <a:avLst/>
          </a:prstGeom>
          <a:solidFill>
            <a:schemeClr val="accent5">
              <a:alpha val="18000"/>
            </a:schemeClr>
          </a:solidFill>
          <a:ln/>
        </p:spPr>
      </p:sp>
      <p:pic>
        <p:nvPicPr>
          <p:cNvPr id="4" name="Image 0" descr="preencoded.png">    </p:cNvPr>
          <p:cNvPicPr>
            <a:picLocks noChangeAspect="1"/>
          </p:cNvPicPr>
          <p:nvPr/>
        </p:nvPicPr>
        <p:blipFill>
          <a:blip r:embed="rId1"/>
          <a:stretch>
            <a:fillRect/>
          </a:stretch>
        </p:blipFill>
        <p:spPr>
          <a:xfrm>
            <a:off x="9166860" y="2628900"/>
            <a:ext cx="1234440" cy="1234440"/>
          </a:xfrm>
          <a:prstGeom prst="rect">
            <a:avLst/>
          </a:prstGeom>
        </p:spPr>
      </p:pic>
      <p:sp>
        <p:nvSpPr>
          <p:cNvPr id="5" name="Text 0"/>
          <p:cNvSpPr/>
          <p:nvPr>
            <p:ph idx="100" type="title" hasCustomPrompt="1"/>
          </p:nvPr>
        </p:nvSpPr>
        <p:spPr>
          <a:xfrm>
            <a:off x="731520" y="2880360"/>
            <a:ext cx="10515600" cy="914400"/>
          </a:xfrm>
          <a:prstGeom prst="rect">
            <a:avLst/>
          </a:prstGeom>
          <a:noFill/>
          <a:ln/>
        </p:spPr>
        <p:txBody>
          <a:bodyPr wrap="square" lIns="0" tIns="0" rIns="0" bIns="0" rtlCol="0" anchor="ctr"/>
          <a:lstStyle/>
          <a:p>
            <a:pPr algn="l" indent="0" marL="0">
              <a:buNone/>
            </a:pPr>
            <a:r>
              <a:rPr lang="en-US" sz="4000" dirty="0">
                <a:solidFill>
                  <a:schemeClr val="bg1"/>
                </a:solidFill>
              </a:rPr>
              <a:t>How it works underneath</a:t>
            </a:r>
            <a:endParaRPr lang="en-US" sz="4000" dirty="0"/>
          </a:p>
        </p:txBody>
      </p:sp>
      <p:sp>
        <p:nvSpPr>
          <p:cNvPr id="6" name="Text 0"/>
          <p:cNvSpPr/>
          <p:nvPr>
            <p:ph idx="101" type="body" hasCustomPrompt="1"/>
          </p:nvPr>
        </p:nvSpPr>
        <p:spPr>
          <a:xfrm>
            <a:off x="731520" y="3840480"/>
            <a:ext cx="10515600" cy="548640"/>
          </a:xfrm>
          <a:prstGeom prst="rect">
            <a:avLst/>
          </a:prstGeom>
          <a:noFill/>
          <a:ln/>
        </p:spPr>
        <p:txBody>
          <a:bodyPr wrap="square" lIns="0" tIns="0" rIns="0" bIns="0" rtlCol="0" anchor="t"/>
          <a:lstStyle/>
          <a:p>
            <a:pPr indent="0" marL="0">
              <a:buNone/>
            </a:pPr>
            <a:r>
              <a:rPr lang="en-US" sz="2000" dirty="0">
                <a:solidFill>
                  <a:schemeClr val="accent5"/>
                </a:solidFill>
              </a:rPr>
              <a:t>The REST client, re-runs, LLM drafts, safety, state and tests</a:t>
            </a:r>
            <a:endParaRPr lang="en-US" sz="20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FB0C8"/>
                </a:solidFill>
              </a:defRPr>
            </a:lvl1pPr>
          </a:lstStyle>
          <a:p>
            <a:pPr algn="r"/>
            <a:fld id="{F7021451-1387-4CA6-816F-3879F97B5CBC}" type="slidenum">
              <a:rPr b="0" lang="en-US"/>
              <a:t>68</a:t>
            </a:fld>
            <a:endParaRPr lang="en-US"/>
          </a:p>
        </p:txBody>
      </p:sp>
    </p:spTree>
  </p:cSld>
  <p:clrMapOvr>
    <a:masterClrMapping/>
  </p:clrMapOvr>
  <p:transition spd="slow">
    <p:push dir="u"/>
  </p:transition>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06 · HOW IT WORKS UNDERNEATH</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The Fabric REST client: eight behaviours</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migration/fabric_rest.py · api/fabric.py</a:t>
            </a:r>
            <a:endParaRPr lang="en-US" sz="1100" dirty="0"/>
          </a:p>
        </p:txBody>
      </p:sp>
      <p:sp>
        <p:nvSpPr>
          <p:cNvPr id="5" name="Shape 3"/>
          <p:cNvSpPr/>
          <p:nvPr/>
        </p:nvSpPr>
        <p:spPr>
          <a:xfrm>
            <a:off x="548640" y="1481328"/>
            <a:ext cx="2602154" cy="1965960"/>
          </a:xfrm>
          <a:prstGeom prst="roundRect">
            <a:avLst>
              <a:gd name="adj" fmla="val 5581"/>
            </a:avLst>
          </a:prstGeom>
          <a:solidFill>
            <a:schemeClr val="bg2"/>
          </a:solidFill>
          <a:ln/>
        </p:spPr>
      </p:sp>
      <p:sp>
        <p:nvSpPr>
          <p:cNvPr id="6" name="Shape 4"/>
          <p:cNvSpPr/>
          <p:nvPr/>
        </p:nvSpPr>
        <p:spPr>
          <a:xfrm>
            <a:off x="749808" y="1664208"/>
            <a:ext cx="457200" cy="45720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864108" y="1778508"/>
            <a:ext cx="228600" cy="228600"/>
          </a:xfrm>
          <a:prstGeom prst="rect">
            <a:avLst/>
          </a:prstGeom>
        </p:spPr>
      </p:pic>
      <p:sp>
        <p:nvSpPr>
          <p:cNvPr id="8" name="Text 5"/>
          <p:cNvSpPr txBox="1"/>
          <p:nvPr/>
        </p:nvSpPr>
        <p:spPr>
          <a:xfrm>
            <a:off x="1335024" y="1636776"/>
            <a:ext cx="1642034" cy="512064"/>
          </a:xfrm>
          <a:prstGeom prst="rect">
            <a:avLst/>
          </a:prstGeom>
          <a:noFill/>
          <a:ln/>
        </p:spPr>
        <p:txBody>
          <a:bodyPr wrap="square" lIns="0" tIns="0" rIns="0" bIns="0" rtlCol="0" anchor="ctr"/>
          <a:lstStyle/>
          <a:p>
            <a:pPr indent="0" marL="0">
              <a:buNone/>
            </a:pPr>
            <a:r>
              <a:rPr lang="en-US" sz="1350" dirty="0">
                <a:solidFill>
                  <a:schemeClr val="tx2"/>
                </a:solidFill>
                <a:latin typeface="+mj-lt" pitchFamily="34" charset="0"/>
                <a:ea typeface="+mj-lt" pitchFamily="34" charset="-122"/>
                <a:cs typeface="+mj-lt" pitchFamily="34" charset="-120"/>
              </a:rPr>
              <a:t>One host, one version</a:t>
            </a:r>
            <a:endParaRPr lang="en-US" sz="1350" dirty="0"/>
          </a:p>
        </p:txBody>
      </p:sp>
      <p:sp>
        <p:nvSpPr>
          <p:cNvPr id="9" name="Text 6"/>
          <p:cNvSpPr txBox="1"/>
          <p:nvPr/>
        </p:nvSpPr>
        <p:spPr>
          <a:xfrm>
            <a:off x="749808" y="2231136"/>
            <a:ext cx="2218106" cy="1124712"/>
          </a:xfrm>
          <a:prstGeom prst="rect">
            <a:avLst/>
          </a:prstGeom>
          <a:noFill/>
          <a:ln/>
        </p:spPr>
        <p:txBody>
          <a:bodyPr wrap="square" lIns="0" tIns="0" rIns="0" bIns="0" rtlCol="0" anchor="t"/>
          <a:lstStyle/>
          <a:p>
            <a:pPr indent="0" marL="0">
              <a:buNone/>
            </a:pPr>
            <a:r>
              <a:rPr lang="en-US" sz="1200" dirty="0">
                <a:solidFill>
                  <a:schemeClr val="tx1"/>
                </a:solidFill>
              </a:rPr>
              <a:t>Every call goes to api.fabric.microsoft.com/v1: JSON in and out, 60 seconds per call.</a:t>
            </a:r>
            <a:endParaRPr lang="en-US" sz="1200" dirty="0"/>
          </a:p>
        </p:txBody>
      </p:sp>
      <p:sp>
        <p:nvSpPr>
          <p:cNvPr id="10" name="Shape 7"/>
          <p:cNvSpPr/>
          <p:nvPr/>
        </p:nvSpPr>
        <p:spPr>
          <a:xfrm>
            <a:off x="3379394" y="1481328"/>
            <a:ext cx="2602154" cy="1965960"/>
          </a:xfrm>
          <a:prstGeom prst="roundRect">
            <a:avLst>
              <a:gd name="adj" fmla="val 5581"/>
            </a:avLst>
          </a:prstGeom>
          <a:solidFill>
            <a:schemeClr val="bg2"/>
          </a:solidFill>
          <a:ln/>
        </p:spPr>
      </p:sp>
      <p:sp>
        <p:nvSpPr>
          <p:cNvPr id="11" name="Shape 8"/>
          <p:cNvSpPr/>
          <p:nvPr/>
        </p:nvSpPr>
        <p:spPr>
          <a:xfrm>
            <a:off x="3580562" y="1664208"/>
            <a:ext cx="457200" cy="457200"/>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3694862" y="1778508"/>
            <a:ext cx="228600" cy="228600"/>
          </a:xfrm>
          <a:prstGeom prst="rect">
            <a:avLst/>
          </a:prstGeom>
        </p:spPr>
      </p:pic>
      <p:sp>
        <p:nvSpPr>
          <p:cNvPr id="13" name="Text 9"/>
          <p:cNvSpPr txBox="1"/>
          <p:nvPr/>
        </p:nvSpPr>
        <p:spPr>
          <a:xfrm>
            <a:off x="4165778" y="1636776"/>
            <a:ext cx="1642034" cy="512064"/>
          </a:xfrm>
          <a:prstGeom prst="rect">
            <a:avLst/>
          </a:prstGeom>
          <a:noFill/>
          <a:ln/>
        </p:spPr>
        <p:txBody>
          <a:bodyPr wrap="square" lIns="0" tIns="0" rIns="0" bIns="0" rtlCol="0" anchor="ctr"/>
          <a:lstStyle/>
          <a:p>
            <a:pPr indent="0" marL="0">
              <a:buNone/>
            </a:pPr>
            <a:r>
              <a:rPr lang="en-US" sz="1350" dirty="0">
                <a:solidFill>
                  <a:schemeClr val="tx2"/>
                </a:solidFill>
                <a:latin typeface="+mj-lt" pitchFamily="34" charset="0"/>
                <a:ea typeface="+mj-lt" pitchFamily="34" charset="-122"/>
                <a:cs typeface="+mj-lt" pitchFamily="34" charset="-120"/>
              </a:rPr>
              <a:t>A token per attempt</a:t>
            </a:r>
            <a:endParaRPr lang="en-US" sz="1350" dirty="0"/>
          </a:p>
        </p:txBody>
      </p:sp>
      <p:sp>
        <p:nvSpPr>
          <p:cNvPr id="14" name="Text 10"/>
          <p:cNvSpPr txBox="1"/>
          <p:nvPr/>
        </p:nvSpPr>
        <p:spPr>
          <a:xfrm>
            <a:off x="3580562" y="2231136"/>
            <a:ext cx="2218106" cy="1124712"/>
          </a:xfrm>
          <a:prstGeom prst="rect">
            <a:avLst/>
          </a:prstGeom>
          <a:noFill/>
          <a:ln/>
        </p:spPr>
        <p:txBody>
          <a:bodyPr wrap="square" lIns="0" tIns="0" rIns="0" bIns="0" rtlCol="0" anchor="t"/>
          <a:lstStyle/>
          <a:p>
            <a:pPr indent="0" marL="0">
              <a:buNone/>
            </a:pPr>
            <a:r>
              <a:rPr lang="en-US" sz="1200" dirty="0">
                <a:solidFill>
                  <a:schemeClr val="tx1"/>
                </a:solidFill>
              </a:rPr>
              <a:t>Asked for on every attempt, never kept by the client. az tokens are cached in memory; with fab, each call runs through fab api.</a:t>
            </a:r>
            <a:endParaRPr lang="en-US" sz="1200" dirty="0"/>
          </a:p>
        </p:txBody>
      </p:sp>
      <p:sp>
        <p:nvSpPr>
          <p:cNvPr id="15" name="Shape 11"/>
          <p:cNvSpPr/>
          <p:nvPr/>
        </p:nvSpPr>
        <p:spPr>
          <a:xfrm>
            <a:off x="6210148" y="1481328"/>
            <a:ext cx="2602154" cy="1965960"/>
          </a:xfrm>
          <a:prstGeom prst="roundRect">
            <a:avLst>
              <a:gd name="adj" fmla="val 5581"/>
            </a:avLst>
          </a:prstGeom>
          <a:solidFill>
            <a:schemeClr val="bg2"/>
          </a:solidFill>
          <a:ln/>
        </p:spPr>
      </p:sp>
      <p:sp>
        <p:nvSpPr>
          <p:cNvPr id="16" name="Shape 12"/>
          <p:cNvSpPr/>
          <p:nvPr/>
        </p:nvSpPr>
        <p:spPr>
          <a:xfrm>
            <a:off x="6411316" y="1664208"/>
            <a:ext cx="457200" cy="457200"/>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6525616" y="1778508"/>
            <a:ext cx="228600" cy="228600"/>
          </a:xfrm>
          <a:prstGeom prst="rect">
            <a:avLst/>
          </a:prstGeom>
        </p:spPr>
      </p:pic>
      <p:sp>
        <p:nvSpPr>
          <p:cNvPr id="18" name="Text 13"/>
          <p:cNvSpPr txBox="1"/>
          <p:nvPr/>
        </p:nvSpPr>
        <p:spPr>
          <a:xfrm>
            <a:off x="6996532" y="1636776"/>
            <a:ext cx="1642034" cy="512064"/>
          </a:xfrm>
          <a:prstGeom prst="rect">
            <a:avLst/>
          </a:prstGeom>
          <a:noFill/>
          <a:ln/>
        </p:spPr>
        <p:txBody>
          <a:bodyPr wrap="square" lIns="0" tIns="0" rIns="0" bIns="0" rtlCol="0" anchor="ctr"/>
          <a:lstStyle/>
          <a:p>
            <a:pPr indent="0" marL="0">
              <a:buNone/>
            </a:pPr>
            <a:r>
              <a:rPr lang="en-US" sz="1350" dirty="0">
                <a:solidFill>
                  <a:schemeClr val="tx2"/>
                </a:solidFill>
                <a:latin typeface="+mj-lt" pitchFamily="34" charset="0"/>
                <a:ea typeface="+mj-lt" pitchFamily="34" charset="-122"/>
                <a:cs typeface="+mj-lt" pitchFamily="34" charset="-120"/>
              </a:rPr>
              <a:t>Long-running operations</a:t>
            </a:r>
            <a:endParaRPr lang="en-US" sz="1350" dirty="0"/>
          </a:p>
        </p:txBody>
      </p:sp>
      <p:sp>
        <p:nvSpPr>
          <p:cNvPr id="19" name="Text 14"/>
          <p:cNvSpPr txBox="1"/>
          <p:nvPr/>
        </p:nvSpPr>
        <p:spPr>
          <a:xfrm>
            <a:off x="6411316" y="2231136"/>
            <a:ext cx="2218106" cy="1124712"/>
          </a:xfrm>
          <a:prstGeom prst="rect">
            <a:avLst/>
          </a:prstGeom>
          <a:noFill/>
          <a:ln/>
        </p:spPr>
        <p:txBody>
          <a:bodyPr wrap="square" lIns="0" tIns="0" rIns="0" bIns="0" rtlCol="0" anchor="t"/>
          <a:lstStyle/>
          <a:p>
            <a:pPr indent="0" marL="0">
              <a:buNone/>
            </a:pPr>
            <a:r>
              <a:rPr lang="en-US" sz="1200" dirty="0">
                <a:solidFill>
                  <a:schemeClr val="tx1"/>
                </a:solidFill>
              </a:rPr>
              <a:t>A 202 is followed to the end: first wait 2 s, then ×1.5 up to 15 s, for up to 10 minutes; then the result is read.</a:t>
            </a:r>
            <a:endParaRPr lang="en-US" sz="1200" dirty="0"/>
          </a:p>
        </p:txBody>
      </p:sp>
      <p:sp>
        <p:nvSpPr>
          <p:cNvPr id="20" name="Shape 15"/>
          <p:cNvSpPr/>
          <p:nvPr/>
        </p:nvSpPr>
        <p:spPr>
          <a:xfrm>
            <a:off x="9040901" y="1481328"/>
            <a:ext cx="2602154" cy="1965960"/>
          </a:xfrm>
          <a:prstGeom prst="roundRect">
            <a:avLst>
              <a:gd name="adj" fmla="val 5581"/>
            </a:avLst>
          </a:prstGeom>
          <a:solidFill>
            <a:schemeClr val="bg2"/>
          </a:solidFill>
          <a:ln/>
        </p:spPr>
      </p:sp>
      <p:sp>
        <p:nvSpPr>
          <p:cNvPr id="21" name="Shape 16"/>
          <p:cNvSpPr/>
          <p:nvPr/>
        </p:nvSpPr>
        <p:spPr>
          <a:xfrm>
            <a:off x="9242069" y="1664208"/>
            <a:ext cx="457200" cy="457200"/>
          </a:xfrm>
          <a:prstGeom prst="ellipse">
            <a:avLst/>
          </a:prstGeom>
          <a:solidFill>
            <a:schemeClr val="accent1"/>
          </a:solidFill>
          <a:ln/>
        </p:spPr>
      </p:sp>
      <p:pic>
        <p:nvPicPr>
          <p:cNvPr id="22" name="Image 3" descr="preencoded.png">    </p:cNvPr>
          <p:cNvPicPr>
            <a:picLocks noChangeAspect="1"/>
          </p:cNvPicPr>
          <p:nvPr/>
        </p:nvPicPr>
        <p:blipFill>
          <a:blip r:embed="rId4"/>
          <a:stretch>
            <a:fillRect/>
          </a:stretch>
        </p:blipFill>
        <p:spPr>
          <a:xfrm>
            <a:off x="9356369" y="1778508"/>
            <a:ext cx="228600" cy="228600"/>
          </a:xfrm>
          <a:prstGeom prst="rect">
            <a:avLst/>
          </a:prstGeom>
        </p:spPr>
      </p:pic>
      <p:sp>
        <p:nvSpPr>
          <p:cNvPr id="23" name="Text 17"/>
          <p:cNvSpPr txBox="1"/>
          <p:nvPr/>
        </p:nvSpPr>
        <p:spPr>
          <a:xfrm>
            <a:off x="9827285" y="1636776"/>
            <a:ext cx="1642034" cy="512064"/>
          </a:xfrm>
          <a:prstGeom prst="rect">
            <a:avLst/>
          </a:prstGeom>
          <a:noFill/>
          <a:ln/>
        </p:spPr>
        <p:txBody>
          <a:bodyPr wrap="square" lIns="0" tIns="0" rIns="0" bIns="0" rtlCol="0" anchor="ctr"/>
          <a:lstStyle/>
          <a:p>
            <a:pPr indent="0" marL="0">
              <a:buNone/>
            </a:pPr>
            <a:r>
              <a:rPr lang="en-US" sz="1350" dirty="0">
                <a:solidFill>
                  <a:schemeClr val="tx2"/>
                </a:solidFill>
                <a:latin typeface="+mj-lt" pitchFamily="34" charset="0"/>
                <a:ea typeface="+mj-lt" pitchFamily="34" charset="-122"/>
                <a:cs typeface="+mj-lt" pitchFamily="34" charset="-120"/>
              </a:rPr>
              <a:t>Throttling</a:t>
            </a:r>
            <a:endParaRPr lang="en-US" sz="1350" dirty="0"/>
          </a:p>
        </p:txBody>
      </p:sp>
      <p:sp>
        <p:nvSpPr>
          <p:cNvPr id="24" name="Text 18"/>
          <p:cNvSpPr txBox="1"/>
          <p:nvPr/>
        </p:nvSpPr>
        <p:spPr>
          <a:xfrm>
            <a:off x="9242069" y="2231136"/>
            <a:ext cx="2218106" cy="1124712"/>
          </a:xfrm>
          <a:prstGeom prst="rect">
            <a:avLst/>
          </a:prstGeom>
          <a:noFill/>
          <a:ln/>
        </p:spPr>
        <p:txBody>
          <a:bodyPr wrap="square" lIns="0" tIns="0" rIns="0" bIns="0" rtlCol="0" anchor="t"/>
          <a:lstStyle/>
          <a:p>
            <a:pPr indent="0" marL="0">
              <a:buNone/>
            </a:pPr>
            <a:r>
              <a:rPr lang="en-US" sz="1200" dirty="0">
                <a:solidFill>
                  <a:schemeClr val="tx1"/>
                </a:solidFill>
              </a:rPr>
              <a:t>Only HTTP 429 is retried, 5 times, after Retry-After (1 to 60 s) or 5, 10, 15… s. Server errors are not retried.</a:t>
            </a:r>
            <a:endParaRPr lang="en-US" sz="1200" dirty="0"/>
          </a:p>
        </p:txBody>
      </p:sp>
      <p:sp>
        <p:nvSpPr>
          <p:cNvPr id="25" name="Shape 19"/>
          <p:cNvSpPr/>
          <p:nvPr/>
        </p:nvSpPr>
        <p:spPr>
          <a:xfrm>
            <a:off x="548640" y="3630168"/>
            <a:ext cx="2602154" cy="1965960"/>
          </a:xfrm>
          <a:prstGeom prst="roundRect">
            <a:avLst>
              <a:gd name="adj" fmla="val 5581"/>
            </a:avLst>
          </a:prstGeom>
          <a:solidFill>
            <a:schemeClr val="bg2"/>
          </a:solidFill>
          <a:ln/>
        </p:spPr>
      </p:sp>
      <p:sp>
        <p:nvSpPr>
          <p:cNvPr id="26" name="Shape 20"/>
          <p:cNvSpPr/>
          <p:nvPr/>
        </p:nvSpPr>
        <p:spPr>
          <a:xfrm>
            <a:off x="749808" y="3813048"/>
            <a:ext cx="457200" cy="457200"/>
          </a:xfrm>
          <a:prstGeom prst="ellipse">
            <a:avLst/>
          </a:prstGeom>
          <a:solidFill>
            <a:schemeClr val="accent1"/>
          </a:solidFill>
          <a:ln/>
        </p:spPr>
      </p:sp>
      <p:pic>
        <p:nvPicPr>
          <p:cNvPr id="27" name="Image 4" descr="preencoded.png">    </p:cNvPr>
          <p:cNvPicPr>
            <a:picLocks noChangeAspect="1"/>
          </p:cNvPicPr>
          <p:nvPr/>
        </p:nvPicPr>
        <p:blipFill>
          <a:blip r:embed="rId5"/>
          <a:stretch>
            <a:fillRect/>
          </a:stretch>
        </p:blipFill>
        <p:spPr>
          <a:xfrm>
            <a:off x="864108" y="3927348"/>
            <a:ext cx="228600" cy="228600"/>
          </a:xfrm>
          <a:prstGeom prst="rect">
            <a:avLst/>
          </a:prstGeom>
        </p:spPr>
      </p:pic>
      <p:sp>
        <p:nvSpPr>
          <p:cNvPr id="28" name="Text 21"/>
          <p:cNvSpPr txBox="1"/>
          <p:nvPr/>
        </p:nvSpPr>
        <p:spPr>
          <a:xfrm>
            <a:off x="1335024" y="3785616"/>
            <a:ext cx="1642034" cy="512064"/>
          </a:xfrm>
          <a:prstGeom prst="rect">
            <a:avLst/>
          </a:prstGeom>
          <a:noFill/>
          <a:ln/>
        </p:spPr>
        <p:txBody>
          <a:bodyPr wrap="square" lIns="0" tIns="0" rIns="0" bIns="0" rtlCol="0" anchor="ctr"/>
          <a:lstStyle/>
          <a:p>
            <a:pPr indent="0" marL="0">
              <a:buNone/>
            </a:pPr>
            <a:r>
              <a:rPr lang="en-US" sz="1350" dirty="0">
                <a:solidFill>
                  <a:schemeClr val="tx2"/>
                </a:solidFill>
                <a:latin typeface="+mj-lt" pitchFamily="34" charset="0"/>
                <a:ea typeface="+mj-lt" pitchFamily="34" charset="-122"/>
                <a:cs typeface="+mj-lt" pitchFamily="34" charset="-120"/>
              </a:rPr>
              <a:t>Host pinning</a:t>
            </a:r>
            <a:endParaRPr lang="en-US" sz="1350" dirty="0"/>
          </a:p>
        </p:txBody>
      </p:sp>
      <p:sp>
        <p:nvSpPr>
          <p:cNvPr id="29" name="Text 22"/>
          <p:cNvSpPr txBox="1"/>
          <p:nvPr/>
        </p:nvSpPr>
        <p:spPr>
          <a:xfrm>
            <a:off x="749808" y="4379976"/>
            <a:ext cx="2218106" cy="1124712"/>
          </a:xfrm>
          <a:prstGeom prst="rect">
            <a:avLst/>
          </a:prstGeom>
          <a:noFill/>
          <a:ln/>
        </p:spPr>
        <p:txBody>
          <a:bodyPr wrap="square" lIns="0" tIns="0" rIns="0" bIns="0" rtlCol="0" anchor="t"/>
          <a:lstStyle/>
          <a:p>
            <a:pPr indent="0" marL="0">
              <a:buNone/>
            </a:pPr>
            <a:r>
              <a:rPr lang="en-US" sz="1200" dirty="0">
                <a:solidFill>
                  <a:schemeClr val="tx1"/>
                </a:solidFill>
              </a:rPr>
              <a:t>Any other host is refused, so the token only goes to Fabric; a regional operation URL is polled through the Fabric host.</a:t>
            </a:r>
            <a:endParaRPr lang="en-US" sz="1200" dirty="0"/>
          </a:p>
        </p:txBody>
      </p:sp>
      <p:sp>
        <p:nvSpPr>
          <p:cNvPr id="30" name="Shape 23"/>
          <p:cNvSpPr/>
          <p:nvPr/>
        </p:nvSpPr>
        <p:spPr>
          <a:xfrm>
            <a:off x="3379394" y="3630168"/>
            <a:ext cx="2602154" cy="1965960"/>
          </a:xfrm>
          <a:prstGeom prst="roundRect">
            <a:avLst>
              <a:gd name="adj" fmla="val 5581"/>
            </a:avLst>
          </a:prstGeom>
          <a:solidFill>
            <a:schemeClr val="bg2"/>
          </a:solidFill>
          <a:ln/>
        </p:spPr>
      </p:sp>
      <p:sp>
        <p:nvSpPr>
          <p:cNvPr id="31" name="Shape 24"/>
          <p:cNvSpPr/>
          <p:nvPr/>
        </p:nvSpPr>
        <p:spPr>
          <a:xfrm>
            <a:off x="3580562" y="3813048"/>
            <a:ext cx="457200" cy="457200"/>
          </a:xfrm>
          <a:prstGeom prst="ellipse">
            <a:avLst/>
          </a:prstGeom>
          <a:solidFill>
            <a:schemeClr val="accent1"/>
          </a:solidFill>
          <a:ln/>
        </p:spPr>
      </p:sp>
      <p:pic>
        <p:nvPicPr>
          <p:cNvPr id="32" name="Image 5" descr="preencoded.png">    </p:cNvPr>
          <p:cNvPicPr>
            <a:picLocks noChangeAspect="1"/>
          </p:cNvPicPr>
          <p:nvPr/>
        </p:nvPicPr>
        <p:blipFill>
          <a:blip r:embed="rId6"/>
          <a:stretch>
            <a:fillRect/>
          </a:stretch>
        </p:blipFill>
        <p:spPr>
          <a:xfrm>
            <a:off x="3694862" y="3927348"/>
            <a:ext cx="228600" cy="228600"/>
          </a:xfrm>
          <a:prstGeom prst="rect">
            <a:avLst/>
          </a:prstGeom>
        </p:spPr>
      </p:pic>
      <p:sp>
        <p:nvSpPr>
          <p:cNvPr id="33" name="Text 25"/>
          <p:cNvSpPr txBox="1"/>
          <p:nvPr/>
        </p:nvSpPr>
        <p:spPr>
          <a:xfrm>
            <a:off x="4165778" y="3785616"/>
            <a:ext cx="1642034" cy="512064"/>
          </a:xfrm>
          <a:prstGeom prst="rect">
            <a:avLst/>
          </a:prstGeom>
          <a:noFill/>
          <a:ln/>
        </p:spPr>
        <p:txBody>
          <a:bodyPr wrap="square" lIns="0" tIns="0" rIns="0" bIns="0" rtlCol="0" anchor="ctr"/>
          <a:lstStyle/>
          <a:p>
            <a:pPr indent="0" marL="0">
              <a:buNone/>
            </a:pPr>
            <a:r>
              <a:rPr lang="en-US" sz="1350" dirty="0">
                <a:solidFill>
                  <a:schemeClr val="tx2"/>
                </a:solidFill>
                <a:latin typeface="+mj-lt" pitchFamily="34" charset="0"/>
                <a:ea typeface="+mj-lt" pitchFamily="34" charset="-122"/>
                <a:cs typeface="+mj-lt" pitchFamily="34" charset="-120"/>
              </a:rPr>
              <a:t>Paging</a:t>
            </a:r>
            <a:endParaRPr lang="en-US" sz="1350" dirty="0"/>
          </a:p>
        </p:txBody>
      </p:sp>
      <p:sp>
        <p:nvSpPr>
          <p:cNvPr id="34" name="Text 26"/>
          <p:cNvSpPr txBox="1"/>
          <p:nvPr/>
        </p:nvSpPr>
        <p:spPr>
          <a:xfrm>
            <a:off x="3580562" y="4379976"/>
            <a:ext cx="2218106" cy="1124712"/>
          </a:xfrm>
          <a:prstGeom prst="rect">
            <a:avLst/>
          </a:prstGeom>
          <a:noFill/>
          <a:ln/>
        </p:spPr>
        <p:txBody>
          <a:bodyPr wrap="square" lIns="0" tIns="0" rIns="0" bIns="0" rtlCol="0" anchor="t"/>
          <a:lstStyle/>
          <a:p>
            <a:pPr indent="0" marL="0">
              <a:buNone/>
            </a:pPr>
            <a:r>
              <a:rPr lang="en-US" sz="1200" dirty="0">
                <a:solidFill>
                  <a:schemeClr val="tx1"/>
                </a:solidFill>
              </a:rPr>
              <a:t>Lists follow continuationToken until there is none; a token seen twice stops the loop.</a:t>
            </a:r>
            <a:endParaRPr lang="en-US" sz="1200" dirty="0"/>
          </a:p>
        </p:txBody>
      </p:sp>
      <p:sp>
        <p:nvSpPr>
          <p:cNvPr id="35" name="Shape 27"/>
          <p:cNvSpPr/>
          <p:nvPr/>
        </p:nvSpPr>
        <p:spPr>
          <a:xfrm>
            <a:off x="6210148" y="3630168"/>
            <a:ext cx="2602154" cy="1965960"/>
          </a:xfrm>
          <a:prstGeom prst="roundRect">
            <a:avLst>
              <a:gd name="adj" fmla="val 5581"/>
            </a:avLst>
          </a:prstGeom>
          <a:solidFill>
            <a:schemeClr val="bg2"/>
          </a:solidFill>
          <a:ln/>
        </p:spPr>
      </p:sp>
      <p:sp>
        <p:nvSpPr>
          <p:cNvPr id="36" name="Shape 28"/>
          <p:cNvSpPr/>
          <p:nvPr/>
        </p:nvSpPr>
        <p:spPr>
          <a:xfrm>
            <a:off x="6411316" y="3813048"/>
            <a:ext cx="457200" cy="457200"/>
          </a:xfrm>
          <a:prstGeom prst="ellipse">
            <a:avLst/>
          </a:prstGeom>
          <a:solidFill>
            <a:schemeClr val="accent1"/>
          </a:solidFill>
          <a:ln/>
        </p:spPr>
      </p:sp>
      <p:pic>
        <p:nvPicPr>
          <p:cNvPr id="37" name="Image 6" descr="preencoded.png">    </p:cNvPr>
          <p:cNvPicPr>
            <a:picLocks noChangeAspect="1"/>
          </p:cNvPicPr>
          <p:nvPr/>
        </p:nvPicPr>
        <p:blipFill>
          <a:blip r:embed="rId7"/>
          <a:stretch>
            <a:fillRect/>
          </a:stretch>
        </p:blipFill>
        <p:spPr>
          <a:xfrm>
            <a:off x="6525616" y="3927348"/>
            <a:ext cx="228600" cy="228600"/>
          </a:xfrm>
          <a:prstGeom prst="rect">
            <a:avLst/>
          </a:prstGeom>
        </p:spPr>
      </p:pic>
      <p:sp>
        <p:nvSpPr>
          <p:cNvPr id="38" name="Text 29"/>
          <p:cNvSpPr txBox="1"/>
          <p:nvPr/>
        </p:nvSpPr>
        <p:spPr>
          <a:xfrm>
            <a:off x="6996532" y="3785616"/>
            <a:ext cx="1642034" cy="512064"/>
          </a:xfrm>
          <a:prstGeom prst="rect">
            <a:avLst/>
          </a:prstGeom>
          <a:noFill/>
          <a:ln/>
        </p:spPr>
        <p:txBody>
          <a:bodyPr wrap="square" lIns="0" tIns="0" rIns="0" bIns="0" rtlCol="0" anchor="ctr"/>
          <a:lstStyle/>
          <a:p>
            <a:pPr indent="0" marL="0">
              <a:buNone/>
            </a:pPr>
            <a:r>
              <a:rPr lang="en-US" sz="1350" dirty="0">
                <a:solidFill>
                  <a:schemeClr val="tx2"/>
                </a:solidFill>
                <a:latin typeface="+mj-lt" pitchFamily="34" charset="0"/>
                <a:ea typeface="+mj-lt" pitchFamily="34" charset="-122"/>
                <a:cs typeface="+mj-lt" pitchFamily="34" charset="-120"/>
              </a:rPr>
              <a:t>Errors in plain words</a:t>
            </a:r>
            <a:endParaRPr lang="en-US" sz="1350" dirty="0"/>
          </a:p>
        </p:txBody>
      </p:sp>
      <p:sp>
        <p:nvSpPr>
          <p:cNvPr id="39" name="Text 30"/>
          <p:cNvSpPr txBox="1"/>
          <p:nvPr/>
        </p:nvSpPr>
        <p:spPr>
          <a:xfrm>
            <a:off x="6411316" y="4379976"/>
            <a:ext cx="2218106" cy="1124712"/>
          </a:xfrm>
          <a:prstGeom prst="rect">
            <a:avLst/>
          </a:prstGeom>
          <a:noFill/>
          <a:ln/>
        </p:spPr>
        <p:txBody>
          <a:bodyPr wrap="square" lIns="0" tIns="0" rIns="0" bIns="0" rtlCol="0" anchor="t"/>
          <a:lstStyle/>
          <a:p>
            <a:pPr indent="0" marL="0">
              <a:buNone/>
            </a:pPr>
            <a:r>
              <a:rPr lang="en-US" sz="1200" dirty="0">
                <a:solidFill>
                  <a:schemeClr val="tx1"/>
                </a:solidFill>
              </a:rPr>
              <a:t>Six Fabric codes are explained (no capacity, capacity paused, no permission, Git…); 401 and 403 say Contributor is needed.</a:t>
            </a:r>
            <a:endParaRPr lang="en-US" sz="1200" dirty="0"/>
          </a:p>
        </p:txBody>
      </p:sp>
      <p:sp>
        <p:nvSpPr>
          <p:cNvPr id="40" name="Shape 31"/>
          <p:cNvSpPr/>
          <p:nvPr/>
        </p:nvSpPr>
        <p:spPr>
          <a:xfrm>
            <a:off x="9040901" y="3630168"/>
            <a:ext cx="2602154" cy="1965960"/>
          </a:xfrm>
          <a:prstGeom prst="roundRect">
            <a:avLst>
              <a:gd name="adj" fmla="val 5581"/>
            </a:avLst>
          </a:prstGeom>
          <a:solidFill>
            <a:schemeClr val="bg2"/>
          </a:solidFill>
          <a:ln/>
        </p:spPr>
      </p:sp>
      <p:sp>
        <p:nvSpPr>
          <p:cNvPr id="41" name="Shape 32"/>
          <p:cNvSpPr/>
          <p:nvPr/>
        </p:nvSpPr>
        <p:spPr>
          <a:xfrm>
            <a:off x="9242069" y="3813048"/>
            <a:ext cx="457200" cy="457200"/>
          </a:xfrm>
          <a:prstGeom prst="ellipse">
            <a:avLst/>
          </a:prstGeom>
          <a:solidFill>
            <a:schemeClr val="accent1"/>
          </a:solidFill>
          <a:ln/>
        </p:spPr>
      </p:sp>
      <p:pic>
        <p:nvPicPr>
          <p:cNvPr id="42" name="Image 7" descr="preencoded.png">    </p:cNvPr>
          <p:cNvPicPr>
            <a:picLocks noChangeAspect="1"/>
          </p:cNvPicPr>
          <p:nvPr/>
        </p:nvPicPr>
        <p:blipFill>
          <a:blip r:embed="rId8"/>
          <a:stretch>
            <a:fillRect/>
          </a:stretch>
        </p:blipFill>
        <p:spPr>
          <a:xfrm>
            <a:off x="9356369" y="3927348"/>
            <a:ext cx="228600" cy="228600"/>
          </a:xfrm>
          <a:prstGeom prst="rect">
            <a:avLst/>
          </a:prstGeom>
        </p:spPr>
      </p:pic>
      <p:sp>
        <p:nvSpPr>
          <p:cNvPr id="43" name="Text 33"/>
          <p:cNvSpPr txBox="1"/>
          <p:nvPr/>
        </p:nvSpPr>
        <p:spPr>
          <a:xfrm>
            <a:off x="9827285" y="3785616"/>
            <a:ext cx="1642034" cy="512064"/>
          </a:xfrm>
          <a:prstGeom prst="rect">
            <a:avLst/>
          </a:prstGeom>
          <a:noFill/>
          <a:ln/>
        </p:spPr>
        <p:txBody>
          <a:bodyPr wrap="square" lIns="0" tIns="0" rIns="0" bIns="0" rtlCol="0" anchor="ctr"/>
          <a:lstStyle/>
          <a:p>
            <a:pPr indent="0" marL="0">
              <a:buNone/>
            </a:pPr>
            <a:r>
              <a:rPr lang="en-US" sz="1350" dirty="0">
                <a:solidFill>
                  <a:schemeClr val="tx2"/>
                </a:solidFill>
                <a:latin typeface="+mj-lt" pitchFamily="34" charset="0"/>
                <a:ea typeface="+mj-lt" pitchFamily="34" charset="-122"/>
                <a:cs typeface="+mj-lt" pitchFamily="34" charset="-120"/>
              </a:rPr>
              <a:t>Fail fast</a:t>
            </a:r>
            <a:endParaRPr lang="en-US" sz="1350" dirty="0"/>
          </a:p>
        </p:txBody>
      </p:sp>
      <p:sp>
        <p:nvSpPr>
          <p:cNvPr id="44" name="Text 34"/>
          <p:cNvSpPr txBox="1"/>
          <p:nvPr/>
        </p:nvSpPr>
        <p:spPr>
          <a:xfrm>
            <a:off x="9242069" y="4379976"/>
            <a:ext cx="2218106" cy="1124712"/>
          </a:xfrm>
          <a:prstGeom prst="rect">
            <a:avLst/>
          </a:prstGeom>
          <a:noFill/>
          <a:ln/>
        </p:spPr>
        <p:txBody>
          <a:bodyPr wrap="square" lIns="0" tIns="0" rIns="0" bIns="0" rtlCol="0" anchor="t"/>
          <a:lstStyle/>
          <a:p>
            <a:pPr indent="0" marL="0">
              <a:buNone/>
            </a:pPr>
            <a:r>
              <a:rPr lang="en-US" sz="1200" dirty="0">
                <a:solidFill>
                  <a:schemeClr val="tx1"/>
                </a:solidFill>
              </a:rPr>
              <a:t>A workspace-level error (no capacity, paused, workspace gone, limit reached) fails every later Fabric object in the pass at once.</a:t>
            </a:r>
            <a:endParaRPr lang="en-US" sz="1200" dirty="0"/>
          </a:p>
        </p:txBody>
      </p:sp>
      <p:sp>
        <p:nvSpPr>
          <p:cNvPr id="45" name="Shape 35"/>
          <p:cNvSpPr/>
          <p:nvPr/>
        </p:nvSpPr>
        <p:spPr>
          <a:xfrm>
            <a:off x="548640" y="5715000"/>
            <a:ext cx="11094415" cy="512064"/>
          </a:xfrm>
          <a:prstGeom prst="roundRect">
            <a:avLst>
              <a:gd name="adj" fmla="val 21429"/>
            </a:avLst>
          </a:prstGeom>
          <a:solidFill>
            <a:schemeClr val="accent1">
              <a:alpha val="13000"/>
            </a:schemeClr>
          </a:solidFill>
          <a:ln/>
        </p:spPr>
      </p:sp>
      <p:sp>
        <p:nvSpPr>
          <p:cNvPr id="46" name="Text 36"/>
          <p:cNvSpPr txBox="1"/>
          <p:nvPr/>
        </p:nvSpPr>
        <p:spPr>
          <a:xfrm>
            <a:off x="777240" y="5715000"/>
            <a:ext cx="10637215" cy="512064"/>
          </a:xfrm>
          <a:prstGeom prst="rect">
            <a:avLst/>
          </a:prstGeom>
          <a:noFill/>
          <a:ln/>
        </p:spPr>
        <p:txBody>
          <a:bodyPr wrap="square" lIns="0" tIns="0" rIns="0" bIns="0" rtlCol="0" anchor="ctr"/>
          <a:lstStyle/>
          <a:p>
            <a:pPr indent="0" marL="0">
              <a:buNone/>
            </a:pPr>
            <a:r>
              <a:rPr lang="en-US" sz="1250" b="1" dirty="0">
                <a:solidFill>
                  <a:schemeClr val="tx2"/>
                </a:solidFill>
              </a:rPr>
              <a:t>Other clocks:  </a:t>
            </a:r>
            <a:pPr indent="0" marL="0">
              <a:buNone/>
            </a:pPr>
            <a:r>
              <a:rPr lang="en-US" sz="1250" dirty="0">
                <a:solidFill>
                  <a:schemeClr val="tx1"/>
                </a:solidFill>
              </a:rPr>
              <a:t>az and fab calls 60 s · new Warehouse endpoint 20 checks, 3 s apart · OneLake 120 s · pipeline runs every 20 s, up to 6 hours.</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69</a:t>
            </a:fld>
            <a:endParaRPr lang="en-US"/>
          </a:p>
        </p:txBody>
      </p:sp>
    </p:spTree>
  </p:cSld>
  <p:clrMapOvr>
    <a:masterClrMapping/>
  </p:clrMapOvr>
  <p:transition spd="med">
    <p:fade/>
  </p:transition>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06 · HOW IT WORKS UNDERNEATH</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Re-runs: skip or update what is already in Fabric</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stages_fabric.py · runner.py · api/migration.py</a:t>
            </a:r>
            <a:endParaRPr lang="en-US" sz="11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788920"/>
                <a:gridCol w="3794760"/>
                <a:gridCol w="4507992"/>
              </a:tblGrid>
              <a:tr h="329184">
                <a:tc>
                  <a:txBody>
                    <a:bodyPr/>
                    <a:lstStyle/>
                    <a:p>
                      <a:pPr indent="0" marL="0">
                        <a:buNone/>
                      </a:pPr>
                      <a:r>
                        <a:rPr lang="en-US" sz="1200" b="1" dirty="0">
                          <a:solidFill>
                            <a:schemeClr val="bg1"/>
                          </a:solidFill>
                        </a:rPr>
                        <a:t>Already in Fabric</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indent="0" marL="0">
                        <a:buNone/>
                      </a:pPr>
                      <a:r>
                        <a:rPr lang="en-US" sz="1200" b="1" dirty="0">
                          <a:solidFill>
                            <a:schemeClr val="bg1"/>
                          </a:solidFill>
                        </a:rPr>
                        <a:t>Skip (the default)</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5D6B82"/>
                    </a:solidFill>
                  </a:tcPr>
                </a:tc>
                <a:tc>
                  <a:txBody>
                    <a:bodyPr/>
                    <a:lstStyle/>
                    <a:p>
                      <a:pPr indent="0" marL="0">
                        <a:buNone/>
                      </a:pPr>
                      <a:r>
                        <a:rPr lang="en-US" sz="1200" b="1" dirty="0">
                          <a:solidFill>
                            <a:schemeClr val="bg1"/>
                          </a:solidFill>
                        </a:rPr>
                        <a:t>Update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7F70"/>
                    </a:solidFill>
                  </a:tcPr>
                </a:tc>
              </a:tr>
              <a:tr h="402336">
                <a:tc>
                  <a:txBody>
                    <a:bodyPr/>
                    <a:lstStyle/>
                    <a:p>
                      <a:pPr indent="0" marL="0">
                        <a:buNone/>
                      </a:pPr>
                      <a:r>
                        <a:rPr lang="en-US" sz="1200" b="1" dirty="0">
                          <a:solidFill>
                            <a:schemeClr val="tx2"/>
                          </a:solidFill>
                        </a:rPr>
                        <a:t>Warehouse, schema, Lakehouse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Reused as it is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The same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chemeClr val="tx2"/>
                          </a:solidFill>
                        </a:rPr>
                        <a:t>Table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Skipped; masks it lacks are added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The same: a table is never replaced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402336">
                <a:tc>
                  <a:txBody>
                    <a:bodyPr/>
                    <a:lstStyle/>
                    <a:p>
                      <a:pPr indent="0" marL="0">
                        <a:buNone/>
                      </a:pPr>
                      <a:r>
                        <a:rPr lang="en-US" sz="1200" b="1" dirty="0">
                          <a:solidFill>
                            <a:schemeClr val="tx2"/>
                          </a:solidFill>
                        </a:rPr>
                        <a:t>View, procedure, function</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Skipped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CREATE OR ALTER: the old one stays if Fabric rejects the new</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chemeClr val="tx2"/>
                          </a:solidFill>
                        </a:rPr>
                        <a:t>Roles and permissions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Missing roles created; members and grants applied again</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The same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402336">
                <a:tc>
                  <a:txBody>
                    <a:bodyPr/>
                    <a:lstStyle/>
                    <a:p>
                      <a:pPr indent="0" marL="0">
                        <a:buNone/>
                      </a:pPr>
                      <a:r>
                        <a:rPr lang="en-US" sz="1200" b="1" dirty="0">
                          <a:solidFill>
                            <a:schemeClr val="tx2"/>
                          </a:solidFill>
                        </a:rPr>
                        <a:t>Notebook, pipeline, Spark job, SQL script</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Skipped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updateDefinition: same id, so callers and schedules keep working</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chemeClr val="tx2"/>
                          </a:solidFill>
                        </a:rPr>
                        <a:t>Spark pool and Environment</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Skipped; the pool is created only if missing</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Skipped: there is no update path</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402336">
                <a:tc>
                  <a:txBody>
                    <a:bodyPr/>
                    <a:lstStyle/>
                    <a:p>
                      <a:pPr indent="0" marL="0">
                        <a:buNone/>
                      </a:pPr>
                      <a:r>
                        <a:rPr lang="en-US" sz="1200" b="1" dirty="0">
                          <a:solidFill>
                            <a:schemeClr val="tx2"/>
                          </a:solidFill>
                        </a:rPr>
                        <a:t>Connection</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Skipped when the name exists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Skipped: never updated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chemeClr val="tx2"/>
                          </a:solidFill>
                        </a:rPr>
                        <a:t>Schedule, shortcut</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Left alone when one exists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The same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402336">
                <a:tc>
                  <a:txBody>
                    <a:bodyPr/>
                    <a:lstStyle/>
                    <a:p>
                      <a:pPr indent="0" marL="0">
                        <a:buNone/>
                      </a:pPr>
                      <a:r>
                        <a:rPr lang="en-US" sz="1200" b="1" dirty="0">
                          <a:solidFill>
                            <a:schemeClr val="tx2"/>
                          </a:solidFill>
                        </a:rPr>
                        <a:t>Wave and sync pipelines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Reused; each run passes its own table list</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The same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5559552"/>
            <a:ext cx="11094415" cy="658368"/>
          </a:xfrm>
          <a:prstGeom prst="roundRect">
            <a:avLst>
              <a:gd name="adj" fmla="val 16667"/>
            </a:avLst>
          </a:prstGeom>
          <a:solidFill>
            <a:schemeClr val="accent1">
              <a:alpha val="13000"/>
            </a:schemeClr>
          </a:solidFill>
          <a:ln/>
        </p:spPr>
      </p:sp>
      <p:sp>
        <p:nvSpPr>
          <p:cNvPr id="7" name="Text 4"/>
          <p:cNvSpPr txBox="1"/>
          <p:nvPr/>
        </p:nvSpPr>
        <p:spPr>
          <a:xfrm>
            <a:off x="777240" y="5559552"/>
            <a:ext cx="10637215" cy="658368"/>
          </a:xfrm>
          <a:prstGeom prst="rect">
            <a:avLst/>
          </a:prstGeom>
          <a:noFill/>
          <a:ln/>
        </p:spPr>
        <p:txBody>
          <a:bodyPr wrap="square" lIns="0" tIns="0" rIns="0" bIns="0" rtlCol="0" anchor="ctr"/>
          <a:lstStyle/>
          <a:p>
            <a:pPr indent="0" marL="0">
              <a:buNone/>
            </a:pPr>
            <a:r>
              <a:rPr lang="en-US" sz="1250" b="1" dirty="0">
                <a:solidFill>
                  <a:schemeClr val="tx2"/>
                </a:solidFill>
              </a:rPr>
              <a:t>Table rows have their own option:  </a:t>
            </a:r>
            <a:pPr indent="0" marL="0">
              <a:buNone/>
            </a:pPr>
            <a:r>
              <a:rPr lang="en-US" sz="1250" dirty="0">
                <a:solidFill>
                  <a:schemeClr val="tx1"/>
                </a:solidFill>
              </a:rPr>
              <a:t>Skip it (safe) or Replace it (TRUNCATE, then load). Run controls: Pause after the current object · Resume · Retry failed, with the same settings · Reset forgets the run, not what is in Fabric.</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70</a:t>
            </a:fld>
            <a:endParaRPr lang="en-US"/>
          </a:p>
        </p:txBody>
      </p:sp>
    </p:spTree>
  </p:cSld>
  <p:clrMapOvr>
    <a:masterClrMapping/>
  </p:clrMapOvr>
  <p:transition spd="med">
    <p:fade/>
  </p:transition>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06 · HOW IT WORKS UNDERNEATH</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LLM drafts: how a transform is made</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llm/ · api/transform.py · prompts/transform/</a:t>
            </a:r>
            <a:endParaRPr lang="en-US" sz="1100" dirty="0"/>
          </a:p>
        </p:txBody>
      </p:sp>
      <p:sp>
        <p:nvSpPr>
          <p:cNvPr id="5" name="Shape 3"/>
          <p:cNvSpPr/>
          <p:nvPr/>
        </p:nvSpPr>
        <p:spPr>
          <a:xfrm>
            <a:off x="548640" y="1481328"/>
            <a:ext cx="1999427" cy="1481328"/>
          </a:xfrm>
          <a:prstGeom prst="roundRect">
            <a:avLst>
              <a:gd name="adj" fmla="val 7407"/>
            </a:avLst>
          </a:prstGeom>
          <a:solidFill>
            <a:schemeClr val="bg2"/>
          </a:solidFill>
          <a:ln/>
        </p:spPr>
      </p:sp>
      <p:sp>
        <p:nvSpPr>
          <p:cNvPr id="6" name="Text 4"/>
          <p:cNvSpPr txBox="1"/>
          <p:nvPr/>
        </p:nvSpPr>
        <p:spPr>
          <a:xfrm>
            <a:off x="685800" y="1591056"/>
            <a:ext cx="1770827" cy="438912"/>
          </a:xfrm>
          <a:prstGeom prst="rect">
            <a:avLst/>
          </a:prstGeom>
          <a:noFill/>
          <a:ln/>
        </p:spPr>
        <p:txBody>
          <a:bodyPr wrap="square" lIns="0" tIns="0" rIns="0" bIns="0" rtlCol="0" anchor="ctr"/>
          <a:lstStyle/>
          <a:p>
            <a:pPr indent="0" marL="0">
              <a:buNone/>
            </a:pPr>
            <a:r>
              <a:rPr lang="en-US" sz="1350" dirty="0">
                <a:solidFill>
                  <a:schemeClr val="tx2"/>
                </a:solidFill>
                <a:latin typeface="+mj-lt" pitchFamily="34" charset="0"/>
                <a:ea typeface="+mj-lt" pitchFamily="34" charset="-122"/>
                <a:cs typeface="+mj-lt" pitchFamily="34" charset="-120"/>
              </a:rPr>
              <a:t>1 Choose</a:t>
            </a:r>
            <a:endParaRPr lang="en-US" sz="1350" dirty="0"/>
          </a:p>
        </p:txBody>
      </p:sp>
      <p:sp>
        <p:nvSpPr>
          <p:cNvPr id="7" name="Text 5"/>
          <p:cNvSpPr txBox="1"/>
          <p:nvPr/>
        </p:nvSpPr>
        <p:spPr>
          <a:xfrm>
            <a:off x="685800" y="2048256"/>
            <a:ext cx="1725107" cy="841248"/>
          </a:xfrm>
          <a:prstGeom prst="rect">
            <a:avLst/>
          </a:prstGeom>
          <a:noFill/>
          <a:ln/>
        </p:spPr>
        <p:txBody>
          <a:bodyPr wrap="square" lIns="0" tIns="0" rIns="0" bIns="0" rtlCol="0" anchor="t"/>
          <a:lstStyle/>
          <a:p>
            <a:pPr indent="0" marL="0">
              <a:buNone/>
            </a:pPr>
            <a:r>
              <a:rPr lang="en-US" sz="1150" dirty="0">
                <a:solidFill>
                  <a:schemeClr val="tx1"/>
                </a:solidFill>
              </a:rPr>
              <a:t>Assess → LLM transforms: problem objects first; tick, Generate drafts</a:t>
            </a:r>
            <a:endParaRPr lang="en-US" sz="1150" dirty="0"/>
          </a:p>
        </p:txBody>
      </p:sp>
      <p:sp>
        <p:nvSpPr>
          <p:cNvPr id="8" name="Shape 6"/>
          <p:cNvSpPr/>
          <p:nvPr/>
        </p:nvSpPr>
        <p:spPr>
          <a:xfrm>
            <a:off x="2593787" y="2221992"/>
            <a:ext cx="182880" cy="91"/>
          </a:xfrm>
          <a:prstGeom prst="line">
            <a:avLst/>
          </a:prstGeom>
          <a:noFill/>
          <a:ln w="19050">
            <a:solidFill>
              <a:srgbClr val="5D6B82"/>
            </a:solidFill>
            <a:prstDash val="solid"/>
            <a:tailEnd type="triangle"/>
          </a:ln>
        </p:spPr>
      </p:sp>
      <p:sp>
        <p:nvSpPr>
          <p:cNvPr id="9" name="Shape 7"/>
          <p:cNvSpPr/>
          <p:nvPr/>
        </p:nvSpPr>
        <p:spPr>
          <a:xfrm>
            <a:off x="2822387" y="1481328"/>
            <a:ext cx="1999427" cy="1481328"/>
          </a:xfrm>
          <a:prstGeom prst="roundRect">
            <a:avLst>
              <a:gd name="adj" fmla="val 7407"/>
            </a:avLst>
          </a:prstGeom>
          <a:solidFill>
            <a:schemeClr val="bg2"/>
          </a:solidFill>
          <a:ln/>
        </p:spPr>
      </p:sp>
      <p:sp>
        <p:nvSpPr>
          <p:cNvPr id="10" name="Text 8"/>
          <p:cNvSpPr txBox="1"/>
          <p:nvPr/>
        </p:nvSpPr>
        <p:spPr>
          <a:xfrm>
            <a:off x="2959547" y="1591056"/>
            <a:ext cx="1770827" cy="438912"/>
          </a:xfrm>
          <a:prstGeom prst="rect">
            <a:avLst/>
          </a:prstGeom>
          <a:noFill/>
          <a:ln/>
        </p:spPr>
        <p:txBody>
          <a:bodyPr wrap="square" lIns="0" tIns="0" rIns="0" bIns="0" rtlCol="0" anchor="ctr"/>
          <a:lstStyle/>
          <a:p>
            <a:pPr indent="0" marL="0">
              <a:buNone/>
            </a:pPr>
            <a:r>
              <a:rPr lang="en-US" sz="1350" dirty="0">
                <a:solidFill>
                  <a:schemeClr val="tx2"/>
                </a:solidFill>
                <a:latin typeface="+mj-lt" pitchFamily="34" charset="0"/>
                <a:ea typeface="+mj-lt" pitchFamily="34" charset="-122"/>
                <a:cs typeface="+mj-lt" pitchFamily="34" charset="-120"/>
              </a:rPr>
              <a:t>2 Prompt</a:t>
            </a:r>
            <a:endParaRPr lang="en-US" sz="1350" dirty="0"/>
          </a:p>
        </p:txBody>
      </p:sp>
      <p:sp>
        <p:nvSpPr>
          <p:cNvPr id="11" name="Text 9"/>
          <p:cNvSpPr txBox="1"/>
          <p:nvPr/>
        </p:nvSpPr>
        <p:spPr>
          <a:xfrm>
            <a:off x="2959547" y="2048256"/>
            <a:ext cx="1725107" cy="841248"/>
          </a:xfrm>
          <a:prstGeom prst="rect">
            <a:avLst/>
          </a:prstGeom>
          <a:noFill/>
          <a:ln/>
        </p:spPr>
        <p:txBody>
          <a:bodyPr wrap="square" lIns="0" tIns="0" rIns="0" bIns="0" rtlCol="0" anchor="t"/>
          <a:lstStyle/>
          <a:p>
            <a:pPr indent="0" marL="0">
              <a:buNone/>
            </a:pPr>
            <a:r>
              <a:rPr lang="en-US" sz="1150" dirty="0">
                <a:solidFill>
                  <a:schemeClr val="tx1"/>
                </a:solidFill>
              </a:rPr>
              <a:t>base.md, the kind's file, project.md: source, rules' output, findings, dependencies</a:t>
            </a:r>
            <a:endParaRPr lang="en-US" sz="1150" dirty="0"/>
          </a:p>
        </p:txBody>
      </p:sp>
      <p:sp>
        <p:nvSpPr>
          <p:cNvPr id="12" name="Shape 10"/>
          <p:cNvSpPr/>
          <p:nvPr/>
        </p:nvSpPr>
        <p:spPr>
          <a:xfrm>
            <a:off x="4867534" y="2221992"/>
            <a:ext cx="182880" cy="91"/>
          </a:xfrm>
          <a:prstGeom prst="line">
            <a:avLst/>
          </a:prstGeom>
          <a:noFill/>
          <a:ln w="19050">
            <a:solidFill>
              <a:srgbClr val="5D6B82"/>
            </a:solidFill>
            <a:prstDash val="solid"/>
            <a:tailEnd type="triangle"/>
          </a:ln>
        </p:spPr>
      </p:sp>
      <p:sp>
        <p:nvSpPr>
          <p:cNvPr id="13" name="Shape 11"/>
          <p:cNvSpPr/>
          <p:nvPr/>
        </p:nvSpPr>
        <p:spPr>
          <a:xfrm>
            <a:off x="5096134" y="1481328"/>
            <a:ext cx="1999427" cy="1481328"/>
          </a:xfrm>
          <a:prstGeom prst="roundRect">
            <a:avLst>
              <a:gd name="adj" fmla="val 7407"/>
            </a:avLst>
          </a:prstGeom>
          <a:solidFill>
            <a:schemeClr val="bg2"/>
          </a:solidFill>
          <a:ln/>
        </p:spPr>
      </p:sp>
      <p:sp>
        <p:nvSpPr>
          <p:cNvPr id="14" name="Text 12"/>
          <p:cNvSpPr txBox="1"/>
          <p:nvPr/>
        </p:nvSpPr>
        <p:spPr>
          <a:xfrm>
            <a:off x="5233294" y="1591056"/>
            <a:ext cx="1770827" cy="438912"/>
          </a:xfrm>
          <a:prstGeom prst="rect">
            <a:avLst/>
          </a:prstGeom>
          <a:noFill/>
          <a:ln/>
        </p:spPr>
        <p:txBody>
          <a:bodyPr wrap="square" lIns="0" tIns="0" rIns="0" bIns="0" rtlCol="0" anchor="ctr"/>
          <a:lstStyle/>
          <a:p>
            <a:pPr indent="0" marL="0">
              <a:buNone/>
            </a:pPr>
            <a:r>
              <a:rPr lang="en-US" sz="1350" dirty="0">
                <a:solidFill>
                  <a:schemeClr val="tx2"/>
                </a:solidFill>
                <a:latin typeface="+mj-lt" pitchFamily="34" charset="0"/>
                <a:ea typeface="+mj-lt" pitchFamily="34" charset="-122"/>
                <a:cs typeface="+mj-lt" pitchFamily="34" charset="-120"/>
              </a:rPr>
              <a:t>3 Claude Code</a:t>
            </a:r>
            <a:endParaRPr lang="en-US" sz="1350" dirty="0"/>
          </a:p>
        </p:txBody>
      </p:sp>
      <p:sp>
        <p:nvSpPr>
          <p:cNvPr id="15" name="Text 13"/>
          <p:cNvSpPr txBox="1"/>
          <p:nvPr/>
        </p:nvSpPr>
        <p:spPr>
          <a:xfrm>
            <a:off x="5233294" y="2048256"/>
            <a:ext cx="1725107" cy="841248"/>
          </a:xfrm>
          <a:prstGeom prst="rect">
            <a:avLst/>
          </a:prstGeom>
          <a:noFill/>
          <a:ln/>
        </p:spPr>
        <p:txBody>
          <a:bodyPr wrap="square" lIns="0" tIns="0" rIns="0" bIns="0" rtlCol="0" anchor="t"/>
          <a:lstStyle/>
          <a:p>
            <a:pPr indent="0" marL="0">
              <a:buNone/>
            </a:pPr>
            <a:r>
              <a:rPr lang="en-US" sz="1150" dirty="0">
                <a:solidFill>
                  <a:schemeClr val="tx1"/>
                </a:solidFill>
              </a:rPr>
              <a:t>claude -p with tools off, in an empty folder; a JSON answer; 180 s</a:t>
            </a:r>
            <a:endParaRPr lang="en-US" sz="1150" dirty="0"/>
          </a:p>
        </p:txBody>
      </p:sp>
      <p:sp>
        <p:nvSpPr>
          <p:cNvPr id="16" name="Shape 14"/>
          <p:cNvSpPr/>
          <p:nvPr/>
        </p:nvSpPr>
        <p:spPr>
          <a:xfrm>
            <a:off x="7141281" y="2221992"/>
            <a:ext cx="182880" cy="91"/>
          </a:xfrm>
          <a:prstGeom prst="line">
            <a:avLst/>
          </a:prstGeom>
          <a:noFill/>
          <a:ln w="19050">
            <a:solidFill>
              <a:srgbClr val="5D6B82"/>
            </a:solidFill>
            <a:prstDash val="solid"/>
            <a:tailEnd type="triangle"/>
          </a:ln>
        </p:spPr>
      </p:sp>
      <p:sp>
        <p:nvSpPr>
          <p:cNvPr id="17" name="Shape 15"/>
          <p:cNvSpPr/>
          <p:nvPr/>
        </p:nvSpPr>
        <p:spPr>
          <a:xfrm>
            <a:off x="7369881" y="1481328"/>
            <a:ext cx="1999427" cy="1481328"/>
          </a:xfrm>
          <a:prstGeom prst="roundRect">
            <a:avLst>
              <a:gd name="adj" fmla="val 7407"/>
            </a:avLst>
          </a:prstGeom>
          <a:solidFill>
            <a:schemeClr val="bg2"/>
          </a:solidFill>
          <a:ln/>
        </p:spPr>
      </p:sp>
      <p:sp>
        <p:nvSpPr>
          <p:cNvPr id="18" name="Text 16"/>
          <p:cNvSpPr txBox="1"/>
          <p:nvPr/>
        </p:nvSpPr>
        <p:spPr>
          <a:xfrm>
            <a:off x="7507041" y="1591056"/>
            <a:ext cx="1770827" cy="438912"/>
          </a:xfrm>
          <a:prstGeom prst="rect">
            <a:avLst/>
          </a:prstGeom>
          <a:noFill/>
          <a:ln/>
        </p:spPr>
        <p:txBody>
          <a:bodyPr wrap="square" lIns="0" tIns="0" rIns="0" bIns="0" rtlCol="0" anchor="ctr"/>
          <a:lstStyle/>
          <a:p>
            <a:pPr indent="0" marL="0">
              <a:buNone/>
            </a:pPr>
            <a:r>
              <a:rPr lang="en-US" sz="1350" dirty="0">
                <a:solidFill>
                  <a:schemeClr val="tx2"/>
                </a:solidFill>
                <a:latin typeface="+mj-lt" pitchFamily="34" charset="0"/>
                <a:ea typeface="+mj-lt" pitchFamily="34" charset="-122"/>
                <a:cs typeface="+mj-lt" pitchFamily="34" charset="-120"/>
              </a:rPr>
              <a:t>4 Check</a:t>
            </a:r>
            <a:endParaRPr lang="en-US" sz="1350" dirty="0"/>
          </a:p>
        </p:txBody>
      </p:sp>
      <p:sp>
        <p:nvSpPr>
          <p:cNvPr id="19" name="Text 17"/>
          <p:cNvSpPr txBox="1"/>
          <p:nvPr/>
        </p:nvSpPr>
        <p:spPr>
          <a:xfrm>
            <a:off x="7507041" y="2048256"/>
            <a:ext cx="1725107" cy="841248"/>
          </a:xfrm>
          <a:prstGeom prst="rect">
            <a:avLst/>
          </a:prstGeom>
          <a:noFill/>
          <a:ln/>
        </p:spPr>
        <p:txBody>
          <a:bodyPr wrap="square" lIns="0" tIns="0" rIns="0" bIns="0" rtlCol="0" anchor="t"/>
          <a:lstStyle/>
          <a:p>
            <a:pPr indent="0" marL="0">
              <a:buNone/>
            </a:pPr>
            <a:r>
              <a:rPr lang="en-US" sz="1150" dirty="0">
                <a:solidFill>
                  <a:schemeClr val="tx1"/>
                </a:solidFill>
              </a:rPr>
              <a:t>13 automatic checks; an error blocks acceptance</a:t>
            </a:r>
            <a:endParaRPr lang="en-US" sz="1150" dirty="0"/>
          </a:p>
        </p:txBody>
      </p:sp>
      <p:sp>
        <p:nvSpPr>
          <p:cNvPr id="20" name="Shape 18"/>
          <p:cNvSpPr/>
          <p:nvPr/>
        </p:nvSpPr>
        <p:spPr>
          <a:xfrm>
            <a:off x="9415028" y="2221992"/>
            <a:ext cx="182880" cy="91"/>
          </a:xfrm>
          <a:prstGeom prst="line">
            <a:avLst/>
          </a:prstGeom>
          <a:noFill/>
          <a:ln w="19050">
            <a:solidFill>
              <a:srgbClr val="5D6B82"/>
            </a:solidFill>
            <a:prstDash val="solid"/>
            <a:tailEnd type="triangle"/>
          </a:ln>
        </p:spPr>
      </p:sp>
      <p:sp>
        <p:nvSpPr>
          <p:cNvPr id="21" name="Shape 19"/>
          <p:cNvSpPr/>
          <p:nvPr/>
        </p:nvSpPr>
        <p:spPr>
          <a:xfrm>
            <a:off x="9643628" y="1481328"/>
            <a:ext cx="1999427" cy="1481328"/>
          </a:xfrm>
          <a:prstGeom prst="roundRect">
            <a:avLst>
              <a:gd name="adj" fmla="val 7407"/>
            </a:avLst>
          </a:prstGeom>
          <a:solidFill>
            <a:schemeClr val="bg2"/>
          </a:solidFill>
          <a:ln/>
        </p:spPr>
      </p:sp>
      <p:sp>
        <p:nvSpPr>
          <p:cNvPr id="22" name="Text 20"/>
          <p:cNvSpPr txBox="1"/>
          <p:nvPr/>
        </p:nvSpPr>
        <p:spPr>
          <a:xfrm>
            <a:off x="9780788" y="1591056"/>
            <a:ext cx="1770827" cy="438912"/>
          </a:xfrm>
          <a:prstGeom prst="rect">
            <a:avLst/>
          </a:prstGeom>
          <a:noFill/>
          <a:ln/>
        </p:spPr>
        <p:txBody>
          <a:bodyPr wrap="square" lIns="0" tIns="0" rIns="0" bIns="0" rtlCol="0" anchor="ctr"/>
          <a:lstStyle/>
          <a:p>
            <a:pPr indent="0" marL="0">
              <a:buNone/>
            </a:pPr>
            <a:r>
              <a:rPr lang="en-US" sz="1350" dirty="0">
                <a:solidFill>
                  <a:schemeClr val="tx2"/>
                </a:solidFill>
                <a:latin typeface="+mj-lt" pitchFamily="34" charset="0"/>
                <a:ea typeface="+mj-lt" pitchFamily="34" charset="-122"/>
                <a:cs typeface="+mj-lt" pitchFamily="34" charset="-120"/>
              </a:rPr>
              <a:t>5 Review</a:t>
            </a:r>
            <a:endParaRPr lang="en-US" sz="1350" dirty="0"/>
          </a:p>
        </p:txBody>
      </p:sp>
      <p:sp>
        <p:nvSpPr>
          <p:cNvPr id="23" name="Text 21"/>
          <p:cNvSpPr txBox="1"/>
          <p:nvPr/>
        </p:nvSpPr>
        <p:spPr>
          <a:xfrm>
            <a:off x="9780788" y="2048256"/>
            <a:ext cx="1725107" cy="841248"/>
          </a:xfrm>
          <a:prstGeom prst="rect">
            <a:avLst/>
          </a:prstGeom>
          <a:noFill/>
          <a:ln/>
        </p:spPr>
        <p:txBody>
          <a:bodyPr wrap="square" lIns="0" tIns="0" rIns="0" bIns="0" rtlCol="0" anchor="t"/>
          <a:lstStyle/>
          <a:p>
            <a:pPr indent="0" marL="0">
              <a:buNone/>
            </a:pPr>
            <a:r>
              <a:rPr lang="en-US" sz="1150" dirty="0">
                <a:solidFill>
                  <a:schemeClr val="tx1"/>
                </a:solidFill>
              </a:rPr>
              <a:t>Draft, source and rules' output side by side; accept, edit, discard</a:t>
            </a:r>
            <a:endParaRPr lang="en-US" sz="115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548640" y="3182112"/>
          <a:ext cx="11094415" cy="914400"/>
        </p:xfrm>
        <a:graphic>
          <a:graphicData uri="http://schemas.openxmlformats.org/drawingml/2006/table">
            <a:tbl>
              <a:tblPr/>
              <a:tblGrid>
                <a:gridCol w="1965960"/>
                <a:gridCol w="9125712"/>
              </a:tblGrid>
              <a:tr h="310896">
                <a:tc>
                  <a:txBody>
                    <a:bodyPr/>
                    <a:lstStyle/>
                    <a:p>
                      <a:pPr indent="0" marL="0">
                        <a:buNone/>
                      </a:pPr>
                      <a:r>
                        <a:rPr lang="en-US" sz="1200" b="1" dirty="0">
                          <a:solidFill>
                            <a:schemeClr val="bg1"/>
                          </a:solidFill>
                        </a:rPr>
                        <a:t>Kind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indent="0" marL="0">
                        <a:buNone/>
                      </a:pPr>
                      <a:r>
                        <a:rPr lang="en-US" sz="1200" b="1" dirty="0">
                          <a:solidFill>
                            <a:schemeClr val="bg1"/>
                          </a:solidFill>
                        </a:rPr>
                        <a:t>What the draft is</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r>
              <a:tr h="365760">
                <a:tc>
                  <a:txBody>
                    <a:bodyPr/>
                    <a:lstStyle/>
                    <a:p>
                      <a:pPr indent="0" marL="0">
                        <a:buNone/>
                      </a:pPr>
                      <a:r>
                        <a:rPr lang="en-US" sz="1200" b="1" dirty="0">
                          <a:solidFill>
                            <a:schemeClr val="tx2"/>
                          </a:solidFill>
                        </a:rPr>
                        <a:t>Stored procedure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A full CREATE PROCEDURE: pool-only options and sys.pdw_* removed, MERGE and ##temp tables rewritten, snapshot isolation</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chemeClr val="tx2"/>
                          </a:solidFill>
                        </a:rPr>
                        <a:t>View</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CREATE VIEW: a materialized view becomes a plain view; locking hints removed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65760">
                <a:tc>
                  <a:txBody>
                    <a:bodyPr/>
                    <a:lstStyle/>
                    <a:p>
                      <a:pPr indent="0" marL="0">
                        <a:buNone/>
                      </a:pPr>
                      <a:r>
                        <a:rPr lang="en-US" sz="1200" b="1" dirty="0">
                          <a:solidFill>
                            <a:schemeClr val="tx2"/>
                          </a:solidFill>
                        </a:rPr>
                        <a:t>Table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An empty CREATE TABLE with the rules' type mapping, without keys (and, by its prompt, without IDENTITY)</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chemeClr val="tx2"/>
                          </a:solidFill>
                        </a:rPr>
                        <a:t>Function</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Scalar or inline table-valued; a multi-statement function becomes one inline SELECT</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65760">
                <a:tc>
                  <a:txBody>
                    <a:bodyPr/>
                    <a:lstStyle/>
                    <a:p>
                      <a:pPr indent="0" marL="0">
                        <a:buNone/>
                      </a:pPr>
                      <a:r>
                        <a:rPr lang="en-US" sz="1200" b="1" dirty="0">
                          <a:solidFill>
                            <a:schemeClr val="tx2"/>
                          </a:solidFill>
                        </a:rPr>
                        <a:t>SQL script</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T-SQL for one notebook cell: no USE, GO only where needed</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chemeClr val="tx2"/>
                          </a:solidFill>
                        </a:rPr>
                        <a:t>Pipeline</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200" dirty="0">
                          <a:solidFill>
                            <a:schemeClr val="tx1"/>
                          </a:solidFill>
                        </a:rPr>
                        <a:t>Synapse-shaped JSON for the converter: a data flow becomes a notebook call, an unsupported activity a Fail</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65760">
                <a:tc>
                  <a:txBody>
                    <a:bodyPr/>
                    <a:lstStyle/>
                    <a:p>
                      <a:pPr indent="0" marL="0">
                        <a:buNone/>
                      </a:pPr>
                      <a:r>
                        <a:rPr lang="en-US" sz="1200" b="1" dirty="0">
                          <a:solidFill>
                            <a:schemeClr val="tx2"/>
                          </a:solidFill>
                        </a:rPr>
                        <a:t>Notebook</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The same cells: notebookutils, secrets through getSecret, synapsesql on the Warehouse, .NET rewritten as PySpark</a:t>
                      </a:r>
                      <a:endParaRPr lang="en-US" sz="12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71</a:t>
            </a:fld>
            <a:endParaRPr lang="en-US"/>
          </a:p>
        </p:txBody>
      </p:sp>
    </p:spTree>
  </p:cSld>
  <p:clrMapOvr>
    <a:masterClrMapping/>
  </p:clrMapOvr>
  <p:transition spd="med">
    <p:fade/>
  </p:transition>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06 · HOW IT WORKS UNDERNEATH</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LLM drafts: the call, the checks and the pinning</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llm/claude_cli.py · llm/checks.py · llm/store.py</a:t>
            </a:r>
            <a:endParaRPr lang="en-US" sz="1100" dirty="0"/>
          </a:p>
        </p:txBody>
      </p:sp>
      <p:sp>
        <p:nvSpPr>
          <p:cNvPr id="5" name="Shape 3"/>
          <p:cNvSpPr/>
          <p:nvPr/>
        </p:nvSpPr>
        <p:spPr>
          <a:xfrm>
            <a:off x="548640" y="1481328"/>
            <a:ext cx="5486400" cy="1572768"/>
          </a:xfrm>
          <a:prstGeom prst="roundRect">
            <a:avLst>
              <a:gd name="adj" fmla="val 4651"/>
            </a:avLst>
          </a:prstGeom>
          <a:solidFill>
            <a:schemeClr val="tx2"/>
          </a:solidFill>
          <a:ln/>
        </p:spPr>
      </p:sp>
      <p:sp>
        <p:nvSpPr>
          <p:cNvPr id="6" name="Text 4"/>
          <p:cNvSpPr txBox="1"/>
          <p:nvPr/>
        </p:nvSpPr>
        <p:spPr>
          <a:xfrm>
            <a:off x="731520" y="1591056"/>
            <a:ext cx="5120640" cy="256032"/>
          </a:xfrm>
          <a:prstGeom prst="rect">
            <a:avLst/>
          </a:prstGeom>
          <a:noFill/>
          <a:ln/>
        </p:spPr>
        <p:txBody>
          <a:bodyPr wrap="square" lIns="0" tIns="0" rIns="0" bIns="0" rtlCol="0" anchor="t"/>
          <a:lstStyle/>
          <a:p>
            <a:pPr indent="0" marL="0">
              <a:buNone/>
            </a:pPr>
            <a:r>
              <a:rPr lang="en-US" sz="1100" b="1" dirty="0">
                <a:solidFill>
                  <a:schemeClr val="accent5"/>
                </a:solidFill>
              </a:rPr>
              <a:t>THE COMMAND</a:t>
            </a:r>
            <a:endParaRPr lang="en-US" sz="1100" dirty="0"/>
          </a:p>
        </p:txBody>
      </p:sp>
      <p:sp>
        <p:nvSpPr>
          <p:cNvPr id="7" name="Text 5"/>
          <p:cNvSpPr txBox="1"/>
          <p:nvPr/>
        </p:nvSpPr>
        <p:spPr>
          <a:xfrm>
            <a:off x="731520" y="1892808"/>
            <a:ext cx="5120640" cy="1069848"/>
          </a:xfrm>
          <a:prstGeom prst="rect">
            <a:avLst/>
          </a:prstGeom>
          <a:noFill/>
          <a:ln/>
        </p:spPr>
        <p:txBody>
          <a:bodyPr wrap="square" lIns="0" tIns="0" rIns="0" bIns="0" rtlCol="0" anchor="t"/>
          <a:lstStyle/>
          <a:p>
            <a:pPr indent="0" marL="0">
              <a:buNone/>
            </a:pPr>
            <a:r>
              <a:rPr lang="en-US" sz="1100" dirty="0">
                <a:solidFill>
                  <a:srgbClr val="E6EDF5"/>
                </a:solidFill>
                <a:latin typeface="Consolas" pitchFamily="34" charset="0"/>
                <a:ea typeface="Consolas" pitchFamily="34" charset="-122"/>
                <a:cs typeface="Consolas" pitchFamily="34" charset="-120"/>
              </a:rPr>
              <a:t>claude -p --output-format json --tools ""</a:t>
            </a:r>
            <a:endParaRPr lang="en-US" sz="1100" dirty="0"/>
          </a:p>
          <a:p>
            <a:pPr indent="0" marL="0">
              <a:buNone/>
            </a:pPr>
            <a:r>
              <a:rPr lang="en-US" sz="1100" dirty="0">
                <a:solidFill>
                  <a:srgbClr val="E6EDF5"/>
                </a:solidFill>
                <a:latin typeface="Consolas" pitchFamily="34" charset="0"/>
                <a:ea typeface="Consolas" pitchFamily="34" charset="-122"/>
                <a:cs typeface="Consolas" pitchFamily="34" charset="-120"/>
              </a:rPr>
              <a:t>  --strict-mcp-config --no-session-persistence</a:t>
            </a:r>
            <a:endParaRPr lang="en-US" sz="1100" dirty="0"/>
          </a:p>
          <a:p>
            <a:pPr indent="0" marL="0">
              <a:buNone/>
            </a:pPr>
            <a:r>
              <a:rPr lang="en-US" sz="1100" dirty="0">
                <a:solidFill>
                  <a:srgbClr val="E6EDF5"/>
                </a:solidFill>
                <a:latin typeface="Consolas" pitchFamily="34" charset="0"/>
                <a:ea typeface="Consolas" pitchFamily="34" charset="-122"/>
                <a:cs typeface="Consolas" pitchFamily="34" charset="-120"/>
              </a:rPr>
              <a:t>  --system-prompt &lt;fixed&gt; --json-schema &lt;answer&gt;</a:t>
            </a:r>
            <a:endParaRPr lang="en-US" sz="1100" dirty="0"/>
          </a:p>
          <a:p>
            <a:pPr indent="0" marL="0">
              <a:buNone/>
            </a:pPr>
            <a:r>
              <a:rPr lang="en-US" sz="1100" dirty="0">
                <a:solidFill>
                  <a:srgbClr val="E6EDF5"/>
                </a:solidFill>
                <a:latin typeface="Consolas" pitchFamily="34" charset="0"/>
                <a:ea typeface="Consolas" pitchFamily="34" charset="-122"/>
                <a:cs typeface="Consolas" pitchFamily="34" charset="-120"/>
              </a:rPr>
              <a:t>  [--model $MIGRATION_LLM_MODEL]</a:t>
            </a:r>
            <a:endParaRPr lang="en-US" sz="1100" dirty="0"/>
          </a:p>
        </p:txBody>
      </p:sp>
      <p:sp>
        <p:nvSpPr>
          <p:cNvPr id="8" name="Shape 6"/>
          <p:cNvSpPr/>
          <p:nvPr/>
        </p:nvSpPr>
        <p:spPr>
          <a:xfrm>
            <a:off x="548640" y="3200400"/>
            <a:ext cx="5486400" cy="2331720"/>
          </a:xfrm>
          <a:prstGeom prst="roundRect">
            <a:avLst>
              <a:gd name="adj" fmla="val 4706"/>
            </a:avLst>
          </a:prstGeom>
          <a:solidFill>
            <a:schemeClr val="bg2"/>
          </a:solidFill>
          <a:ln/>
        </p:spPr>
      </p:sp>
      <p:sp>
        <p:nvSpPr>
          <p:cNvPr id="9" name="Text 7"/>
          <p:cNvSpPr txBox="1"/>
          <p:nvPr/>
        </p:nvSpPr>
        <p:spPr>
          <a:xfrm>
            <a:off x="777240" y="3383280"/>
            <a:ext cx="5029200"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HOW IT RUNS</a:t>
            </a:r>
            <a:endParaRPr lang="en-US" sz="1100" dirty="0"/>
          </a:p>
        </p:txBody>
      </p:sp>
      <p:sp>
        <p:nvSpPr>
          <p:cNvPr id="10" name="Text 8"/>
          <p:cNvSpPr txBox="1"/>
          <p:nvPr/>
        </p:nvSpPr>
        <p:spPr>
          <a:xfrm>
            <a:off x="749808" y="3703320"/>
            <a:ext cx="5102352" cy="16916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The prompt goes in on stdin: no shell, no tools, no MCP servers</a:t>
            </a:r>
            <a:endParaRPr lang="en-US" sz="1400" dirty="0"/>
          </a:p>
          <a:p>
            <a:pPr marL="177800" indent="-177800">
              <a:spcAft>
                <a:spcPts val="500"/>
              </a:spcAft>
              <a:buSzPct val="100000"/>
              <a:buChar char="•"/>
            </a:pPr>
            <a:r>
              <a:rPr lang="en-US" sz="1250" dirty="0">
                <a:solidFill>
                  <a:schemeClr val="tx1"/>
                </a:solidFill>
              </a:rPr>
              <a:t>A new, empty temp folder, deleted afterwards; 180 s timeout</a:t>
            </a:r>
            <a:endParaRPr lang="en-US" sz="1400" dirty="0"/>
          </a:p>
          <a:p>
            <a:pPr marL="177800" indent="-177800">
              <a:spcAft>
                <a:spcPts val="500"/>
              </a:spcAft>
              <a:buSzPct val="100000"/>
              <a:buChar char="•"/>
            </a:pPr>
            <a:r>
              <a:rPr lang="en-US" sz="1250" dirty="0">
                <a:solidFill>
                  <a:schemeClr val="tx1"/>
                </a:solidFill>
              </a:rPr>
              <a:t>Claude Code's own sign-in: the accelerator holds no API key</a:t>
            </a:r>
            <a:endParaRPr lang="en-US" sz="1400" dirty="0"/>
          </a:p>
          <a:p>
            <a:pPr marL="177800" indent="-177800">
              <a:spcAft>
                <a:spcPts val="500"/>
              </a:spcAft>
              <a:buSzPct val="100000"/>
              <a:buChar char="•"/>
            </a:pPr>
            <a:r>
              <a:rPr lang="en-US" sz="1250" dirty="0">
                <a:solidFill>
                  <a:schemeClr val="tx1"/>
                </a:solidFill>
              </a:rPr>
              <a:t>Answer: code, notes, what was left unconverted, a confidence</a:t>
            </a:r>
            <a:endParaRPr lang="en-US" sz="1400" dirty="0"/>
          </a:p>
        </p:txBody>
      </p:sp>
      <p:sp>
        <p:nvSpPr>
          <p:cNvPr id="11" name="Shape 9"/>
          <p:cNvSpPr/>
          <p:nvPr/>
        </p:nvSpPr>
        <p:spPr>
          <a:xfrm>
            <a:off x="6263640" y="1481328"/>
            <a:ext cx="5376672" cy="2395728"/>
          </a:xfrm>
          <a:prstGeom prst="roundRect">
            <a:avLst>
              <a:gd name="adj" fmla="val 4580"/>
            </a:avLst>
          </a:prstGeom>
          <a:solidFill>
            <a:schemeClr val="bg2"/>
          </a:solidFill>
          <a:ln/>
        </p:spPr>
      </p:sp>
      <p:sp>
        <p:nvSpPr>
          <p:cNvPr id="12" name="Text 10"/>
          <p:cNvSpPr txBox="1"/>
          <p:nvPr/>
        </p:nvSpPr>
        <p:spPr>
          <a:xfrm>
            <a:off x="6492240" y="1664208"/>
            <a:ext cx="4919472"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THE 13 CHECKS</a:t>
            </a:r>
            <a:endParaRPr lang="en-US" sz="1100" dirty="0"/>
          </a:p>
        </p:txBody>
      </p:sp>
      <p:sp>
        <p:nvSpPr>
          <p:cNvPr id="13" name="Text 11"/>
          <p:cNvSpPr txBox="1"/>
          <p:nvPr/>
        </p:nvSpPr>
        <p:spPr>
          <a:xfrm>
            <a:off x="6464808" y="1984248"/>
            <a:ext cx="4992624" cy="1755648"/>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1"/>
                </a:solidFill>
              </a:rPr>
              <a:t>SQL: the right CREATE, no multi-statement function, balanced brackets, no Synapse-only constructs (errors); keys declared, rules would still change it (warnings)</a:t>
            </a:r>
            <a:endParaRPr lang="en-US" sz="1400" dirty="0"/>
          </a:p>
          <a:p>
            <a:pPr marL="177800" indent="-177800">
              <a:spcAft>
                <a:spcPts val="400"/>
              </a:spcAft>
              <a:buSzPct val="100000"/>
              <a:buChar char="•"/>
            </a:pPr>
            <a:r>
              <a:rPr lang="en-US" sz="1200" dirty="0">
                <a:solidFill>
                  <a:schemeClr val="tx1"/>
                </a:solidFill>
              </a:rPr>
              <a:t>Pipeline: valid JSON, has activities, every activity converts (errors)</a:t>
            </a:r>
            <a:endParaRPr lang="en-US" sz="1400" dirty="0"/>
          </a:p>
          <a:p>
            <a:pPr marL="177800" indent="-177800">
              <a:spcAft>
                <a:spcPts val="400"/>
              </a:spcAft>
              <a:buSzPct val="100000"/>
              <a:buChar char="•"/>
            </a:pPr>
            <a:r>
              <a:rPr lang="en-US" sz="1200" dirty="0">
                <a:solidFill>
                  <a:schemeClr val="tx1"/>
                </a:solidFill>
              </a:rPr>
              <a:t>Notebook: it converts (error); review notes, cell count changed (warnings)</a:t>
            </a:r>
            <a:endParaRPr lang="en-US" sz="1400" dirty="0"/>
          </a:p>
          <a:p>
            <a:pPr marL="177800" indent="-177800">
              <a:spcAft>
                <a:spcPts val="400"/>
              </a:spcAft>
              <a:buSzPct val="100000"/>
              <a:buChar char="•"/>
            </a:pPr>
            <a:r>
              <a:rPr lang="en-US" sz="1200" dirty="0">
                <a:solidFill>
                  <a:schemeClr val="tx1"/>
                </a:solidFill>
              </a:rPr>
              <a:t>Any kind: items the model left for a person (warning)</a:t>
            </a:r>
            <a:endParaRPr lang="en-US" sz="1400" dirty="0"/>
          </a:p>
        </p:txBody>
      </p:sp>
      <p:sp>
        <p:nvSpPr>
          <p:cNvPr id="14" name="Shape 12"/>
          <p:cNvSpPr/>
          <p:nvPr/>
        </p:nvSpPr>
        <p:spPr>
          <a:xfrm>
            <a:off x="6263640" y="4023360"/>
            <a:ext cx="5376672" cy="1508760"/>
          </a:xfrm>
          <a:prstGeom prst="roundRect">
            <a:avLst>
              <a:gd name="adj" fmla="val 7273"/>
            </a:avLst>
          </a:prstGeom>
          <a:solidFill>
            <a:schemeClr val="bg2"/>
          </a:solidFill>
          <a:ln/>
        </p:spPr>
      </p:sp>
      <p:sp>
        <p:nvSpPr>
          <p:cNvPr id="15" name="Text 13"/>
          <p:cNvSpPr txBox="1"/>
          <p:nvPr/>
        </p:nvSpPr>
        <p:spPr>
          <a:xfrm>
            <a:off x="6492240" y="4206240"/>
            <a:ext cx="4919472"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PINNED TO THE SOURCE</a:t>
            </a:r>
            <a:endParaRPr lang="en-US" sz="1100" dirty="0"/>
          </a:p>
        </p:txBody>
      </p:sp>
      <p:sp>
        <p:nvSpPr>
          <p:cNvPr id="16" name="Text 14"/>
          <p:cNvSpPr txBox="1"/>
          <p:nvPr/>
        </p:nvSpPr>
        <p:spPr>
          <a:xfrm>
            <a:off x="6464808" y="4526280"/>
            <a:ext cx="4992624" cy="86868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1"/>
                </a:solidFill>
              </a:rPr>
              <a:t>Draft and accepted version keep sha256(kind + source)</a:t>
            </a:r>
            <a:endParaRPr lang="en-US" sz="1400" dirty="0"/>
          </a:p>
          <a:p>
            <a:pPr marL="177800" indent="-177800">
              <a:spcAft>
                <a:spcPts val="300"/>
              </a:spcAft>
              <a:buSzPct val="100000"/>
              <a:buChar char="•"/>
            </a:pPr>
            <a:r>
              <a:rPr lang="en-US" sz="1200" dirty="0">
                <a:solidFill>
                  <a:schemeClr val="tx1"/>
                </a:solidFill>
              </a:rPr>
              <a:t>Source changed: accepting is refused (409); a run uses the rules</a:t>
            </a:r>
            <a:endParaRPr lang="en-US" sz="1400" dirty="0"/>
          </a:p>
          <a:p>
            <a:pPr marL="177800" indent="-177800">
              <a:spcAft>
                <a:spcPts val="300"/>
              </a:spcAft>
              <a:buSzPct val="100000"/>
              <a:buChar char="•"/>
            </a:pPr>
            <a:r>
              <a:rPr lang="en-US" sz="1200" dirty="0">
                <a:solidFill>
                  <a:schemeClr val="tx1"/>
                </a:solidFill>
              </a:rPr>
              <a:t>Kept in transforms/&lt;name&gt;.&lt;id hash&gt;.json, git-ignored</a:t>
            </a:r>
            <a:endParaRPr lang="en-US" sz="1400" dirty="0"/>
          </a:p>
        </p:txBody>
      </p:sp>
      <p:sp>
        <p:nvSpPr>
          <p:cNvPr id="17" name="Shape 15"/>
          <p:cNvSpPr/>
          <p:nvPr/>
        </p:nvSpPr>
        <p:spPr>
          <a:xfrm>
            <a:off x="548640" y="5687568"/>
            <a:ext cx="11094415" cy="530352"/>
          </a:xfrm>
          <a:prstGeom prst="roundRect">
            <a:avLst>
              <a:gd name="adj" fmla="val 20690"/>
            </a:avLst>
          </a:prstGeom>
          <a:solidFill>
            <a:schemeClr val="accent3">
              <a:alpha val="13000"/>
            </a:schemeClr>
          </a:solidFill>
          <a:ln/>
        </p:spPr>
      </p:sp>
      <p:sp>
        <p:nvSpPr>
          <p:cNvPr id="18" name="Text 16"/>
          <p:cNvSpPr txBox="1"/>
          <p:nvPr/>
        </p:nvSpPr>
        <p:spPr>
          <a:xfrm>
            <a:off x="777240" y="5687568"/>
            <a:ext cx="10637215" cy="530352"/>
          </a:xfrm>
          <a:prstGeom prst="rect">
            <a:avLst/>
          </a:prstGeom>
          <a:noFill/>
          <a:ln/>
        </p:spPr>
        <p:txBody>
          <a:bodyPr wrap="square" lIns="0" tIns="0" rIns="0" bIns="0" rtlCol="0" anchor="ctr"/>
          <a:lstStyle/>
          <a:p>
            <a:pPr indent="0" marL="0">
              <a:buNone/>
            </a:pPr>
            <a:r>
              <a:rPr lang="en-US" sz="1250" b="1" dirty="0">
                <a:solidFill>
                  <a:schemeClr val="tx2"/>
                </a:solidFill>
              </a:rPr>
              <a:t>What is sent:  </a:t>
            </a:r>
            <a:pPr indent="0" marL="0">
              <a:buNone/>
            </a:pPr>
            <a:r>
              <a:rPr lang="en-US" sz="1250" dirty="0">
                <a:solidFill>
                  <a:schemeClr val="tx1"/>
                </a:solidFill>
              </a:rPr>
              <a:t>only the prompt: no credentials, tokens or table data. Nothing redacts it, so a secret written into code would go with it.</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72</a:t>
            </a:fld>
            <a:endParaRPr lang="en-US"/>
          </a:p>
        </p:txBody>
      </p:sp>
    </p:spTree>
  </p:cSld>
  <p:clrMapOvr>
    <a:masterClrMapping/>
  </p:clrMapOvr>
  <p:transition spd="med">
    <p:fade/>
  </p:transition>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06 · HOW IT WORKS UNDERNEATH</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Keeping the app and your data safe</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api/server.py · api/persist.py · connections/validation.py</a:t>
            </a:r>
            <a:endParaRPr lang="en-US" sz="1100" dirty="0"/>
          </a:p>
        </p:txBody>
      </p:sp>
      <p:sp>
        <p:nvSpPr>
          <p:cNvPr id="5" name="Shape 3"/>
          <p:cNvSpPr/>
          <p:nvPr/>
        </p:nvSpPr>
        <p:spPr>
          <a:xfrm>
            <a:off x="548640" y="1481328"/>
            <a:ext cx="3547872" cy="3017520"/>
          </a:xfrm>
          <a:prstGeom prst="roundRect">
            <a:avLst>
              <a:gd name="adj" fmla="val 3636"/>
            </a:avLst>
          </a:prstGeom>
          <a:solidFill>
            <a:schemeClr val="bg2"/>
          </a:solidFill>
          <a:ln/>
        </p:spPr>
      </p:sp>
      <p:sp>
        <p:nvSpPr>
          <p:cNvPr id="6" name="Text 4"/>
          <p:cNvSpPr txBox="1"/>
          <p:nvPr/>
        </p:nvSpPr>
        <p:spPr>
          <a:xfrm>
            <a:off x="777240" y="1664208"/>
            <a:ext cx="3090672"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THE LOCAL API</a:t>
            </a:r>
            <a:endParaRPr lang="en-US" sz="1100" dirty="0"/>
          </a:p>
        </p:txBody>
      </p:sp>
      <p:sp>
        <p:nvSpPr>
          <p:cNvPr id="7" name="Text 5"/>
          <p:cNvSpPr txBox="1"/>
          <p:nvPr/>
        </p:nvSpPr>
        <p:spPr>
          <a:xfrm>
            <a:off x="749808" y="1984248"/>
            <a:ext cx="3163824" cy="23774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Listens on 127.0.0.1:8001 only</a:t>
            </a:r>
            <a:endParaRPr lang="en-US" sz="1400" dirty="0"/>
          </a:p>
          <a:p>
            <a:pPr marL="177800" indent="-177800">
              <a:spcAft>
                <a:spcPts val="500"/>
              </a:spcAft>
              <a:buSzPct val="100000"/>
              <a:buChar char="•"/>
            </a:pPr>
            <a:r>
              <a:rPr lang="en-US" sz="1250" dirty="0">
                <a:solidFill>
                  <a:schemeClr val="tx1"/>
                </a:solidFill>
              </a:rPr>
              <a:t>Host must be localhost, 127.0.0.1 or [::1]: a DNS-rebinding defence</a:t>
            </a:r>
            <a:endParaRPr lang="en-US" sz="1400" dirty="0"/>
          </a:p>
          <a:p>
            <a:pPr marL="177800" indent="-177800">
              <a:spcAft>
                <a:spcPts val="500"/>
              </a:spcAft>
              <a:buSzPct val="100000"/>
              <a:buChar char="•"/>
            </a:pPr>
            <a:r>
              <a:rPr lang="en-US" sz="1250" dirty="0">
                <a:solidFill>
                  <a:schemeClr val="tx1"/>
                </a:solidFill>
              </a:rPr>
              <a:t>POST bodies must be JSON (zip for uploads); no CORS headers are sent</a:t>
            </a:r>
            <a:endParaRPr lang="en-US" sz="1400" dirty="0"/>
          </a:p>
          <a:p>
            <a:pPr marL="177800" indent="-177800">
              <a:spcAft>
                <a:spcPts val="500"/>
              </a:spcAft>
              <a:buSzPct val="100000"/>
              <a:buChar char="•"/>
            </a:pPr>
            <a:r>
              <a:rPr lang="en-US" sz="1250" dirty="0">
                <a:solidFill>
                  <a:schemeClr val="tx1"/>
                </a:solidFill>
              </a:rPr>
              <a:t>Errors are {code, message}, never a traceback</a:t>
            </a:r>
            <a:endParaRPr lang="en-US" sz="1400" dirty="0"/>
          </a:p>
          <a:p>
            <a:pPr marL="177800" indent="-177800">
              <a:spcAft>
                <a:spcPts val="500"/>
              </a:spcAft>
              <a:buSzPct val="100000"/>
              <a:buChar char="•"/>
            </a:pPr>
            <a:r>
              <a:rPr lang="en-US" sz="1250" dirty="0">
                <a:solidFill>
                  <a:schemeClr val="tx1"/>
                </a:solidFill>
              </a:rPr>
              <a:t>Body limits: 64 KiB; 1 MiB for repositories and drafts; ZIP 200 MB</a:t>
            </a:r>
            <a:endParaRPr lang="en-US" sz="1400" dirty="0"/>
          </a:p>
        </p:txBody>
      </p:sp>
      <p:sp>
        <p:nvSpPr>
          <p:cNvPr id="8" name="Shape 6"/>
          <p:cNvSpPr/>
          <p:nvPr/>
        </p:nvSpPr>
        <p:spPr>
          <a:xfrm>
            <a:off x="4325112" y="1481328"/>
            <a:ext cx="3547872" cy="3017520"/>
          </a:xfrm>
          <a:prstGeom prst="roundRect">
            <a:avLst>
              <a:gd name="adj" fmla="val 3636"/>
            </a:avLst>
          </a:prstGeom>
          <a:solidFill>
            <a:schemeClr val="bg2"/>
          </a:solidFill>
          <a:ln/>
        </p:spPr>
      </p:sp>
      <p:sp>
        <p:nvSpPr>
          <p:cNvPr id="9" name="Text 7"/>
          <p:cNvSpPr txBox="1"/>
          <p:nvPr/>
        </p:nvSpPr>
        <p:spPr>
          <a:xfrm>
            <a:off x="4553712" y="1664208"/>
            <a:ext cx="3090672"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SIGN-IN AND SECRETS</a:t>
            </a:r>
            <a:endParaRPr lang="en-US" sz="1100" dirty="0"/>
          </a:p>
        </p:txBody>
      </p:sp>
      <p:sp>
        <p:nvSpPr>
          <p:cNvPr id="10" name="Text 8"/>
          <p:cNvSpPr txBox="1"/>
          <p:nvPr/>
        </p:nvSpPr>
        <p:spPr>
          <a:xfrm>
            <a:off x="4526280" y="1984248"/>
            <a:ext cx="3163824" cy="23774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Synapse: a browser sign-in, tokens in memory only</a:t>
            </a:r>
            <a:endParaRPr lang="en-US" sz="1400" dirty="0"/>
          </a:p>
          <a:p>
            <a:pPr marL="177800" indent="-177800">
              <a:spcAft>
                <a:spcPts val="500"/>
              </a:spcAft>
              <a:buSzPct val="100000"/>
              <a:buChar char="•"/>
            </a:pPr>
            <a:r>
              <a:rPr lang="en-US" sz="1250" dirty="0">
                <a:solidFill>
                  <a:schemeClr val="tx1"/>
                </a:solidFill>
              </a:rPr>
              <a:t>Fabric: az or fab; tokens never returned, logged or put in an error</a:t>
            </a:r>
            <a:endParaRPr lang="en-US" sz="1400" dirty="0"/>
          </a:p>
          <a:p>
            <a:pPr marL="177800" indent="-177800">
              <a:spcAft>
                <a:spcPts val="500"/>
              </a:spcAft>
              <a:buSzPct val="100000"/>
              <a:buChar char="•"/>
            </a:pPr>
            <a:r>
              <a:rPr lang="en-US" sz="1250" dirty="0">
                <a:solidFill>
                  <a:schemeClr val="tx1"/>
                </a:solidFill>
              </a:rPr>
              <a:t>fab mode: SQL and OneLake tokens in azure-identity's encrypted cache</a:t>
            </a:r>
            <a:endParaRPr lang="en-US" sz="1400" dirty="0"/>
          </a:p>
          <a:p>
            <a:pPr marL="177800" indent="-177800">
              <a:spcAft>
                <a:spcPts val="500"/>
              </a:spcAft>
              <a:buSzPct val="100000"/>
              <a:buChar char="•"/>
            </a:pPr>
            <a:r>
              <a:rPr lang="en-US" sz="1250" dirty="0">
                <a:solidFill>
                  <a:schemeClr val="tx1"/>
                </a:solidFill>
              </a:rPr>
              <a:t>Logs: method, path and status; JWTs, passwords and secrets masked</a:t>
            </a:r>
            <a:endParaRPr lang="en-US" sz="1400" dirty="0"/>
          </a:p>
          <a:p>
            <a:pPr marL="177800" indent="-177800">
              <a:spcAft>
                <a:spcPts val="500"/>
              </a:spcAft>
              <a:buSzPct val="100000"/>
              <a:buChar char="•"/>
            </a:pPr>
            <a:r>
              <a:rPr lang="en-US" sz="1250" dirty="0">
                <a:solidFill>
                  <a:schemeClr val="tx1"/>
                </a:solidFill>
              </a:rPr>
              <a:t>Typed credentials: memory only (fab reads one temp file, deleted at once)</a:t>
            </a:r>
            <a:endParaRPr lang="en-US" sz="1400" dirty="0"/>
          </a:p>
        </p:txBody>
      </p:sp>
      <p:sp>
        <p:nvSpPr>
          <p:cNvPr id="11" name="Shape 9"/>
          <p:cNvSpPr/>
          <p:nvPr/>
        </p:nvSpPr>
        <p:spPr>
          <a:xfrm>
            <a:off x="8092440" y="1481328"/>
            <a:ext cx="3547872" cy="3017520"/>
          </a:xfrm>
          <a:prstGeom prst="roundRect">
            <a:avLst>
              <a:gd name="adj" fmla="val 3636"/>
            </a:avLst>
          </a:prstGeom>
          <a:solidFill>
            <a:schemeClr val="bg2"/>
          </a:solidFill>
          <a:ln/>
        </p:spPr>
      </p:sp>
      <p:sp>
        <p:nvSpPr>
          <p:cNvPr id="12" name="Text 10"/>
          <p:cNvSpPr txBox="1"/>
          <p:nvPr/>
        </p:nvSpPr>
        <p:spPr>
          <a:xfrm>
            <a:off x="8321040" y="1664208"/>
            <a:ext cx="3090672"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STATE</a:t>
            </a:r>
            <a:endParaRPr lang="en-US" sz="1100" dirty="0"/>
          </a:p>
        </p:txBody>
      </p:sp>
      <p:sp>
        <p:nvSpPr>
          <p:cNvPr id="13" name="Text 11"/>
          <p:cNvSpPr txBox="1"/>
          <p:nvPr/>
        </p:nvSpPr>
        <p:spPr>
          <a:xfrm>
            <a:off x="8293608" y="1984248"/>
            <a:ext cx="3163824" cy="23774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Server folder .accelerator/state: the last discovery and the Fabric target</a:t>
            </a:r>
            <a:endParaRPr lang="en-US" sz="1400" dirty="0"/>
          </a:p>
          <a:p>
            <a:pPr marL="177800" indent="-177800">
              <a:spcAft>
                <a:spcPts val="500"/>
              </a:spcAft>
              <a:buSzPct val="100000"/>
              <a:buChar char="•"/>
            </a:pPr>
            <a:r>
              <a:rPr lang="en-US" sz="1250" dirty="0">
                <a:solidFill>
                  <a:schemeClr val="tx1"/>
                </a:solidFill>
              </a:rPr>
              <a:t>Server memory: runs, the last 20 plan scorings, 2,000 log lines; lost on restart</a:t>
            </a:r>
            <a:endParaRPr lang="en-US" sz="1400" dirty="0"/>
          </a:p>
          <a:p>
            <a:pPr marL="177800" indent="-177800">
              <a:spcAft>
                <a:spcPts val="500"/>
              </a:spcAft>
              <a:buSzPct val="100000"/>
              <a:buChar char="•"/>
            </a:pPr>
            <a:r>
              <a:rPr lang="en-US" sz="1250" dirty="0">
                <a:solidFill>
                  <a:schemeClr val="tx1"/>
                </a:solidFill>
              </a:rPr>
              <a:t>Browser storage: projects, plans, options and the journey</a:t>
            </a:r>
            <a:endParaRPr lang="en-US" sz="1400" dirty="0"/>
          </a:p>
          <a:p>
            <a:pPr marL="177800" indent="-177800">
              <a:spcAft>
                <a:spcPts val="500"/>
              </a:spcAft>
              <a:buSzPct val="100000"/>
              <a:buChar char="•"/>
            </a:pPr>
            <a:r>
              <a:rPr lang="en-US" sz="1250" dirty="0">
                <a:solidFill>
                  <a:schemeClr val="tx1"/>
                </a:solidFill>
              </a:rPr>
              <a:t>MIGRATION_STATE_DIR moves the folder; MIGRATION_STATE=off keeps nothing</a:t>
            </a:r>
            <a:endParaRPr lang="en-US" sz="1400" dirty="0"/>
          </a:p>
        </p:txBody>
      </p:sp>
      <p:sp>
        <p:nvSpPr>
          <p:cNvPr id="14" name="Shape 12"/>
          <p:cNvSpPr/>
          <p:nvPr/>
        </p:nvSpPr>
        <p:spPr>
          <a:xfrm>
            <a:off x="548640" y="4681728"/>
            <a:ext cx="11094415" cy="566928"/>
          </a:xfrm>
          <a:prstGeom prst="roundRect">
            <a:avLst>
              <a:gd name="adj" fmla="val 19355"/>
            </a:avLst>
          </a:prstGeom>
          <a:solidFill>
            <a:schemeClr val="accent3">
              <a:alpha val="13000"/>
            </a:schemeClr>
          </a:solidFill>
          <a:ln/>
        </p:spPr>
      </p:sp>
      <p:sp>
        <p:nvSpPr>
          <p:cNvPr id="15" name="Text 13"/>
          <p:cNvSpPr txBox="1"/>
          <p:nvPr/>
        </p:nvSpPr>
        <p:spPr>
          <a:xfrm>
            <a:off x="777240" y="4681728"/>
            <a:ext cx="10637215" cy="566928"/>
          </a:xfrm>
          <a:prstGeom prst="rect">
            <a:avLst/>
          </a:prstGeom>
          <a:noFill/>
          <a:ln/>
        </p:spPr>
        <p:txBody>
          <a:bodyPr wrap="square" lIns="0" tIns="0" rIns="0" bIns="0" rtlCol="0" anchor="ctr"/>
          <a:lstStyle/>
          <a:p>
            <a:pPr indent="0" marL="0">
              <a:buNone/>
            </a:pPr>
            <a:r>
              <a:rPr lang="en-US" sz="1250" b="1" dirty="0">
                <a:solidFill>
                  <a:schemeClr val="tx2"/>
                </a:solidFill>
              </a:rPr>
              <a:t>No login of its own:  </a:t>
            </a:r>
            <a:pPr indent="0" marL="0">
              <a:buNone/>
            </a:pPr>
            <a:r>
              <a:rPr lang="en-US" sz="1250" dirty="0">
                <a:solidFill>
                  <a:schemeClr val="tx1"/>
                </a:solidFill>
              </a:rPr>
              <a:t>whoever can use this machine's 127.0.0.1 can use the app, under the identities signed in there.</a:t>
            </a:r>
            <a:endParaRPr lang="en-US" sz="1250" dirty="0"/>
          </a:p>
        </p:txBody>
      </p:sp>
      <p:sp>
        <p:nvSpPr>
          <p:cNvPr id="16" name="Shape 14"/>
          <p:cNvSpPr/>
          <p:nvPr/>
        </p:nvSpPr>
        <p:spPr>
          <a:xfrm>
            <a:off x="548640" y="5394960"/>
            <a:ext cx="11094415" cy="566928"/>
          </a:xfrm>
          <a:prstGeom prst="roundRect">
            <a:avLst>
              <a:gd name="adj" fmla="val 19355"/>
            </a:avLst>
          </a:prstGeom>
          <a:solidFill>
            <a:schemeClr val="accent1">
              <a:alpha val="13000"/>
            </a:schemeClr>
          </a:solidFill>
          <a:ln/>
        </p:spPr>
      </p:sp>
      <p:sp>
        <p:nvSpPr>
          <p:cNvPr id="17" name="Text 15"/>
          <p:cNvSpPr txBox="1"/>
          <p:nvPr/>
        </p:nvSpPr>
        <p:spPr>
          <a:xfrm>
            <a:off x="777240" y="5394960"/>
            <a:ext cx="10637215" cy="566928"/>
          </a:xfrm>
          <a:prstGeom prst="rect">
            <a:avLst/>
          </a:prstGeom>
          <a:noFill/>
          <a:ln/>
        </p:spPr>
        <p:txBody>
          <a:bodyPr wrap="square" lIns="0" tIns="0" rIns="0" bIns="0" rtlCol="0" anchor="ctr"/>
          <a:lstStyle/>
          <a:p>
            <a:pPr indent="0" marL="0">
              <a:buNone/>
            </a:pPr>
            <a:r>
              <a:rPr lang="en-US" sz="1250" b="1" dirty="0">
                <a:solidFill>
                  <a:schemeClr val="tx2"/>
                </a:solidFill>
              </a:rPr>
              <a:t>Limits:  </a:t>
            </a:r>
            <a:pPr indent="0" marL="0">
              <a:buNone/>
            </a:pPr>
            <a:r>
              <a:rPr lang="en-US" sz="1250" dirty="0">
                <a:solidFill>
                  <a:schemeClr val="tx1"/>
                </a:solidFill>
              </a:rPr>
              <a:t>10,000 plan items · 100 credential entries · 2,048 characters per credential field · 50 storage routes · 32 KiB for project.md.</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73</a:t>
            </a:fld>
            <a:endParaRPr lang="en-US"/>
          </a:p>
        </p:txBody>
      </p:sp>
    </p:spTree>
  </p:cSld>
  <p:clrMapOvr>
    <a:masterClrMapping/>
  </p:clrMapOvr>
  <p:transition spd="med">
    <p:fade/>
  </p:transition>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06 · HOW IT WORKS UNDERNEATH</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Tests and Demo mode</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tests/ · frontend/src/test/ · frontend/src/mock/</a:t>
            </a:r>
            <a:endParaRPr lang="en-US" sz="1100" dirty="0"/>
          </a:p>
        </p:txBody>
      </p:sp>
      <p:sp>
        <p:nvSpPr>
          <p:cNvPr id="5" name="Shape 3"/>
          <p:cNvSpPr/>
          <p:nvPr/>
        </p:nvSpPr>
        <p:spPr>
          <a:xfrm>
            <a:off x="548640" y="1481328"/>
            <a:ext cx="2602154" cy="1188720"/>
          </a:xfrm>
          <a:prstGeom prst="roundRect">
            <a:avLst>
              <a:gd name="adj" fmla="val 9231"/>
            </a:avLst>
          </a:prstGeom>
          <a:solidFill>
            <a:schemeClr val="bg2"/>
          </a:solidFill>
          <a:ln/>
        </p:spPr>
      </p:sp>
      <p:sp>
        <p:nvSpPr>
          <p:cNvPr id="6" name="Text 4"/>
          <p:cNvSpPr txBox="1"/>
          <p:nvPr/>
        </p:nvSpPr>
        <p:spPr>
          <a:xfrm>
            <a:off x="749808" y="1591056"/>
            <a:ext cx="2236394" cy="566928"/>
          </a:xfrm>
          <a:prstGeom prst="rect">
            <a:avLst/>
          </a:prstGeom>
          <a:noFill/>
          <a:ln/>
        </p:spPr>
        <p:txBody>
          <a:bodyPr wrap="square" lIns="0" tIns="0" rIns="0" bIns="0" rtlCol="0" anchor="t"/>
          <a:lstStyle/>
          <a:p>
            <a:pPr indent="0" marL="0">
              <a:buNone/>
            </a:pPr>
            <a:r>
              <a:rPr lang="en-US" sz="3200" dirty="0">
                <a:solidFill>
                  <a:schemeClr val="accent1"/>
                </a:solidFill>
                <a:latin typeface="+mj-lt" pitchFamily="34" charset="0"/>
                <a:ea typeface="+mj-lt" pitchFamily="34" charset="-122"/>
                <a:cs typeface="+mj-lt" pitchFamily="34" charset="-120"/>
              </a:rPr>
              <a:t>1,508</a:t>
            </a:r>
            <a:endParaRPr lang="en-US" sz="3200" dirty="0"/>
          </a:p>
        </p:txBody>
      </p:sp>
      <p:sp>
        <p:nvSpPr>
          <p:cNvPr id="7" name="Text 5"/>
          <p:cNvSpPr txBox="1"/>
          <p:nvPr/>
        </p:nvSpPr>
        <p:spPr>
          <a:xfrm>
            <a:off x="749808" y="2176272"/>
            <a:ext cx="2236394" cy="438912"/>
          </a:xfrm>
          <a:prstGeom prst="rect">
            <a:avLst/>
          </a:prstGeom>
          <a:noFill/>
          <a:ln/>
        </p:spPr>
        <p:txBody>
          <a:bodyPr wrap="square" lIns="0" tIns="0" rIns="0" bIns="0" rtlCol="0" anchor="t"/>
          <a:lstStyle/>
          <a:p>
            <a:pPr indent="0" marL="0">
              <a:buNone/>
            </a:pPr>
            <a:r>
              <a:rPr lang="en-US" sz="1250" dirty="0">
                <a:solidFill>
                  <a:schemeClr val="tx1"/>
                </a:solidFill>
              </a:rPr>
              <a:t>backend tests passing, 104 skipped</a:t>
            </a:r>
            <a:endParaRPr lang="en-US" sz="1250" dirty="0"/>
          </a:p>
        </p:txBody>
      </p:sp>
      <p:sp>
        <p:nvSpPr>
          <p:cNvPr id="8" name="Shape 6"/>
          <p:cNvSpPr/>
          <p:nvPr/>
        </p:nvSpPr>
        <p:spPr>
          <a:xfrm>
            <a:off x="3379394" y="1481328"/>
            <a:ext cx="2602154" cy="1188720"/>
          </a:xfrm>
          <a:prstGeom prst="roundRect">
            <a:avLst>
              <a:gd name="adj" fmla="val 9231"/>
            </a:avLst>
          </a:prstGeom>
          <a:solidFill>
            <a:schemeClr val="bg2"/>
          </a:solidFill>
          <a:ln/>
        </p:spPr>
      </p:sp>
      <p:sp>
        <p:nvSpPr>
          <p:cNvPr id="9" name="Text 7"/>
          <p:cNvSpPr txBox="1"/>
          <p:nvPr/>
        </p:nvSpPr>
        <p:spPr>
          <a:xfrm>
            <a:off x="3580562" y="1591056"/>
            <a:ext cx="2236394" cy="566928"/>
          </a:xfrm>
          <a:prstGeom prst="rect">
            <a:avLst/>
          </a:prstGeom>
          <a:noFill/>
          <a:ln/>
        </p:spPr>
        <p:txBody>
          <a:bodyPr wrap="square" lIns="0" tIns="0" rIns="0" bIns="0" rtlCol="0" anchor="t"/>
          <a:lstStyle/>
          <a:p>
            <a:pPr indent="0" marL="0">
              <a:buNone/>
            </a:pPr>
            <a:r>
              <a:rPr lang="en-US" sz="3200" dirty="0">
                <a:solidFill>
                  <a:schemeClr val="accent1"/>
                </a:solidFill>
                <a:latin typeface="+mj-lt" pitchFamily="34" charset="0"/>
                <a:ea typeface="+mj-lt" pitchFamily="34" charset="-122"/>
                <a:cs typeface="+mj-lt" pitchFamily="34" charset="-120"/>
              </a:rPr>
              <a:t>43</a:t>
            </a:r>
            <a:endParaRPr lang="en-US" sz="3200" dirty="0"/>
          </a:p>
        </p:txBody>
      </p:sp>
      <p:sp>
        <p:nvSpPr>
          <p:cNvPr id="10" name="Text 8"/>
          <p:cNvSpPr txBox="1"/>
          <p:nvPr/>
        </p:nvSpPr>
        <p:spPr>
          <a:xfrm>
            <a:off x="3580562" y="2176272"/>
            <a:ext cx="2236394" cy="438912"/>
          </a:xfrm>
          <a:prstGeom prst="rect">
            <a:avLst/>
          </a:prstGeom>
          <a:noFill/>
          <a:ln/>
        </p:spPr>
        <p:txBody>
          <a:bodyPr wrap="square" lIns="0" tIns="0" rIns="0" bIns="0" rtlCol="0" anchor="t"/>
          <a:lstStyle/>
          <a:p>
            <a:pPr indent="0" marL="0">
              <a:buNone/>
            </a:pPr>
            <a:r>
              <a:rPr lang="en-US" sz="1250" dirty="0">
                <a:solidFill>
                  <a:schemeClr val="tx1"/>
                </a:solidFill>
              </a:rPr>
              <a:t>backend test modules (pytest)</a:t>
            </a:r>
            <a:endParaRPr lang="en-US" sz="1250" dirty="0"/>
          </a:p>
        </p:txBody>
      </p:sp>
      <p:sp>
        <p:nvSpPr>
          <p:cNvPr id="11" name="Shape 9"/>
          <p:cNvSpPr/>
          <p:nvPr/>
        </p:nvSpPr>
        <p:spPr>
          <a:xfrm>
            <a:off x="6210148" y="1481328"/>
            <a:ext cx="2602154" cy="1188720"/>
          </a:xfrm>
          <a:prstGeom prst="roundRect">
            <a:avLst>
              <a:gd name="adj" fmla="val 9231"/>
            </a:avLst>
          </a:prstGeom>
          <a:solidFill>
            <a:schemeClr val="bg2"/>
          </a:solidFill>
          <a:ln/>
        </p:spPr>
      </p:sp>
      <p:sp>
        <p:nvSpPr>
          <p:cNvPr id="12" name="Text 10"/>
          <p:cNvSpPr txBox="1"/>
          <p:nvPr/>
        </p:nvSpPr>
        <p:spPr>
          <a:xfrm>
            <a:off x="6411316" y="1591056"/>
            <a:ext cx="2236394" cy="566928"/>
          </a:xfrm>
          <a:prstGeom prst="rect">
            <a:avLst/>
          </a:prstGeom>
          <a:noFill/>
          <a:ln/>
        </p:spPr>
        <p:txBody>
          <a:bodyPr wrap="square" lIns="0" tIns="0" rIns="0" bIns="0" rtlCol="0" anchor="t"/>
          <a:lstStyle/>
          <a:p>
            <a:pPr indent="0" marL="0">
              <a:buNone/>
            </a:pPr>
            <a:r>
              <a:rPr lang="en-US" sz="3200" dirty="0">
                <a:solidFill>
                  <a:schemeClr val="accent1"/>
                </a:solidFill>
                <a:latin typeface="+mj-lt" pitchFamily="34" charset="0"/>
                <a:ea typeface="+mj-lt" pitchFamily="34" charset="-122"/>
                <a:cs typeface="+mj-lt" pitchFamily="34" charset="-120"/>
              </a:rPr>
              <a:t>70</a:t>
            </a:r>
            <a:endParaRPr lang="en-US" sz="3200" dirty="0"/>
          </a:p>
        </p:txBody>
      </p:sp>
      <p:sp>
        <p:nvSpPr>
          <p:cNvPr id="13" name="Text 11"/>
          <p:cNvSpPr txBox="1"/>
          <p:nvPr/>
        </p:nvSpPr>
        <p:spPr>
          <a:xfrm>
            <a:off x="6411316" y="2176272"/>
            <a:ext cx="2236394" cy="438912"/>
          </a:xfrm>
          <a:prstGeom prst="rect">
            <a:avLst/>
          </a:prstGeom>
          <a:noFill/>
          <a:ln/>
        </p:spPr>
        <p:txBody>
          <a:bodyPr wrap="square" lIns="0" tIns="0" rIns="0" bIns="0" rtlCol="0" anchor="t"/>
          <a:lstStyle/>
          <a:p>
            <a:pPr indent="0" marL="0">
              <a:buNone/>
            </a:pPr>
            <a:r>
              <a:rPr lang="en-US" sz="1250" dirty="0">
                <a:solidFill>
                  <a:schemeClr val="tx1"/>
                </a:solidFill>
              </a:rPr>
              <a:t>UI test cases (vitest, jsdom)</a:t>
            </a:r>
            <a:endParaRPr lang="en-US" sz="1250" dirty="0"/>
          </a:p>
        </p:txBody>
      </p:sp>
      <p:sp>
        <p:nvSpPr>
          <p:cNvPr id="14" name="Shape 12"/>
          <p:cNvSpPr/>
          <p:nvPr/>
        </p:nvSpPr>
        <p:spPr>
          <a:xfrm>
            <a:off x="9040901" y="1481328"/>
            <a:ext cx="2602154" cy="1188720"/>
          </a:xfrm>
          <a:prstGeom prst="roundRect">
            <a:avLst>
              <a:gd name="adj" fmla="val 9231"/>
            </a:avLst>
          </a:prstGeom>
          <a:solidFill>
            <a:schemeClr val="bg2"/>
          </a:solidFill>
          <a:ln/>
        </p:spPr>
      </p:sp>
      <p:sp>
        <p:nvSpPr>
          <p:cNvPr id="15" name="Text 13"/>
          <p:cNvSpPr txBox="1"/>
          <p:nvPr/>
        </p:nvSpPr>
        <p:spPr>
          <a:xfrm>
            <a:off x="9242069" y="1591056"/>
            <a:ext cx="2236394" cy="566928"/>
          </a:xfrm>
          <a:prstGeom prst="rect">
            <a:avLst/>
          </a:prstGeom>
          <a:noFill/>
          <a:ln/>
        </p:spPr>
        <p:txBody>
          <a:bodyPr wrap="square" lIns="0" tIns="0" rIns="0" bIns="0" rtlCol="0" anchor="t"/>
          <a:lstStyle/>
          <a:p>
            <a:pPr indent="0" marL="0">
              <a:buNone/>
            </a:pPr>
            <a:r>
              <a:rPr lang="en-US" sz="3200" dirty="0">
                <a:solidFill>
                  <a:schemeClr val="accent1"/>
                </a:solidFill>
                <a:latin typeface="+mj-lt" pitchFamily="34" charset="0"/>
                <a:ea typeface="+mj-lt" pitchFamily="34" charset="-122"/>
                <a:cs typeface="+mj-lt" pitchFamily="34" charset="-120"/>
              </a:rPr>
              <a:t>1,578</a:t>
            </a:r>
            <a:endParaRPr lang="en-US" sz="3200" dirty="0"/>
          </a:p>
        </p:txBody>
      </p:sp>
      <p:sp>
        <p:nvSpPr>
          <p:cNvPr id="16" name="Text 14"/>
          <p:cNvSpPr txBox="1"/>
          <p:nvPr/>
        </p:nvSpPr>
        <p:spPr>
          <a:xfrm>
            <a:off x="9242069" y="2176272"/>
            <a:ext cx="2236394" cy="438912"/>
          </a:xfrm>
          <a:prstGeom prst="rect">
            <a:avLst/>
          </a:prstGeom>
          <a:noFill/>
          <a:ln/>
        </p:spPr>
        <p:txBody>
          <a:bodyPr wrap="square" lIns="0" tIns="0" rIns="0" bIns="0" rtlCol="0" anchor="t"/>
          <a:lstStyle/>
          <a:p>
            <a:pPr indent="0" marL="0">
              <a:buNone/>
            </a:pPr>
            <a:r>
              <a:rPr lang="en-US" sz="1250" dirty="0">
                <a:solidFill>
                  <a:schemeClr val="tx1"/>
                </a:solidFill>
              </a:rPr>
              <a:t>objects in the Demo estate</a:t>
            </a:r>
            <a:endParaRPr lang="en-US" sz="1250" dirty="0"/>
          </a:p>
        </p:txBody>
      </p:sp>
      <p:sp>
        <p:nvSpPr>
          <p:cNvPr id="17" name="Shape 15"/>
          <p:cNvSpPr/>
          <p:nvPr/>
        </p:nvSpPr>
        <p:spPr>
          <a:xfrm>
            <a:off x="548640" y="2880360"/>
            <a:ext cx="3547872" cy="2971800"/>
          </a:xfrm>
          <a:prstGeom prst="roundRect">
            <a:avLst>
              <a:gd name="adj" fmla="val 3692"/>
            </a:avLst>
          </a:prstGeom>
          <a:solidFill>
            <a:schemeClr val="bg2"/>
          </a:solidFill>
          <a:ln/>
        </p:spPr>
      </p:sp>
      <p:sp>
        <p:nvSpPr>
          <p:cNvPr id="18" name="Text 16"/>
          <p:cNvSpPr txBox="1"/>
          <p:nvPr/>
        </p:nvSpPr>
        <p:spPr>
          <a:xfrm>
            <a:off x="777240" y="3063240"/>
            <a:ext cx="3090672"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WHAT IS SKIPPED, AND WHY</a:t>
            </a:r>
            <a:endParaRPr lang="en-US" sz="1100" dirty="0"/>
          </a:p>
        </p:txBody>
      </p:sp>
      <p:sp>
        <p:nvSpPr>
          <p:cNvPr id="19" name="Text 17"/>
          <p:cNvSpPr txBox="1"/>
          <p:nvPr/>
        </p:nvSpPr>
        <p:spPr>
          <a:xfrm>
            <a:off x="749808" y="3383280"/>
            <a:ext cx="3163824" cy="233172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39 opt-in integration tests that need live services</a:t>
            </a:r>
            <a:endParaRPr lang="en-US" sz="1400" dirty="0"/>
          </a:p>
          <a:p>
            <a:pPr marL="177800" indent="-177800">
              <a:spcAft>
                <a:spcPts val="500"/>
              </a:spcAft>
              <a:buSzPct val="100000"/>
              <a:buChar char="•"/>
            </a:pPr>
            <a:r>
              <a:rPr lang="en-US" sz="1250" dirty="0">
                <a:solidFill>
                  <a:schemeClr val="tx1"/>
                </a:solidFill>
              </a:rPr>
              <a:t>63 that need a local sample repository</a:t>
            </a:r>
            <a:endParaRPr lang="en-US" sz="1400" dirty="0"/>
          </a:p>
          <a:p>
            <a:pPr marL="177800" indent="-177800">
              <a:spcAft>
                <a:spcPts val="500"/>
              </a:spcAft>
              <a:buSzPct val="100000"/>
              <a:buChar char="•"/>
            </a:pPr>
            <a:r>
              <a:rPr lang="en-US" sz="1250" dirty="0">
                <a:solidFill>
                  <a:schemeClr val="tx1"/>
                </a:solidFill>
              </a:rPr>
              <a:t>2 that need symbolic links</a:t>
            </a:r>
            <a:endParaRPr lang="en-US" sz="1400" dirty="0"/>
          </a:p>
          <a:p>
            <a:pPr marL="177800" indent="-177800">
              <a:spcAft>
                <a:spcPts val="500"/>
              </a:spcAft>
              <a:buSzPct val="100000"/>
              <a:buChar char="•"/>
            </a:pPr>
            <a:r>
              <a:rPr lang="en-US" sz="1250" dirty="0">
                <a:solidFill>
                  <a:schemeClr val="tx1"/>
                </a:solidFill>
              </a:rPr>
              <a:t>Layering is tested too: only connections/ imports azure.identity, only sql/connection.py opens ODBC, only acquisition/git.py runs git</a:t>
            </a:r>
            <a:endParaRPr lang="en-US" sz="1400" dirty="0"/>
          </a:p>
        </p:txBody>
      </p:sp>
      <p:sp>
        <p:nvSpPr>
          <p:cNvPr id="20" name="Shape 18"/>
          <p:cNvSpPr/>
          <p:nvPr/>
        </p:nvSpPr>
        <p:spPr>
          <a:xfrm>
            <a:off x="4325112" y="2880360"/>
            <a:ext cx="3547872" cy="2971800"/>
          </a:xfrm>
          <a:prstGeom prst="roundRect">
            <a:avLst>
              <a:gd name="adj" fmla="val 3692"/>
            </a:avLst>
          </a:prstGeom>
          <a:solidFill>
            <a:schemeClr val="bg2"/>
          </a:solidFill>
          <a:ln/>
        </p:spPr>
      </p:sp>
      <p:sp>
        <p:nvSpPr>
          <p:cNvPr id="21" name="Text 19"/>
          <p:cNvSpPr txBox="1"/>
          <p:nvPr/>
        </p:nvSpPr>
        <p:spPr>
          <a:xfrm>
            <a:off x="4553712" y="3063240"/>
            <a:ext cx="3090672"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DEMO MODE</a:t>
            </a:r>
            <a:endParaRPr lang="en-US" sz="1100" dirty="0"/>
          </a:p>
        </p:txBody>
      </p:sp>
      <p:sp>
        <p:nvSpPr>
          <p:cNvPr id="22" name="Text 20"/>
          <p:cNvSpPr txBox="1"/>
          <p:nvPr/>
        </p:nvSpPr>
        <p:spPr>
          <a:xfrm>
            <a:off x="4526280" y="3383280"/>
            <a:ext cx="3163824" cy="233172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Runs in the browser (mock/): no API, no sign-in</a:t>
            </a:r>
            <a:endParaRPr lang="en-US" sz="1400" dirty="0"/>
          </a:p>
          <a:p>
            <a:pPr marL="177800" indent="-177800">
              <a:spcAft>
                <a:spcPts val="500"/>
              </a:spcAft>
              <a:buSzPct val="100000"/>
              <a:buChar char="•"/>
            </a:pPr>
            <a:r>
              <a:rPr lang="en-US" sz="1250" dirty="0">
                <a:solidFill>
                  <a:schemeClr val="tx1"/>
                </a:solidFill>
              </a:rPr>
              <a:t>Starts connected: demo-synapse-ws, pool TransportDW; Fabric_demo on a Trial capacity</a:t>
            </a:r>
            <a:endParaRPr lang="en-US" sz="1400" dirty="0"/>
          </a:p>
          <a:p>
            <a:pPr marL="177800" indent="-177800">
              <a:spcAft>
                <a:spcPts val="500"/>
              </a:spcAft>
              <a:buSzPct val="100000"/>
              <a:buChar char="•"/>
            </a:pPr>
            <a:r>
              <a:rPr lang="en-US" sz="1250" dirty="0">
                <a:solidFill>
                  <a:schemeClr val="tx1"/>
                </a:solidFill>
              </a:rPr>
              <a:t>778 tables, 300 datasets, 120 views, 90 procedures, 70 notebooks, 60 pipelines…</a:t>
            </a:r>
            <a:endParaRPr lang="en-US" sz="1400" dirty="0"/>
          </a:p>
          <a:p>
            <a:pPr marL="177800" indent="-177800">
              <a:spcAft>
                <a:spcPts val="500"/>
              </a:spcAft>
              <a:buSzPct val="100000"/>
              <a:buChar char="•"/>
            </a:pPr>
            <a:r>
              <a:rPr lang="en-US" sz="1250" dirty="0">
                <a:solidFill>
                  <a:schemeClr val="tx1"/>
                </a:solidFill>
              </a:rPr>
              <a:t>A run takes about a minute and fails 2 or 3 objects on purpose</a:t>
            </a:r>
            <a:endParaRPr lang="en-US" sz="1400" dirty="0"/>
          </a:p>
        </p:txBody>
      </p:sp>
      <p:sp>
        <p:nvSpPr>
          <p:cNvPr id="23" name="Shape 21"/>
          <p:cNvSpPr/>
          <p:nvPr/>
        </p:nvSpPr>
        <p:spPr>
          <a:xfrm>
            <a:off x="8092440" y="2880360"/>
            <a:ext cx="3547872" cy="2971800"/>
          </a:xfrm>
          <a:prstGeom prst="roundRect">
            <a:avLst>
              <a:gd name="adj" fmla="val 3692"/>
            </a:avLst>
          </a:prstGeom>
          <a:solidFill>
            <a:schemeClr val="bg2"/>
          </a:solidFill>
          <a:ln/>
        </p:spPr>
      </p:sp>
      <p:sp>
        <p:nvSpPr>
          <p:cNvPr id="24" name="Text 22"/>
          <p:cNvSpPr txBox="1"/>
          <p:nvPr/>
        </p:nvSpPr>
        <p:spPr>
          <a:xfrm>
            <a:off x="8321040" y="3063240"/>
            <a:ext cx="3090672"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SCENARIO WORKSPACES</a:t>
            </a:r>
            <a:endParaRPr lang="en-US" sz="1100" dirty="0"/>
          </a:p>
        </p:txBody>
      </p:sp>
      <p:sp>
        <p:nvSpPr>
          <p:cNvPr id="25" name="Text 23"/>
          <p:cNvSpPr txBox="1"/>
          <p:nvPr/>
        </p:nvSpPr>
        <p:spPr>
          <a:xfrm>
            <a:off x="8293608" y="3383280"/>
            <a:ext cx="3163824" cy="233172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A name containing denied, notfound, expired, offline, empty, partial, fail or timeout simulates that case</a:t>
            </a:r>
            <a:endParaRPr lang="en-US" sz="1400" dirty="0"/>
          </a:p>
          <a:p>
            <a:pPr marL="177800" indent="-177800">
              <a:spcAft>
                <a:spcPts val="500"/>
              </a:spcAft>
              <a:buSzPct val="100000"/>
              <a:buChar char="•"/>
            </a:pPr>
            <a:r>
              <a:rPr lang="en-US" sz="1250" dirty="0">
                <a:solidFill>
                  <a:schemeClr val="tx1"/>
                </a:solidFill>
              </a:rPr>
              <a:t>Pickable: demo-synapse-ws, partial-ws, empty-ws, fail-ws, denied-ws</a:t>
            </a:r>
            <a:endParaRPr lang="en-US" sz="1400" dirty="0"/>
          </a:p>
          <a:p>
            <a:pPr marL="177800" indent="-177800">
              <a:spcAft>
                <a:spcPts val="500"/>
              </a:spcAft>
              <a:buSzPct val="100000"/>
              <a:buChar char="•"/>
            </a:pPr>
            <a:r>
              <a:rPr lang="en-US" sz="1250" dirty="0">
                <a:solidFill>
                  <a:schemeClr val="tx1"/>
                </a:solidFill>
              </a:rPr>
              <a:t>LLM drafts in Demo are canned</a:t>
            </a:r>
            <a:endParaRPr lang="en-US" sz="14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74</a:t>
            </a:fld>
            <a:endParaRPr lang="en-US"/>
          </a:p>
        </p:txBody>
      </p:sp>
    </p:spTree>
  </p:cSld>
  <p:clrMapOvr>
    <a:masterClrMapping/>
  </p:clrMapOvr>
  <p:transition spd="med">
    <p:fade/>
  </p:transition>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06 · HOW IT WORKS UNDERNEATH</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Gaps found while reading the code</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found while preparing this deck; nothing was changed</a:t>
            </a:r>
            <a:endParaRPr lang="en-US" sz="1100" dirty="0"/>
          </a:p>
        </p:txBody>
      </p:sp>
      <p:graphicFrame>
        <p:nvGraphicFramePr>
          <p:cNvPr id="76" name="Table 0"/>
          <p:cNvGraphicFramePr>
            <a:graphicFrameLocks noGrp="1"/>
          </p:cNvGraphicFramePr>
          <p:nvPr>
            <p:extLst>
              <p:ext uri="{D42A27DB-BD31-4B8C-83A1-F6EECF244321}">
                <p14:modId xmlns:p14="http://schemas.microsoft.com/office/powerpoint/2010/main" val="1579011935"/>
              </p:ext>
            </p:extLst>
          </p:nvPr>
        </p:nvGraphicFramePr>
        <p:xfrm>
          <a:off x="548640" y="1444752"/>
          <a:ext cx="11094415" cy="914400"/>
        </p:xfrm>
        <a:graphic>
          <a:graphicData uri="http://schemas.openxmlformats.org/drawingml/2006/table">
            <a:tbl>
              <a:tblPr/>
              <a:tblGrid>
                <a:gridCol w="2240280"/>
                <a:gridCol w="6035040"/>
                <a:gridCol w="2816352"/>
              </a:tblGrid>
              <a:tr h="292608">
                <a:tc>
                  <a:txBody>
                    <a:bodyPr/>
                    <a:lstStyle/>
                    <a:p>
                      <a:pPr indent="0" marL="0">
                        <a:buNone/>
                      </a:pPr>
                      <a:r>
                        <a:rPr lang="en-US" sz="1100" b="1" dirty="0">
                          <a:solidFill>
                            <a:schemeClr val="bg1"/>
                          </a:solidFill>
                        </a:rPr>
                        <a:t>Area</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indent="0" marL="0">
                        <a:buNone/>
                      </a:pPr>
                      <a:r>
                        <a:rPr lang="en-US" sz="1100" b="1" dirty="0">
                          <a:solidFill>
                            <a:schemeClr val="bg1"/>
                          </a:solidFill>
                        </a:rPr>
                        <a:t>What the code does</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C77C0E"/>
                    </a:solidFill>
                  </a:tcPr>
                </a:tc>
                <a:tc>
                  <a:txBody>
                    <a:bodyPr/>
                    <a:lstStyle/>
                    <a:p>
                      <a:pPr indent="0" marL="0">
                        <a:buNone/>
                      </a:pPr>
                      <a:r>
                        <a:rPr lang="en-US" sz="1100" b="1" dirty="0">
                          <a:solidFill>
                            <a:schemeClr val="bg1"/>
                          </a:solidFill>
                        </a:rPr>
                        <a:t>Where</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r>
              <a:tr h="393192">
                <a:tc>
                  <a:txBody>
                    <a:bodyPr/>
                    <a:lstStyle/>
                    <a:p>
                      <a:pPr indent="0" marL="0">
                        <a:buNone/>
                      </a:pPr>
                      <a:r>
                        <a:rPr lang="en-US" sz="1100" b="1" dirty="0">
                          <a:solidFill>
                            <a:schemeClr val="tx2"/>
                          </a:solidFill>
                        </a:rPr>
                        <a:t>Retry failed</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The failure note says to choose Replace on retry, but a retry keeps the run's settings</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stages.py · api/migration.py</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93192">
                <a:tc>
                  <a:txBody>
                    <a:bodyPr/>
                    <a:lstStyle/>
                    <a:p>
                      <a:pPr indent="0" marL="0">
                        <a:buNone/>
                      </a:pPr>
                      <a:r>
                        <a:rPr lang="en-US" sz="1100" b="1" dirty="0">
                          <a:solidFill>
                            <a:schemeClr val="tx2"/>
                          </a:solidFill>
                        </a:rPr>
                        <a:t>ODBC driver</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00" dirty="0">
                          <a:solidFill>
                            <a:schemeClr val="tx1"/>
                          </a:solidFill>
                        </a:rPr>
                        <a:t>Preflight accepts Driver 17 or 18; the Warehouse connection always asks for 18</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00" dirty="0">
                          <a:solidFill>
                            <a:schemeClr val="tx1"/>
                          </a:solidFill>
                        </a:rPr>
                        <a:t>api/migration.py · sql/config.py</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93192">
                <a:tc>
                  <a:txBody>
                    <a:bodyPr/>
                    <a:lstStyle/>
                    <a:p>
                      <a:pPr indent="0" marL="0">
                        <a:buNone/>
                      </a:pPr>
                      <a:r>
                        <a:rPr lang="en-US" sz="1100" b="1" dirty="0">
                          <a:solidFill>
                            <a:schemeClr val="tx2"/>
                          </a:solidFill>
                        </a:rPr>
                        <a:t>LLM: functions</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An accepted inline rewrite of a deferred multi-statement function is never applied</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api/transform.py: apply</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93192">
                <a:tc>
                  <a:txBody>
                    <a:bodyPr/>
                    <a:lstStyle/>
                    <a:p>
                      <a:pPr indent="0" marL="0">
                        <a:buNone/>
                      </a:pPr>
                      <a:r>
                        <a:rPr lang="en-US" sz="1100" b="1" dirty="0">
                          <a:solidFill>
                            <a:schemeClr val="tx2"/>
                          </a:solidFill>
                        </a:rPr>
                        <a:t>LLM: tables</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00" dirty="0">
                          <a:solidFill>
                            <a:schemeClr val="tx1"/>
                          </a:solidFill>
                        </a:rPr>
                        <a:t>The table prompt still removes IDENTITY, which the rules now keep; an accepted CREATE TABLE gets no masks</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00" dirty="0">
                          <a:solidFill>
                            <a:schemeClr val="tx1"/>
                          </a:solidFill>
                        </a:rPr>
                        <a:t>prompts/transform/table.md</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93192">
                <a:tc>
                  <a:txBody>
                    <a:bodyPr/>
                    <a:lstStyle/>
                    <a:p>
                      <a:pPr indent="0" marL="0">
                        <a:buNone/>
                      </a:pPr>
                      <a:r>
                        <a:rPr lang="en-US" sz="1100" b="1" dirty="0">
                          <a:solidFill>
                            <a:schemeClr val="tx2"/>
                          </a:solidFill>
                        </a:rPr>
                        <a:t>Discovery start</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POST /api/discovery/start reads no body, so it skips the JSON content-type check</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api/server.py</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93192">
                <a:tc>
                  <a:txBody>
                    <a:bodyPr/>
                    <a:lstStyle/>
                    <a:p>
                      <a:pPr indent="0" marL="0">
                        <a:buNone/>
                      </a:pPr>
                      <a:r>
                        <a:rPr lang="en-US" sz="1100" b="1" dirty="0">
                          <a:solidFill>
                            <a:schemeClr val="tx2"/>
                          </a:solidFill>
                        </a:rPr>
                        <a:t>Plan size</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00" dirty="0">
                          <a:solidFill>
                            <a:schemeClr val="tx1"/>
                          </a:solidFill>
                        </a:rPr>
                        <a:t>The 64 KiB body limit refuses a plan of about 1,000 entries, long before the 10,000 cap</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00" dirty="0">
                          <a:solidFill>
                            <a:schemeClr val="tx1"/>
                          </a:solidFill>
                        </a:rPr>
                        <a:t>api/server.py</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93192">
                <a:tc>
                  <a:txBody>
                    <a:bodyPr/>
                    <a:lstStyle/>
                    <a:p>
                      <a:pPr indent="0" marL="0">
                        <a:buNone/>
                      </a:pPr>
                      <a:r>
                        <a:rPr lang="en-US" sz="1100" b="1" dirty="0">
                          <a:solidFill>
                            <a:schemeClr val="tx2"/>
                          </a:solidFill>
                        </a:rPr>
                        <a:t>Credentials</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A field over 2,048 characters is dropped silently, not rejected</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api/migration.py</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93192">
                <a:tc>
                  <a:txBody>
                    <a:bodyPr/>
                    <a:lstStyle/>
                    <a:p>
                      <a:pPr indent="0" marL="0">
                        <a:buNone/>
                      </a:pPr>
                      <a:r>
                        <a:rPr lang="en-US" sz="1100" b="1" dirty="0">
                          <a:solidFill>
                            <a:schemeClr val="tx2"/>
                          </a:solidFill>
                        </a:rPr>
                        <a:t>Throttling</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00" dirty="0">
                          <a:solidFill>
                            <a:schemeClr val="tx1"/>
                          </a:solidFill>
                        </a:rPr>
                        <a:t>On the sixth 429 Fabric's own error is raised; the 'kept throttling' message is never reached</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00" dirty="0">
                          <a:solidFill>
                            <a:schemeClr val="tx1"/>
                          </a:solidFill>
                        </a:rPr>
                        <a:t>migration/fabric_rest.py</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93192">
                <a:tc>
                  <a:txBody>
                    <a:bodyPr/>
                    <a:lstStyle/>
                    <a:p>
                      <a:pPr indent="0" marL="0">
                        <a:buNone/>
                      </a:pPr>
                      <a:r>
                        <a:rPr lang="en-US" sz="1100" b="1" dirty="0">
                          <a:solidFill>
                            <a:schemeClr val="tx2"/>
                          </a:solidFill>
                        </a:rPr>
                        <a:t>Notebook notes</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The storage flag is computed before routing, so it stays when the paths were routed</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migration/runner.py</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93192">
                <a:tc>
                  <a:txBody>
                    <a:bodyPr/>
                    <a:lstStyle/>
                    <a:p>
                      <a:pPr indent="0" marL="0">
                        <a:buNone/>
                      </a:pPr>
                      <a:r>
                        <a:rPr lang="en-US" sz="1100" b="1" dirty="0">
                          <a:solidFill>
                            <a:schemeClr val="tx2"/>
                          </a:solidFill>
                        </a:rPr>
                        <a:t>Wording</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00" dirty="0">
                          <a:solidFill>
                            <a:schemeClr val="tx1"/>
                          </a:solidFill>
                        </a:rPr>
                        <a:t>'Nothing is ever overwritten' predates update mode; environments.py says notebooks attach to the Environment</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00" dirty="0">
                          <a:solidFill>
                            <a:schemeClr val="tx1"/>
                          </a:solidFill>
                        </a:rPr>
                        <a:t>runner.py · RunPanel.tsx</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93192">
                <a:tc>
                  <a:txBody>
                    <a:bodyPr/>
                    <a:lstStyle/>
                    <a:p>
                      <a:pPr indent="0" marL="0">
                        <a:buNone/>
                      </a:pPr>
                      <a:r>
                        <a:rPr lang="en-US" sz="1100" b="1" dirty="0">
                          <a:solidFill>
                            <a:schemeClr val="tx2"/>
                          </a:solidFill>
                        </a:rPr>
                        <a:t>Docs</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README lists six LLM kinds (seven exist); frontend README lists eight demo scenarios (five can be picked)</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README.md · frontend/README.md</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75</a:t>
            </a:fld>
            <a:endParaRPr lang="en-US"/>
          </a:p>
        </p:txBody>
      </p:sp>
    </p:spTree>
  </p:cSld>
  <p:clrMapOvr>
    <a:masterClrMapping/>
  </p:clrMapOvr>
  <p:transition spd="med">
    <p:fade/>
  </p:transition>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SUMMARY</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What is automated, what is left, what is coming</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README.md → What is automated, manual, or coming</a:t>
            </a:r>
            <a:endParaRPr lang="en-US" sz="1100" dirty="0"/>
          </a:p>
        </p:txBody>
      </p:sp>
      <p:sp>
        <p:nvSpPr>
          <p:cNvPr id="5" name="Shape 3"/>
          <p:cNvSpPr/>
          <p:nvPr/>
        </p:nvSpPr>
        <p:spPr>
          <a:xfrm>
            <a:off x="548640" y="1481328"/>
            <a:ext cx="4160520" cy="4663440"/>
          </a:xfrm>
          <a:prstGeom prst="roundRect">
            <a:avLst>
              <a:gd name="adj" fmla="val 2637"/>
            </a:avLst>
          </a:prstGeom>
          <a:solidFill>
            <a:schemeClr val="accent1">
              <a:alpha val="10000"/>
            </a:schemeClr>
          </a:solidFill>
          <a:ln/>
        </p:spPr>
      </p:sp>
      <p:sp>
        <p:nvSpPr>
          <p:cNvPr id="6" name="Text 4"/>
          <p:cNvSpPr txBox="1"/>
          <p:nvPr/>
        </p:nvSpPr>
        <p:spPr>
          <a:xfrm>
            <a:off x="777240" y="1664208"/>
            <a:ext cx="3703320" cy="237744"/>
          </a:xfrm>
          <a:prstGeom prst="rect">
            <a:avLst/>
          </a:prstGeom>
          <a:noFill/>
          <a:ln/>
        </p:spPr>
        <p:txBody>
          <a:bodyPr wrap="square" lIns="0" tIns="0" rIns="0" bIns="0" rtlCol="0" anchor="t"/>
          <a:lstStyle/>
          <a:p>
            <a:pPr indent="0" marL="0">
              <a:buNone/>
            </a:pPr>
            <a:r>
              <a:rPr lang="en-US" sz="1100" b="1" spc="100" kern="0" dirty="0">
                <a:solidFill>
                  <a:schemeClr val="accent1"/>
                </a:solidFill>
              </a:rPr>
              <a:t>AUTOMATED BY A RUN</a:t>
            </a:r>
            <a:endParaRPr lang="en-US" sz="1100" dirty="0"/>
          </a:p>
        </p:txBody>
      </p:sp>
      <p:sp>
        <p:nvSpPr>
          <p:cNvPr id="7" name="Text 5"/>
          <p:cNvSpPr txBox="1"/>
          <p:nvPr/>
        </p:nvSpPr>
        <p:spPr>
          <a:xfrm>
            <a:off x="749808" y="1984248"/>
            <a:ext cx="3776472" cy="402336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chemeClr val="tx1"/>
                </a:solidFill>
              </a:rPr>
              <a:t>Warehouse and schemas</a:t>
            </a:r>
            <a:endParaRPr lang="en-US" sz="1400" dirty="0"/>
          </a:p>
          <a:p>
            <a:pPr marL="177800" indent="-177800">
              <a:spcAft>
                <a:spcPts val="300"/>
              </a:spcAft>
              <a:buSzPct val="100000"/>
              <a:buChar char="•"/>
            </a:pPr>
            <a:r>
              <a:rPr lang="en-US" sz="1150" dirty="0">
                <a:solidFill>
                  <a:schemeClr val="tx1"/>
                </a:solidFill>
              </a:rPr>
              <a:t>Tables: types mapped, keys NOT ENFORCED, IDENTITY kept, masks in the CREATE TABLE</a:t>
            </a:r>
            <a:endParaRPr lang="en-US" sz="1400" dirty="0"/>
          </a:p>
          <a:p>
            <a:pPr marL="177800" indent="-177800">
              <a:spcAft>
                <a:spcPts val="300"/>
              </a:spcAft>
              <a:buSzPct val="100000"/>
              <a:buChar char="•"/>
            </a:pPr>
            <a:r>
              <a:rPr lang="en-US" sz="1150" dirty="0">
                <a:solidFill>
                  <a:schemeClr val="tx1"/>
                </a:solidFill>
              </a:rPr>
              <a:t>Scalar and inline functions, views, procedures, after the T-SQL rules</a:t>
            </a:r>
            <a:endParaRPr lang="en-US" sz="1400" dirty="0"/>
          </a:p>
          <a:p>
            <a:pPr marL="177800" indent="-177800">
              <a:spcAft>
                <a:spcPts val="300"/>
              </a:spcAft>
              <a:buSzPct val="100000"/>
              <a:buChar char="•"/>
            </a:pPr>
            <a:r>
              <a:rPr lang="en-US" sz="1150" dirty="0">
                <a:solidFill>
                  <a:schemeClr val="tx1"/>
                </a:solidFill>
              </a:rPr>
              <a:t>Roles, members, GRANT and DENY</a:t>
            </a:r>
            <a:endParaRPr lang="en-US" sz="1400" dirty="0"/>
          </a:p>
          <a:p>
            <a:pPr marL="177800" indent="-177800">
              <a:spcAft>
                <a:spcPts val="300"/>
              </a:spcAft>
              <a:buSzPct val="100000"/>
              <a:buChar char="•"/>
            </a:pPr>
            <a:r>
              <a:rPr lang="en-US" sz="1150" dirty="0">
                <a:solidFill>
                  <a:schemeClr val="tx1"/>
                </a:solidFill>
              </a:rPr>
              <a:t>Table data, through a pipeline per wave, counts compared</a:t>
            </a:r>
            <a:endParaRPr lang="en-US" sz="1400" dirty="0"/>
          </a:p>
          <a:p>
            <a:pPr marL="177800" indent="-177800">
              <a:spcAft>
                <a:spcPts val="300"/>
              </a:spcAft>
              <a:buSzPct val="100000"/>
              <a:buChar char="•"/>
            </a:pPr>
            <a:r>
              <a:rPr lang="en-US" sz="1150" dirty="0">
                <a:solidFill>
                  <a:schemeClr val="tx1"/>
                </a:solidFill>
              </a:rPr>
              <a:t>Spark pools and Environments</a:t>
            </a:r>
            <a:endParaRPr lang="en-US" sz="1400" dirty="0"/>
          </a:p>
          <a:p>
            <a:pPr marL="177800" indent="-177800">
              <a:spcAft>
                <a:spcPts val="300"/>
              </a:spcAft>
              <a:buSzPct val="100000"/>
              <a:buChar char="•"/>
            </a:pPr>
            <a:r>
              <a:rPr lang="en-US" sz="1150" dirty="0">
                <a:solidFill>
                  <a:schemeClr val="tx1"/>
                </a:solidFill>
              </a:rPr>
              <a:t>Notebooks, with mssparkutils and connector calls rewritten</a:t>
            </a:r>
            <a:endParaRPr lang="en-US" sz="1400" dirty="0"/>
          </a:p>
          <a:p>
            <a:pPr marL="177800" indent="-177800">
              <a:spcAft>
                <a:spcPts val="300"/>
              </a:spcAft>
              <a:buSzPct val="100000"/>
              <a:buChar char="•"/>
            </a:pPr>
            <a:r>
              <a:rPr lang="en-US" sz="1150" dirty="0">
                <a:solidFill>
                  <a:schemeClr val="tx1"/>
                </a:solidFill>
              </a:rPr>
              <a:t>Connections (SQL, ADLS Gen2, Blob) from your credentials</a:t>
            </a:r>
            <a:endParaRPr lang="en-US" sz="1400" dirty="0"/>
          </a:p>
          <a:p>
            <a:pPr marL="177800" indent="-177800">
              <a:spcAft>
                <a:spcPts val="300"/>
              </a:spcAft>
              <a:buSzPct val="100000"/>
              <a:buChar char="•"/>
            </a:pPr>
            <a:r>
              <a:rPr lang="en-US" sz="1150" dirty="0">
                <a:solidFill>
                  <a:schemeClr val="tx1"/>
                </a:solidFill>
              </a:rPr>
              <a:t>Pipelines with datasets embedded; Spark job definitions</a:t>
            </a:r>
            <a:endParaRPr lang="en-US" sz="1400" dirty="0"/>
          </a:p>
          <a:p>
            <a:pPr marL="177800" indent="-177800">
              <a:spcAft>
                <a:spcPts val="300"/>
              </a:spcAft>
              <a:buSzPct val="100000"/>
              <a:buChar char="•"/>
            </a:pPr>
            <a:r>
              <a:rPr lang="en-US" sz="1150" dirty="0">
                <a:solidFill>
                  <a:schemeClr val="tx1"/>
                </a:solidFill>
              </a:rPr>
              <a:t>SQL scripts as Warehouse notebooks; schedules, switched off</a:t>
            </a:r>
            <a:endParaRPr lang="en-US" sz="1400" dirty="0"/>
          </a:p>
          <a:p>
            <a:pPr marL="177800" indent="-177800">
              <a:spcAft>
                <a:spcPts val="300"/>
              </a:spcAft>
              <a:buSzPct val="100000"/>
              <a:buChar char="•"/>
            </a:pPr>
            <a:r>
              <a:rPr lang="en-US" sz="1150" dirty="0">
                <a:solidFill>
                  <a:schemeClr val="tx1"/>
                </a:solidFill>
              </a:rPr>
              <a:t>External tables as OneLake shortcuts; then the Fabric Git commit</a:t>
            </a:r>
            <a:endParaRPr lang="en-US" sz="1400" dirty="0"/>
          </a:p>
        </p:txBody>
      </p:sp>
      <p:sp>
        <p:nvSpPr>
          <p:cNvPr id="8" name="Shape 6"/>
          <p:cNvSpPr/>
          <p:nvPr/>
        </p:nvSpPr>
        <p:spPr>
          <a:xfrm>
            <a:off x="4937760" y="1481328"/>
            <a:ext cx="3611880" cy="4663440"/>
          </a:xfrm>
          <a:prstGeom prst="roundRect">
            <a:avLst>
              <a:gd name="adj" fmla="val 3038"/>
            </a:avLst>
          </a:prstGeom>
          <a:solidFill>
            <a:schemeClr val="accent3">
              <a:alpha val="12000"/>
            </a:schemeClr>
          </a:solidFill>
          <a:ln/>
        </p:spPr>
      </p:sp>
      <p:sp>
        <p:nvSpPr>
          <p:cNvPr id="9" name="Text 7"/>
          <p:cNvSpPr txBox="1"/>
          <p:nvPr/>
        </p:nvSpPr>
        <p:spPr>
          <a:xfrm>
            <a:off x="5166360" y="1664208"/>
            <a:ext cx="3154680" cy="237744"/>
          </a:xfrm>
          <a:prstGeom prst="rect">
            <a:avLst/>
          </a:prstGeom>
          <a:noFill/>
          <a:ln/>
        </p:spPr>
        <p:txBody>
          <a:bodyPr wrap="square" lIns="0" tIns="0" rIns="0" bIns="0" rtlCol="0" anchor="t"/>
          <a:lstStyle/>
          <a:p>
            <a:pPr indent="0" marL="0">
              <a:buNone/>
            </a:pPr>
            <a:r>
              <a:rPr lang="en-US" sz="1100" b="1" spc="100" kern="0" dirty="0">
                <a:solidFill>
                  <a:srgbClr val="9A5F0A"/>
                </a:solidFill>
              </a:rPr>
              <a:t>LEFT FOR A PERSON, AND REPORTED</a:t>
            </a:r>
            <a:endParaRPr lang="en-US" sz="1100" dirty="0"/>
          </a:p>
        </p:txBody>
      </p:sp>
      <p:sp>
        <p:nvSpPr>
          <p:cNvPr id="10" name="Text 8"/>
          <p:cNvSpPr txBox="1"/>
          <p:nvPr/>
        </p:nvSpPr>
        <p:spPr>
          <a:xfrm>
            <a:off x="5138928" y="1984248"/>
            <a:ext cx="3227832" cy="402336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chemeClr val="tx1"/>
                </a:solidFill>
              </a:rPr>
              <a:t>Integration runtimes; other linked-service types</a:t>
            </a:r>
            <a:endParaRPr lang="en-US" sz="1400" dirty="0"/>
          </a:p>
          <a:p>
            <a:pPr marL="177800" indent="-177800">
              <a:spcAft>
                <a:spcPts val="300"/>
              </a:spcAft>
              <a:buSzPct val="100000"/>
              <a:buChar char="•"/>
            </a:pPr>
            <a:r>
              <a:rPr lang="en-US" sz="1150" dirty="0">
                <a:solidFill>
                  <a:schemeClr val="tx1"/>
                </a:solidFill>
              </a:rPr>
              <a:t>Event, tumbling-window and unusual triggers</a:t>
            </a:r>
            <a:endParaRPr lang="en-US" sz="1400" dirty="0"/>
          </a:p>
          <a:p>
            <a:pPr marL="177800" indent="-177800">
              <a:spcAft>
                <a:spcPts val="300"/>
              </a:spcAft>
              <a:buSzPct val="100000"/>
              <a:buChar char="•"/>
            </a:pPr>
            <a:r>
              <a:rPr lang="en-US" sz="1150" dirty="0">
                <a:solidFill>
                  <a:schemeClr val="tx1"/>
                </a:solidFill>
              </a:rPr>
              <a:t>Activities with no Fabric form (mapping data flows)</a:t>
            </a:r>
            <a:endParaRPr lang="en-US" sz="1400" dirty="0"/>
          </a:p>
          <a:p>
            <a:pPr marL="177800" indent="-177800">
              <a:spcAft>
                <a:spcPts val="300"/>
              </a:spcAft>
              <a:buSzPct val="100000"/>
              <a:buChar char="•"/>
            </a:pPr>
            <a:r>
              <a:rPr lang="en-US" sz="1150" dirty="0">
                <a:solidFill>
                  <a:schemeClr val="tx1"/>
                </a:solidFill>
              </a:rPr>
              <a:t>.NET notebooks; Spark libraries</a:t>
            </a:r>
            <a:endParaRPr lang="en-US" sz="1400" dirty="0"/>
          </a:p>
          <a:p>
            <a:pPr marL="177800" indent="-177800">
              <a:spcAft>
                <a:spcPts val="300"/>
              </a:spcAft>
              <a:buSzPct val="100000"/>
              <a:buChar char="•"/>
            </a:pPr>
            <a:r>
              <a:rPr lang="en-US" sz="1150" dirty="0">
                <a:solidFill>
                  <a:schemeClr val="tx1"/>
                </a:solidFill>
              </a:rPr>
              <a:t>Multi-statement functions; encrypted modules</a:t>
            </a:r>
            <a:endParaRPr lang="en-US" sz="1400" dirty="0"/>
          </a:p>
          <a:p>
            <a:pPr marL="177800" indent="-177800">
              <a:spcAft>
                <a:spcPts val="300"/>
              </a:spcAft>
              <a:buSzPct val="100000"/>
              <a:buChar char="•"/>
            </a:pPr>
            <a:r>
              <a:rPr lang="en-US" sz="1150" dirty="0">
                <a:solidFill>
                  <a:schemeClr val="tx1"/>
                </a:solidFill>
              </a:rPr>
              <a:t>SQL-authenticated users (Plan names the Entra replacement)</a:t>
            </a:r>
            <a:endParaRPr lang="en-US" sz="1400" dirty="0"/>
          </a:p>
          <a:p>
            <a:pPr marL="177800" indent="-177800">
              <a:spcAft>
                <a:spcPts val="300"/>
              </a:spcAft>
              <a:buSzPct val="100000"/>
              <a:buChar char="•"/>
            </a:pPr>
            <a:r>
              <a:rPr lang="en-US" sz="1150" dirty="0">
                <a:solidFill>
                  <a:schemeClr val="tx1"/>
                </a:solidFill>
              </a:rPr>
              <a:t>Lake databases and networking (not discovered yet)</a:t>
            </a:r>
            <a:endParaRPr lang="en-US" sz="1400" dirty="0"/>
          </a:p>
          <a:p>
            <a:pPr marL="177800" indent="-177800">
              <a:spcAft>
                <a:spcPts val="300"/>
              </a:spcAft>
              <a:buSzPct val="100000"/>
              <a:buChar char="•"/>
            </a:pPr>
            <a:r>
              <a:rPr lang="en-US" sz="1150" dirty="0">
                <a:solidFill>
                  <a:schemeClr val="tx1"/>
                </a:solidFill>
              </a:rPr>
              <a:t>Serverless SQL that reads storage not routed</a:t>
            </a:r>
            <a:endParaRPr lang="en-US" sz="1400" dirty="0"/>
          </a:p>
        </p:txBody>
      </p:sp>
      <p:sp>
        <p:nvSpPr>
          <p:cNvPr id="11" name="Shape 9"/>
          <p:cNvSpPr/>
          <p:nvPr/>
        </p:nvSpPr>
        <p:spPr>
          <a:xfrm>
            <a:off x="8732520" y="1481328"/>
            <a:ext cx="2907792" cy="2194560"/>
          </a:xfrm>
          <a:prstGeom prst="roundRect">
            <a:avLst>
              <a:gd name="adj" fmla="val 5000"/>
            </a:avLst>
          </a:prstGeom>
          <a:solidFill>
            <a:schemeClr val="bg2"/>
          </a:solidFill>
          <a:ln/>
        </p:spPr>
      </p:sp>
      <p:sp>
        <p:nvSpPr>
          <p:cNvPr id="12" name="Text 10"/>
          <p:cNvSpPr txBox="1"/>
          <p:nvPr/>
        </p:nvSpPr>
        <p:spPr>
          <a:xfrm>
            <a:off x="8961120" y="1664208"/>
            <a:ext cx="2450592"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SET UP ONCE, BY HAND</a:t>
            </a:r>
            <a:endParaRPr lang="en-US" sz="1100" dirty="0"/>
          </a:p>
        </p:txBody>
      </p:sp>
      <p:sp>
        <p:nvSpPr>
          <p:cNvPr id="13" name="Text 11"/>
          <p:cNvSpPr txBox="1"/>
          <p:nvPr/>
        </p:nvSpPr>
        <p:spPr>
          <a:xfrm>
            <a:off x="8933688" y="1984248"/>
            <a:ext cx="2523744" cy="155448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chemeClr val="tx1"/>
                </a:solidFill>
              </a:rPr>
              <a:t>The Fabric repository and its branches</a:t>
            </a:r>
            <a:endParaRPr lang="en-US" sz="1400" dirty="0"/>
          </a:p>
          <a:p>
            <a:pPr marL="177800" indent="-177800">
              <a:spcAft>
                <a:spcPts val="300"/>
              </a:spcAft>
              <a:buSzPct val="100000"/>
              <a:buChar char="•"/>
            </a:pPr>
            <a:r>
              <a:rPr lang="en-US" sz="1150" dirty="0">
                <a:solidFill>
                  <a:schemeClr val="tx1"/>
                </a:solidFill>
              </a:rPr>
              <a:t>The tenant setting for Git</a:t>
            </a:r>
            <a:endParaRPr lang="en-US" sz="1400" dirty="0"/>
          </a:p>
          <a:p>
            <a:pPr marL="177800" indent="-177800">
              <a:spcAft>
                <a:spcPts val="300"/>
              </a:spcAft>
              <a:buSzPct val="100000"/>
              <a:buChar char="•"/>
            </a:pPr>
            <a:r>
              <a:rPr lang="en-US" sz="1150" dirty="0">
                <a:solidFill>
                  <a:schemeClr val="tx1"/>
                </a:solidFill>
              </a:rPr>
              <a:t>Connecting the Dev workspace to Git</a:t>
            </a:r>
            <a:endParaRPr lang="en-US" sz="1400" dirty="0"/>
          </a:p>
        </p:txBody>
      </p:sp>
      <p:sp>
        <p:nvSpPr>
          <p:cNvPr id="14" name="Shape 12"/>
          <p:cNvSpPr/>
          <p:nvPr/>
        </p:nvSpPr>
        <p:spPr>
          <a:xfrm>
            <a:off x="8732520" y="3858768"/>
            <a:ext cx="2907792" cy="2286000"/>
          </a:xfrm>
          <a:prstGeom prst="roundRect">
            <a:avLst>
              <a:gd name="adj" fmla="val 4800"/>
            </a:avLst>
          </a:prstGeom>
          <a:solidFill>
            <a:schemeClr val="accent2">
              <a:alpha val="10000"/>
            </a:schemeClr>
          </a:solidFill>
          <a:ln/>
        </p:spPr>
      </p:sp>
      <p:sp>
        <p:nvSpPr>
          <p:cNvPr id="15" name="Text 13"/>
          <p:cNvSpPr txBox="1"/>
          <p:nvPr/>
        </p:nvSpPr>
        <p:spPr>
          <a:xfrm>
            <a:off x="8961120" y="4041648"/>
            <a:ext cx="2450592" cy="237744"/>
          </a:xfrm>
          <a:prstGeom prst="rect">
            <a:avLst/>
          </a:prstGeom>
          <a:noFill/>
          <a:ln/>
        </p:spPr>
        <p:txBody>
          <a:bodyPr wrap="square" lIns="0" tIns="0" rIns="0" bIns="0" rtlCol="0" anchor="t"/>
          <a:lstStyle/>
          <a:p>
            <a:pPr indent="0" marL="0">
              <a:buNone/>
            </a:pPr>
            <a:r>
              <a:rPr lang="en-US" sz="1100" b="1" spc="100" kern="0" dirty="0">
                <a:solidFill>
                  <a:schemeClr val="accent2"/>
                </a:solidFill>
              </a:rPr>
              <a:t>COMING NEXT</a:t>
            </a:r>
            <a:endParaRPr lang="en-US" sz="1100" dirty="0"/>
          </a:p>
        </p:txBody>
      </p:sp>
      <p:sp>
        <p:nvSpPr>
          <p:cNvPr id="16" name="Text 14"/>
          <p:cNvSpPr txBox="1"/>
          <p:nvPr/>
        </p:nvSpPr>
        <p:spPr>
          <a:xfrm>
            <a:off x="8933688" y="4361688"/>
            <a:ext cx="2523744" cy="164592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chemeClr val="tx1"/>
                </a:solidFill>
              </a:rPr>
              <a:t>Deploy from Git to Test and Prod with fabric-cicd</a:t>
            </a:r>
            <a:endParaRPr lang="en-US" sz="1400" dirty="0"/>
          </a:p>
          <a:p>
            <a:pPr marL="177800" indent="-177800">
              <a:spcAft>
                <a:spcPts val="300"/>
              </a:spcAft>
              <a:buSzPct val="100000"/>
              <a:buChar char="•"/>
            </a:pPr>
            <a:r>
              <a:rPr lang="en-US" sz="1150" dirty="0">
                <a:solidFill>
                  <a:schemeClr val="tx1"/>
                </a:solidFill>
              </a:rPr>
              <a:t>Shown in the UI, not built: other sources and destinations; the assistant's conversation</a:t>
            </a:r>
            <a:endParaRPr lang="en-US" sz="14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76</a:t>
            </a:fld>
            <a:endParaRPr lang="en-US"/>
          </a:p>
        </p:txBody>
      </p:sp>
    </p:spTree>
  </p:cSld>
  <p:clrMapOvr>
    <a:masterClrMapping/>
  </p:clrMapOvr>
  <p:transition spd="med">
    <p:fade/>
  </p:transition>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REFERENCE</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Glossary</a:t>
            </a:r>
            <a:endParaRPr lang="en-US" sz="320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548640" y="1444752"/>
          <a:ext cx="5440680" cy="914400"/>
        </p:xfrm>
        <a:graphic>
          <a:graphicData uri="http://schemas.openxmlformats.org/drawingml/2006/table">
            <a:tbl>
              <a:tblPr/>
              <a:tblGrid>
                <a:gridCol w="1737360"/>
                <a:gridCol w="3703320"/>
              </a:tblGrid>
              <a:tr h="292608">
                <a:tc>
                  <a:txBody>
                    <a:bodyPr/>
                    <a:lstStyle/>
                    <a:p>
                      <a:pPr indent="0" marL="0">
                        <a:buNone/>
                      </a:pPr>
                      <a:r>
                        <a:rPr lang="en-US" sz="1100" b="1" dirty="0">
                          <a:solidFill>
                            <a:schemeClr val="bg1"/>
                          </a:solidFill>
                        </a:rPr>
                        <a:t>Term</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indent="0" marL="0">
                        <a:buNone/>
                      </a:pPr>
                      <a:r>
                        <a:rPr lang="en-US" sz="1100" b="1" dirty="0">
                          <a:solidFill>
                            <a:schemeClr val="bg1"/>
                          </a:solidFill>
                        </a:rPr>
                        <a:t>Meaning</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r>
              <a:tr h="416052">
                <a:tc>
                  <a:txBody>
                    <a:bodyPr/>
                    <a:lstStyle/>
                    <a:p>
                      <a:pPr indent="0" marL="0">
                        <a:buNone/>
                      </a:pPr>
                      <a:r>
                        <a:rPr lang="en-US" sz="1100" b="1" dirty="0">
                          <a:solidFill>
                            <a:schemeClr val="tx2"/>
                          </a:solidFill>
                        </a:rPr>
                        <a:t>Dedicated SQL pool</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Synapse's provisioned MPP SQL engine, sized in DWU; tables spread over 60 distributions</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416052">
                <a:tc>
                  <a:txBody>
                    <a:bodyPr/>
                    <a:lstStyle/>
                    <a:p>
                      <a:pPr indent="0" marL="0">
                        <a:buNone/>
                      </a:pPr>
                      <a:r>
                        <a:rPr lang="en-US" sz="1100" b="1" dirty="0">
                          <a:solidFill>
                            <a:schemeClr val="tx2"/>
                          </a:solidFill>
                        </a:rPr>
                        <a:t>Serverless SQL pool</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00" dirty="0">
                          <a:solidFill>
                            <a:schemeClr val="tx1"/>
                          </a:solidFill>
                        </a:rPr>
                        <a:t>Synapse's on-demand SQL over files (OPENROWSET), called Built-in</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416052">
                <a:tc>
                  <a:txBody>
                    <a:bodyPr/>
                    <a:lstStyle/>
                    <a:p>
                      <a:pPr indent="0" marL="0">
                        <a:buNone/>
                      </a:pPr>
                      <a:r>
                        <a:rPr lang="en-US" sz="1100" b="1" dirty="0">
                          <a:solidFill>
                            <a:schemeClr val="tx2"/>
                          </a:solidFill>
                        </a:rPr>
                        <a:t>Warehouse</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Fabric's T-SQL warehouse; tables stored as Delta Parquet in OneLake</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416052">
                <a:tc>
                  <a:txBody>
                    <a:bodyPr/>
                    <a:lstStyle/>
                    <a:p>
                      <a:pPr indent="0" marL="0">
                        <a:buNone/>
                      </a:pPr>
                      <a:r>
                        <a:rPr lang="en-US" sz="1100" b="1" dirty="0">
                          <a:solidFill>
                            <a:schemeClr val="tx2"/>
                          </a:solidFill>
                        </a:rPr>
                        <a:t>Lakehouse</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00" dirty="0">
                          <a:solidFill>
                            <a:schemeClr val="tx1"/>
                          </a:solidFill>
                        </a:rPr>
                        <a:t>A Fabric item holding files and Delta tables, with a SQL endpoint</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416052">
                <a:tc>
                  <a:txBody>
                    <a:bodyPr/>
                    <a:lstStyle/>
                    <a:p>
                      <a:pPr indent="0" marL="0">
                        <a:buNone/>
                      </a:pPr>
                      <a:r>
                        <a:rPr lang="en-US" sz="1100" b="1" dirty="0">
                          <a:solidFill>
                            <a:schemeClr val="tx2"/>
                          </a:solidFill>
                        </a:rPr>
                        <a:t>OneLake</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The one data lake under every Fabric workspace</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416052">
                <a:tc>
                  <a:txBody>
                    <a:bodyPr/>
                    <a:lstStyle/>
                    <a:p>
                      <a:pPr indent="0" marL="0">
                        <a:buNone/>
                      </a:pPr>
                      <a:r>
                        <a:rPr lang="en-US" sz="1100" b="1" dirty="0">
                          <a:solidFill>
                            <a:schemeClr val="tx2"/>
                          </a:solidFill>
                        </a:rPr>
                        <a:t>Shortcut</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00" dirty="0">
                          <a:solidFill>
                            <a:schemeClr val="tx1"/>
                          </a:solidFill>
                        </a:rPr>
                        <a:t>A OneLake pointer to data elsewhere, read in place</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416052">
                <a:tc>
                  <a:txBody>
                    <a:bodyPr/>
                    <a:lstStyle/>
                    <a:p>
                      <a:pPr indent="0" marL="0">
                        <a:buNone/>
                      </a:pPr>
                      <a:r>
                        <a:rPr lang="en-US" sz="1100" b="1" dirty="0">
                          <a:solidFill>
                            <a:schemeClr val="tx2"/>
                          </a:solidFill>
                        </a:rPr>
                        <a:t>Environment</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A Fabric item holding a Spark pool choice, runtime, settings and libraries</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416052">
                <a:tc>
                  <a:txBody>
                    <a:bodyPr/>
                    <a:lstStyle/>
                    <a:p>
                      <a:pPr indent="0" marL="0">
                        <a:buNone/>
                      </a:pPr>
                      <a:r>
                        <a:rPr lang="en-US" sz="1100" b="1" dirty="0">
                          <a:solidFill>
                            <a:schemeClr val="tx2"/>
                          </a:solidFill>
                        </a:rPr>
                        <a:t>Starter Pool</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00" dirty="0">
                          <a:solidFill>
                            <a:schemeClr val="tx1"/>
                          </a:solidFill>
                        </a:rPr>
                        <a:t>Fabric's default, pre-warmed Spark pool</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416052">
                <a:tc>
                  <a:txBody>
                    <a:bodyPr/>
                    <a:lstStyle/>
                    <a:p>
                      <a:pPr indent="0" marL="0">
                        <a:buNone/>
                      </a:pPr>
                      <a:r>
                        <a:rPr lang="en-US" sz="1100" b="1" dirty="0">
                          <a:solidFill>
                            <a:schemeClr val="tx2"/>
                          </a:solidFill>
                        </a:rPr>
                        <a:t>Linked service → connection</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How Synapse, then Fabric, reaches a data store</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416052">
                <a:tc>
                  <a:txBody>
                    <a:bodyPr/>
                    <a:lstStyle/>
                    <a:p>
                      <a:pPr indent="0" marL="0">
                        <a:buNone/>
                      </a:pPr>
                      <a:r>
                        <a:rPr lang="en-US" sz="1100" b="1" dirty="0">
                          <a:solidFill>
                            <a:schemeClr val="tx2"/>
                          </a:solidFill>
                        </a:rPr>
                        <a:t>Integration runtime → gateway</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00" dirty="0">
                          <a:solidFill>
                            <a:schemeClr val="tx1"/>
                          </a:solidFill>
                        </a:rPr>
                        <a:t>Compute that reaches private or on-premises data</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bl>
          </a:graphicData>
        </a:graphic>
      </p:graphicFrame>
      <p:graphicFrame>
        <p:nvGraphicFramePr>
          <p:cNvPr id="155" name="Table 1"/>
          <p:cNvGraphicFramePr>
            <a:graphicFrameLocks noGrp="1"/>
          </p:cNvGraphicFramePr>
          <p:nvPr>
            <p:extLst>
              <p:ext uri="{D42A27DB-BD31-4B8C-83A1-F6EECF244321}">
                <p14:modId xmlns:p14="http://schemas.microsoft.com/office/powerpoint/2010/main" val="1579011935"/>
              </p:ext>
            </p:extLst>
          </p:nvPr>
        </p:nvGraphicFramePr>
        <p:xfrm>
          <a:off x="6199632" y="1444752"/>
          <a:ext cx="5440680" cy="914400"/>
        </p:xfrm>
        <a:graphic>
          <a:graphicData uri="http://schemas.openxmlformats.org/drawingml/2006/table">
            <a:tbl>
              <a:tblPr/>
              <a:tblGrid>
                <a:gridCol w="1737360"/>
                <a:gridCol w="3703320"/>
              </a:tblGrid>
              <a:tr h="292608">
                <a:tc>
                  <a:txBody>
                    <a:bodyPr/>
                    <a:lstStyle/>
                    <a:p>
                      <a:pPr indent="0" marL="0">
                        <a:buNone/>
                      </a:pPr>
                      <a:r>
                        <a:rPr lang="en-US" sz="1100" b="1" dirty="0">
                          <a:solidFill>
                            <a:schemeClr val="bg1"/>
                          </a:solidFill>
                        </a:rPr>
                        <a:t>Term</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indent="0" marL="0">
                        <a:buNone/>
                      </a:pPr>
                      <a:r>
                        <a:rPr lang="en-US" sz="1100" b="1" dirty="0">
                          <a:solidFill>
                            <a:schemeClr val="bg1"/>
                          </a:solidFill>
                        </a:rPr>
                        <a:t>Meaning</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r>
              <a:tr h="416052">
                <a:tc>
                  <a:txBody>
                    <a:bodyPr/>
                    <a:lstStyle/>
                    <a:p>
                      <a:pPr indent="0" marL="0">
                        <a:buNone/>
                      </a:pPr>
                      <a:r>
                        <a:rPr lang="en-US" sz="1100" b="1" dirty="0">
                          <a:solidFill>
                            <a:schemeClr val="tx2"/>
                          </a:solidFill>
                        </a:rPr>
                        <a:t>Wave</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Objects migrated together; an object waits for what it depends on</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416052">
                <a:tc>
                  <a:txBody>
                    <a:bodyPr/>
                    <a:lstStyle/>
                    <a:p>
                      <a:pPr indent="0" marL="0">
                        <a:buNone/>
                      </a:pPr>
                      <a:r>
                        <a:rPr lang="en-US" sz="1100" b="1" dirty="0">
                          <a:solidFill>
                            <a:schemeClr val="tx2"/>
                          </a:solidFill>
                        </a:rPr>
                        <a:t>Discovery record</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00" dirty="0">
                          <a:solidFill>
                            <a:schemeClr val="tx1"/>
                          </a:solidFill>
                        </a:rPr>
                        <a:t>One record per object, merged from Git, the live API and the catalog</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416052">
                <a:tc>
                  <a:txBody>
                    <a:bodyPr/>
                    <a:lstStyle/>
                    <a:p>
                      <a:pPr indent="0" marL="0">
                        <a:buNone/>
                      </a:pPr>
                      <a:r>
                        <a:rPr lang="en-US" sz="1100" b="1" dirty="0">
                          <a:solidFill>
                            <a:schemeClr val="tx2"/>
                          </a:solidFill>
                        </a:rPr>
                        <a:t>Provenance</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Where each fact came from; unknown is never shown as zero</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416052">
                <a:tc>
                  <a:txBody>
                    <a:bodyPr/>
                    <a:lstStyle/>
                    <a:p>
                      <a:pPr indent="0" marL="0">
                        <a:buNone/>
                      </a:pPr>
                      <a:r>
                        <a:rPr lang="en-US" sz="1100" b="1" dirty="0">
                          <a:solidFill>
                            <a:schemeClr val="tx2"/>
                          </a:solidFill>
                        </a:rPr>
                        <a:t>Drift</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00" dirty="0">
                          <a:solidFill>
                            <a:schemeClr val="tx1"/>
                          </a:solidFill>
                        </a:rPr>
                        <a:t>Git source and the live workspace disagree</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416052">
                <a:tc>
                  <a:txBody>
                    <a:bodyPr/>
                    <a:lstStyle/>
                    <a:p>
                      <a:pPr indent="0" marL="0">
                        <a:buNone/>
                      </a:pPr>
                      <a:r>
                        <a:rPr lang="en-US" sz="1100" b="1" dirty="0">
                          <a:solidFill>
                            <a:schemeClr val="tx2"/>
                          </a:solidFill>
                        </a:rPr>
                        <a:t>Readiness</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0 to 100 per object, lowered by risk penalties</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416052">
                <a:tc>
                  <a:txBody>
                    <a:bodyPr/>
                    <a:lstStyle/>
                    <a:p>
                      <a:pPr indent="0" marL="0">
                        <a:buNone/>
                      </a:pPr>
                      <a:r>
                        <a:rPr lang="en-US" sz="1100" b="1" dirty="0">
                          <a:solidFill>
                            <a:schemeClr val="tx2"/>
                          </a:solidFill>
                        </a:rPr>
                        <a:t>Stage</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00" dirty="0">
                          <a:solidFill>
                            <a:schemeClr val="tx1"/>
                          </a:solidFill>
                        </a:rPr>
                        <a:t>One of the 11 kinds of work in a run, run in a fixed order</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416052">
                <a:tc>
                  <a:txBody>
                    <a:bodyPr/>
                    <a:lstStyle/>
                    <a:p>
                      <a:pPr indent="0" marL="0">
                        <a:buNone/>
                      </a:pPr>
                      <a:r>
                        <a:rPr lang="en-US" sz="1100" b="1" dirty="0">
                          <a:solidFill>
                            <a:schemeClr val="tx2"/>
                          </a:solidFill>
                        </a:rPr>
                        <a:t>Deferred</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A run item left for a person, with the reason</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416052">
                <a:tc>
                  <a:txBody>
                    <a:bodyPr/>
                    <a:lstStyle/>
                    <a:p>
                      <a:pPr indent="0" marL="0">
                        <a:buNone/>
                      </a:pPr>
                      <a:r>
                        <a:rPr lang="en-US" sz="1100" b="1" dirty="0">
                          <a:solidFill>
                            <a:schemeClr val="tx2"/>
                          </a:solidFill>
                        </a:rPr>
                        <a:t>Watermark</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00" dirty="0">
                          <a:solidFill>
                            <a:schemeClr val="tx1"/>
                          </a:solidFill>
                        </a:rPr>
                        <a:t>The newest change copied so far; the next sync starts there</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416052">
                <a:tc>
                  <a:txBody>
                    <a:bodyPr/>
                    <a:lstStyle/>
                    <a:p>
                      <a:pPr indent="0" marL="0">
                        <a:buNone/>
                      </a:pPr>
                      <a:r>
                        <a:rPr lang="en-US" sz="1100" b="1" dirty="0">
                          <a:solidFill>
                            <a:schemeClr val="tx2"/>
                          </a:solidFill>
                        </a:rPr>
                        <a:t>LRO</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Long-running operation: Fabric answers 202, the client follows it</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416052">
                <a:tc>
                  <a:txBody>
                    <a:bodyPr/>
                    <a:lstStyle/>
                    <a:p>
                      <a:pPr indent="0" marL="0">
                        <a:buNone/>
                      </a:pPr>
                      <a:r>
                        <a:rPr lang="en-US" sz="1100" b="1" dirty="0">
                          <a:solidFill>
                            <a:schemeClr val="tx2"/>
                          </a:solidFill>
                        </a:rPr>
                        <a:t>Fingerprint</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100" dirty="0">
                          <a:solidFill>
                            <a:schemeClr val="tx1"/>
                          </a:solidFill>
                        </a:rPr>
                        <a:t>SHA-256 that identifies a plan: same plan, same fingerprint</a:t>
                      </a:r>
                      <a:endParaRPr lang="en-US" sz="1100" dirty="0"/>
                    </a:p>
                  </a:txBody>
                  <a:tcPr marL="73152" marR="73152"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bl>
          </a:graphicData>
        </a:graphic>
      </p:graphicFrame>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77</a:t>
            </a:fld>
            <a:endParaRPr lang="en-US"/>
          </a:p>
        </p:txBody>
      </p:sp>
    </p:spTree>
  </p:cSld>
  <p:clrMapOvr>
    <a:masterClrMapping/>
  </p:clrMapOvr>
  <p:transition spd="med">
    <p:fade/>
  </p:transition>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REFERENCE</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A reading path through the code</a:t>
            </a:r>
            <a:endParaRPr lang="en-US" sz="3200" dirty="0"/>
          </a:p>
        </p:txBody>
      </p:sp>
      <p:sp>
        <p:nvSpPr>
          <p:cNvPr id="4" name="Text 2"/>
          <p:cNvSpPr txBox="1"/>
          <p:nvPr/>
        </p:nvSpPr>
        <p:spPr>
          <a:xfrm>
            <a:off x="6153912" y="274320"/>
            <a:ext cx="5486400" cy="256032"/>
          </a:xfrm>
          <a:prstGeom prst="rect">
            <a:avLst/>
          </a:prstGeom>
          <a:noFill/>
          <a:ln/>
        </p:spPr>
        <p:txBody>
          <a:bodyPr wrap="square" lIns="0" tIns="0" rIns="0" bIns="0" rtlCol="0" anchor="t"/>
          <a:lstStyle/>
          <a:p>
            <a:pPr algn="r" indent="0" marL="0">
              <a:buNone/>
            </a:pPr>
            <a:r>
              <a:rPr lang="en-US" sz="1100" dirty="0">
                <a:solidFill>
                  <a:schemeClr val="accent6"/>
                </a:solidFill>
                <a:latin typeface="Consolas" pitchFamily="34" charset="0"/>
                <a:ea typeface="Consolas" pitchFamily="34" charset="-122"/>
                <a:cs typeface="Consolas" pitchFamily="34" charset="-120"/>
              </a:rPr>
              <a:t>src/discovery_agent/ · frontend/src/ · tests/</a:t>
            </a:r>
            <a:endParaRPr lang="en-US" sz="1100" dirty="0"/>
          </a:p>
        </p:txBody>
      </p:sp>
      <p:sp>
        <p:nvSpPr>
          <p:cNvPr id="5" name="Shape 3"/>
          <p:cNvSpPr/>
          <p:nvPr/>
        </p:nvSpPr>
        <p:spPr>
          <a:xfrm>
            <a:off x="548640" y="1536192"/>
            <a:ext cx="5422392" cy="914400"/>
          </a:xfrm>
          <a:prstGeom prst="roundRect">
            <a:avLst>
              <a:gd name="adj" fmla="val 12000"/>
            </a:avLst>
          </a:prstGeom>
          <a:solidFill>
            <a:schemeClr val="bg2"/>
          </a:solidFill>
          <a:ln/>
        </p:spPr>
      </p:sp>
      <p:sp>
        <p:nvSpPr>
          <p:cNvPr id="6" name="Text 4"/>
          <p:cNvSpPr txBox="1"/>
          <p:nvPr/>
        </p:nvSpPr>
        <p:spPr>
          <a:xfrm>
            <a:off x="731520" y="1536192"/>
            <a:ext cx="457200" cy="914400"/>
          </a:xfrm>
          <a:prstGeom prst="rect">
            <a:avLst/>
          </a:prstGeom>
          <a:noFill/>
          <a:ln/>
        </p:spPr>
        <p:txBody>
          <a:bodyPr wrap="square" lIns="0" tIns="0" rIns="0" bIns="0" rtlCol="0" anchor="ctr"/>
          <a:lstStyle/>
          <a:p>
            <a:pPr indent="0" marL="0">
              <a:buNone/>
            </a:pPr>
            <a:r>
              <a:rPr lang="en-US" sz="2600" dirty="0">
                <a:solidFill>
                  <a:schemeClr val="accent1"/>
                </a:solidFill>
                <a:latin typeface="+mj-lt" pitchFamily="34" charset="0"/>
                <a:ea typeface="+mj-lt" pitchFamily="34" charset="-122"/>
                <a:cs typeface="+mj-lt" pitchFamily="34" charset="-120"/>
              </a:rPr>
              <a:t>1</a:t>
            </a:r>
            <a:endParaRPr lang="en-US" sz="2600" dirty="0"/>
          </a:p>
        </p:txBody>
      </p:sp>
      <p:sp>
        <p:nvSpPr>
          <p:cNvPr id="7" name="Text 5"/>
          <p:cNvSpPr txBox="1"/>
          <p:nvPr/>
        </p:nvSpPr>
        <p:spPr>
          <a:xfrm>
            <a:off x="1261872" y="1627632"/>
            <a:ext cx="4572000" cy="329184"/>
          </a:xfrm>
          <a:prstGeom prst="rect">
            <a:avLst/>
          </a:prstGeom>
          <a:noFill/>
          <a:ln/>
        </p:spPr>
        <p:txBody>
          <a:bodyPr wrap="square" lIns="0" tIns="0" rIns="0" bIns="0" rtlCol="0" anchor="t"/>
          <a:lstStyle/>
          <a:p>
            <a:pPr indent="0" marL="0">
              <a:buNone/>
            </a:pPr>
            <a:r>
              <a:rPr lang="en-US" sz="1200" b="1" dirty="0">
                <a:solidFill>
                  <a:schemeClr val="tx2"/>
                </a:solidFill>
                <a:latin typeface="Consolas" pitchFamily="34" charset="0"/>
                <a:ea typeface="Consolas" pitchFamily="34" charset="-122"/>
                <a:cs typeface="Consolas" pitchFamily="34" charset="-120"/>
              </a:rPr>
              <a:t>README.md, then Demo mode</a:t>
            </a:r>
            <a:endParaRPr lang="en-US" sz="1200" dirty="0"/>
          </a:p>
        </p:txBody>
      </p:sp>
      <p:sp>
        <p:nvSpPr>
          <p:cNvPr id="8" name="Text 6"/>
          <p:cNvSpPr txBox="1"/>
          <p:nvPr/>
        </p:nvSpPr>
        <p:spPr>
          <a:xfrm>
            <a:off x="1261872" y="1965960"/>
            <a:ext cx="4572000" cy="420624"/>
          </a:xfrm>
          <a:prstGeom prst="rect">
            <a:avLst/>
          </a:prstGeom>
          <a:noFill/>
          <a:ln/>
        </p:spPr>
        <p:txBody>
          <a:bodyPr wrap="square" lIns="0" tIns="0" rIns="0" bIns="0" rtlCol="0" anchor="t"/>
          <a:lstStyle/>
          <a:p>
            <a:pPr indent="0" marL="0">
              <a:buNone/>
            </a:pPr>
            <a:r>
              <a:rPr lang="en-US" sz="1250" dirty="0">
                <a:solidFill>
                  <a:schemeClr val="tx1"/>
                </a:solidFill>
              </a:rPr>
              <a:t>The whole product in one file; then click through all six steps without signing in</a:t>
            </a:r>
            <a:endParaRPr lang="en-US" sz="1250" dirty="0"/>
          </a:p>
        </p:txBody>
      </p:sp>
      <p:sp>
        <p:nvSpPr>
          <p:cNvPr id="9" name="Shape 7"/>
          <p:cNvSpPr/>
          <p:nvPr/>
        </p:nvSpPr>
        <p:spPr>
          <a:xfrm>
            <a:off x="548640" y="2633472"/>
            <a:ext cx="5422392" cy="914400"/>
          </a:xfrm>
          <a:prstGeom prst="roundRect">
            <a:avLst>
              <a:gd name="adj" fmla="val 12000"/>
            </a:avLst>
          </a:prstGeom>
          <a:solidFill>
            <a:schemeClr val="bg2"/>
          </a:solidFill>
          <a:ln/>
        </p:spPr>
      </p:sp>
      <p:sp>
        <p:nvSpPr>
          <p:cNvPr id="10" name="Text 8"/>
          <p:cNvSpPr txBox="1"/>
          <p:nvPr/>
        </p:nvSpPr>
        <p:spPr>
          <a:xfrm>
            <a:off x="731520" y="2633472"/>
            <a:ext cx="457200" cy="914400"/>
          </a:xfrm>
          <a:prstGeom prst="rect">
            <a:avLst/>
          </a:prstGeom>
          <a:noFill/>
          <a:ln/>
        </p:spPr>
        <p:txBody>
          <a:bodyPr wrap="square" lIns="0" tIns="0" rIns="0" bIns="0" rtlCol="0" anchor="ctr"/>
          <a:lstStyle/>
          <a:p>
            <a:pPr indent="0" marL="0">
              <a:buNone/>
            </a:pPr>
            <a:r>
              <a:rPr lang="en-US" sz="2600" dirty="0">
                <a:solidFill>
                  <a:schemeClr val="accent1"/>
                </a:solidFill>
                <a:latin typeface="+mj-lt" pitchFamily="34" charset="0"/>
                <a:ea typeface="+mj-lt" pitchFamily="34" charset="-122"/>
                <a:cs typeface="+mj-lt" pitchFamily="34" charset="-120"/>
              </a:rPr>
              <a:t>2</a:t>
            </a:r>
            <a:endParaRPr lang="en-US" sz="2600" dirty="0"/>
          </a:p>
        </p:txBody>
      </p:sp>
      <p:sp>
        <p:nvSpPr>
          <p:cNvPr id="11" name="Text 9"/>
          <p:cNvSpPr txBox="1"/>
          <p:nvPr/>
        </p:nvSpPr>
        <p:spPr>
          <a:xfrm>
            <a:off x="1261872" y="2724912"/>
            <a:ext cx="4572000" cy="329184"/>
          </a:xfrm>
          <a:prstGeom prst="rect">
            <a:avLst/>
          </a:prstGeom>
          <a:noFill/>
          <a:ln/>
        </p:spPr>
        <p:txBody>
          <a:bodyPr wrap="square" lIns="0" tIns="0" rIns="0" bIns="0" rtlCol="0" anchor="t"/>
          <a:lstStyle/>
          <a:p>
            <a:pPr indent="0" marL="0">
              <a:buNone/>
            </a:pPr>
            <a:r>
              <a:rPr lang="en-US" sz="1200" b="1" dirty="0">
                <a:solidFill>
                  <a:schemeClr val="tx2"/>
                </a:solidFill>
                <a:latin typeface="Consolas" pitchFamily="34" charset="0"/>
                <a:ea typeface="Consolas" pitchFamily="34" charset="-122"/>
                <a:cs typeface="Consolas" pitchFamily="34" charset="-120"/>
              </a:rPr>
              <a:t>discovery.py, records.py</a:t>
            </a:r>
            <a:endParaRPr lang="en-US" sz="1200" dirty="0"/>
          </a:p>
        </p:txBody>
      </p:sp>
      <p:sp>
        <p:nvSpPr>
          <p:cNvPr id="12" name="Text 10"/>
          <p:cNvSpPr txBox="1"/>
          <p:nvPr/>
        </p:nvSpPr>
        <p:spPr>
          <a:xfrm>
            <a:off x="1261872" y="3063240"/>
            <a:ext cx="4572000" cy="420624"/>
          </a:xfrm>
          <a:prstGeom prst="rect">
            <a:avLst/>
          </a:prstGeom>
          <a:noFill/>
          <a:ln/>
        </p:spPr>
        <p:txBody>
          <a:bodyPr wrap="square" lIns="0" tIns="0" rIns="0" bIns="0" rtlCol="0" anchor="t"/>
          <a:lstStyle/>
          <a:p>
            <a:pPr indent="0" marL="0">
              <a:buNone/>
            </a:pPr>
            <a:r>
              <a:rPr lang="en-US" sz="1250" dirty="0">
                <a:solidFill>
                  <a:schemeClr val="tx1"/>
                </a:solidFill>
              </a:rPr>
              <a:t>How three sources become one record per object</a:t>
            </a:r>
            <a:endParaRPr lang="en-US" sz="1250" dirty="0"/>
          </a:p>
        </p:txBody>
      </p:sp>
      <p:sp>
        <p:nvSpPr>
          <p:cNvPr id="13" name="Shape 11"/>
          <p:cNvSpPr/>
          <p:nvPr/>
        </p:nvSpPr>
        <p:spPr>
          <a:xfrm>
            <a:off x="548640" y="3730752"/>
            <a:ext cx="5422392" cy="914400"/>
          </a:xfrm>
          <a:prstGeom prst="roundRect">
            <a:avLst>
              <a:gd name="adj" fmla="val 12000"/>
            </a:avLst>
          </a:prstGeom>
          <a:solidFill>
            <a:schemeClr val="bg2"/>
          </a:solidFill>
          <a:ln/>
        </p:spPr>
      </p:sp>
      <p:sp>
        <p:nvSpPr>
          <p:cNvPr id="14" name="Text 12"/>
          <p:cNvSpPr txBox="1"/>
          <p:nvPr/>
        </p:nvSpPr>
        <p:spPr>
          <a:xfrm>
            <a:off x="731520" y="3730752"/>
            <a:ext cx="457200" cy="914400"/>
          </a:xfrm>
          <a:prstGeom prst="rect">
            <a:avLst/>
          </a:prstGeom>
          <a:noFill/>
          <a:ln/>
        </p:spPr>
        <p:txBody>
          <a:bodyPr wrap="square" lIns="0" tIns="0" rIns="0" bIns="0" rtlCol="0" anchor="ctr"/>
          <a:lstStyle/>
          <a:p>
            <a:pPr indent="0" marL="0">
              <a:buNone/>
            </a:pPr>
            <a:r>
              <a:rPr lang="en-US" sz="2600" dirty="0">
                <a:solidFill>
                  <a:schemeClr val="accent1"/>
                </a:solidFill>
                <a:latin typeface="+mj-lt" pitchFamily="34" charset="0"/>
                <a:ea typeface="+mj-lt" pitchFamily="34" charset="-122"/>
                <a:cs typeface="+mj-lt" pitchFamily="34" charset="-120"/>
              </a:rPr>
              <a:t>3</a:t>
            </a:r>
            <a:endParaRPr lang="en-US" sz="2600" dirty="0"/>
          </a:p>
        </p:txBody>
      </p:sp>
      <p:sp>
        <p:nvSpPr>
          <p:cNvPr id="15" name="Text 13"/>
          <p:cNvSpPr txBox="1"/>
          <p:nvPr/>
        </p:nvSpPr>
        <p:spPr>
          <a:xfrm>
            <a:off x="1261872" y="3822192"/>
            <a:ext cx="4572000" cy="329184"/>
          </a:xfrm>
          <a:prstGeom prst="rect">
            <a:avLst/>
          </a:prstGeom>
          <a:noFill/>
          <a:ln/>
        </p:spPr>
        <p:txBody>
          <a:bodyPr wrap="square" lIns="0" tIns="0" rIns="0" bIns="0" rtlCol="0" anchor="t"/>
          <a:lstStyle/>
          <a:p>
            <a:pPr indent="0" marL="0">
              <a:buNone/>
            </a:pPr>
            <a:r>
              <a:rPr lang="en-US" sz="1200" b="1" dirty="0">
                <a:solidFill>
                  <a:schemeClr val="tx2"/>
                </a:solidFill>
                <a:latin typeface="Consolas" pitchFamily="34" charset="0"/>
                <a:ea typeface="Consolas" pitchFamily="34" charset="-122"/>
                <a:cs typeface="Consolas" pitchFamily="34" charset="-120"/>
              </a:rPr>
              <a:t>extractors/</a:t>
            </a:r>
            <a:endParaRPr lang="en-US" sz="1200" dirty="0"/>
          </a:p>
        </p:txBody>
      </p:sp>
      <p:sp>
        <p:nvSpPr>
          <p:cNvPr id="16" name="Text 14"/>
          <p:cNvSpPr txBox="1"/>
          <p:nvPr/>
        </p:nvSpPr>
        <p:spPr>
          <a:xfrm>
            <a:off x="1261872" y="4160520"/>
            <a:ext cx="4572000" cy="420624"/>
          </a:xfrm>
          <a:prstGeom prst="rect">
            <a:avLst/>
          </a:prstGeom>
          <a:noFill/>
          <a:ln/>
        </p:spPr>
        <p:txBody>
          <a:bodyPr wrap="square" lIns="0" tIns="0" rIns="0" bIns="0" rtlCol="0" anchor="t"/>
          <a:lstStyle/>
          <a:p>
            <a:pPr indent="0" marL="0">
              <a:buNone/>
            </a:pPr>
            <a:r>
              <a:rPr lang="en-US" sz="1250" dirty="0">
                <a:solidFill>
                  <a:schemeClr val="tx1"/>
                </a:solidFill>
              </a:rPr>
              <a:t>One extractor per artifact type; start with pipeline.py and notebook.py</a:t>
            </a:r>
            <a:endParaRPr lang="en-US" sz="1250" dirty="0"/>
          </a:p>
        </p:txBody>
      </p:sp>
      <p:sp>
        <p:nvSpPr>
          <p:cNvPr id="17" name="Shape 15"/>
          <p:cNvSpPr/>
          <p:nvPr/>
        </p:nvSpPr>
        <p:spPr>
          <a:xfrm>
            <a:off x="548640" y="4828032"/>
            <a:ext cx="5422392" cy="914400"/>
          </a:xfrm>
          <a:prstGeom prst="roundRect">
            <a:avLst>
              <a:gd name="adj" fmla="val 12000"/>
            </a:avLst>
          </a:prstGeom>
          <a:solidFill>
            <a:schemeClr val="bg2"/>
          </a:solidFill>
          <a:ln/>
        </p:spPr>
      </p:sp>
      <p:sp>
        <p:nvSpPr>
          <p:cNvPr id="18" name="Text 16"/>
          <p:cNvSpPr txBox="1"/>
          <p:nvPr/>
        </p:nvSpPr>
        <p:spPr>
          <a:xfrm>
            <a:off x="731520" y="4828032"/>
            <a:ext cx="457200" cy="914400"/>
          </a:xfrm>
          <a:prstGeom prst="rect">
            <a:avLst/>
          </a:prstGeom>
          <a:noFill/>
          <a:ln/>
        </p:spPr>
        <p:txBody>
          <a:bodyPr wrap="square" lIns="0" tIns="0" rIns="0" bIns="0" rtlCol="0" anchor="ctr"/>
          <a:lstStyle/>
          <a:p>
            <a:pPr indent="0" marL="0">
              <a:buNone/>
            </a:pPr>
            <a:r>
              <a:rPr lang="en-US" sz="2600" dirty="0">
                <a:solidFill>
                  <a:schemeClr val="accent1"/>
                </a:solidFill>
                <a:latin typeface="+mj-lt" pitchFamily="34" charset="0"/>
                <a:ea typeface="+mj-lt" pitchFamily="34" charset="-122"/>
                <a:cs typeface="+mj-lt" pitchFamily="34" charset="-120"/>
              </a:rPr>
              <a:t>4</a:t>
            </a:r>
            <a:endParaRPr lang="en-US" sz="2600" dirty="0"/>
          </a:p>
        </p:txBody>
      </p:sp>
      <p:sp>
        <p:nvSpPr>
          <p:cNvPr id="19" name="Text 17"/>
          <p:cNvSpPr txBox="1"/>
          <p:nvPr/>
        </p:nvSpPr>
        <p:spPr>
          <a:xfrm>
            <a:off x="1261872" y="4919472"/>
            <a:ext cx="4572000" cy="329184"/>
          </a:xfrm>
          <a:prstGeom prst="rect">
            <a:avLst/>
          </a:prstGeom>
          <a:noFill/>
          <a:ln/>
        </p:spPr>
        <p:txBody>
          <a:bodyPr wrap="square" lIns="0" tIns="0" rIns="0" bIns="0" rtlCol="0" anchor="t"/>
          <a:lstStyle/>
          <a:p>
            <a:pPr indent="0" marL="0">
              <a:buNone/>
            </a:pPr>
            <a:r>
              <a:rPr lang="en-US" sz="1200" b="1" dirty="0">
                <a:solidFill>
                  <a:schemeClr val="tx2"/>
                </a:solidFill>
                <a:latin typeface="Consolas" pitchFamily="34" charset="0"/>
                <a:ea typeface="Consolas" pitchFamily="34" charset="-122"/>
                <a:cs typeface="Consolas" pitchFamily="34" charset="-120"/>
              </a:rPr>
              <a:t>mapping/</a:t>
            </a:r>
            <a:endParaRPr lang="en-US" sz="1200" dirty="0"/>
          </a:p>
        </p:txBody>
      </p:sp>
      <p:sp>
        <p:nvSpPr>
          <p:cNvPr id="20" name="Text 18"/>
          <p:cNvSpPr txBox="1"/>
          <p:nvPr/>
        </p:nvSpPr>
        <p:spPr>
          <a:xfrm>
            <a:off x="1261872" y="5257800"/>
            <a:ext cx="4572000" cy="420624"/>
          </a:xfrm>
          <a:prstGeom prst="rect">
            <a:avLst/>
          </a:prstGeom>
          <a:noFill/>
          <a:ln/>
        </p:spPr>
        <p:txBody>
          <a:bodyPr wrap="square" lIns="0" tIns="0" rIns="0" bIns="0" rtlCol="0" anchor="t"/>
          <a:lstStyle/>
          <a:p>
            <a:pPr indent="0" marL="0">
              <a:buNone/>
            </a:pPr>
            <a:r>
              <a:rPr lang="en-US" sz="1250" dirty="0">
                <a:solidFill>
                  <a:schemeClr val="tx1"/>
                </a:solidFill>
              </a:rPr>
              <a:t>Target, class and workstream per type; waves from the dependency graph</a:t>
            </a:r>
            <a:endParaRPr lang="en-US" sz="1250" dirty="0"/>
          </a:p>
        </p:txBody>
      </p:sp>
      <p:sp>
        <p:nvSpPr>
          <p:cNvPr id="21" name="Shape 19"/>
          <p:cNvSpPr/>
          <p:nvPr/>
        </p:nvSpPr>
        <p:spPr>
          <a:xfrm>
            <a:off x="6217920" y="1536192"/>
            <a:ext cx="5422392" cy="914400"/>
          </a:xfrm>
          <a:prstGeom prst="roundRect">
            <a:avLst>
              <a:gd name="adj" fmla="val 12000"/>
            </a:avLst>
          </a:prstGeom>
          <a:solidFill>
            <a:schemeClr val="accent1">
              <a:alpha val="10000"/>
            </a:schemeClr>
          </a:solidFill>
          <a:ln/>
        </p:spPr>
      </p:sp>
      <p:sp>
        <p:nvSpPr>
          <p:cNvPr id="22" name="Text 20"/>
          <p:cNvSpPr txBox="1"/>
          <p:nvPr/>
        </p:nvSpPr>
        <p:spPr>
          <a:xfrm>
            <a:off x="6400800" y="1536192"/>
            <a:ext cx="457200" cy="914400"/>
          </a:xfrm>
          <a:prstGeom prst="rect">
            <a:avLst/>
          </a:prstGeom>
          <a:noFill/>
          <a:ln/>
        </p:spPr>
        <p:txBody>
          <a:bodyPr wrap="square" lIns="0" tIns="0" rIns="0" bIns="0" rtlCol="0" anchor="ctr"/>
          <a:lstStyle/>
          <a:p>
            <a:pPr indent="0" marL="0">
              <a:buNone/>
            </a:pPr>
            <a:r>
              <a:rPr lang="en-US" sz="2600" dirty="0">
                <a:solidFill>
                  <a:schemeClr val="accent1"/>
                </a:solidFill>
                <a:latin typeface="+mj-lt" pitchFamily="34" charset="0"/>
                <a:ea typeface="+mj-lt" pitchFamily="34" charset="-122"/>
                <a:cs typeface="+mj-lt" pitchFamily="34" charset="-120"/>
              </a:rPr>
              <a:t>5</a:t>
            </a:r>
            <a:endParaRPr lang="en-US" sz="2600" dirty="0"/>
          </a:p>
        </p:txBody>
      </p:sp>
      <p:sp>
        <p:nvSpPr>
          <p:cNvPr id="23" name="Text 21"/>
          <p:cNvSpPr txBox="1"/>
          <p:nvPr/>
        </p:nvSpPr>
        <p:spPr>
          <a:xfrm>
            <a:off x="6931152" y="1627632"/>
            <a:ext cx="4572000" cy="329184"/>
          </a:xfrm>
          <a:prstGeom prst="rect">
            <a:avLst/>
          </a:prstGeom>
          <a:noFill/>
          <a:ln/>
        </p:spPr>
        <p:txBody>
          <a:bodyPr wrap="square" lIns="0" tIns="0" rIns="0" bIns="0" rtlCol="0" anchor="t"/>
          <a:lstStyle/>
          <a:p>
            <a:pPr indent="0" marL="0">
              <a:buNone/>
            </a:pPr>
            <a:r>
              <a:rPr lang="en-US" sz="1200" b="1" dirty="0">
                <a:solidFill>
                  <a:schemeClr val="tx2"/>
                </a:solidFill>
                <a:latin typeface="Consolas" pitchFamily="34" charset="0"/>
                <a:ea typeface="Consolas" pitchFamily="34" charset="-122"/>
                <a:cs typeface="Consolas" pitchFamily="34" charset="-120"/>
              </a:rPr>
              <a:t>migration/planner.py, preflight.py</a:t>
            </a:r>
            <a:endParaRPr lang="en-US" sz="1200" dirty="0"/>
          </a:p>
        </p:txBody>
      </p:sp>
      <p:sp>
        <p:nvSpPr>
          <p:cNvPr id="24" name="Text 22"/>
          <p:cNvSpPr txBox="1"/>
          <p:nvPr/>
        </p:nvSpPr>
        <p:spPr>
          <a:xfrm>
            <a:off x="6931152" y="1965960"/>
            <a:ext cx="4572000" cy="420624"/>
          </a:xfrm>
          <a:prstGeom prst="rect">
            <a:avLst/>
          </a:prstGeom>
          <a:noFill/>
          <a:ln/>
        </p:spPr>
        <p:txBody>
          <a:bodyPr wrap="square" lIns="0" tIns="0" rIns="0" bIns="0" rtlCol="0" anchor="t"/>
          <a:lstStyle/>
          <a:p>
            <a:pPr indent="0" marL="0">
              <a:buNone/>
            </a:pPr>
            <a:r>
              <a:rPr lang="en-US" sz="1250" dirty="0">
                <a:solidFill>
                  <a:schemeClr val="tx1"/>
                </a:solidFill>
              </a:rPr>
              <a:t>Strategies, readiness, effort and the findings</a:t>
            </a:r>
            <a:endParaRPr lang="en-US" sz="1250" dirty="0"/>
          </a:p>
        </p:txBody>
      </p:sp>
      <p:sp>
        <p:nvSpPr>
          <p:cNvPr id="25" name="Shape 23"/>
          <p:cNvSpPr/>
          <p:nvPr/>
        </p:nvSpPr>
        <p:spPr>
          <a:xfrm>
            <a:off x="6217920" y="2633472"/>
            <a:ext cx="5422392" cy="914400"/>
          </a:xfrm>
          <a:prstGeom prst="roundRect">
            <a:avLst>
              <a:gd name="adj" fmla="val 12000"/>
            </a:avLst>
          </a:prstGeom>
          <a:solidFill>
            <a:schemeClr val="accent1">
              <a:alpha val="10000"/>
            </a:schemeClr>
          </a:solidFill>
          <a:ln/>
        </p:spPr>
      </p:sp>
      <p:sp>
        <p:nvSpPr>
          <p:cNvPr id="26" name="Text 24"/>
          <p:cNvSpPr txBox="1"/>
          <p:nvPr/>
        </p:nvSpPr>
        <p:spPr>
          <a:xfrm>
            <a:off x="6400800" y="2633472"/>
            <a:ext cx="457200" cy="914400"/>
          </a:xfrm>
          <a:prstGeom prst="rect">
            <a:avLst/>
          </a:prstGeom>
          <a:noFill/>
          <a:ln/>
        </p:spPr>
        <p:txBody>
          <a:bodyPr wrap="square" lIns="0" tIns="0" rIns="0" bIns="0" rtlCol="0" anchor="ctr"/>
          <a:lstStyle/>
          <a:p>
            <a:pPr indent="0" marL="0">
              <a:buNone/>
            </a:pPr>
            <a:r>
              <a:rPr lang="en-US" sz="2600" dirty="0">
                <a:solidFill>
                  <a:schemeClr val="accent1"/>
                </a:solidFill>
                <a:latin typeface="+mj-lt" pitchFamily="34" charset="0"/>
                <a:ea typeface="+mj-lt" pitchFamily="34" charset="-122"/>
                <a:cs typeface="+mj-lt" pitchFamily="34" charset="-120"/>
              </a:rPr>
              <a:t>6</a:t>
            </a:r>
            <a:endParaRPr lang="en-US" sz="2600" dirty="0"/>
          </a:p>
        </p:txBody>
      </p:sp>
      <p:sp>
        <p:nvSpPr>
          <p:cNvPr id="27" name="Text 25"/>
          <p:cNvSpPr txBox="1"/>
          <p:nvPr/>
        </p:nvSpPr>
        <p:spPr>
          <a:xfrm>
            <a:off x="6931152" y="2724912"/>
            <a:ext cx="4572000" cy="329184"/>
          </a:xfrm>
          <a:prstGeom prst="rect">
            <a:avLst/>
          </a:prstGeom>
          <a:noFill/>
          <a:ln/>
        </p:spPr>
        <p:txBody>
          <a:bodyPr wrap="square" lIns="0" tIns="0" rIns="0" bIns="0" rtlCol="0" anchor="t"/>
          <a:lstStyle/>
          <a:p>
            <a:pPr indent="0" marL="0">
              <a:buNone/>
            </a:pPr>
            <a:r>
              <a:rPr lang="en-US" sz="1200" b="1" dirty="0">
                <a:solidFill>
                  <a:schemeClr val="tx2"/>
                </a:solidFill>
                <a:latin typeface="Consolas" pitchFamily="34" charset="0"/>
                <a:ea typeface="Consolas" pitchFamily="34" charset="-122"/>
                <a:cs typeface="Consolas" pitchFamily="34" charset="-120"/>
              </a:rPr>
              <a:t>migration/runner.py, stages.py, stages_fabric.py</a:t>
            </a:r>
            <a:endParaRPr lang="en-US" sz="1200" dirty="0"/>
          </a:p>
        </p:txBody>
      </p:sp>
      <p:sp>
        <p:nvSpPr>
          <p:cNvPr id="28" name="Text 26"/>
          <p:cNvSpPr txBox="1"/>
          <p:nvPr/>
        </p:nvSpPr>
        <p:spPr>
          <a:xfrm>
            <a:off x="6931152" y="3063240"/>
            <a:ext cx="4572000" cy="420624"/>
          </a:xfrm>
          <a:prstGeom prst="rect">
            <a:avLst/>
          </a:prstGeom>
          <a:noFill/>
          <a:ln/>
        </p:spPr>
        <p:txBody>
          <a:bodyPr wrap="square" lIns="0" tIns="0" rIns="0" bIns="0" rtlCol="0" anchor="t"/>
          <a:lstStyle/>
          <a:p>
            <a:pPr indent="0" marL="0">
              <a:buNone/>
            </a:pPr>
            <a:r>
              <a:rPr lang="en-US" sz="1250" dirty="0">
                <a:solidFill>
                  <a:schemeClr val="tx1"/>
                </a:solidFill>
              </a:rPr>
              <a:t>How a run orders the work and creates each item</a:t>
            </a:r>
            <a:endParaRPr lang="en-US" sz="1250" dirty="0"/>
          </a:p>
        </p:txBody>
      </p:sp>
      <p:sp>
        <p:nvSpPr>
          <p:cNvPr id="29" name="Shape 27"/>
          <p:cNvSpPr/>
          <p:nvPr/>
        </p:nvSpPr>
        <p:spPr>
          <a:xfrm>
            <a:off x="6217920" y="3730752"/>
            <a:ext cx="5422392" cy="914400"/>
          </a:xfrm>
          <a:prstGeom prst="roundRect">
            <a:avLst>
              <a:gd name="adj" fmla="val 12000"/>
            </a:avLst>
          </a:prstGeom>
          <a:solidFill>
            <a:schemeClr val="accent1">
              <a:alpha val="10000"/>
            </a:schemeClr>
          </a:solidFill>
          <a:ln/>
        </p:spPr>
      </p:sp>
      <p:sp>
        <p:nvSpPr>
          <p:cNvPr id="30" name="Text 28"/>
          <p:cNvSpPr txBox="1"/>
          <p:nvPr/>
        </p:nvSpPr>
        <p:spPr>
          <a:xfrm>
            <a:off x="6400800" y="3730752"/>
            <a:ext cx="457200" cy="914400"/>
          </a:xfrm>
          <a:prstGeom prst="rect">
            <a:avLst/>
          </a:prstGeom>
          <a:noFill/>
          <a:ln/>
        </p:spPr>
        <p:txBody>
          <a:bodyPr wrap="square" lIns="0" tIns="0" rIns="0" bIns="0" rtlCol="0" anchor="ctr"/>
          <a:lstStyle/>
          <a:p>
            <a:pPr indent="0" marL="0">
              <a:buNone/>
            </a:pPr>
            <a:r>
              <a:rPr lang="en-US" sz="2600" dirty="0">
                <a:solidFill>
                  <a:schemeClr val="accent1"/>
                </a:solidFill>
                <a:latin typeface="+mj-lt" pitchFamily="34" charset="0"/>
                <a:ea typeface="+mj-lt" pitchFamily="34" charset="-122"/>
                <a:cs typeface="+mj-lt" pitchFamily="34" charset="-120"/>
              </a:rPr>
              <a:t>7</a:t>
            </a:r>
            <a:endParaRPr lang="en-US" sz="2600" dirty="0"/>
          </a:p>
        </p:txBody>
      </p:sp>
      <p:sp>
        <p:nvSpPr>
          <p:cNvPr id="31" name="Text 29"/>
          <p:cNvSpPr txBox="1"/>
          <p:nvPr/>
        </p:nvSpPr>
        <p:spPr>
          <a:xfrm>
            <a:off x="6931152" y="3822192"/>
            <a:ext cx="4572000" cy="329184"/>
          </a:xfrm>
          <a:prstGeom prst="rect">
            <a:avLst/>
          </a:prstGeom>
          <a:noFill/>
          <a:ln/>
        </p:spPr>
        <p:txBody>
          <a:bodyPr wrap="square" lIns="0" tIns="0" rIns="0" bIns="0" rtlCol="0" anchor="t"/>
          <a:lstStyle/>
          <a:p>
            <a:pPr indent="0" marL="0">
              <a:buNone/>
            </a:pPr>
            <a:r>
              <a:rPr lang="en-US" sz="1200" b="1" dirty="0">
                <a:solidFill>
                  <a:schemeClr val="tx2"/>
                </a:solidFill>
                <a:latin typeface="Consolas" pitchFamily="34" charset="0"/>
                <a:ea typeface="Consolas" pitchFamily="34" charset="-122"/>
                <a:cs typeface="Consolas" pitchFamily="34" charset="-120"/>
              </a:rPr>
              <a:t>warehouse_ddl.py · tsql_rules.py · jobs.py</a:t>
            </a:r>
            <a:endParaRPr lang="en-US" sz="1200" dirty="0"/>
          </a:p>
        </p:txBody>
      </p:sp>
      <p:sp>
        <p:nvSpPr>
          <p:cNvPr id="32" name="Text 30"/>
          <p:cNvSpPr txBox="1"/>
          <p:nvPr/>
        </p:nvSpPr>
        <p:spPr>
          <a:xfrm>
            <a:off x="6931152" y="4160520"/>
            <a:ext cx="4572000" cy="420624"/>
          </a:xfrm>
          <a:prstGeom prst="rect">
            <a:avLst/>
          </a:prstGeom>
          <a:noFill/>
          <a:ln/>
        </p:spPr>
        <p:txBody>
          <a:bodyPr wrap="square" lIns="0" tIns="0" rIns="0" bIns="0" rtlCol="0" anchor="t"/>
          <a:lstStyle/>
          <a:p>
            <a:pPr indent="0" marL="0">
              <a:buNone/>
            </a:pPr>
            <a:r>
              <a:rPr lang="en-US" sz="1250" dirty="0">
                <a:solidFill>
                  <a:schemeClr val="tx1"/>
                </a:solidFill>
              </a:rPr>
              <a:t>The converters, with notebooks.py and pipelines.py: plain functions</a:t>
            </a:r>
            <a:endParaRPr lang="en-US" sz="1250" dirty="0"/>
          </a:p>
        </p:txBody>
      </p:sp>
      <p:sp>
        <p:nvSpPr>
          <p:cNvPr id="33" name="Shape 31"/>
          <p:cNvSpPr/>
          <p:nvPr/>
        </p:nvSpPr>
        <p:spPr>
          <a:xfrm>
            <a:off x="6217920" y="4828032"/>
            <a:ext cx="5422392" cy="914400"/>
          </a:xfrm>
          <a:prstGeom prst="roundRect">
            <a:avLst>
              <a:gd name="adj" fmla="val 12000"/>
            </a:avLst>
          </a:prstGeom>
          <a:solidFill>
            <a:schemeClr val="accent1">
              <a:alpha val="10000"/>
            </a:schemeClr>
          </a:solidFill>
          <a:ln/>
        </p:spPr>
      </p:sp>
      <p:sp>
        <p:nvSpPr>
          <p:cNvPr id="34" name="Text 32"/>
          <p:cNvSpPr txBox="1"/>
          <p:nvPr/>
        </p:nvSpPr>
        <p:spPr>
          <a:xfrm>
            <a:off x="6400800" y="4828032"/>
            <a:ext cx="457200" cy="914400"/>
          </a:xfrm>
          <a:prstGeom prst="rect">
            <a:avLst/>
          </a:prstGeom>
          <a:noFill/>
          <a:ln/>
        </p:spPr>
        <p:txBody>
          <a:bodyPr wrap="square" lIns="0" tIns="0" rIns="0" bIns="0" rtlCol="0" anchor="ctr"/>
          <a:lstStyle/>
          <a:p>
            <a:pPr indent="0" marL="0">
              <a:buNone/>
            </a:pPr>
            <a:r>
              <a:rPr lang="en-US" sz="2600" dirty="0">
                <a:solidFill>
                  <a:schemeClr val="accent1"/>
                </a:solidFill>
                <a:latin typeface="+mj-lt" pitchFamily="34" charset="0"/>
                <a:ea typeface="+mj-lt" pitchFamily="34" charset="-122"/>
                <a:cs typeface="+mj-lt" pitchFamily="34" charset="-120"/>
              </a:rPr>
              <a:t>8</a:t>
            </a:r>
            <a:endParaRPr lang="en-US" sz="2600" dirty="0"/>
          </a:p>
        </p:txBody>
      </p:sp>
      <p:sp>
        <p:nvSpPr>
          <p:cNvPr id="35" name="Text 33"/>
          <p:cNvSpPr txBox="1"/>
          <p:nvPr/>
        </p:nvSpPr>
        <p:spPr>
          <a:xfrm>
            <a:off x="6931152" y="4919472"/>
            <a:ext cx="4572000" cy="329184"/>
          </a:xfrm>
          <a:prstGeom prst="rect">
            <a:avLst/>
          </a:prstGeom>
          <a:noFill/>
          <a:ln/>
        </p:spPr>
        <p:txBody>
          <a:bodyPr wrap="square" lIns="0" tIns="0" rIns="0" bIns="0" rtlCol="0" anchor="t"/>
          <a:lstStyle/>
          <a:p>
            <a:pPr indent="0" marL="0">
              <a:buNone/>
            </a:pPr>
            <a:r>
              <a:rPr lang="en-US" sz="1200" b="1" dirty="0">
                <a:solidFill>
                  <a:schemeClr val="tx2"/>
                </a:solidFill>
                <a:latin typeface="Consolas" pitchFamily="34" charset="0"/>
                <a:ea typeface="Consolas" pitchFamily="34" charset="-122"/>
                <a:cs typeface="Consolas" pitchFamily="34" charset="-120"/>
              </a:rPr>
              <a:t>validation.py, runtime_checks.py, fabric_git.py</a:t>
            </a:r>
            <a:endParaRPr lang="en-US" sz="1200" dirty="0"/>
          </a:p>
        </p:txBody>
      </p:sp>
      <p:sp>
        <p:nvSpPr>
          <p:cNvPr id="36" name="Text 34"/>
          <p:cNvSpPr txBox="1"/>
          <p:nvPr/>
        </p:nvSpPr>
        <p:spPr>
          <a:xfrm>
            <a:off x="6931152" y="5257800"/>
            <a:ext cx="4572000" cy="420624"/>
          </a:xfrm>
          <a:prstGeom prst="rect">
            <a:avLst/>
          </a:prstGeom>
          <a:noFill/>
          <a:ln/>
        </p:spPr>
        <p:txBody>
          <a:bodyPr wrap="square" lIns="0" tIns="0" rIns="0" bIns="0" rtlCol="0" anchor="t"/>
          <a:lstStyle/>
          <a:p>
            <a:pPr indent="0" marL="0">
              <a:buNone/>
            </a:pPr>
            <a:r>
              <a:rPr lang="en-US" sz="1250" dirty="0">
                <a:solidFill>
                  <a:schemeClr val="tx1"/>
                </a:solidFill>
              </a:rPr>
              <a:t>The checks after a run, and the Git commit</a:t>
            </a:r>
            <a:endParaRPr lang="en-US" sz="1250" dirty="0"/>
          </a:p>
        </p:txBody>
      </p:sp>
      <p:sp>
        <p:nvSpPr>
          <p:cNvPr id="37" name="Shape 35"/>
          <p:cNvSpPr/>
          <p:nvPr/>
        </p:nvSpPr>
        <p:spPr>
          <a:xfrm>
            <a:off x="548640" y="5943600"/>
            <a:ext cx="11094415" cy="384048"/>
          </a:xfrm>
          <a:prstGeom prst="roundRect">
            <a:avLst>
              <a:gd name="adj" fmla="val 28571"/>
            </a:avLst>
          </a:prstGeom>
          <a:solidFill>
            <a:schemeClr val="accent1">
              <a:alpha val="13000"/>
            </a:schemeClr>
          </a:solidFill>
          <a:ln/>
        </p:spPr>
      </p:sp>
      <p:sp>
        <p:nvSpPr>
          <p:cNvPr id="38" name="Text 36"/>
          <p:cNvSpPr txBox="1"/>
          <p:nvPr/>
        </p:nvSpPr>
        <p:spPr>
          <a:xfrm>
            <a:off x="777240" y="5943600"/>
            <a:ext cx="10637215" cy="384048"/>
          </a:xfrm>
          <a:prstGeom prst="rect">
            <a:avLst/>
          </a:prstGeom>
          <a:noFill/>
          <a:ln/>
        </p:spPr>
        <p:txBody>
          <a:bodyPr wrap="square" lIns="0" tIns="0" rIns="0" bIns="0" rtlCol="0" anchor="ctr"/>
          <a:lstStyle/>
          <a:p>
            <a:pPr indent="0" marL="0">
              <a:buNone/>
            </a:pPr>
            <a:r>
              <a:rPr lang="en-US" sz="1250" b="1" dirty="0">
                <a:solidFill>
                  <a:schemeClr val="tx2"/>
                </a:solidFill>
              </a:rPr>
              <a:t>Tip:  </a:t>
            </a:r>
            <a:pPr indent="0" marL="0">
              <a:buNone/>
            </a:pPr>
            <a:r>
              <a:rPr lang="en-US" sz="1250" dirty="0">
                <a:solidFill>
                  <a:schemeClr val="tx1"/>
                </a:solidFill>
              </a:rPr>
              <a:t>the tests in tests/ show real inputs and outputs for each module; read them next to the code.</a:t>
            </a:r>
            <a:endParaRPr lang="en-US" sz="12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78</a:t>
            </a:fld>
            <a:endParaRPr lang="en-US"/>
          </a:p>
        </p:txBody>
      </p:sp>
    </p:spTree>
  </p:cSld>
  <p:clrMapOvr>
    <a:masterClrMapping/>
  </p:clrMapOvr>
  <p:transition spd="med">
    <p:fade/>
  </p:transition>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6766560" cy="1645920"/>
          </a:xfrm>
          <a:prstGeom prst="rect">
            <a:avLst/>
          </a:prstGeom>
          <a:noFill/>
          <a:ln/>
        </p:spPr>
        <p:txBody>
          <a:bodyPr wrap="square" lIns="0" tIns="0" rIns="0" bIns="0" rtlCol="0" anchor="b"/>
          <a:lstStyle/>
          <a:p>
            <a:pPr algn="l" indent="0" marL="0">
              <a:buNone/>
            </a:pPr>
            <a:r>
              <a:rPr lang="en-US" sz="4200" dirty="0">
                <a:solidFill>
                  <a:schemeClr val="bg1"/>
                </a:solidFill>
              </a:rPr>
              <a:t>Where to go next</a:t>
            </a:r>
            <a:endParaRPr lang="en-US" sz="4200" dirty="0"/>
          </a:p>
        </p:txBody>
      </p:sp>
      <p:sp>
        <p:nvSpPr>
          <p:cNvPr id="3" name="Text 0"/>
          <p:cNvSpPr/>
          <p:nvPr>
            <p:ph idx="101" type="body" hasCustomPrompt="1"/>
          </p:nvPr>
        </p:nvSpPr>
        <p:spPr>
          <a:xfrm>
            <a:off x="731520" y="3931920"/>
            <a:ext cx="6766560" cy="868680"/>
          </a:xfrm>
          <a:prstGeom prst="rect">
            <a:avLst/>
          </a:prstGeom>
          <a:noFill/>
          <a:ln/>
        </p:spPr>
        <p:txBody>
          <a:bodyPr wrap="square" lIns="0" tIns="0" rIns="0" bIns="0" rtlCol="0" anchor="t"/>
          <a:lstStyle/>
          <a:p>
            <a:pPr indent="0" marL="0">
              <a:buNone/>
            </a:pPr>
            <a:r>
              <a:rPr lang="en-US" sz="2000" dirty="0">
                <a:solidFill>
                  <a:schemeClr val="accent5"/>
                </a:solidFill>
              </a:rPr>
              <a:t>Demo mode first, then one converter at a time</a:t>
            </a:r>
            <a:endParaRPr lang="en-US" sz="2000" dirty="0"/>
          </a:p>
        </p:txBody>
      </p:sp>
      <p:sp>
        <p:nvSpPr>
          <p:cNvPr id="4" name="Shape 2"/>
          <p:cNvSpPr/>
          <p:nvPr/>
        </p:nvSpPr>
        <p:spPr>
          <a:xfrm>
            <a:off x="9464040" y="1143000"/>
            <a:ext cx="1463040" cy="1463040"/>
          </a:xfrm>
          <a:prstGeom prst="ellipse">
            <a:avLst/>
          </a:prstGeom>
          <a:solidFill>
            <a:schemeClr val="accent5">
              <a:alpha val="18000"/>
            </a:schemeClr>
          </a:solidFill>
          <a:ln/>
        </p:spPr>
      </p:sp>
      <p:pic>
        <p:nvPicPr>
          <p:cNvPr id="5" name="Image 0" descr="preencoded.png">    </p:cNvPr>
          <p:cNvPicPr>
            <a:picLocks noChangeAspect="1"/>
          </p:cNvPicPr>
          <p:nvPr/>
        </p:nvPicPr>
        <p:blipFill>
          <a:blip r:embed="rId1"/>
          <a:stretch>
            <a:fillRect/>
          </a:stretch>
        </p:blipFill>
        <p:spPr>
          <a:xfrm>
            <a:off x="9829800" y="1508760"/>
            <a:ext cx="731520" cy="731520"/>
          </a:xfrm>
          <a:prstGeom prst="rect">
            <a:avLst/>
          </a:prstGeom>
        </p:spPr>
      </p:pic>
      <p:sp>
        <p:nvSpPr>
          <p:cNvPr id="6" name="Text 3"/>
          <p:cNvSpPr txBox="1"/>
          <p:nvPr/>
        </p:nvSpPr>
        <p:spPr>
          <a:xfrm>
            <a:off x="731520" y="4800600"/>
            <a:ext cx="457200" cy="822960"/>
          </a:xfrm>
          <a:prstGeom prst="rect">
            <a:avLst/>
          </a:prstGeom>
          <a:noFill/>
          <a:ln/>
        </p:spPr>
        <p:txBody>
          <a:bodyPr wrap="square" lIns="0" tIns="0" rIns="0" bIns="0" rtlCol="0" anchor="t"/>
          <a:lstStyle/>
          <a:p>
            <a:pPr indent="0" marL="0">
              <a:buNone/>
            </a:pPr>
            <a:r>
              <a:rPr lang="en-US" sz="3000" dirty="0">
                <a:solidFill>
                  <a:schemeClr val="accent5"/>
                </a:solidFill>
                <a:latin typeface="+mj-lt" pitchFamily="34" charset="0"/>
                <a:ea typeface="+mj-lt" pitchFamily="34" charset="-122"/>
                <a:cs typeface="+mj-lt" pitchFamily="34" charset="-120"/>
              </a:rPr>
              <a:t>1</a:t>
            </a:r>
            <a:endParaRPr lang="en-US" sz="3000" dirty="0"/>
          </a:p>
        </p:txBody>
      </p:sp>
      <p:sp>
        <p:nvSpPr>
          <p:cNvPr id="7" name="Text 4"/>
          <p:cNvSpPr txBox="1"/>
          <p:nvPr/>
        </p:nvSpPr>
        <p:spPr>
          <a:xfrm>
            <a:off x="1234440" y="4828032"/>
            <a:ext cx="3017520" cy="329184"/>
          </a:xfrm>
          <a:prstGeom prst="rect">
            <a:avLst/>
          </a:prstGeom>
          <a:noFill/>
          <a:ln/>
        </p:spPr>
        <p:txBody>
          <a:bodyPr wrap="square" lIns="0" tIns="0" rIns="0" bIns="0" rtlCol="0" anchor="t"/>
          <a:lstStyle/>
          <a:p>
            <a:pPr indent="0" marL="0">
              <a:buNone/>
            </a:pPr>
            <a:r>
              <a:rPr lang="en-US" sz="1500" b="1" dirty="0">
                <a:solidFill>
                  <a:schemeClr val="bg1"/>
                </a:solidFill>
              </a:rPr>
              <a:t>Click through Demo mode</a:t>
            </a:r>
            <a:endParaRPr lang="en-US" sz="1500" dirty="0"/>
          </a:p>
        </p:txBody>
      </p:sp>
      <p:sp>
        <p:nvSpPr>
          <p:cNvPr id="8" name="Text 5"/>
          <p:cNvSpPr txBox="1"/>
          <p:nvPr/>
        </p:nvSpPr>
        <p:spPr>
          <a:xfrm>
            <a:off x="1234440" y="5175504"/>
            <a:ext cx="3017520" cy="548640"/>
          </a:xfrm>
          <a:prstGeom prst="rect">
            <a:avLst/>
          </a:prstGeom>
          <a:noFill/>
          <a:ln/>
        </p:spPr>
        <p:txBody>
          <a:bodyPr wrap="square" lIns="0" tIns="0" rIns="0" bIns="0" rtlCol="0" anchor="t"/>
          <a:lstStyle/>
          <a:p>
            <a:pPr indent="0" marL="0">
              <a:buNone/>
            </a:pPr>
            <a:r>
              <a:rPr lang="en-US" sz="1250" dirty="0">
                <a:solidFill>
                  <a:srgbClr val="C9D4E5"/>
                </a:solidFill>
              </a:rPr>
              <a:t>All six steps, the plan's options and a run, no sign-in</a:t>
            </a:r>
            <a:endParaRPr lang="en-US" sz="1250" dirty="0"/>
          </a:p>
        </p:txBody>
      </p:sp>
      <p:sp>
        <p:nvSpPr>
          <p:cNvPr id="9" name="Text 6"/>
          <p:cNvSpPr txBox="1"/>
          <p:nvPr/>
        </p:nvSpPr>
        <p:spPr>
          <a:xfrm>
            <a:off x="4434840" y="4800600"/>
            <a:ext cx="457200" cy="822960"/>
          </a:xfrm>
          <a:prstGeom prst="rect">
            <a:avLst/>
          </a:prstGeom>
          <a:noFill/>
          <a:ln/>
        </p:spPr>
        <p:txBody>
          <a:bodyPr wrap="square" lIns="0" tIns="0" rIns="0" bIns="0" rtlCol="0" anchor="t"/>
          <a:lstStyle/>
          <a:p>
            <a:pPr indent="0" marL="0">
              <a:buNone/>
            </a:pPr>
            <a:r>
              <a:rPr lang="en-US" sz="3000" dirty="0">
                <a:solidFill>
                  <a:schemeClr val="accent5"/>
                </a:solidFill>
                <a:latin typeface="+mj-lt" pitchFamily="34" charset="0"/>
                <a:ea typeface="+mj-lt" pitchFamily="34" charset="-122"/>
                <a:cs typeface="+mj-lt" pitchFamily="34" charset="-120"/>
              </a:rPr>
              <a:t>2</a:t>
            </a:r>
            <a:endParaRPr lang="en-US" sz="3000" dirty="0"/>
          </a:p>
        </p:txBody>
      </p:sp>
      <p:sp>
        <p:nvSpPr>
          <p:cNvPr id="10" name="Text 7"/>
          <p:cNvSpPr txBox="1"/>
          <p:nvPr/>
        </p:nvSpPr>
        <p:spPr>
          <a:xfrm>
            <a:off x="4937760" y="4828032"/>
            <a:ext cx="3017520" cy="329184"/>
          </a:xfrm>
          <a:prstGeom prst="rect">
            <a:avLst/>
          </a:prstGeom>
          <a:noFill/>
          <a:ln/>
        </p:spPr>
        <p:txBody>
          <a:bodyPr wrap="square" lIns="0" tIns="0" rIns="0" bIns="0" rtlCol="0" anchor="t"/>
          <a:lstStyle/>
          <a:p>
            <a:pPr indent="0" marL="0">
              <a:buNone/>
            </a:pPr>
            <a:r>
              <a:rPr lang="en-US" sz="1500" b="1" dirty="0">
                <a:solidFill>
                  <a:schemeClr val="bg1"/>
                </a:solidFill>
              </a:rPr>
              <a:t>Read one item end to end</a:t>
            </a:r>
            <a:endParaRPr lang="en-US" sz="1500" dirty="0"/>
          </a:p>
        </p:txBody>
      </p:sp>
      <p:sp>
        <p:nvSpPr>
          <p:cNvPr id="11" name="Text 8"/>
          <p:cNvSpPr txBox="1"/>
          <p:nvPr/>
        </p:nvSpPr>
        <p:spPr>
          <a:xfrm>
            <a:off x="4937760" y="5175504"/>
            <a:ext cx="3017520" cy="548640"/>
          </a:xfrm>
          <a:prstGeom prst="rect">
            <a:avLst/>
          </a:prstGeom>
          <a:noFill/>
          <a:ln/>
        </p:spPr>
        <p:txBody>
          <a:bodyPr wrap="square" lIns="0" tIns="0" rIns="0" bIns="0" rtlCol="0" anchor="t"/>
          <a:lstStyle/>
          <a:p>
            <a:pPr indent="0" marL="0">
              <a:buNone/>
            </a:pPr>
            <a:r>
              <a:rPr lang="en-US" sz="1250" dirty="0">
                <a:solidFill>
                  <a:srgbClr val="C9D4E5"/>
                </a:solidFill>
              </a:rPr>
              <a:t>Its slide here, its converter, then its tests</a:t>
            </a:r>
            <a:endParaRPr lang="en-US" sz="1250" dirty="0"/>
          </a:p>
        </p:txBody>
      </p:sp>
      <p:sp>
        <p:nvSpPr>
          <p:cNvPr id="12" name="Text 9"/>
          <p:cNvSpPr txBox="1"/>
          <p:nvPr/>
        </p:nvSpPr>
        <p:spPr>
          <a:xfrm>
            <a:off x="8138160" y="4800600"/>
            <a:ext cx="457200" cy="822960"/>
          </a:xfrm>
          <a:prstGeom prst="rect">
            <a:avLst/>
          </a:prstGeom>
          <a:noFill/>
          <a:ln/>
        </p:spPr>
        <p:txBody>
          <a:bodyPr wrap="square" lIns="0" tIns="0" rIns="0" bIns="0" rtlCol="0" anchor="t"/>
          <a:lstStyle/>
          <a:p>
            <a:pPr indent="0" marL="0">
              <a:buNone/>
            </a:pPr>
            <a:r>
              <a:rPr lang="en-US" sz="3000" dirty="0">
                <a:solidFill>
                  <a:schemeClr val="accent5"/>
                </a:solidFill>
                <a:latin typeface="+mj-lt" pitchFamily="34" charset="0"/>
                <a:ea typeface="+mj-lt" pitchFamily="34" charset="-122"/>
                <a:cs typeface="+mj-lt" pitchFamily="34" charset="-120"/>
              </a:rPr>
              <a:t>3</a:t>
            </a:r>
            <a:endParaRPr lang="en-US" sz="3000" dirty="0"/>
          </a:p>
        </p:txBody>
      </p:sp>
      <p:sp>
        <p:nvSpPr>
          <p:cNvPr id="13" name="Text 10"/>
          <p:cNvSpPr txBox="1"/>
          <p:nvPr/>
        </p:nvSpPr>
        <p:spPr>
          <a:xfrm>
            <a:off x="8641080" y="4828032"/>
            <a:ext cx="3017520" cy="329184"/>
          </a:xfrm>
          <a:prstGeom prst="rect">
            <a:avLst/>
          </a:prstGeom>
          <a:noFill/>
          <a:ln/>
        </p:spPr>
        <p:txBody>
          <a:bodyPr wrap="square" lIns="0" tIns="0" rIns="0" bIns="0" rtlCol="0" anchor="t"/>
          <a:lstStyle/>
          <a:p>
            <a:pPr indent="0" marL="0">
              <a:buNone/>
            </a:pPr>
            <a:r>
              <a:rPr lang="en-US" sz="1500" b="1" dirty="0">
                <a:solidFill>
                  <a:schemeClr val="bg1"/>
                </a:solidFill>
              </a:rPr>
              <a:t>Try a small live estate</a:t>
            </a:r>
            <a:endParaRPr lang="en-US" sz="1500" dirty="0"/>
          </a:p>
        </p:txBody>
      </p:sp>
      <p:sp>
        <p:nvSpPr>
          <p:cNvPr id="14" name="Text 11"/>
          <p:cNvSpPr txBox="1"/>
          <p:nvPr/>
        </p:nvSpPr>
        <p:spPr>
          <a:xfrm>
            <a:off x="8641080" y="5175504"/>
            <a:ext cx="3017520" cy="548640"/>
          </a:xfrm>
          <a:prstGeom prst="rect">
            <a:avLst/>
          </a:prstGeom>
          <a:noFill/>
          <a:ln/>
        </p:spPr>
        <p:txBody>
          <a:bodyPr wrap="square" lIns="0" tIns="0" rIns="0" bIns="0" rtlCol="0" anchor="t"/>
          <a:lstStyle/>
          <a:p>
            <a:pPr indent="0" marL="0">
              <a:buNone/>
            </a:pPr>
            <a:r>
              <a:rPr lang="en-US" sz="1250" dirty="0">
                <a:solidFill>
                  <a:srgbClr val="C9D4E5"/>
                </a:solidFill>
              </a:rPr>
              <a:t>A throwaway Fabric workspace, a few objects, then Validate</a:t>
            </a:r>
            <a:endParaRPr lang="en-US" sz="1250" dirty="0"/>
          </a:p>
        </p:txBody>
      </p:sp>
    </p:spTree>
  </p:cSld>
  <p:clrMapOvr>
    <a:masterClrMapping/>
  </p:clrMapOvr>
  <p:transition spd="slow">
    <p:push dir="u"/>
  </p:transition>
</p:sld>
</file>

<file path=ppt/theme/theme1.xml><?xml version="1.0" encoding="utf-8"?>
<a:theme xmlns:a="http://schemas.openxmlformats.org/drawingml/2006/main" name="Synapse to Fabric">
  <a:themeElements>
    <a:clrScheme name="Synapse to Fabric">
      <a:dk1>
        <a:srgbClr val="1B2333"/>
      </a:dk1>
      <a:lt1>
        <a:srgbClr val="FFFFFF"/>
      </a:lt1>
      <a:dk2>
        <a:srgbClr val="0B2545"/>
      </a:dk2>
      <a:lt2>
        <a:srgbClr val="EEF3F7"/>
      </a:lt2>
      <a:accent1>
        <a:srgbClr val="0B7F70"/>
      </a:accent1>
      <a:accent2>
        <a:srgbClr val="4157D6"/>
      </a:accent2>
      <a:accent3>
        <a:srgbClr val="C77C0E"/>
      </a:accent3>
      <a:accent4>
        <a:srgbClr val="C8404F"/>
      </a:accent4>
      <a:accent5>
        <a:srgbClr val="2BB7A3"/>
      </a:accent5>
      <a:accent6>
        <a:srgbClr val="5D6B82"/>
      </a:accent6>
      <a:hlink>
        <a:srgbClr val="1F6FB2"/>
      </a:hlink>
      <a:folHlink>
        <a:srgbClr val="6B4FA0"/>
      </a:folHlink>
    </a:clrScheme>
    <a:fontScheme name="Synapse to Fabric">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79</Slides>
  <Notes>79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79</vt:i4>
      </vt:variant>
    </vt:vector>
  </HeadingPairs>
  <TitlesOfParts>
    <vt:vector size="8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Synapse to Fabric Migration Accelerator: the complete guide</dc:title>
  <dc:subject>Internal learning deck</dc:subject>
  <dc:creator>Synapse to Fabric Migration Accelerator team</dc:creator>
  <cp:lastModifiedBy>Synapse to Fabric Migration Accelerator team</cp:lastModifiedBy>
  <cp:revision>1</cp:revision>
  <dcterms:created xsi:type="dcterms:W3CDTF">2026-10-14T09:43:43Z</dcterms:created>
  <dcterms:modified xsi:type="dcterms:W3CDTF">2026-10-14T09:43:43Z</dcterms:modified>
</cp:coreProperties>
</file>