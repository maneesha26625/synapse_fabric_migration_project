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e595364-6184-58e0-5119-33f5e790932b}">
          <p14:sldIdLst>
            <p14:sldId id="256"/>
          </p14:sldIdLst>
        </p14:section>
        <p14:section name="Comparison" id="{eeb55ddc-a8b5-6f99-3d7f-7372467f507b}">
          <p14:sldIdLst>
            <p14:sldId id="257"/>
            <p14:sldId id="258"/>
            <p14:sldId id="259"/>
            <p14:sldId id="260"/>
            <p14:sldId id="261"/>
            <p14:sldId id="262"/>
          </p14:sldIdLst>
        </p14:section>
        <p14:section name="Positioning" id="{192d52d6-d63b-0f7d-148f-9b53414dfcd9}">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position our accelerator against the two migration assistants Microsoft ships inside Fabric. Sources are the Microsoft Learn pages for each assistant (DW page updated 2026-09-29, Spark page updated 2026-08-13) and the accelerator's own codebase and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DW assistant only handles the warehouse; the Spark assistant only handles data engineering items. Neither touches pipelines, linked services or triggers. Our accelerator covers the whole Synapse workspace but only Synapse as a source today; other platforms are shown as 'coming soon'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reference for all three tools. Microsoft details are from the Learn pages for the DW Migration Assistant (updated 2026-09-29) and the Synapse-to-Fabric Spark migration assistant (updated 2026-08-13). Accelerator details are from the codebase and README. The following slides break each row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 assistant: migrated objects are tables, views, functions, stored procedures and security objects (roles, permissions, DDM). It lists external tables and multi-statement TVFs as unsupported, and IDENTITY as a workaround item. Data moves through a Copy job in Data Factory as a separate step. Ours: tables are created empty, then loaded by one metadata-driven Fabric pipeline per wave; IDENTITY tables go through staging, IDENTITY_INSERT and a reseed; a watermark sync pipeline supports cutover (hard deletes are not propagated).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assistant: Spark pools become Fabric pools and environments; notebooks and SJDs are migrated with their environments; lake databases map to schemas in one lakehouse, with managed Delta tables migrated as OneLake catalog shortcuts (needs a gateway connection). It does not migrate Spark configurations, custom libraries or executor settings, does not support non-Delta tables, and cannot migrate VNET workspaces. Ours rewrites notebook code (mssparkutils to notebookutils, Synapse SQL connector to the Fabric connector and Warehouse) and resolves pipeline references to Fabric item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rule output is repeatable and testable; AI is never applied silently. The LLM path shells out to the Claude Code CLI with no tools, so no API key is needed. If the source changes after a draft was accepted, the run falls back to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in our UI is confirmed before the next opens and can be reset. The Plan step cannot be confirmed while any BLOCKING risk remains. In the DW assistant, testing and rerouting connections is left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Microsoft assistant offers an assessment, readiness score, effort estimate or wave plan, and neither validates the migrated result beyond its run report. Validation in our tool compares row counts, not data checksums.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all three tools share: multi-statement TVFs, Spark custom libraries and configurations, serverless SQL, and SQL-authenticated users (to be replaced with Microsoft Entra users). The Spark assistant also cannot migrate workspaces behind a VNET, and supports Delta tables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can be combined: for example, run our accelerator for the warehouse, Spark and pipelines, and use the Spark assistant only for lake databases until our lake database support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come from the accelerator's open gap list. The lake database approach mirrors what the Spark assistant does: default database to dbo, others as schemas in one lakehouse, managed Delta tables as catalog shortcuts.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1005840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82512"/>
            <a:ext cx="9144000" cy="274320"/>
          </a:xfrm>
          <a:prstGeom prst="rect">
            <a:avLst/>
          </a:prstGeom>
          <a:noFill/>
          <a:ln/>
        </p:spPr>
        <p:txBody>
          <a:bodyPr wrap="square" lIns="0" tIns="0" rIns="0" bIns="0" rtlCol="0" anchor="ctr"/>
          <a:lstStyle/>
          <a:p>
            <a:pPr indent="0" marL="0">
              <a:buNone/>
            </a:pPr>
            <a:r>
              <a:rPr lang="en-US" sz="1000" dirty="0">
                <a:solidFill>
                  <a:schemeClr val="accent6"/>
                </a:solidFill>
              </a:rPr>
              <a:t>Synapse → Fabric Migration Accelerator  ·  Comparison with Microsoft migration assistants</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000" b="1" dirty="0">
                <a:solidFill>
                  <a:schemeClr val="bg1"/>
                </a:solidFill>
              </a:rPr>
              <a:t>Our Migration Accelerator vs Microsoft's Fabric Migration Assistants</a:t>
            </a:r>
            <a:endParaRPr lang="en-US" sz="4000" dirty="0"/>
          </a:p>
        </p:txBody>
      </p:sp>
      <p:sp>
        <p:nvSpPr>
          <p:cNvPr id="3" name="Text 0"/>
          <p:cNvSpPr/>
          <p:nvPr>
            <p:ph idx="101" type="body" hasCustomPrompt="1"/>
          </p:nvPr>
        </p:nvSpPr>
        <p:spPr>
          <a:xfrm>
            <a:off x="731520" y="3794760"/>
            <a:ext cx="10058400" cy="1280160"/>
          </a:xfrm>
          <a:prstGeom prst="rect">
            <a:avLst/>
          </a:prstGeom>
          <a:noFill/>
          <a:ln/>
        </p:spPr>
        <p:txBody>
          <a:bodyPr wrap="square" lIns="0" tIns="0" rIns="0" bIns="0" rtlCol="0" anchor="t"/>
          <a:lstStyle/>
          <a:p>
            <a:pPr indent="0" marL="0">
              <a:buNone/>
            </a:pPr>
            <a:r>
              <a:rPr lang="en-US" sz="1800" dirty="0">
                <a:solidFill>
                  <a:schemeClr val="bg2"/>
                </a:solidFill>
              </a:rPr>
              <a:t>How the Synapse → Fabric Migration Accelerator compares with the Migration Assistant for Fabric Data Warehouse and the Synapse-to-Fabric Spark migration assistant  ·  October 2026</a:t>
            </a:r>
            <a:endParaRPr lang="en-US" sz="1800" dirty="0"/>
          </a:p>
        </p:txBody>
      </p:sp>
      <p:sp>
        <p:nvSpPr>
          <p:cNvPr id="4" name="title dot DW"/>
          <p:cNvSpPr/>
          <p:nvPr/>
        </p:nvSpPr>
        <p:spPr>
          <a:xfrm>
            <a:off x="731520" y="1051560"/>
            <a:ext cx="502920" cy="502920"/>
          </a:xfrm>
          <a:prstGeom prst="ellipse">
            <a:avLst/>
          </a:prstGeom>
          <a:solidFill>
            <a:schemeClr val="accent3"/>
          </a:solidFill>
          <a:ln w="12700">
            <a:solidFill>
              <a:schemeClr val="accent3"/>
            </a:solidFill>
            <a:prstDash val="solid"/>
          </a:ln>
        </p:spPr>
      </p:sp>
      <p:sp>
        <p:nvSpPr>
          <p:cNvPr id="5" name="title dot Spark"/>
          <p:cNvSpPr/>
          <p:nvPr/>
        </p:nvSpPr>
        <p:spPr>
          <a:xfrm>
            <a:off x="1417320" y="1051560"/>
            <a:ext cx="502920" cy="502920"/>
          </a:xfrm>
          <a:prstGeom prst="ellipse">
            <a:avLst/>
          </a:prstGeom>
          <a:solidFill>
            <a:schemeClr val="accent2"/>
          </a:solidFill>
          <a:ln w="12700">
            <a:solidFill>
              <a:schemeClr val="accent2"/>
            </a:solidFill>
            <a:prstDash val="solid"/>
          </a:ln>
        </p:spPr>
      </p:sp>
      <p:sp>
        <p:nvSpPr>
          <p:cNvPr id="6" name="title dot Ours"/>
          <p:cNvSpPr/>
          <p:nvPr/>
        </p:nvSpPr>
        <p:spPr>
          <a:xfrm>
            <a:off x="2103120" y="1051560"/>
            <a:ext cx="502920" cy="50292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Three tools, three different scopes</a:t>
            </a:r>
            <a:endParaRPr lang="en-US" sz="3200" dirty="0"/>
          </a:p>
        </p:txBody>
      </p:sp>
      <p:sp>
        <p:nvSpPr>
          <p:cNvPr id="3" name="card DW Migration Assistant"/>
          <p:cNvSpPr/>
          <p:nvPr/>
        </p:nvSpPr>
        <p:spPr>
          <a:xfrm>
            <a:off x="548640" y="1371600"/>
            <a:ext cx="3474720" cy="4206240"/>
          </a:xfrm>
          <a:prstGeom prst="roundRect">
            <a:avLst>
              <a:gd name="adj" fmla="val 2105"/>
            </a:avLst>
          </a:prstGeom>
          <a:solidFill>
            <a:schemeClr val="bg2"/>
          </a:solidFill>
          <a:ln w="12700">
            <a:solidFill>
              <a:schemeClr val="bg2"/>
            </a:solidFill>
            <a:prstDash val="solid"/>
          </a:ln>
        </p:spPr>
      </p:sp>
      <p:sp>
        <p:nvSpPr>
          <p:cNvPr id="4" name="card dot 0"/>
          <p:cNvSpPr/>
          <p:nvPr/>
        </p:nvSpPr>
        <p:spPr>
          <a:xfrm>
            <a:off x="822960" y="1645920"/>
            <a:ext cx="457200" cy="457200"/>
          </a:xfrm>
          <a:prstGeom prst="ellipse">
            <a:avLst/>
          </a:prstGeom>
          <a:solidFill>
            <a:schemeClr val="accent3"/>
          </a:solidFill>
          <a:ln w="12700">
            <a:solidFill>
              <a:schemeClr val="accent3"/>
            </a:solidFill>
            <a:prstDash val="solid"/>
          </a:ln>
        </p:spPr>
      </p:sp>
      <p:sp>
        <p:nvSpPr>
          <p:cNvPr id="5" name="card dot 0 label"/>
          <p:cNvSpPr txBox="1"/>
          <p:nvPr/>
        </p:nvSpPr>
        <p:spPr>
          <a:xfrm>
            <a:off x="822960" y="16459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card title 0"/>
          <p:cNvSpPr txBox="1"/>
          <p:nvPr/>
        </p:nvSpPr>
        <p:spPr>
          <a:xfrm>
            <a:off x="1417320" y="1627632"/>
            <a:ext cx="2423160" cy="329184"/>
          </a:xfrm>
          <a:prstGeom prst="rect">
            <a:avLst/>
          </a:prstGeom>
          <a:noFill/>
          <a:ln/>
        </p:spPr>
        <p:txBody>
          <a:bodyPr wrap="square" lIns="0" tIns="0" rIns="0" bIns="0" rtlCol="0" anchor="ctr"/>
          <a:lstStyle/>
          <a:p>
            <a:pPr indent="0" marL="0">
              <a:buNone/>
            </a:pPr>
            <a:r>
              <a:rPr lang="en-US" sz="1800" b="1" dirty="0">
                <a:solidFill>
                  <a:schemeClr val="accent3"/>
                </a:solidFill>
              </a:rPr>
              <a:t>DW Migration Assistant</a:t>
            </a:r>
            <a:endParaRPr lang="en-US" sz="1800" dirty="0"/>
          </a:p>
        </p:txBody>
      </p:sp>
      <p:sp>
        <p:nvSpPr>
          <p:cNvPr id="7" name="card tag 0"/>
          <p:cNvSpPr txBox="1"/>
          <p:nvPr/>
        </p:nvSpPr>
        <p:spPr>
          <a:xfrm>
            <a:off x="1417320" y="1956816"/>
            <a:ext cx="2423160" cy="274320"/>
          </a:xfrm>
          <a:prstGeom prst="rect">
            <a:avLst/>
          </a:prstGeom>
          <a:noFill/>
          <a:ln/>
        </p:spPr>
        <p:txBody>
          <a:bodyPr wrap="square" lIns="0" tIns="0" rIns="0" bIns="0" rtlCol="0" anchor="ctr"/>
          <a:lstStyle/>
          <a:p>
            <a:pPr indent="0" marL="0">
              <a:buNone/>
            </a:pPr>
            <a:r>
              <a:rPr lang="en-US" sz="1200" i="1" dirty="0">
                <a:solidFill>
                  <a:schemeClr val="tx1"/>
                </a:solidFill>
              </a:rPr>
              <a:t>Schema-first warehouse migration</a:t>
            </a:r>
            <a:endParaRPr lang="en-US" sz="1200" dirty="0"/>
          </a:p>
        </p:txBody>
      </p:sp>
      <p:sp>
        <p:nvSpPr>
          <p:cNvPr id="8" name="card body 0"/>
          <p:cNvSpPr txBox="1"/>
          <p:nvPr/>
        </p:nvSpPr>
        <p:spPr>
          <a:xfrm>
            <a:off x="822960" y="2423160"/>
            <a:ext cx="2926080" cy="2971800"/>
          </a:xfrm>
          <a:prstGeom prst="rect">
            <a:avLst/>
          </a:prstGeom>
          <a:noFill/>
          <a:ln/>
        </p:spPr>
        <p:txBody>
          <a:bodyPr wrap="square" lIns="0" tIns="0" rIns="0" bIns="0" rtlCol="0" anchor="t"/>
          <a:lstStyle/>
          <a:p>
            <a:pPr indent="0" marL="0">
              <a:buNone/>
            </a:pPr>
            <a:r>
              <a:rPr lang="en-US" sz="1300" b="1" dirty="0">
                <a:solidFill>
                  <a:schemeClr val="tx2"/>
                </a:solidFill>
              </a:rPr>
              <a:t>Where</a:t>
            </a:r>
            <a:endParaRPr lang="en-US" sz="1300" dirty="0"/>
          </a:p>
          <a:p>
            <a:pPr indent="0" marL="0">
              <a:spcAft>
                <a:spcPts val="800"/>
              </a:spcAft>
              <a:buNone/>
            </a:pPr>
            <a:r>
              <a:rPr lang="en-US" sz="1400" dirty="0">
                <a:solidFill>
                  <a:schemeClr val="tx1"/>
                </a:solidFill>
              </a:rPr>
              <a:t>Built into Fabric (Warehouse)</a:t>
            </a:r>
            <a:endParaRPr lang="en-US" sz="1300" dirty="0"/>
          </a:p>
          <a:p>
            <a:pPr indent="0" marL="0">
              <a:buNone/>
            </a:pPr>
            <a:r>
              <a:rPr lang="en-US" sz="1300" b="1" dirty="0">
                <a:solidFill>
                  <a:schemeClr val="tx2"/>
                </a:solidFill>
              </a:rPr>
              <a:t>Sources</a:t>
            </a:r>
            <a:endParaRPr lang="en-US" sz="1300" dirty="0"/>
          </a:p>
          <a:p>
            <a:pPr indent="0" marL="0">
              <a:spcAft>
                <a:spcPts val="800"/>
              </a:spcAft>
              <a:buNone/>
            </a:pPr>
            <a:r>
              <a:rPr lang="en-US" sz="1400" dirty="0">
                <a:solidFill>
                  <a:schemeClr val="tx1"/>
                </a:solidFill>
              </a:rPr>
              <a:t>Synapse dedicated SQL pool, SQL Server, Teradata metadata (preview)</a:t>
            </a:r>
            <a:endParaRPr lang="en-US" sz="1300" dirty="0"/>
          </a:p>
          <a:p>
            <a:pPr indent="0" marL="0">
              <a:buNone/>
            </a:pPr>
            <a:r>
              <a:rPr lang="en-US" sz="1300" b="1" dirty="0">
                <a:solidFill>
                  <a:schemeClr val="tx2"/>
                </a:solidFill>
              </a:rPr>
              <a:t>Input</a:t>
            </a:r>
            <a:endParaRPr lang="en-US" sz="1300" dirty="0"/>
          </a:p>
          <a:p>
            <a:pPr indent="0" marL="0">
              <a:spcAft>
                <a:spcPts val="800"/>
              </a:spcAft>
              <a:buNone/>
            </a:pPr>
            <a:r>
              <a:rPr lang="en-US" sz="1400" dirty="0">
                <a:solidFill>
                  <a:schemeClr val="tx1"/>
                </a:solidFill>
              </a:rPr>
              <a:t>DACPAC, zip of .sql/.bteq files, or live connection</a:t>
            </a:r>
            <a:endParaRPr lang="en-US" sz="1300" dirty="0"/>
          </a:p>
          <a:p>
            <a:pPr indent="0" marL="0">
              <a:buNone/>
            </a:pPr>
            <a:r>
              <a:rPr lang="en-US" sz="1300" b="1" dirty="0">
                <a:solidFill>
                  <a:schemeClr val="tx2"/>
                </a:solidFill>
              </a:rPr>
              <a:t>Moves</a:t>
            </a:r>
            <a:endParaRPr lang="en-US" sz="1300" dirty="0"/>
          </a:p>
          <a:p>
            <a:pPr indent="0" marL="0">
              <a:spcAft>
                <a:spcPts val="800"/>
              </a:spcAft>
              <a:buNone/>
            </a:pPr>
            <a:r>
              <a:rPr lang="en-US" sz="1400" dirty="0">
                <a:solidFill>
                  <a:schemeClr val="tx1"/>
                </a:solidFill>
              </a:rPr>
              <a:t>Tables, views, functions, procedures, security; data via a separate Copy job</a:t>
            </a:r>
            <a:endParaRPr lang="en-US" sz="1300" dirty="0"/>
          </a:p>
        </p:txBody>
      </p:sp>
      <p:sp>
        <p:nvSpPr>
          <p:cNvPr id="9" name="card Spark Migration Assistant"/>
          <p:cNvSpPr/>
          <p:nvPr/>
        </p:nvSpPr>
        <p:spPr>
          <a:xfrm>
            <a:off x="4297680" y="1371600"/>
            <a:ext cx="3474720" cy="4206240"/>
          </a:xfrm>
          <a:prstGeom prst="roundRect">
            <a:avLst>
              <a:gd name="adj" fmla="val 2105"/>
            </a:avLst>
          </a:prstGeom>
          <a:solidFill>
            <a:schemeClr val="bg2"/>
          </a:solidFill>
          <a:ln w="12700">
            <a:solidFill>
              <a:schemeClr val="bg2"/>
            </a:solidFill>
            <a:prstDash val="solid"/>
          </a:ln>
        </p:spPr>
      </p:sp>
      <p:sp>
        <p:nvSpPr>
          <p:cNvPr id="10" name="card dot 1"/>
          <p:cNvSpPr/>
          <p:nvPr/>
        </p:nvSpPr>
        <p:spPr>
          <a:xfrm>
            <a:off x="4572000" y="1645920"/>
            <a:ext cx="457200" cy="457200"/>
          </a:xfrm>
          <a:prstGeom prst="ellipse">
            <a:avLst/>
          </a:prstGeom>
          <a:solidFill>
            <a:schemeClr val="accent2"/>
          </a:solidFill>
          <a:ln w="12700">
            <a:solidFill>
              <a:schemeClr val="accent2"/>
            </a:solidFill>
            <a:prstDash val="solid"/>
          </a:ln>
        </p:spPr>
      </p:sp>
      <p:sp>
        <p:nvSpPr>
          <p:cNvPr id="11" name="card dot 1 label"/>
          <p:cNvSpPr txBox="1"/>
          <p:nvPr/>
        </p:nvSpPr>
        <p:spPr>
          <a:xfrm>
            <a:off x="4572000" y="16459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card title 1"/>
          <p:cNvSpPr txBox="1"/>
          <p:nvPr/>
        </p:nvSpPr>
        <p:spPr>
          <a:xfrm>
            <a:off x="5166360" y="1627632"/>
            <a:ext cx="2423160" cy="329184"/>
          </a:xfrm>
          <a:prstGeom prst="rect">
            <a:avLst/>
          </a:prstGeom>
          <a:noFill/>
          <a:ln/>
        </p:spPr>
        <p:txBody>
          <a:bodyPr wrap="square" lIns="0" tIns="0" rIns="0" bIns="0" rtlCol="0" anchor="ctr"/>
          <a:lstStyle/>
          <a:p>
            <a:pPr indent="0" marL="0">
              <a:buNone/>
            </a:pPr>
            <a:r>
              <a:rPr lang="en-US" sz="1800" b="1" dirty="0">
                <a:solidFill>
                  <a:schemeClr val="accent2"/>
                </a:solidFill>
              </a:rPr>
              <a:t>Spark Migration Assistant</a:t>
            </a:r>
            <a:endParaRPr lang="en-US" sz="1800" dirty="0"/>
          </a:p>
        </p:txBody>
      </p:sp>
      <p:sp>
        <p:nvSpPr>
          <p:cNvPr id="13" name="card tag 1"/>
          <p:cNvSpPr txBox="1"/>
          <p:nvPr/>
        </p:nvSpPr>
        <p:spPr>
          <a:xfrm>
            <a:off x="5166360" y="1956816"/>
            <a:ext cx="2423160" cy="274320"/>
          </a:xfrm>
          <a:prstGeom prst="rect">
            <a:avLst/>
          </a:prstGeom>
          <a:noFill/>
          <a:ln/>
        </p:spPr>
        <p:txBody>
          <a:bodyPr wrap="square" lIns="0" tIns="0" rIns="0" bIns="0" rtlCol="0" anchor="ctr"/>
          <a:lstStyle/>
          <a:p>
            <a:pPr indent="0" marL="0">
              <a:buNone/>
            </a:pPr>
            <a:r>
              <a:rPr lang="en-US" sz="1200" i="1" dirty="0">
                <a:solidFill>
                  <a:schemeClr val="tx1"/>
                </a:solidFill>
              </a:rPr>
              <a:t>Copy of Spark items</a:t>
            </a:r>
            <a:endParaRPr lang="en-US" sz="1200" dirty="0"/>
          </a:p>
        </p:txBody>
      </p:sp>
      <p:sp>
        <p:nvSpPr>
          <p:cNvPr id="14" name="card body 1"/>
          <p:cNvSpPr txBox="1"/>
          <p:nvPr/>
        </p:nvSpPr>
        <p:spPr>
          <a:xfrm>
            <a:off x="4572000" y="2423160"/>
            <a:ext cx="2926080" cy="2971800"/>
          </a:xfrm>
          <a:prstGeom prst="rect">
            <a:avLst/>
          </a:prstGeom>
          <a:noFill/>
          <a:ln/>
        </p:spPr>
        <p:txBody>
          <a:bodyPr wrap="square" lIns="0" tIns="0" rIns="0" bIns="0" rtlCol="0" anchor="t"/>
          <a:lstStyle/>
          <a:p>
            <a:pPr indent="0" marL="0">
              <a:buNone/>
            </a:pPr>
            <a:r>
              <a:rPr lang="en-US" sz="1300" b="1" dirty="0">
                <a:solidFill>
                  <a:schemeClr val="tx2"/>
                </a:solidFill>
              </a:rPr>
              <a:t>Where</a:t>
            </a:r>
            <a:endParaRPr lang="en-US" sz="1300" dirty="0"/>
          </a:p>
          <a:p>
            <a:pPr indent="0" marL="0">
              <a:spcAft>
                <a:spcPts val="800"/>
              </a:spcAft>
              <a:buNone/>
            </a:pPr>
            <a:r>
              <a:rPr lang="en-US" sz="1400" dirty="0">
                <a:solidFill>
                  <a:schemeClr val="tx1"/>
                </a:solidFill>
              </a:rPr>
              <a:t>Built into Fabric (Migrate wizard), public preview</a:t>
            </a:r>
            <a:endParaRPr lang="en-US" sz="1300" dirty="0"/>
          </a:p>
          <a:p>
            <a:pPr indent="0" marL="0">
              <a:buNone/>
            </a:pPr>
            <a:r>
              <a:rPr lang="en-US" sz="1300" b="1" dirty="0">
                <a:solidFill>
                  <a:schemeClr val="tx2"/>
                </a:solidFill>
              </a:rPr>
              <a:t>Sources</a:t>
            </a:r>
            <a:endParaRPr lang="en-US" sz="1300" dirty="0"/>
          </a:p>
          <a:p>
            <a:pPr indent="0" marL="0">
              <a:spcAft>
                <a:spcPts val="800"/>
              </a:spcAft>
              <a:buNone/>
            </a:pPr>
            <a:r>
              <a:rPr lang="en-US" sz="1400" dirty="0">
                <a:solidFill>
                  <a:schemeClr val="tx1"/>
                </a:solidFill>
              </a:rPr>
              <a:t>Synapse workspace Spark items</a:t>
            </a:r>
            <a:endParaRPr lang="en-US" sz="1300" dirty="0"/>
          </a:p>
          <a:p>
            <a:pPr indent="0" marL="0">
              <a:buNone/>
            </a:pPr>
            <a:r>
              <a:rPr lang="en-US" sz="1300" b="1" dirty="0">
                <a:solidFill>
                  <a:schemeClr val="tx2"/>
                </a:solidFill>
              </a:rPr>
              <a:t>Input</a:t>
            </a:r>
            <a:endParaRPr lang="en-US" sz="1300" dirty="0"/>
          </a:p>
          <a:p>
            <a:pPr indent="0" marL="0">
              <a:spcAft>
                <a:spcPts val="800"/>
              </a:spcAft>
              <a:buNone/>
            </a:pPr>
            <a:r>
              <a:rPr lang="en-US" sz="1400" dirty="0">
                <a:solidFill>
                  <a:schemeClr val="tx1"/>
                </a:solidFill>
              </a:rPr>
              <a:t>Source workspace + target workspace + gateway connection</a:t>
            </a:r>
            <a:endParaRPr lang="en-US" sz="1300" dirty="0"/>
          </a:p>
          <a:p>
            <a:pPr indent="0" marL="0">
              <a:buNone/>
            </a:pPr>
            <a:r>
              <a:rPr lang="en-US" sz="1300" b="1" dirty="0">
                <a:solidFill>
                  <a:schemeClr val="tx2"/>
                </a:solidFill>
              </a:rPr>
              <a:t>Moves</a:t>
            </a:r>
            <a:endParaRPr lang="en-US" sz="1300" dirty="0"/>
          </a:p>
          <a:p>
            <a:pPr indent="0" marL="0">
              <a:spcAft>
                <a:spcPts val="800"/>
              </a:spcAft>
              <a:buNone/>
            </a:pPr>
            <a:r>
              <a:rPr lang="en-US" sz="1400" dirty="0">
                <a:solidFill>
                  <a:schemeClr val="tx1"/>
                </a:solidFill>
              </a:rPr>
              <a:t>Spark pools, notebooks, Spark job definitions, lake databases; no data</a:t>
            </a:r>
            <a:endParaRPr lang="en-US" sz="1300" dirty="0"/>
          </a:p>
        </p:txBody>
      </p:sp>
      <p:sp>
        <p:nvSpPr>
          <p:cNvPr id="15" name="card Our Accelerator"/>
          <p:cNvSpPr/>
          <p:nvPr/>
        </p:nvSpPr>
        <p:spPr>
          <a:xfrm>
            <a:off x="8046720" y="1371600"/>
            <a:ext cx="3474720" cy="4206240"/>
          </a:xfrm>
          <a:prstGeom prst="roundRect">
            <a:avLst>
              <a:gd name="adj" fmla="val 2105"/>
            </a:avLst>
          </a:prstGeom>
          <a:solidFill>
            <a:schemeClr val="bg2"/>
          </a:solidFill>
          <a:ln w="12700">
            <a:solidFill>
              <a:schemeClr val="bg2"/>
            </a:solidFill>
            <a:prstDash val="solid"/>
          </a:ln>
        </p:spPr>
      </p:sp>
      <p:sp>
        <p:nvSpPr>
          <p:cNvPr id="16" name="card dot 2"/>
          <p:cNvSpPr/>
          <p:nvPr/>
        </p:nvSpPr>
        <p:spPr>
          <a:xfrm>
            <a:off x="8321040" y="1645920"/>
            <a:ext cx="457200" cy="457200"/>
          </a:xfrm>
          <a:prstGeom prst="ellipse">
            <a:avLst/>
          </a:prstGeom>
          <a:solidFill>
            <a:schemeClr val="accent1"/>
          </a:solidFill>
          <a:ln w="12700">
            <a:solidFill>
              <a:schemeClr val="accent1"/>
            </a:solidFill>
            <a:prstDash val="solid"/>
          </a:ln>
        </p:spPr>
      </p:sp>
      <p:sp>
        <p:nvSpPr>
          <p:cNvPr id="17" name="card dot 2 label"/>
          <p:cNvSpPr txBox="1"/>
          <p:nvPr/>
        </p:nvSpPr>
        <p:spPr>
          <a:xfrm>
            <a:off x="8321040" y="16459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card title 2"/>
          <p:cNvSpPr txBox="1"/>
          <p:nvPr/>
        </p:nvSpPr>
        <p:spPr>
          <a:xfrm>
            <a:off x="8915400" y="1627632"/>
            <a:ext cx="2423160" cy="329184"/>
          </a:xfrm>
          <a:prstGeom prst="rect">
            <a:avLst/>
          </a:prstGeom>
          <a:noFill/>
          <a:ln/>
        </p:spPr>
        <p:txBody>
          <a:bodyPr wrap="square" lIns="0" tIns="0" rIns="0" bIns="0" rtlCol="0" anchor="ctr"/>
          <a:lstStyle/>
          <a:p>
            <a:pPr indent="0" marL="0">
              <a:buNone/>
            </a:pPr>
            <a:r>
              <a:rPr lang="en-US" sz="1800" b="1" dirty="0">
                <a:solidFill>
                  <a:schemeClr val="accent1"/>
                </a:solidFill>
              </a:rPr>
              <a:t>Our Accelerator</a:t>
            </a:r>
            <a:endParaRPr lang="en-US" sz="1800" dirty="0"/>
          </a:p>
        </p:txBody>
      </p:sp>
      <p:sp>
        <p:nvSpPr>
          <p:cNvPr id="19" name="card tag 2"/>
          <p:cNvSpPr txBox="1"/>
          <p:nvPr/>
        </p:nvSpPr>
        <p:spPr>
          <a:xfrm>
            <a:off x="8915400" y="1956816"/>
            <a:ext cx="2423160" cy="274320"/>
          </a:xfrm>
          <a:prstGeom prst="rect">
            <a:avLst/>
          </a:prstGeom>
          <a:noFill/>
          <a:ln/>
        </p:spPr>
        <p:txBody>
          <a:bodyPr wrap="square" lIns="0" tIns="0" rIns="0" bIns="0" rtlCol="0" anchor="ctr"/>
          <a:lstStyle/>
          <a:p>
            <a:pPr indent="0" marL="0">
              <a:buNone/>
            </a:pPr>
            <a:r>
              <a:rPr lang="en-US" sz="1200" i="1" dirty="0">
                <a:solidFill>
                  <a:schemeClr val="tx1"/>
                </a:solidFill>
              </a:rPr>
              <a:t>End-to-end Synapse workspace migration</a:t>
            </a:r>
            <a:endParaRPr lang="en-US" sz="1200" dirty="0"/>
          </a:p>
        </p:txBody>
      </p:sp>
      <p:sp>
        <p:nvSpPr>
          <p:cNvPr id="20" name="card body 2"/>
          <p:cNvSpPr txBox="1"/>
          <p:nvPr/>
        </p:nvSpPr>
        <p:spPr>
          <a:xfrm>
            <a:off x="8321040" y="2423160"/>
            <a:ext cx="2926080" cy="2971800"/>
          </a:xfrm>
          <a:prstGeom prst="rect">
            <a:avLst/>
          </a:prstGeom>
          <a:noFill/>
          <a:ln/>
        </p:spPr>
        <p:txBody>
          <a:bodyPr wrap="square" lIns="0" tIns="0" rIns="0" bIns="0" rtlCol="0" anchor="t"/>
          <a:lstStyle/>
          <a:p>
            <a:pPr indent="0" marL="0">
              <a:buNone/>
            </a:pPr>
            <a:r>
              <a:rPr lang="en-US" sz="1300" b="1" dirty="0">
                <a:solidFill>
                  <a:schemeClr val="tx2"/>
                </a:solidFill>
              </a:rPr>
              <a:t>Where</a:t>
            </a:r>
            <a:endParaRPr lang="en-US" sz="1300" dirty="0"/>
          </a:p>
          <a:p>
            <a:pPr indent="0" marL="0">
              <a:spcAft>
                <a:spcPts val="800"/>
              </a:spcAft>
              <a:buNone/>
            </a:pPr>
            <a:r>
              <a:rPr lang="en-US" sz="1400" dirty="0">
                <a:solidFill>
                  <a:schemeClr val="tx1"/>
                </a:solidFill>
              </a:rPr>
              <a:t>Local web app + Python API (Windows service)</a:t>
            </a:r>
            <a:endParaRPr lang="en-US" sz="1300" dirty="0"/>
          </a:p>
          <a:p>
            <a:pPr indent="0" marL="0">
              <a:buNone/>
            </a:pPr>
            <a:r>
              <a:rPr lang="en-US" sz="1300" b="1" dirty="0">
                <a:solidFill>
                  <a:schemeClr val="tx2"/>
                </a:solidFill>
              </a:rPr>
              <a:t>Sources</a:t>
            </a:r>
            <a:endParaRPr lang="en-US" sz="1300" dirty="0"/>
          </a:p>
          <a:p>
            <a:pPr indent="0" marL="0">
              <a:spcAft>
                <a:spcPts val="800"/>
              </a:spcAft>
              <a:buNone/>
            </a:pPr>
            <a:r>
              <a:rPr lang="en-US" sz="1400" dirty="0">
                <a:solidFill>
                  <a:schemeClr val="tx1"/>
                </a:solidFill>
              </a:rPr>
              <a:t>Synapse workspace: live, or Git/ZIP per branch</a:t>
            </a:r>
            <a:endParaRPr lang="en-US" sz="1300" dirty="0"/>
          </a:p>
          <a:p>
            <a:pPr indent="0" marL="0">
              <a:buNone/>
            </a:pPr>
            <a:r>
              <a:rPr lang="en-US" sz="1300" b="1" dirty="0">
                <a:solidFill>
                  <a:schemeClr val="tx2"/>
                </a:solidFill>
              </a:rPr>
              <a:t>Input</a:t>
            </a:r>
            <a:endParaRPr lang="en-US" sz="1300" dirty="0"/>
          </a:p>
          <a:p>
            <a:pPr indent="0" marL="0">
              <a:spcAft>
                <a:spcPts val="800"/>
              </a:spcAft>
              <a:buNone/>
            </a:pPr>
            <a:r>
              <a:rPr lang="en-US" sz="1400" dirty="0">
                <a:solidFill>
                  <a:schemeClr val="tx1"/>
                </a:solidFill>
              </a:rPr>
              <a:t>Azure sign-in or repo, then a six-step guided journey</a:t>
            </a:r>
            <a:endParaRPr lang="en-US" sz="1300" dirty="0"/>
          </a:p>
          <a:p>
            <a:pPr indent="0" marL="0">
              <a:buNone/>
            </a:pPr>
            <a:r>
              <a:rPr lang="en-US" sz="1300" b="1" dirty="0">
                <a:solidFill>
                  <a:schemeClr val="tx2"/>
                </a:solidFill>
              </a:rPr>
              <a:t>Moves</a:t>
            </a:r>
            <a:endParaRPr lang="en-US" sz="1300" dirty="0"/>
          </a:p>
          <a:p>
            <a:pPr indent="0" marL="0">
              <a:spcAft>
                <a:spcPts val="800"/>
              </a:spcAft>
              <a:buNone/>
            </a:pPr>
            <a:r>
              <a:rPr lang="en-US" sz="1400" dirty="0">
                <a:solidFill>
                  <a:schemeClr val="tx1"/>
                </a:solidFill>
              </a:rPr>
              <a:t>SQL pool, Spark, pipelines, connections, triggers, SQL scripts and data, in 11 stages</a:t>
            </a:r>
            <a:endParaRPr lang="en-US" sz="1300" dirty="0"/>
          </a:p>
        </p:txBody>
      </p:sp>
      <p:sp>
        <p:nvSpPr>
          <p:cNvPr id="21" name="takeaway"/>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600" b="1" dirty="0">
                <a:solidFill>
                  <a:schemeClr val="accent1"/>
                </a:solidFill>
              </a:rPr>
              <a:t>Microsoft splits the migration by workload. Our accelerator treats the Synapse workspace as one migration.</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Synapse to Fabric: Microsoft assistants vs our accelerator</a:t>
            </a:r>
            <a:endParaRPr lang="en-US" sz="3200" dirty="0"/>
          </a:p>
        </p:txBody>
      </p:sp>
      <p:graphicFrame>
        <p:nvGraphicFramePr>
          <p:cNvPr id="4" name="at a glance table"/>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737360"/>
                <a:gridCol w="3017520"/>
                <a:gridCol w="3017520"/>
                <a:gridCol w="3291840"/>
              </a:tblGrid>
              <a:tr h="329184">
                <a:tc>
                  <a:txBody>
                    <a:bodyPr/>
                    <a:lstStyle/>
                    <a:p>
                      <a:pPr indent="0" marL="0">
                        <a:buNone/>
                      </a:pPr>
                      <a:endParaRPr lang="en-US" sz="13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DW Migration Assistant</a:t>
                      </a:r>
                      <a:endParaRPr lang="en-US" sz="13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Spark Migration Assistant</a:t>
                      </a:r>
                      <a:endParaRPr lang="en-US" sz="13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Our Accelerator</a:t>
                      </a:r>
                      <a:endParaRPr lang="en-US" sz="13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What it is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Guided schema and data migration built into Fabric Warehouse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Guided wizard that copies Spark items into a Fabric workspace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Local web app and API that migrates the whole Synapse workspace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Where it runs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Fabric portal, in the Warehouse experience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Fabric portal, Migrate button (public preview)</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Your machine: browser UI and Python API (Windows service)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Sources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Synapse dedicated SQL pool, SQL Server, Teradata metadata (preview)</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Synapse workspace (not behind a VNET)</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Synapse workspace only; other platforms planned</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Inputs needed</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DACPAC, zip of .sql/.bteq files, or a live connection; Copilot on for AI fixes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Subscription, source and target workspaces, gateway connection to ADLS Gen2</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Azure sign-in or a Git/ZIP repo, target Fabric workspace, data-load credentials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What it migrates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Tables, views, functions, procedures, roles, permissions, data masking</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Spark pools, notebooks, Spark job definitions, lake databases (Delta)</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SQL pool objects and security, Spark items, pipelines, connections, triggers, SQL scripts, external tables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Fabric targets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Warehouse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Environments, notebooks, job definitions, Lakehouse schemas and shortcuts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Warehouse, Environments, notebooks, job definitions, pipelines, connections, shortcuts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Data movement</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Separate Copy job in Data Factory</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None; lake tables become shortcuts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Pipeline per wave, plus incremental sync for cutover</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Code conversion</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Automatic; failures fixed by hand or with Copilot</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Copied and adjusted; issues listed in the report</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Fixed rewrite rules, plus an optional AI draft that a person reviews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Assessment and planning</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Fix list ordered by dependencies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Readiness score, risk grades, effort estimate, migration waves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Validation and reports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Manual testing and connection rerouting</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Migration report in the Monitoring Hub</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Schema, definitions, security, row counts, test runs in Fabric; CSV report</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25196">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Not covered</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External tables, multi-statement TVFs, SQL-auth users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Spark configs, custom libraries, non-Delta tables</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Lake databases, Spark libraries, data flows, serverless SQL, rollback</a:t>
                      </a:r>
                      <a:endParaRPr lang="en-US" sz="1100" dirty="0">
                        <a:latin typeface="Calibri" charset="0"/>
                        <a:ea typeface="Calibri" charset="0"/>
                        <a:cs typeface="Calibri" charset="0"/>
                      </a:endParaRPr>
                    </a:p>
                  </a:txBody>
                  <a:tcPr marL="73152" marR="73152" marT="27432" marB="27432"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Coverage: dedicated SQL pool and data</a:t>
            </a:r>
            <a:endParaRPr lang="en-US" sz="3200" dirty="0"/>
          </a:p>
        </p:txBody>
      </p:sp>
      <p:sp>
        <p:nvSpPr>
          <p:cNvPr id="3" name="legend Yes"/>
          <p:cNvSpPr/>
          <p:nvPr/>
        </p:nvSpPr>
        <p:spPr>
          <a:xfrm>
            <a:off x="548640" y="1207008"/>
            <a:ext cx="146304" cy="146304"/>
          </a:xfrm>
          <a:prstGeom prst="ellipse">
            <a:avLst/>
          </a:prstGeom>
          <a:solidFill>
            <a:schemeClr val="accent5"/>
          </a:solidFill>
          <a:ln w="12700">
            <a:solidFill>
              <a:schemeClr val="accent5"/>
            </a:solidFill>
            <a:prstDash val="solid"/>
          </a:ln>
        </p:spPr>
      </p:sp>
      <p:sp>
        <p:nvSpPr>
          <p:cNvPr id="4" name="legend text Yes"/>
          <p:cNvSpPr txBox="1"/>
          <p:nvPr/>
        </p:nvSpPr>
        <p:spPr>
          <a:xfrm>
            <a:off x="768096" y="1143000"/>
            <a:ext cx="822960" cy="274320"/>
          </a:xfrm>
          <a:prstGeom prst="rect">
            <a:avLst/>
          </a:prstGeom>
          <a:noFill/>
          <a:ln/>
        </p:spPr>
        <p:txBody>
          <a:bodyPr wrap="square" lIns="0" tIns="0" rIns="0" bIns="0" rtlCol="0" anchor="ctr"/>
          <a:lstStyle/>
          <a:p>
            <a:pPr indent="0" marL="0">
              <a:buNone/>
            </a:pPr>
            <a:r>
              <a:rPr lang="en-US" sz="1100" dirty="0">
                <a:solidFill>
                  <a:schemeClr val="tx1"/>
                </a:solidFill>
              </a:rPr>
              <a:t>Yes</a:t>
            </a:r>
            <a:endParaRPr lang="en-US" sz="1100" dirty="0"/>
          </a:p>
        </p:txBody>
      </p:sp>
      <p:sp>
        <p:nvSpPr>
          <p:cNvPr id="5" name="legend Partial"/>
          <p:cNvSpPr/>
          <p:nvPr/>
        </p:nvSpPr>
        <p:spPr>
          <a:xfrm>
            <a:off x="1645920" y="1207008"/>
            <a:ext cx="146304" cy="146304"/>
          </a:xfrm>
          <a:prstGeom prst="ellipse">
            <a:avLst/>
          </a:prstGeom>
          <a:solidFill>
            <a:schemeClr val="accent2"/>
          </a:solidFill>
          <a:ln w="12700">
            <a:solidFill>
              <a:schemeClr val="accent2"/>
            </a:solidFill>
            <a:prstDash val="solid"/>
          </a:ln>
        </p:spPr>
      </p:sp>
      <p:sp>
        <p:nvSpPr>
          <p:cNvPr id="6" name="legend text Partial"/>
          <p:cNvSpPr txBox="1"/>
          <p:nvPr/>
        </p:nvSpPr>
        <p:spPr>
          <a:xfrm>
            <a:off x="1865376" y="1143000"/>
            <a:ext cx="822960" cy="274320"/>
          </a:xfrm>
          <a:prstGeom prst="rect">
            <a:avLst/>
          </a:prstGeom>
          <a:noFill/>
          <a:ln/>
        </p:spPr>
        <p:txBody>
          <a:bodyPr wrap="square" lIns="0" tIns="0" rIns="0" bIns="0" rtlCol="0" anchor="ctr"/>
          <a:lstStyle/>
          <a:p>
            <a:pPr indent="0" marL="0">
              <a:buNone/>
            </a:pPr>
            <a:r>
              <a:rPr lang="en-US" sz="1100" dirty="0">
                <a:solidFill>
                  <a:schemeClr val="tx1"/>
                </a:solidFill>
              </a:rPr>
              <a:t>Partial</a:t>
            </a:r>
            <a:endParaRPr lang="en-US" sz="1100" dirty="0"/>
          </a:p>
        </p:txBody>
      </p:sp>
      <p:sp>
        <p:nvSpPr>
          <p:cNvPr id="7" name="legend No"/>
          <p:cNvSpPr/>
          <p:nvPr/>
        </p:nvSpPr>
        <p:spPr>
          <a:xfrm>
            <a:off x="2743200" y="1207008"/>
            <a:ext cx="146304" cy="146304"/>
          </a:xfrm>
          <a:prstGeom prst="ellipse">
            <a:avLst/>
          </a:prstGeom>
          <a:solidFill>
            <a:schemeClr val="accent4"/>
          </a:solidFill>
          <a:ln w="12700">
            <a:solidFill>
              <a:schemeClr val="accent4"/>
            </a:solidFill>
            <a:prstDash val="solid"/>
          </a:ln>
        </p:spPr>
      </p:sp>
      <p:sp>
        <p:nvSpPr>
          <p:cNvPr id="8" name="legend text No"/>
          <p:cNvSpPr txBox="1"/>
          <p:nvPr/>
        </p:nvSpPr>
        <p:spPr>
          <a:xfrm>
            <a:off x="2962656" y="1143000"/>
            <a:ext cx="822960" cy="274320"/>
          </a:xfrm>
          <a:prstGeom prst="rect">
            <a:avLst/>
          </a:prstGeom>
          <a:noFill/>
          <a:ln/>
        </p:spPr>
        <p:txBody>
          <a:bodyPr wrap="square" lIns="0" tIns="0" rIns="0" bIns="0" rtlCol="0" anchor="ctr"/>
          <a:lstStyle/>
          <a:p>
            <a:pPr indent="0" marL="0">
              <a:buNone/>
            </a:pPr>
            <a:r>
              <a:rPr lang="en-US" sz="1100" dirty="0">
                <a:solidFill>
                  <a:schemeClr val="tx1"/>
                </a:solidFill>
              </a:rPr>
              <a:t>No</a:t>
            </a:r>
            <a:endParaRPr lang="en-US" sz="1100" dirty="0"/>
          </a:p>
        </p:txBody>
      </p:sp>
      <p:graphicFrame>
        <p:nvGraphicFramePr>
          <p:cNvPr id="5" name="capability matrix"/>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834640"/>
                <a:gridCol w="2651760"/>
                <a:gridCol w="2651760"/>
                <a:gridCol w="2926080"/>
              </a:tblGrid>
              <a:tr h="402336">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DW Migration Assistant</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Spark Migration Assistant</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Our Accelerator</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Tables, views, procedures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Functions (scalar, inline TVF)</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Multi-statement TVFs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Roles, GRANT/DENY, data masking</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IDENTITY columns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 </a:t>
                      </a:r>
                      <a:pPr indent="0" marL="0">
                        <a:buNone/>
                      </a:pPr>
                      <a:r>
                        <a:rPr lang="en-US" sz="1200" b="1" dirty="0">
                          <a:solidFill>
                            <a:schemeClr val="accent2"/>
                          </a:solidFill>
                          <a:latin typeface="Calibri" pitchFamily="34" charset="0"/>
                          <a:ea typeface="Calibri" pitchFamily="34" charset="-122"/>
                          <a:cs typeface="Calibri" pitchFamily="34" charset="-120"/>
                        </a:rPr>
                        <a:t>Partial</a:t>
                      </a:r>
                      <a:pPr indent="0" marL="0">
                        <a:buNone/>
                      </a:pPr>
                      <a:r>
                        <a:rPr lang="en-US" sz="1200" dirty="0">
                          <a:solidFill>
                            <a:schemeClr val="tx1"/>
                          </a:solidFill>
                          <a:latin typeface="Calibri" pitchFamily="34" charset="0"/>
                          <a:ea typeface="Calibri" pitchFamily="34" charset="-122"/>
                          <a:cs typeface="Calibri" pitchFamily="34" charset="-120"/>
                        </a:rPr>
                        <a:t> — workaround guidance</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load + reseed</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External tables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OneLake shortcuts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Table data</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 </a:t>
                      </a:r>
                      <a:pPr indent="0" marL="0">
                        <a:buNone/>
                      </a:pPr>
                      <a:r>
                        <a:rPr lang="en-US" sz="1200" b="1" dirty="0">
                          <a:solidFill>
                            <a:schemeClr val="accent2"/>
                          </a:solidFill>
                          <a:latin typeface="Calibri" pitchFamily="34" charset="0"/>
                          <a:ea typeface="Calibri" pitchFamily="34" charset="-122"/>
                          <a:cs typeface="Calibri" pitchFamily="34" charset="-120"/>
                        </a:rPr>
                        <a:t>Partial</a:t>
                      </a:r>
                      <a:pPr indent="0" marL="0">
                        <a:buNone/>
                      </a:pPr>
                      <a:r>
                        <a:rPr lang="en-US" sz="1200" dirty="0">
                          <a:solidFill>
                            <a:schemeClr val="tx1"/>
                          </a:solidFill>
                          <a:latin typeface="Calibri" pitchFamily="34" charset="0"/>
                          <a:ea typeface="Calibri" pitchFamily="34" charset="-122"/>
                          <a:cs typeface="Calibri" pitchFamily="34" charset="-120"/>
                        </a:rPr>
                        <a:t> — separate Copy job</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pPr indent="0" marL="0">
                        <a:buNone/>
                      </a:pPr>
                      <a:r>
                        <a:rPr lang="en-US" sz="1200" dirty="0">
                          <a:solidFill>
                            <a:schemeClr val="tx1"/>
                          </a:solidFill>
                          <a:latin typeface="Calibri" pitchFamily="34" charset="0"/>
                          <a:ea typeface="Calibri" pitchFamily="34" charset="-122"/>
                          <a:cs typeface="Calibri" pitchFamily="34" charset="-120"/>
                        </a:rPr>
                        <a:t> — no data moved</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pipeline per wave</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Incremental sync for cutover</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watermark pipeline</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Serverless SQL pool</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pPr indent="0" marL="0">
                        <a:buNone/>
                      </a:pPr>
                      <a:r>
                        <a:rPr lang="en-US" sz="1200" dirty="0">
                          <a:solidFill>
                            <a:schemeClr val="tx1"/>
                          </a:solidFill>
                          <a:latin typeface="Calibri" pitchFamily="34" charset="0"/>
                          <a:ea typeface="Calibri" pitchFamily="34" charset="-122"/>
                          <a:cs typeface="Calibri" pitchFamily="34" charset="-120"/>
                        </a:rPr>
                        <a:t> — flagged only</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SQL Server / Teradata sources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pPr indent="0" marL="0">
                        <a:buNone/>
                      </a:pPr>
                      <a:r>
                        <a:rPr lang="en-US" sz="1200" dirty="0">
                          <a:solidFill>
                            <a:schemeClr val="tx1"/>
                          </a:solidFill>
                          <a:latin typeface="Calibri" pitchFamily="34" charset="0"/>
                          <a:ea typeface="Calibri" pitchFamily="34" charset="-122"/>
                          <a:cs typeface="Calibri" pitchFamily="34" charset="-120"/>
                        </a:rPr>
                        <a:t> — planned</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Coverage: Spark and orchestration</a:t>
            </a:r>
            <a:endParaRPr lang="en-US" sz="3200" dirty="0"/>
          </a:p>
        </p:txBody>
      </p:sp>
      <p:sp>
        <p:nvSpPr>
          <p:cNvPr id="3" name="legend Yes"/>
          <p:cNvSpPr/>
          <p:nvPr/>
        </p:nvSpPr>
        <p:spPr>
          <a:xfrm>
            <a:off x="548640" y="1207008"/>
            <a:ext cx="146304" cy="146304"/>
          </a:xfrm>
          <a:prstGeom prst="ellipse">
            <a:avLst/>
          </a:prstGeom>
          <a:solidFill>
            <a:schemeClr val="accent5"/>
          </a:solidFill>
          <a:ln w="12700">
            <a:solidFill>
              <a:schemeClr val="accent5"/>
            </a:solidFill>
            <a:prstDash val="solid"/>
          </a:ln>
        </p:spPr>
      </p:sp>
      <p:sp>
        <p:nvSpPr>
          <p:cNvPr id="4" name="legend text Yes"/>
          <p:cNvSpPr txBox="1"/>
          <p:nvPr/>
        </p:nvSpPr>
        <p:spPr>
          <a:xfrm>
            <a:off x="768096" y="1143000"/>
            <a:ext cx="822960" cy="274320"/>
          </a:xfrm>
          <a:prstGeom prst="rect">
            <a:avLst/>
          </a:prstGeom>
          <a:noFill/>
          <a:ln/>
        </p:spPr>
        <p:txBody>
          <a:bodyPr wrap="square" lIns="0" tIns="0" rIns="0" bIns="0" rtlCol="0" anchor="ctr"/>
          <a:lstStyle/>
          <a:p>
            <a:pPr indent="0" marL="0">
              <a:buNone/>
            </a:pPr>
            <a:r>
              <a:rPr lang="en-US" sz="1100" dirty="0">
                <a:solidFill>
                  <a:schemeClr val="tx1"/>
                </a:solidFill>
              </a:rPr>
              <a:t>Yes</a:t>
            </a:r>
            <a:endParaRPr lang="en-US" sz="1100" dirty="0"/>
          </a:p>
        </p:txBody>
      </p:sp>
      <p:sp>
        <p:nvSpPr>
          <p:cNvPr id="5" name="legend Partial"/>
          <p:cNvSpPr/>
          <p:nvPr/>
        </p:nvSpPr>
        <p:spPr>
          <a:xfrm>
            <a:off x="1645920" y="1207008"/>
            <a:ext cx="146304" cy="146304"/>
          </a:xfrm>
          <a:prstGeom prst="ellipse">
            <a:avLst/>
          </a:prstGeom>
          <a:solidFill>
            <a:schemeClr val="accent2"/>
          </a:solidFill>
          <a:ln w="12700">
            <a:solidFill>
              <a:schemeClr val="accent2"/>
            </a:solidFill>
            <a:prstDash val="solid"/>
          </a:ln>
        </p:spPr>
      </p:sp>
      <p:sp>
        <p:nvSpPr>
          <p:cNvPr id="6" name="legend text Partial"/>
          <p:cNvSpPr txBox="1"/>
          <p:nvPr/>
        </p:nvSpPr>
        <p:spPr>
          <a:xfrm>
            <a:off x="1865376" y="1143000"/>
            <a:ext cx="822960" cy="274320"/>
          </a:xfrm>
          <a:prstGeom prst="rect">
            <a:avLst/>
          </a:prstGeom>
          <a:noFill/>
          <a:ln/>
        </p:spPr>
        <p:txBody>
          <a:bodyPr wrap="square" lIns="0" tIns="0" rIns="0" bIns="0" rtlCol="0" anchor="ctr"/>
          <a:lstStyle/>
          <a:p>
            <a:pPr indent="0" marL="0">
              <a:buNone/>
            </a:pPr>
            <a:r>
              <a:rPr lang="en-US" sz="1100" dirty="0">
                <a:solidFill>
                  <a:schemeClr val="tx1"/>
                </a:solidFill>
              </a:rPr>
              <a:t>Partial</a:t>
            </a:r>
            <a:endParaRPr lang="en-US" sz="1100" dirty="0"/>
          </a:p>
        </p:txBody>
      </p:sp>
      <p:sp>
        <p:nvSpPr>
          <p:cNvPr id="7" name="legend No"/>
          <p:cNvSpPr/>
          <p:nvPr/>
        </p:nvSpPr>
        <p:spPr>
          <a:xfrm>
            <a:off x="2743200" y="1207008"/>
            <a:ext cx="146304" cy="146304"/>
          </a:xfrm>
          <a:prstGeom prst="ellipse">
            <a:avLst/>
          </a:prstGeom>
          <a:solidFill>
            <a:schemeClr val="accent4"/>
          </a:solidFill>
          <a:ln w="12700">
            <a:solidFill>
              <a:schemeClr val="accent4"/>
            </a:solidFill>
            <a:prstDash val="solid"/>
          </a:ln>
        </p:spPr>
      </p:sp>
      <p:sp>
        <p:nvSpPr>
          <p:cNvPr id="8" name="legend text No"/>
          <p:cNvSpPr txBox="1"/>
          <p:nvPr/>
        </p:nvSpPr>
        <p:spPr>
          <a:xfrm>
            <a:off x="2962656" y="1143000"/>
            <a:ext cx="822960" cy="274320"/>
          </a:xfrm>
          <a:prstGeom prst="rect">
            <a:avLst/>
          </a:prstGeom>
          <a:noFill/>
          <a:ln/>
        </p:spPr>
        <p:txBody>
          <a:bodyPr wrap="square" lIns="0" tIns="0" rIns="0" bIns="0" rtlCol="0" anchor="ctr"/>
          <a:lstStyle/>
          <a:p>
            <a:pPr indent="0" marL="0">
              <a:buNone/>
            </a:pPr>
            <a:r>
              <a:rPr lang="en-US" sz="1100" dirty="0">
                <a:solidFill>
                  <a:schemeClr val="tx1"/>
                </a:solidFill>
              </a:rPr>
              <a:t>No</a:t>
            </a:r>
            <a:endParaRPr lang="en-US" sz="1100" dirty="0"/>
          </a:p>
        </p:txBody>
      </p:sp>
      <p:graphicFrame>
        <p:nvGraphicFramePr>
          <p:cNvPr id="6" name="capability matrix"/>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834640"/>
                <a:gridCol w="2651760"/>
                <a:gridCol w="2651760"/>
                <a:gridCol w="2926080"/>
              </a:tblGrid>
              <a:tr h="402336">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DW Migration Assistant</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Spark Migration Assistant</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Our Accelerator</a:t>
                      </a:r>
                      <a:endParaRPr lang="en-US" sz="13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accent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Spark pools → Environments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Notebooks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with code rewrites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Spark job definitions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Lake databases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Delta tables only</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pPr indent="0" marL="0">
                        <a:buNone/>
                      </a:pPr>
                      <a:r>
                        <a:rPr lang="en-US" sz="1200" dirty="0">
                          <a:solidFill>
                            <a:schemeClr val="tx1"/>
                          </a:solidFill>
                          <a:latin typeface="Calibri" pitchFamily="34" charset="0"/>
                          <a:ea typeface="Calibri" pitchFamily="34" charset="-122"/>
                          <a:cs typeface="Calibri" pitchFamily="34" charset="-120"/>
                        </a:rPr>
                        <a:t> — gap</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Spark configs, custom libraries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 </a:t>
                      </a:r>
                      <a:pPr indent="0" marL="0">
                        <a:buNone/>
                      </a:pPr>
                      <a:r>
                        <a:rPr lang="en-US" sz="1200" b="1" dirty="0">
                          <a:solidFill>
                            <a:schemeClr val="accent2"/>
                          </a:solidFill>
                          <a:latin typeface="Calibri" pitchFamily="34" charset="0"/>
                          <a:ea typeface="Calibri" pitchFamily="34" charset="-122"/>
                          <a:cs typeface="Calibri" pitchFamily="34" charset="-120"/>
                        </a:rPr>
                        <a:t>Partial</a:t>
                      </a:r>
                      <a:pPr indent="0" marL="0">
                        <a:buNone/>
                      </a:pPr>
                      <a:r>
                        <a:rPr lang="en-US" sz="1200" dirty="0">
                          <a:solidFill>
                            <a:schemeClr val="tx1"/>
                          </a:solidFill>
                          <a:latin typeface="Calibri" pitchFamily="34" charset="0"/>
                          <a:ea typeface="Calibri" pitchFamily="34" charset="-122"/>
                          <a:cs typeface="Calibri" pitchFamily="34" charset="-120"/>
                        </a:rPr>
                        <a:t> — found, not moved</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Pipelines (19 activity types)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Linked services → Connections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2"/>
                          </a:solidFill>
                          <a:latin typeface="Calibri" pitchFamily="34" charset="0"/>
                          <a:ea typeface="Calibri" pitchFamily="34" charset="-122"/>
                          <a:cs typeface="Calibri" pitchFamily="34" charset="-120"/>
                        </a:rPr>
                        <a:t>● </a:t>
                      </a:r>
                      <a:pPr indent="0" marL="0">
                        <a:buNone/>
                      </a:pPr>
                      <a:r>
                        <a:rPr lang="en-US" sz="1200" b="1" dirty="0">
                          <a:solidFill>
                            <a:schemeClr val="accent2"/>
                          </a:solidFill>
                          <a:latin typeface="Calibri" pitchFamily="34" charset="0"/>
                          <a:ea typeface="Calibri" pitchFamily="34" charset="-122"/>
                          <a:cs typeface="Calibri" pitchFamily="34" charset="-120"/>
                        </a:rPr>
                        <a:t>Partial</a:t>
                      </a:r>
                      <a:pPr indent="0" marL="0">
                        <a:buNone/>
                      </a:pPr>
                      <a:r>
                        <a:rPr lang="en-US" sz="1200" dirty="0">
                          <a:solidFill>
                            <a:schemeClr val="tx1"/>
                          </a:solidFill>
                          <a:latin typeface="Calibri" pitchFamily="34" charset="0"/>
                          <a:ea typeface="Calibri" pitchFamily="34" charset="-122"/>
                          <a:cs typeface="Calibri" pitchFamily="34" charset="-120"/>
                        </a:rPr>
                        <a:t> — SQL, ADLS, Blob</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Schedule triggers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created switched off</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SQL scripts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 </a:t>
                      </a:r>
                      <a:pPr indent="0" marL="0">
                        <a:buNone/>
                      </a:pPr>
                      <a:r>
                        <a:rPr lang="en-US" sz="1200" b="1" dirty="0">
                          <a:solidFill>
                            <a:schemeClr val="accent5"/>
                          </a:solidFill>
                          <a:latin typeface="Calibri" pitchFamily="34" charset="0"/>
                          <a:ea typeface="Calibri" pitchFamily="34" charset="-122"/>
                          <a:cs typeface="Calibri" pitchFamily="34" charset="-120"/>
                        </a:rPr>
                        <a:t>Yes</a:t>
                      </a:r>
                      <a:pPr indent="0" marL="0">
                        <a:buNone/>
                      </a:pPr>
                      <a:r>
                        <a:rPr lang="en-US" sz="1200" dirty="0">
                          <a:solidFill>
                            <a:schemeClr val="tx1"/>
                          </a:solidFill>
                          <a:latin typeface="Calibri" pitchFamily="34" charset="0"/>
                          <a:ea typeface="Calibri" pitchFamily="34" charset="-122"/>
                          <a:cs typeface="Calibri" pitchFamily="34" charset="-120"/>
                        </a:rPr>
                        <a:t> — T-SQL notebook</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Mapping data flows</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How each tool converts and fixes code</a:t>
            </a:r>
            <a:endParaRPr lang="en-US" sz="3200" dirty="0"/>
          </a:p>
        </p:txBody>
      </p:sp>
      <p:sp>
        <p:nvSpPr>
          <p:cNvPr id="3" name="conv row 0"/>
          <p:cNvSpPr/>
          <p:nvPr/>
        </p:nvSpPr>
        <p:spPr>
          <a:xfrm>
            <a:off x="548640" y="1417320"/>
            <a:ext cx="11064240" cy="1371600"/>
          </a:xfrm>
          <a:prstGeom prst="roundRect">
            <a:avLst>
              <a:gd name="adj" fmla="val 5333"/>
            </a:avLst>
          </a:prstGeom>
          <a:solidFill>
            <a:schemeClr val="bg2"/>
          </a:solidFill>
          <a:ln w="12700">
            <a:solidFill>
              <a:schemeClr val="bg2"/>
            </a:solidFill>
            <a:prstDash val="solid"/>
          </a:ln>
        </p:spPr>
      </p:sp>
      <p:sp>
        <p:nvSpPr>
          <p:cNvPr id="4" name="conv dot 0"/>
          <p:cNvSpPr/>
          <p:nvPr/>
        </p:nvSpPr>
        <p:spPr>
          <a:xfrm>
            <a:off x="777240" y="1828800"/>
            <a:ext cx="548640" cy="548640"/>
          </a:xfrm>
          <a:prstGeom prst="ellipse">
            <a:avLst/>
          </a:prstGeom>
          <a:solidFill>
            <a:schemeClr val="accent3"/>
          </a:solidFill>
          <a:ln w="12700">
            <a:solidFill>
              <a:schemeClr val="accent3"/>
            </a:solidFill>
            <a:prstDash val="solid"/>
          </a:ln>
        </p:spPr>
      </p:sp>
      <p:sp>
        <p:nvSpPr>
          <p:cNvPr id="5" name="conv dot 0 label"/>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conv name 0"/>
          <p:cNvSpPr txBox="1"/>
          <p:nvPr/>
        </p:nvSpPr>
        <p:spPr>
          <a:xfrm>
            <a:off x="1554480" y="1600200"/>
            <a:ext cx="2743200" cy="1005840"/>
          </a:xfrm>
          <a:prstGeom prst="rect">
            <a:avLst/>
          </a:prstGeom>
          <a:noFill/>
          <a:ln/>
        </p:spPr>
        <p:txBody>
          <a:bodyPr wrap="square" lIns="0" tIns="0" rIns="0" bIns="0" rtlCol="0" anchor="ctr"/>
          <a:lstStyle/>
          <a:p>
            <a:pPr indent="0" marL="0">
              <a:buNone/>
            </a:pPr>
            <a:r>
              <a:rPr lang="en-US" sz="1600" b="1" dirty="0">
                <a:solidFill>
                  <a:schemeClr val="accent3"/>
                </a:solidFill>
              </a:rPr>
              <a:t>DW Migration Assistant</a:t>
            </a:r>
            <a:endParaRPr lang="en-US" sz="1600" dirty="0"/>
          </a:p>
        </p:txBody>
      </p:sp>
      <p:sp>
        <p:nvSpPr>
          <p:cNvPr id="7" name="conv body 0"/>
          <p:cNvSpPr txBox="1"/>
          <p:nvPr/>
        </p:nvSpPr>
        <p:spPr>
          <a:xfrm>
            <a:off x="4480560" y="1527048"/>
            <a:ext cx="6949440" cy="1152144"/>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Automatic conversion, then a guided Fix problems step</a:t>
            </a:r>
            <a:endParaRPr lang="en-US" sz="1500" dirty="0"/>
          </a:p>
          <a:p>
            <a:pPr indent="0" marL="0">
              <a:buNone/>
            </a:pPr>
            <a:r>
              <a:rPr lang="en-US" sz="1400" dirty="0">
                <a:solidFill>
                  <a:schemeClr val="tx1"/>
                </a:solidFill>
              </a:rPr>
              <a:t>Failed scripts are split into primary and dependent objects and ordered by how many objects depend on them. Fix them by hand or with Copilot, which comments on what it changed.</a:t>
            </a:r>
            <a:endParaRPr lang="en-US" sz="1500" dirty="0"/>
          </a:p>
        </p:txBody>
      </p:sp>
      <p:sp>
        <p:nvSpPr>
          <p:cNvPr id="8" name="conv row 1"/>
          <p:cNvSpPr/>
          <p:nvPr/>
        </p:nvSpPr>
        <p:spPr>
          <a:xfrm>
            <a:off x="548640" y="3017520"/>
            <a:ext cx="11064240" cy="1371600"/>
          </a:xfrm>
          <a:prstGeom prst="roundRect">
            <a:avLst>
              <a:gd name="adj" fmla="val 5333"/>
            </a:avLst>
          </a:prstGeom>
          <a:solidFill>
            <a:schemeClr val="bg2"/>
          </a:solidFill>
          <a:ln w="12700">
            <a:solidFill>
              <a:schemeClr val="bg2"/>
            </a:solidFill>
            <a:prstDash val="solid"/>
          </a:ln>
        </p:spPr>
      </p:sp>
      <p:sp>
        <p:nvSpPr>
          <p:cNvPr id="9" name="conv dot 1"/>
          <p:cNvSpPr/>
          <p:nvPr/>
        </p:nvSpPr>
        <p:spPr>
          <a:xfrm>
            <a:off x="777240" y="3429000"/>
            <a:ext cx="548640" cy="548640"/>
          </a:xfrm>
          <a:prstGeom prst="ellipse">
            <a:avLst/>
          </a:prstGeom>
          <a:solidFill>
            <a:schemeClr val="accent2"/>
          </a:solidFill>
          <a:ln w="12700">
            <a:solidFill>
              <a:schemeClr val="accent2"/>
            </a:solidFill>
            <a:prstDash val="solid"/>
          </a:ln>
        </p:spPr>
      </p:sp>
      <p:sp>
        <p:nvSpPr>
          <p:cNvPr id="10" name="conv dot 1 label"/>
          <p:cNvSpPr txBox="1"/>
          <p:nvPr/>
        </p:nvSpPr>
        <p:spPr>
          <a:xfrm>
            <a:off x="777240" y="3429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conv name 1"/>
          <p:cNvSpPr txBox="1"/>
          <p:nvPr/>
        </p:nvSpPr>
        <p:spPr>
          <a:xfrm>
            <a:off x="1554480" y="3200400"/>
            <a:ext cx="2743200" cy="1005840"/>
          </a:xfrm>
          <a:prstGeom prst="rect">
            <a:avLst/>
          </a:prstGeom>
          <a:noFill/>
          <a:ln/>
        </p:spPr>
        <p:txBody>
          <a:bodyPr wrap="square" lIns="0" tIns="0" rIns="0" bIns="0" rtlCol="0" anchor="ctr"/>
          <a:lstStyle/>
          <a:p>
            <a:pPr indent="0" marL="0">
              <a:buNone/>
            </a:pPr>
            <a:r>
              <a:rPr lang="en-US" sz="1600" b="1" dirty="0">
                <a:solidFill>
                  <a:schemeClr val="accent2"/>
                </a:solidFill>
              </a:rPr>
              <a:t>Spark Migration Assistant</a:t>
            </a:r>
            <a:endParaRPr lang="en-US" sz="1600" dirty="0"/>
          </a:p>
        </p:txBody>
      </p:sp>
      <p:sp>
        <p:nvSpPr>
          <p:cNvPr id="12" name="conv body 1"/>
          <p:cNvSpPr txBox="1"/>
          <p:nvPr/>
        </p:nvSpPr>
        <p:spPr>
          <a:xfrm>
            <a:off x="4480560" y="3127248"/>
            <a:ext cx="6949440" cy="1152144"/>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Copy and transform, then read the migration report</a:t>
            </a:r>
            <a:endParaRPr lang="en-US" sz="1500" dirty="0"/>
          </a:p>
          <a:p>
            <a:pPr indent="0" marL="0">
              <a:buNone/>
            </a:pPr>
            <a:r>
              <a:rPr lang="en-US" sz="1400" dirty="0">
                <a:solidFill>
                  <a:schemeClr val="tx1"/>
                </a:solidFill>
              </a:rPr>
              <a:t>Items are copied and adjusted to run in Fabric. Errors and warnings appear in the report's Details. There is no guided fix step.</a:t>
            </a:r>
            <a:endParaRPr lang="en-US" sz="1500" dirty="0"/>
          </a:p>
        </p:txBody>
      </p:sp>
      <p:sp>
        <p:nvSpPr>
          <p:cNvPr id="13" name="conv row 2"/>
          <p:cNvSpPr/>
          <p:nvPr/>
        </p:nvSpPr>
        <p:spPr>
          <a:xfrm>
            <a:off x="548640" y="4617720"/>
            <a:ext cx="11064240" cy="1371600"/>
          </a:xfrm>
          <a:prstGeom prst="roundRect">
            <a:avLst>
              <a:gd name="adj" fmla="val 5333"/>
            </a:avLst>
          </a:prstGeom>
          <a:solidFill>
            <a:schemeClr val="bg2"/>
          </a:solidFill>
          <a:ln w="12700">
            <a:solidFill>
              <a:schemeClr val="bg2"/>
            </a:solidFill>
            <a:prstDash val="solid"/>
          </a:ln>
        </p:spPr>
      </p:sp>
      <p:sp>
        <p:nvSpPr>
          <p:cNvPr id="14" name="conv dot 2"/>
          <p:cNvSpPr/>
          <p:nvPr/>
        </p:nvSpPr>
        <p:spPr>
          <a:xfrm>
            <a:off x="777240" y="5029200"/>
            <a:ext cx="548640" cy="548640"/>
          </a:xfrm>
          <a:prstGeom prst="ellipse">
            <a:avLst/>
          </a:prstGeom>
          <a:solidFill>
            <a:schemeClr val="accent1"/>
          </a:solidFill>
          <a:ln w="12700">
            <a:solidFill>
              <a:schemeClr val="accent1"/>
            </a:solidFill>
            <a:prstDash val="solid"/>
          </a:ln>
        </p:spPr>
      </p:sp>
      <p:sp>
        <p:nvSpPr>
          <p:cNvPr id="15" name="conv dot 2 label"/>
          <p:cNvSpPr txBox="1"/>
          <p:nvPr/>
        </p:nvSpPr>
        <p:spPr>
          <a:xfrm>
            <a:off x="777240" y="5029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conv name 2"/>
          <p:cNvSpPr txBox="1"/>
          <p:nvPr/>
        </p:nvSpPr>
        <p:spPr>
          <a:xfrm>
            <a:off x="1554480" y="4800600"/>
            <a:ext cx="2743200" cy="1005840"/>
          </a:xfrm>
          <a:prstGeom prst="rect">
            <a:avLst/>
          </a:prstGeom>
          <a:noFill/>
          <a:ln/>
        </p:spPr>
        <p:txBody>
          <a:bodyPr wrap="square" lIns="0" tIns="0" rIns="0" bIns="0" rtlCol="0" anchor="ctr"/>
          <a:lstStyle/>
          <a:p>
            <a:pPr indent="0" marL="0">
              <a:buNone/>
            </a:pPr>
            <a:r>
              <a:rPr lang="en-US" sz="1600" b="1" dirty="0">
                <a:solidFill>
                  <a:schemeClr val="accent1"/>
                </a:solidFill>
              </a:rPr>
              <a:t>Our Accelerator</a:t>
            </a:r>
            <a:endParaRPr lang="en-US" sz="1600" dirty="0"/>
          </a:p>
        </p:txBody>
      </p:sp>
      <p:sp>
        <p:nvSpPr>
          <p:cNvPr id="17" name="conv body 2"/>
          <p:cNvSpPr txBox="1"/>
          <p:nvPr/>
        </p:nvSpPr>
        <p:spPr>
          <a:xfrm>
            <a:off x="4480560" y="4727448"/>
            <a:ext cx="6949440" cy="1152144"/>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Deterministic rules first, optional reviewed AI draft</a:t>
            </a:r>
            <a:endParaRPr lang="en-US" sz="1500" dirty="0"/>
          </a:p>
          <a:p>
            <a:pPr indent="0" marL="0">
              <a:buNone/>
            </a:pPr>
            <a:r>
              <a:rPr lang="en-US" sz="1400" dirty="0">
                <a:solidFill>
                  <a:schemeClr val="tx1"/>
                </a:solidFill>
              </a:rPr>
              <a:t>7 T-SQL rule families run on masked code, so strings and comments are untouched. A pre-flight check raises about 30 finding codes. An opt-in LLM draft is shown next to the source and the rule output. Automatic checks gate acceptance, and an accepted draft is pinned to a hash of its source.</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The migration journey, side by side</a:t>
            </a:r>
            <a:endParaRPr lang="en-US" sz="3200" dirty="0"/>
          </a:p>
        </p:txBody>
      </p:sp>
      <p:sp>
        <p:nvSpPr>
          <p:cNvPr id="3" name="flow name 0"/>
          <p:cNvSpPr txBox="1"/>
          <p:nvPr/>
        </p:nvSpPr>
        <p:spPr>
          <a:xfrm>
            <a:off x="548640" y="1463040"/>
            <a:ext cx="2103120" cy="822960"/>
          </a:xfrm>
          <a:prstGeom prst="rect">
            <a:avLst/>
          </a:prstGeom>
          <a:noFill/>
          <a:ln/>
        </p:spPr>
        <p:txBody>
          <a:bodyPr wrap="square" lIns="0" tIns="0" rIns="0" bIns="0" rtlCol="0" anchor="ctr"/>
          <a:lstStyle/>
          <a:p>
            <a:pPr indent="0" marL="0">
              <a:buNone/>
            </a:pPr>
            <a:r>
              <a:rPr lang="en-US" sz="1500" b="1" dirty="0">
                <a:solidFill>
                  <a:schemeClr val="accent3"/>
                </a:solidFill>
              </a:rPr>
              <a:t>DW Migration Assistant</a:t>
            </a:r>
            <a:endParaRPr lang="en-US" sz="1500" dirty="0"/>
          </a:p>
        </p:txBody>
      </p:sp>
      <p:sp>
        <p:nvSpPr>
          <p:cNvPr id="4" name="flow 0 step 0"/>
          <p:cNvSpPr/>
          <p:nvPr/>
        </p:nvSpPr>
        <p:spPr>
          <a:xfrm>
            <a:off x="2743200" y="1463040"/>
            <a:ext cx="2011680" cy="822960"/>
          </a:xfrm>
          <a:prstGeom prst="roundRect">
            <a:avLst>
              <a:gd name="adj" fmla="val 8889"/>
            </a:avLst>
          </a:prstGeom>
          <a:solidFill>
            <a:schemeClr val="accent3"/>
          </a:solidFill>
          <a:ln w="12700">
            <a:solidFill>
              <a:schemeClr val="accent3"/>
            </a:solidFill>
            <a:prstDash val="solid"/>
          </a:ln>
        </p:spPr>
      </p:sp>
      <p:sp>
        <p:nvSpPr>
          <p:cNvPr id="5" name="flow 0 step 0 text"/>
          <p:cNvSpPr txBox="1"/>
          <p:nvPr/>
        </p:nvSpPr>
        <p:spPr>
          <a:xfrm>
            <a:off x="2788920" y="1463040"/>
            <a:ext cx="1920240" cy="822960"/>
          </a:xfrm>
          <a:prstGeom prst="rect">
            <a:avLst/>
          </a:prstGeom>
          <a:noFill/>
          <a:ln/>
        </p:spPr>
        <p:txBody>
          <a:bodyPr wrap="square" lIns="0" tIns="0" rIns="0" bIns="0" rtlCol="0" anchor="ctr"/>
          <a:lstStyle/>
          <a:p>
            <a:pPr algn="ctr" indent="0" marL="0">
              <a:buNone/>
            </a:pPr>
            <a:r>
              <a:rPr lang="en-US" sz="1300" b="1" dirty="0">
                <a:solidFill>
                  <a:schemeClr val="bg1"/>
                </a:solidFill>
              </a:rPr>
              <a:t>Upload DACPAC or connect</a:t>
            </a:r>
            <a:endParaRPr lang="en-US" sz="1300" dirty="0"/>
          </a:p>
        </p:txBody>
      </p:sp>
      <p:sp>
        <p:nvSpPr>
          <p:cNvPr id="6" name="flow 0 arrow 0"/>
          <p:cNvSpPr/>
          <p:nvPr/>
        </p:nvSpPr>
        <p:spPr>
          <a:xfrm>
            <a:off x="4828032" y="1737360"/>
            <a:ext cx="137160" cy="274320"/>
          </a:xfrm>
          <a:prstGeom prst="chevron">
            <a:avLst/>
          </a:prstGeom>
          <a:solidFill>
            <a:schemeClr val="accent6"/>
          </a:solidFill>
          <a:ln w="12700">
            <a:solidFill>
              <a:schemeClr val="accent6"/>
            </a:solidFill>
            <a:prstDash val="solid"/>
          </a:ln>
        </p:spPr>
      </p:sp>
      <p:sp>
        <p:nvSpPr>
          <p:cNvPr id="7" name="flow 0 step 1"/>
          <p:cNvSpPr/>
          <p:nvPr/>
        </p:nvSpPr>
        <p:spPr>
          <a:xfrm>
            <a:off x="5029200" y="1463040"/>
            <a:ext cx="2011680" cy="822960"/>
          </a:xfrm>
          <a:prstGeom prst="roundRect">
            <a:avLst>
              <a:gd name="adj" fmla="val 8889"/>
            </a:avLst>
          </a:prstGeom>
          <a:solidFill>
            <a:schemeClr val="accent3"/>
          </a:solidFill>
          <a:ln w="12700">
            <a:solidFill>
              <a:schemeClr val="accent3"/>
            </a:solidFill>
            <a:prstDash val="solid"/>
          </a:ln>
        </p:spPr>
      </p:sp>
      <p:sp>
        <p:nvSpPr>
          <p:cNvPr id="8" name="flow 0 step 1 text"/>
          <p:cNvSpPr txBox="1"/>
          <p:nvPr/>
        </p:nvSpPr>
        <p:spPr>
          <a:xfrm>
            <a:off x="5074920" y="1463040"/>
            <a:ext cx="1920240" cy="822960"/>
          </a:xfrm>
          <a:prstGeom prst="rect">
            <a:avLst/>
          </a:prstGeom>
          <a:noFill/>
          <a:ln/>
        </p:spPr>
        <p:txBody>
          <a:bodyPr wrap="square" lIns="0" tIns="0" rIns="0" bIns="0" rtlCol="0" anchor="ctr"/>
          <a:lstStyle/>
          <a:p>
            <a:pPr algn="ctr" indent="0" marL="0">
              <a:buNone/>
            </a:pPr>
            <a:r>
              <a:rPr lang="en-US" sz="1300" b="1" dirty="0">
                <a:solidFill>
                  <a:schemeClr val="bg1"/>
                </a:solidFill>
              </a:rPr>
              <a:t>Fix problems (Copilot)</a:t>
            </a:r>
            <a:endParaRPr lang="en-US" sz="1300" dirty="0"/>
          </a:p>
        </p:txBody>
      </p:sp>
      <p:sp>
        <p:nvSpPr>
          <p:cNvPr id="9" name="flow 0 arrow 1"/>
          <p:cNvSpPr/>
          <p:nvPr/>
        </p:nvSpPr>
        <p:spPr>
          <a:xfrm>
            <a:off x="7114032" y="1737360"/>
            <a:ext cx="137160" cy="274320"/>
          </a:xfrm>
          <a:prstGeom prst="chevron">
            <a:avLst/>
          </a:prstGeom>
          <a:solidFill>
            <a:schemeClr val="accent6"/>
          </a:solidFill>
          <a:ln w="12700">
            <a:solidFill>
              <a:schemeClr val="accent6"/>
            </a:solidFill>
            <a:prstDash val="solid"/>
          </a:ln>
        </p:spPr>
      </p:sp>
      <p:sp>
        <p:nvSpPr>
          <p:cNvPr id="10" name="flow 0 step 2"/>
          <p:cNvSpPr/>
          <p:nvPr/>
        </p:nvSpPr>
        <p:spPr>
          <a:xfrm>
            <a:off x="7315200" y="1463040"/>
            <a:ext cx="2011680" cy="822960"/>
          </a:xfrm>
          <a:prstGeom prst="roundRect">
            <a:avLst>
              <a:gd name="adj" fmla="val 8889"/>
            </a:avLst>
          </a:prstGeom>
          <a:solidFill>
            <a:schemeClr val="accent3"/>
          </a:solidFill>
          <a:ln w="12700">
            <a:solidFill>
              <a:schemeClr val="accent3"/>
            </a:solidFill>
            <a:prstDash val="solid"/>
          </a:ln>
        </p:spPr>
      </p:sp>
      <p:sp>
        <p:nvSpPr>
          <p:cNvPr id="11" name="flow 0 step 2 text"/>
          <p:cNvSpPr txBox="1"/>
          <p:nvPr/>
        </p:nvSpPr>
        <p:spPr>
          <a:xfrm>
            <a:off x="7360920" y="1463040"/>
            <a:ext cx="1920240" cy="822960"/>
          </a:xfrm>
          <a:prstGeom prst="rect">
            <a:avLst/>
          </a:prstGeom>
          <a:noFill/>
          <a:ln/>
        </p:spPr>
        <p:txBody>
          <a:bodyPr wrap="square" lIns="0" tIns="0" rIns="0" bIns="0" rtlCol="0" anchor="ctr"/>
          <a:lstStyle/>
          <a:p>
            <a:pPr algn="ctr" indent="0" marL="0">
              <a:buNone/>
            </a:pPr>
            <a:r>
              <a:rPr lang="en-US" sz="1300" b="1" dirty="0">
                <a:solidFill>
                  <a:schemeClr val="bg1"/>
                </a:solidFill>
              </a:rPr>
              <a:t>Copy data (Copy job)</a:t>
            </a:r>
            <a:endParaRPr lang="en-US" sz="1300" dirty="0"/>
          </a:p>
        </p:txBody>
      </p:sp>
      <p:sp>
        <p:nvSpPr>
          <p:cNvPr id="12" name="flow 0 arrow 2"/>
          <p:cNvSpPr/>
          <p:nvPr/>
        </p:nvSpPr>
        <p:spPr>
          <a:xfrm>
            <a:off x="9400032" y="1737360"/>
            <a:ext cx="137160" cy="274320"/>
          </a:xfrm>
          <a:prstGeom prst="chevron">
            <a:avLst/>
          </a:prstGeom>
          <a:solidFill>
            <a:schemeClr val="accent6"/>
          </a:solidFill>
          <a:ln w="12700">
            <a:solidFill>
              <a:schemeClr val="accent6"/>
            </a:solidFill>
            <a:prstDash val="solid"/>
          </a:ln>
        </p:spPr>
      </p:sp>
      <p:sp>
        <p:nvSpPr>
          <p:cNvPr id="13" name="flow 0 step 3"/>
          <p:cNvSpPr/>
          <p:nvPr/>
        </p:nvSpPr>
        <p:spPr>
          <a:xfrm>
            <a:off x="9601200" y="1463040"/>
            <a:ext cx="2011680" cy="822960"/>
          </a:xfrm>
          <a:prstGeom prst="roundRect">
            <a:avLst>
              <a:gd name="adj" fmla="val 8889"/>
            </a:avLst>
          </a:prstGeom>
          <a:solidFill>
            <a:schemeClr val="accent3"/>
          </a:solidFill>
          <a:ln w="12700">
            <a:solidFill>
              <a:schemeClr val="accent3"/>
            </a:solidFill>
            <a:prstDash val="solid"/>
          </a:ln>
        </p:spPr>
      </p:sp>
      <p:sp>
        <p:nvSpPr>
          <p:cNvPr id="14" name="flow 0 step 3 text"/>
          <p:cNvSpPr txBox="1"/>
          <p:nvPr/>
        </p:nvSpPr>
        <p:spPr>
          <a:xfrm>
            <a:off x="9646920" y="1463040"/>
            <a:ext cx="1920240" cy="822960"/>
          </a:xfrm>
          <a:prstGeom prst="rect">
            <a:avLst/>
          </a:prstGeom>
          <a:noFill/>
          <a:ln/>
        </p:spPr>
        <p:txBody>
          <a:bodyPr wrap="square" lIns="0" tIns="0" rIns="0" bIns="0" rtlCol="0" anchor="ctr"/>
          <a:lstStyle/>
          <a:p>
            <a:pPr algn="ctr" indent="0" marL="0">
              <a:buNone/>
            </a:pPr>
            <a:r>
              <a:rPr lang="en-US" sz="1300" b="1" dirty="0">
                <a:solidFill>
                  <a:schemeClr val="bg1"/>
                </a:solidFill>
              </a:rPr>
              <a:t>Test and reroute (manual)</a:t>
            </a:r>
            <a:endParaRPr lang="en-US" sz="1300" dirty="0"/>
          </a:p>
        </p:txBody>
      </p:sp>
      <p:sp>
        <p:nvSpPr>
          <p:cNvPr id="15" name="flow name 1"/>
          <p:cNvSpPr txBox="1"/>
          <p:nvPr/>
        </p:nvSpPr>
        <p:spPr>
          <a:xfrm>
            <a:off x="548640" y="2926080"/>
            <a:ext cx="2103120" cy="822960"/>
          </a:xfrm>
          <a:prstGeom prst="rect">
            <a:avLst/>
          </a:prstGeom>
          <a:noFill/>
          <a:ln/>
        </p:spPr>
        <p:txBody>
          <a:bodyPr wrap="square" lIns="0" tIns="0" rIns="0" bIns="0" rtlCol="0" anchor="ctr"/>
          <a:lstStyle/>
          <a:p>
            <a:pPr indent="0" marL="0">
              <a:buNone/>
            </a:pPr>
            <a:r>
              <a:rPr lang="en-US" sz="1500" b="1" dirty="0">
                <a:solidFill>
                  <a:schemeClr val="accent2"/>
                </a:solidFill>
              </a:rPr>
              <a:t>Spark Migration Assistant</a:t>
            </a:r>
            <a:endParaRPr lang="en-US" sz="1500" dirty="0"/>
          </a:p>
        </p:txBody>
      </p:sp>
      <p:sp>
        <p:nvSpPr>
          <p:cNvPr id="16" name="flow 1 step 0"/>
          <p:cNvSpPr/>
          <p:nvPr/>
        </p:nvSpPr>
        <p:spPr>
          <a:xfrm>
            <a:off x="2743200" y="2926080"/>
            <a:ext cx="1554480" cy="822960"/>
          </a:xfrm>
          <a:prstGeom prst="roundRect">
            <a:avLst>
              <a:gd name="adj" fmla="val 8889"/>
            </a:avLst>
          </a:prstGeom>
          <a:solidFill>
            <a:schemeClr val="accent2"/>
          </a:solidFill>
          <a:ln w="12700">
            <a:solidFill>
              <a:schemeClr val="accent2"/>
            </a:solidFill>
            <a:prstDash val="solid"/>
          </a:ln>
        </p:spPr>
      </p:sp>
      <p:sp>
        <p:nvSpPr>
          <p:cNvPr id="17" name="flow 1 step 0 text"/>
          <p:cNvSpPr txBox="1"/>
          <p:nvPr/>
        </p:nvSpPr>
        <p:spPr>
          <a:xfrm>
            <a:off x="2788920" y="2926080"/>
            <a:ext cx="1463040" cy="822960"/>
          </a:xfrm>
          <a:prstGeom prst="rect">
            <a:avLst/>
          </a:prstGeom>
          <a:noFill/>
          <a:ln/>
        </p:spPr>
        <p:txBody>
          <a:bodyPr wrap="square" lIns="0" tIns="0" rIns="0" bIns="0" rtlCol="0" anchor="ctr"/>
          <a:lstStyle/>
          <a:p>
            <a:pPr algn="ctr" indent="0" marL="0">
              <a:buNone/>
            </a:pPr>
            <a:r>
              <a:rPr lang="en-US" sz="1300" b="1" dirty="0">
                <a:solidFill>
                  <a:schemeClr val="bg1"/>
                </a:solidFill>
              </a:rPr>
              <a:t>Pick source workspace</a:t>
            </a:r>
            <a:endParaRPr lang="en-US" sz="1300" dirty="0"/>
          </a:p>
        </p:txBody>
      </p:sp>
      <p:sp>
        <p:nvSpPr>
          <p:cNvPr id="18" name="flow 1 arrow 0"/>
          <p:cNvSpPr/>
          <p:nvPr/>
        </p:nvSpPr>
        <p:spPr>
          <a:xfrm>
            <a:off x="4370832" y="3200400"/>
            <a:ext cx="137160" cy="274320"/>
          </a:xfrm>
          <a:prstGeom prst="chevron">
            <a:avLst/>
          </a:prstGeom>
          <a:solidFill>
            <a:schemeClr val="accent6"/>
          </a:solidFill>
          <a:ln w="12700">
            <a:solidFill>
              <a:schemeClr val="accent6"/>
            </a:solidFill>
            <a:prstDash val="solid"/>
          </a:ln>
        </p:spPr>
      </p:sp>
      <p:sp>
        <p:nvSpPr>
          <p:cNvPr id="19" name="flow 1 step 1"/>
          <p:cNvSpPr/>
          <p:nvPr/>
        </p:nvSpPr>
        <p:spPr>
          <a:xfrm>
            <a:off x="4572000" y="2926080"/>
            <a:ext cx="1554480" cy="822960"/>
          </a:xfrm>
          <a:prstGeom prst="roundRect">
            <a:avLst>
              <a:gd name="adj" fmla="val 8889"/>
            </a:avLst>
          </a:prstGeom>
          <a:solidFill>
            <a:schemeClr val="accent2"/>
          </a:solidFill>
          <a:ln w="12700">
            <a:solidFill>
              <a:schemeClr val="accent2"/>
            </a:solidFill>
            <a:prstDash val="solid"/>
          </a:ln>
        </p:spPr>
      </p:sp>
      <p:sp>
        <p:nvSpPr>
          <p:cNvPr id="20" name="flow 1 step 1 text"/>
          <p:cNvSpPr txBox="1"/>
          <p:nvPr/>
        </p:nvSpPr>
        <p:spPr>
          <a:xfrm>
            <a:off x="4617720" y="2926080"/>
            <a:ext cx="1463040" cy="822960"/>
          </a:xfrm>
          <a:prstGeom prst="rect">
            <a:avLst/>
          </a:prstGeom>
          <a:noFill/>
          <a:ln/>
        </p:spPr>
        <p:txBody>
          <a:bodyPr wrap="square" lIns="0" tIns="0" rIns="0" bIns="0" rtlCol="0" anchor="ctr"/>
          <a:lstStyle/>
          <a:p>
            <a:pPr algn="ctr" indent="0" marL="0">
              <a:buNone/>
            </a:pPr>
            <a:r>
              <a:rPr lang="en-US" sz="1300" b="1" dirty="0">
                <a:solidFill>
                  <a:schemeClr val="bg1"/>
                </a:solidFill>
              </a:rPr>
              <a:t>Pick target workspace</a:t>
            </a:r>
            <a:endParaRPr lang="en-US" sz="1300" dirty="0"/>
          </a:p>
        </p:txBody>
      </p:sp>
      <p:sp>
        <p:nvSpPr>
          <p:cNvPr id="21" name="flow 1 arrow 1"/>
          <p:cNvSpPr/>
          <p:nvPr/>
        </p:nvSpPr>
        <p:spPr>
          <a:xfrm>
            <a:off x="6199632" y="3200400"/>
            <a:ext cx="137160" cy="274320"/>
          </a:xfrm>
          <a:prstGeom prst="chevron">
            <a:avLst/>
          </a:prstGeom>
          <a:solidFill>
            <a:schemeClr val="accent6"/>
          </a:solidFill>
          <a:ln w="12700">
            <a:solidFill>
              <a:schemeClr val="accent6"/>
            </a:solidFill>
            <a:prstDash val="solid"/>
          </a:ln>
        </p:spPr>
      </p:sp>
      <p:sp>
        <p:nvSpPr>
          <p:cNvPr id="22" name="flow 1 step 2"/>
          <p:cNvSpPr/>
          <p:nvPr/>
        </p:nvSpPr>
        <p:spPr>
          <a:xfrm>
            <a:off x="6400800" y="2926080"/>
            <a:ext cx="1554480" cy="822960"/>
          </a:xfrm>
          <a:prstGeom prst="roundRect">
            <a:avLst>
              <a:gd name="adj" fmla="val 8889"/>
            </a:avLst>
          </a:prstGeom>
          <a:solidFill>
            <a:schemeClr val="accent2"/>
          </a:solidFill>
          <a:ln w="12700">
            <a:solidFill>
              <a:schemeClr val="accent2"/>
            </a:solidFill>
            <a:prstDash val="solid"/>
          </a:ln>
        </p:spPr>
      </p:sp>
      <p:sp>
        <p:nvSpPr>
          <p:cNvPr id="23" name="flow 1 step 2 text"/>
          <p:cNvSpPr txBox="1"/>
          <p:nvPr/>
        </p:nvSpPr>
        <p:spPr>
          <a:xfrm>
            <a:off x="6446520" y="2926080"/>
            <a:ext cx="1463040" cy="822960"/>
          </a:xfrm>
          <a:prstGeom prst="rect">
            <a:avLst/>
          </a:prstGeom>
          <a:noFill/>
          <a:ln/>
        </p:spPr>
        <p:txBody>
          <a:bodyPr wrap="square" lIns="0" tIns="0" rIns="0" bIns="0" rtlCol="0" anchor="ctr"/>
          <a:lstStyle/>
          <a:p>
            <a:pPr algn="ctr" indent="0" marL="0">
              <a:buNone/>
            </a:pPr>
            <a:r>
              <a:rPr lang="en-US" sz="1300" b="1" dirty="0">
                <a:solidFill>
                  <a:schemeClr val="bg1"/>
                </a:solidFill>
              </a:rPr>
              <a:t>Gateway connection</a:t>
            </a:r>
            <a:endParaRPr lang="en-US" sz="1300" dirty="0"/>
          </a:p>
        </p:txBody>
      </p:sp>
      <p:sp>
        <p:nvSpPr>
          <p:cNvPr id="24" name="flow 1 arrow 2"/>
          <p:cNvSpPr/>
          <p:nvPr/>
        </p:nvSpPr>
        <p:spPr>
          <a:xfrm>
            <a:off x="8028432" y="3200400"/>
            <a:ext cx="137160" cy="274320"/>
          </a:xfrm>
          <a:prstGeom prst="chevron">
            <a:avLst/>
          </a:prstGeom>
          <a:solidFill>
            <a:schemeClr val="accent6"/>
          </a:solidFill>
          <a:ln w="12700">
            <a:solidFill>
              <a:schemeClr val="accent6"/>
            </a:solidFill>
            <a:prstDash val="solid"/>
          </a:ln>
        </p:spPr>
      </p:sp>
      <p:sp>
        <p:nvSpPr>
          <p:cNvPr id="25" name="flow 1 step 3"/>
          <p:cNvSpPr/>
          <p:nvPr/>
        </p:nvSpPr>
        <p:spPr>
          <a:xfrm>
            <a:off x="8229600" y="2926080"/>
            <a:ext cx="1554480" cy="822960"/>
          </a:xfrm>
          <a:prstGeom prst="roundRect">
            <a:avLst>
              <a:gd name="adj" fmla="val 8889"/>
            </a:avLst>
          </a:prstGeom>
          <a:solidFill>
            <a:schemeClr val="accent2"/>
          </a:solidFill>
          <a:ln w="12700">
            <a:solidFill>
              <a:schemeClr val="accent2"/>
            </a:solidFill>
            <a:prstDash val="solid"/>
          </a:ln>
        </p:spPr>
      </p:sp>
      <p:sp>
        <p:nvSpPr>
          <p:cNvPr id="26" name="flow 1 step 3 text"/>
          <p:cNvSpPr txBox="1"/>
          <p:nvPr/>
        </p:nvSpPr>
        <p:spPr>
          <a:xfrm>
            <a:off x="8275320" y="2926080"/>
            <a:ext cx="1463040" cy="822960"/>
          </a:xfrm>
          <a:prstGeom prst="rect">
            <a:avLst/>
          </a:prstGeom>
          <a:noFill/>
          <a:ln/>
        </p:spPr>
        <p:txBody>
          <a:bodyPr wrap="square" lIns="0" tIns="0" rIns="0" bIns="0" rtlCol="0" anchor="ctr"/>
          <a:lstStyle/>
          <a:p>
            <a:pPr algn="ctr" indent="0" marL="0">
              <a:buNone/>
            </a:pPr>
            <a:r>
              <a:rPr lang="en-US" sz="1300" b="1" dirty="0">
                <a:solidFill>
                  <a:schemeClr val="bg1"/>
                </a:solidFill>
              </a:rPr>
              <a:t>Migrate</a:t>
            </a:r>
            <a:endParaRPr lang="en-US" sz="1300" dirty="0"/>
          </a:p>
        </p:txBody>
      </p:sp>
      <p:sp>
        <p:nvSpPr>
          <p:cNvPr id="27" name="flow 1 arrow 3"/>
          <p:cNvSpPr/>
          <p:nvPr/>
        </p:nvSpPr>
        <p:spPr>
          <a:xfrm>
            <a:off x="9857232" y="3200400"/>
            <a:ext cx="137160" cy="274320"/>
          </a:xfrm>
          <a:prstGeom prst="chevron">
            <a:avLst/>
          </a:prstGeom>
          <a:solidFill>
            <a:schemeClr val="accent6"/>
          </a:solidFill>
          <a:ln w="12700">
            <a:solidFill>
              <a:schemeClr val="accent6"/>
            </a:solidFill>
            <a:prstDash val="solid"/>
          </a:ln>
        </p:spPr>
      </p:sp>
      <p:sp>
        <p:nvSpPr>
          <p:cNvPr id="28" name="flow 1 step 4"/>
          <p:cNvSpPr/>
          <p:nvPr/>
        </p:nvSpPr>
        <p:spPr>
          <a:xfrm>
            <a:off x="10058400" y="2926080"/>
            <a:ext cx="1554480" cy="822960"/>
          </a:xfrm>
          <a:prstGeom prst="roundRect">
            <a:avLst>
              <a:gd name="adj" fmla="val 8889"/>
            </a:avLst>
          </a:prstGeom>
          <a:solidFill>
            <a:schemeClr val="accent2"/>
          </a:solidFill>
          <a:ln w="12700">
            <a:solidFill>
              <a:schemeClr val="accent2"/>
            </a:solidFill>
            <a:prstDash val="solid"/>
          </a:ln>
        </p:spPr>
      </p:sp>
      <p:sp>
        <p:nvSpPr>
          <p:cNvPr id="29" name="flow 1 step 4 text"/>
          <p:cNvSpPr txBox="1"/>
          <p:nvPr/>
        </p:nvSpPr>
        <p:spPr>
          <a:xfrm>
            <a:off x="10104120" y="2926080"/>
            <a:ext cx="1463040" cy="822960"/>
          </a:xfrm>
          <a:prstGeom prst="rect">
            <a:avLst/>
          </a:prstGeom>
          <a:noFill/>
          <a:ln/>
        </p:spPr>
        <p:txBody>
          <a:bodyPr wrap="square" lIns="0" tIns="0" rIns="0" bIns="0" rtlCol="0" anchor="ctr"/>
          <a:lstStyle/>
          <a:p>
            <a:pPr algn="ctr" indent="0" marL="0">
              <a:buNone/>
            </a:pPr>
            <a:r>
              <a:rPr lang="en-US" sz="1300" b="1" dirty="0">
                <a:solidFill>
                  <a:schemeClr val="bg1"/>
                </a:solidFill>
              </a:rPr>
              <a:t>Migration report</a:t>
            </a:r>
            <a:endParaRPr lang="en-US" sz="1300" dirty="0"/>
          </a:p>
        </p:txBody>
      </p:sp>
      <p:sp>
        <p:nvSpPr>
          <p:cNvPr id="30" name="flow name 2"/>
          <p:cNvSpPr txBox="1"/>
          <p:nvPr/>
        </p:nvSpPr>
        <p:spPr>
          <a:xfrm>
            <a:off x="548640" y="4389120"/>
            <a:ext cx="2103120" cy="822960"/>
          </a:xfrm>
          <a:prstGeom prst="rect">
            <a:avLst/>
          </a:prstGeom>
          <a:noFill/>
          <a:ln/>
        </p:spPr>
        <p:txBody>
          <a:bodyPr wrap="square" lIns="0" tIns="0" rIns="0" bIns="0" rtlCol="0" anchor="ctr"/>
          <a:lstStyle/>
          <a:p>
            <a:pPr indent="0" marL="0">
              <a:buNone/>
            </a:pPr>
            <a:r>
              <a:rPr lang="en-US" sz="1500" b="1" dirty="0">
                <a:solidFill>
                  <a:schemeClr val="accent1"/>
                </a:solidFill>
              </a:rPr>
              <a:t>Our Accelerator</a:t>
            </a:r>
            <a:endParaRPr lang="en-US" sz="1500" dirty="0"/>
          </a:p>
        </p:txBody>
      </p:sp>
      <p:sp>
        <p:nvSpPr>
          <p:cNvPr id="31" name="flow 2 step 0"/>
          <p:cNvSpPr/>
          <p:nvPr/>
        </p:nvSpPr>
        <p:spPr>
          <a:xfrm>
            <a:off x="2743200" y="4389120"/>
            <a:ext cx="1249680" cy="822960"/>
          </a:xfrm>
          <a:prstGeom prst="roundRect">
            <a:avLst>
              <a:gd name="adj" fmla="val 8889"/>
            </a:avLst>
          </a:prstGeom>
          <a:solidFill>
            <a:schemeClr val="accent1"/>
          </a:solidFill>
          <a:ln w="12700">
            <a:solidFill>
              <a:schemeClr val="accent1"/>
            </a:solidFill>
            <a:prstDash val="solid"/>
          </a:ln>
        </p:spPr>
      </p:sp>
      <p:sp>
        <p:nvSpPr>
          <p:cNvPr id="32" name="flow 2 step 0 text"/>
          <p:cNvSpPr txBox="1"/>
          <p:nvPr/>
        </p:nvSpPr>
        <p:spPr>
          <a:xfrm>
            <a:off x="2788920" y="4389120"/>
            <a:ext cx="1158240" cy="822960"/>
          </a:xfrm>
          <a:prstGeom prst="rect">
            <a:avLst/>
          </a:prstGeom>
          <a:noFill/>
          <a:ln/>
        </p:spPr>
        <p:txBody>
          <a:bodyPr wrap="square" lIns="0" tIns="0" rIns="0" bIns="0" rtlCol="0" anchor="ctr"/>
          <a:lstStyle/>
          <a:p>
            <a:pPr algn="ctr" indent="0" marL="0">
              <a:buNone/>
            </a:pPr>
            <a:r>
              <a:rPr lang="en-US" sz="1300" b="1" dirty="0">
                <a:solidFill>
                  <a:schemeClr val="bg1"/>
                </a:solidFill>
              </a:rPr>
              <a:t>Discover</a:t>
            </a:r>
            <a:endParaRPr lang="en-US" sz="1300" dirty="0"/>
          </a:p>
        </p:txBody>
      </p:sp>
      <p:sp>
        <p:nvSpPr>
          <p:cNvPr id="33" name="flow 2 arrow 0"/>
          <p:cNvSpPr/>
          <p:nvPr/>
        </p:nvSpPr>
        <p:spPr>
          <a:xfrm>
            <a:off x="4066032" y="4663440"/>
            <a:ext cx="137160" cy="274320"/>
          </a:xfrm>
          <a:prstGeom prst="chevron">
            <a:avLst/>
          </a:prstGeom>
          <a:solidFill>
            <a:schemeClr val="accent6"/>
          </a:solidFill>
          <a:ln w="12700">
            <a:solidFill>
              <a:schemeClr val="accent6"/>
            </a:solidFill>
            <a:prstDash val="solid"/>
          </a:ln>
        </p:spPr>
      </p:sp>
      <p:sp>
        <p:nvSpPr>
          <p:cNvPr id="34" name="flow 2 step 1"/>
          <p:cNvSpPr/>
          <p:nvPr/>
        </p:nvSpPr>
        <p:spPr>
          <a:xfrm>
            <a:off x="4267200" y="4389120"/>
            <a:ext cx="1249680" cy="822960"/>
          </a:xfrm>
          <a:prstGeom prst="roundRect">
            <a:avLst>
              <a:gd name="adj" fmla="val 8889"/>
            </a:avLst>
          </a:prstGeom>
          <a:solidFill>
            <a:schemeClr val="accent1"/>
          </a:solidFill>
          <a:ln w="12700">
            <a:solidFill>
              <a:schemeClr val="accent1"/>
            </a:solidFill>
            <a:prstDash val="solid"/>
          </a:ln>
        </p:spPr>
      </p:sp>
      <p:sp>
        <p:nvSpPr>
          <p:cNvPr id="35" name="flow 2 step 1 text"/>
          <p:cNvSpPr txBox="1"/>
          <p:nvPr/>
        </p:nvSpPr>
        <p:spPr>
          <a:xfrm>
            <a:off x="4312920" y="4389120"/>
            <a:ext cx="1158240" cy="822960"/>
          </a:xfrm>
          <a:prstGeom prst="rect">
            <a:avLst/>
          </a:prstGeom>
          <a:noFill/>
          <a:ln/>
        </p:spPr>
        <p:txBody>
          <a:bodyPr wrap="square" lIns="0" tIns="0" rIns="0" bIns="0" rtlCol="0" anchor="ctr"/>
          <a:lstStyle/>
          <a:p>
            <a:pPr algn="ctr" indent="0" marL="0">
              <a:buNone/>
            </a:pPr>
            <a:r>
              <a:rPr lang="en-US" sz="1300" b="1" dirty="0">
                <a:solidFill>
                  <a:schemeClr val="bg1"/>
                </a:solidFill>
              </a:rPr>
              <a:t>Assess</a:t>
            </a:r>
            <a:endParaRPr lang="en-US" sz="1300" dirty="0"/>
          </a:p>
        </p:txBody>
      </p:sp>
      <p:sp>
        <p:nvSpPr>
          <p:cNvPr id="36" name="flow 2 arrow 1"/>
          <p:cNvSpPr/>
          <p:nvPr/>
        </p:nvSpPr>
        <p:spPr>
          <a:xfrm>
            <a:off x="5590032" y="4663440"/>
            <a:ext cx="137160" cy="274320"/>
          </a:xfrm>
          <a:prstGeom prst="chevron">
            <a:avLst/>
          </a:prstGeom>
          <a:solidFill>
            <a:schemeClr val="accent6"/>
          </a:solidFill>
          <a:ln w="12700">
            <a:solidFill>
              <a:schemeClr val="accent6"/>
            </a:solidFill>
            <a:prstDash val="solid"/>
          </a:ln>
        </p:spPr>
      </p:sp>
      <p:sp>
        <p:nvSpPr>
          <p:cNvPr id="37" name="flow 2 step 2"/>
          <p:cNvSpPr/>
          <p:nvPr/>
        </p:nvSpPr>
        <p:spPr>
          <a:xfrm>
            <a:off x="5791200" y="4389120"/>
            <a:ext cx="1249680" cy="822960"/>
          </a:xfrm>
          <a:prstGeom prst="roundRect">
            <a:avLst>
              <a:gd name="adj" fmla="val 8889"/>
            </a:avLst>
          </a:prstGeom>
          <a:solidFill>
            <a:schemeClr val="accent1"/>
          </a:solidFill>
          <a:ln w="12700">
            <a:solidFill>
              <a:schemeClr val="accent1"/>
            </a:solidFill>
            <a:prstDash val="solid"/>
          </a:ln>
        </p:spPr>
      </p:sp>
      <p:sp>
        <p:nvSpPr>
          <p:cNvPr id="38" name="flow 2 step 2 text"/>
          <p:cNvSpPr txBox="1"/>
          <p:nvPr/>
        </p:nvSpPr>
        <p:spPr>
          <a:xfrm>
            <a:off x="5836920" y="4389120"/>
            <a:ext cx="1158240" cy="822960"/>
          </a:xfrm>
          <a:prstGeom prst="rect">
            <a:avLst/>
          </a:prstGeom>
          <a:noFill/>
          <a:ln/>
        </p:spPr>
        <p:txBody>
          <a:bodyPr wrap="square" lIns="0" tIns="0" rIns="0" bIns="0" rtlCol="0" anchor="ctr"/>
          <a:lstStyle/>
          <a:p>
            <a:pPr algn="ctr" indent="0" marL="0">
              <a:buNone/>
            </a:pPr>
            <a:r>
              <a:rPr lang="en-US" sz="1300" b="1" dirty="0">
                <a:solidFill>
                  <a:schemeClr val="bg1"/>
                </a:solidFill>
              </a:rPr>
              <a:t>Waves</a:t>
            </a:r>
            <a:endParaRPr lang="en-US" sz="1300" dirty="0"/>
          </a:p>
        </p:txBody>
      </p:sp>
      <p:sp>
        <p:nvSpPr>
          <p:cNvPr id="39" name="flow 2 arrow 2"/>
          <p:cNvSpPr/>
          <p:nvPr/>
        </p:nvSpPr>
        <p:spPr>
          <a:xfrm>
            <a:off x="7114032" y="4663440"/>
            <a:ext cx="137160" cy="274320"/>
          </a:xfrm>
          <a:prstGeom prst="chevron">
            <a:avLst/>
          </a:prstGeom>
          <a:solidFill>
            <a:schemeClr val="accent6"/>
          </a:solidFill>
          <a:ln w="12700">
            <a:solidFill>
              <a:schemeClr val="accent6"/>
            </a:solidFill>
            <a:prstDash val="solid"/>
          </a:ln>
        </p:spPr>
      </p:sp>
      <p:sp>
        <p:nvSpPr>
          <p:cNvPr id="40" name="flow 2 step 3"/>
          <p:cNvSpPr/>
          <p:nvPr/>
        </p:nvSpPr>
        <p:spPr>
          <a:xfrm>
            <a:off x="7315200" y="4389120"/>
            <a:ext cx="1249680" cy="822960"/>
          </a:xfrm>
          <a:prstGeom prst="roundRect">
            <a:avLst>
              <a:gd name="adj" fmla="val 8889"/>
            </a:avLst>
          </a:prstGeom>
          <a:solidFill>
            <a:schemeClr val="accent1"/>
          </a:solidFill>
          <a:ln w="12700">
            <a:solidFill>
              <a:schemeClr val="accent1"/>
            </a:solidFill>
            <a:prstDash val="solid"/>
          </a:ln>
        </p:spPr>
      </p:sp>
      <p:sp>
        <p:nvSpPr>
          <p:cNvPr id="41" name="flow 2 step 3 text"/>
          <p:cNvSpPr txBox="1"/>
          <p:nvPr/>
        </p:nvSpPr>
        <p:spPr>
          <a:xfrm>
            <a:off x="7360920" y="4389120"/>
            <a:ext cx="1158240" cy="822960"/>
          </a:xfrm>
          <a:prstGeom prst="rect">
            <a:avLst/>
          </a:prstGeom>
          <a:noFill/>
          <a:ln/>
        </p:spPr>
        <p:txBody>
          <a:bodyPr wrap="square" lIns="0" tIns="0" rIns="0" bIns="0" rtlCol="0" anchor="ctr"/>
          <a:lstStyle/>
          <a:p>
            <a:pPr algn="ctr" indent="0" marL="0">
              <a:buNone/>
            </a:pPr>
            <a:r>
              <a:rPr lang="en-US" sz="1300" b="1" dirty="0">
                <a:solidFill>
                  <a:schemeClr val="bg1"/>
                </a:solidFill>
              </a:rPr>
              <a:t>Plan</a:t>
            </a:r>
            <a:endParaRPr lang="en-US" sz="1300" dirty="0"/>
          </a:p>
        </p:txBody>
      </p:sp>
      <p:sp>
        <p:nvSpPr>
          <p:cNvPr id="42" name="flow 2 arrow 3"/>
          <p:cNvSpPr/>
          <p:nvPr/>
        </p:nvSpPr>
        <p:spPr>
          <a:xfrm>
            <a:off x="8638032" y="4663440"/>
            <a:ext cx="137160" cy="274320"/>
          </a:xfrm>
          <a:prstGeom prst="chevron">
            <a:avLst/>
          </a:prstGeom>
          <a:solidFill>
            <a:schemeClr val="accent6"/>
          </a:solidFill>
          <a:ln w="12700">
            <a:solidFill>
              <a:schemeClr val="accent6"/>
            </a:solidFill>
            <a:prstDash val="solid"/>
          </a:ln>
        </p:spPr>
      </p:sp>
      <p:sp>
        <p:nvSpPr>
          <p:cNvPr id="43" name="flow 2 step 4"/>
          <p:cNvSpPr/>
          <p:nvPr/>
        </p:nvSpPr>
        <p:spPr>
          <a:xfrm>
            <a:off x="8839200" y="4389120"/>
            <a:ext cx="1249680" cy="822960"/>
          </a:xfrm>
          <a:prstGeom prst="roundRect">
            <a:avLst>
              <a:gd name="adj" fmla="val 8889"/>
            </a:avLst>
          </a:prstGeom>
          <a:solidFill>
            <a:schemeClr val="accent1"/>
          </a:solidFill>
          <a:ln w="12700">
            <a:solidFill>
              <a:schemeClr val="accent1"/>
            </a:solidFill>
            <a:prstDash val="solid"/>
          </a:ln>
        </p:spPr>
      </p:sp>
      <p:sp>
        <p:nvSpPr>
          <p:cNvPr id="44" name="flow 2 step 4 text"/>
          <p:cNvSpPr txBox="1"/>
          <p:nvPr/>
        </p:nvSpPr>
        <p:spPr>
          <a:xfrm>
            <a:off x="8884920" y="4389120"/>
            <a:ext cx="1158240" cy="822960"/>
          </a:xfrm>
          <a:prstGeom prst="rect">
            <a:avLst/>
          </a:prstGeom>
          <a:noFill/>
          <a:ln/>
        </p:spPr>
        <p:txBody>
          <a:bodyPr wrap="square" lIns="0" tIns="0" rIns="0" bIns="0" rtlCol="0" anchor="ctr"/>
          <a:lstStyle/>
          <a:p>
            <a:pPr algn="ctr" indent="0" marL="0">
              <a:buNone/>
            </a:pPr>
            <a:r>
              <a:rPr lang="en-US" sz="1300" b="1" dirty="0">
                <a:solidFill>
                  <a:schemeClr val="bg1"/>
                </a:solidFill>
              </a:rPr>
              <a:t>Migrate</a:t>
            </a:r>
            <a:endParaRPr lang="en-US" sz="1300" dirty="0"/>
          </a:p>
        </p:txBody>
      </p:sp>
      <p:sp>
        <p:nvSpPr>
          <p:cNvPr id="45" name="flow 2 arrow 4"/>
          <p:cNvSpPr/>
          <p:nvPr/>
        </p:nvSpPr>
        <p:spPr>
          <a:xfrm>
            <a:off x="10162032" y="4663440"/>
            <a:ext cx="137160" cy="274320"/>
          </a:xfrm>
          <a:prstGeom prst="chevron">
            <a:avLst/>
          </a:prstGeom>
          <a:solidFill>
            <a:schemeClr val="accent6"/>
          </a:solidFill>
          <a:ln w="12700">
            <a:solidFill>
              <a:schemeClr val="accent6"/>
            </a:solidFill>
            <a:prstDash val="solid"/>
          </a:ln>
        </p:spPr>
      </p:sp>
      <p:sp>
        <p:nvSpPr>
          <p:cNvPr id="46" name="flow 2 step 5"/>
          <p:cNvSpPr/>
          <p:nvPr/>
        </p:nvSpPr>
        <p:spPr>
          <a:xfrm>
            <a:off x="10363200" y="4389120"/>
            <a:ext cx="1249680" cy="822960"/>
          </a:xfrm>
          <a:prstGeom prst="roundRect">
            <a:avLst>
              <a:gd name="adj" fmla="val 8889"/>
            </a:avLst>
          </a:prstGeom>
          <a:solidFill>
            <a:schemeClr val="accent1"/>
          </a:solidFill>
          <a:ln w="12700">
            <a:solidFill>
              <a:schemeClr val="accent1"/>
            </a:solidFill>
            <a:prstDash val="solid"/>
          </a:ln>
        </p:spPr>
      </p:sp>
      <p:sp>
        <p:nvSpPr>
          <p:cNvPr id="47" name="flow 2 step 5 text"/>
          <p:cNvSpPr txBox="1"/>
          <p:nvPr/>
        </p:nvSpPr>
        <p:spPr>
          <a:xfrm>
            <a:off x="10408920" y="4389120"/>
            <a:ext cx="1158240" cy="822960"/>
          </a:xfrm>
          <a:prstGeom prst="rect">
            <a:avLst/>
          </a:prstGeom>
          <a:noFill/>
          <a:ln/>
        </p:spPr>
        <p:txBody>
          <a:bodyPr wrap="square" lIns="0" tIns="0" rIns="0" bIns="0" rtlCol="0" anchor="ctr"/>
          <a:lstStyle/>
          <a:p>
            <a:pPr algn="ctr" indent="0" marL="0">
              <a:buNone/>
            </a:pPr>
            <a:r>
              <a:rPr lang="en-US" sz="1300" b="1" dirty="0">
                <a:solidFill>
                  <a:schemeClr val="bg1"/>
                </a:solidFill>
              </a:rPr>
              <a:t>Validate</a:t>
            </a:r>
            <a:endParaRPr lang="en-US" sz="1300" dirty="0"/>
          </a:p>
        </p:txBody>
      </p:sp>
      <p:sp>
        <p:nvSpPr>
          <p:cNvPr id="48" name="journey takeaway"/>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600" b="1" dirty="0">
                <a:solidFill>
                  <a:schemeClr val="accent1"/>
                </a:solidFill>
              </a:rPr>
              <a:t>Our journey adds assessment and wave planning before migration, and built-in validation after it.</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Where our accelerator goes further</a:t>
            </a:r>
            <a:endParaRPr lang="en-US" sz="3200" dirty="0"/>
          </a:p>
        </p:txBody>
      </p:sp>
      <p:sp>
        <p:nvSpPr>
          <p:cNvPr id="3" name="plus card 0"/>
          <p:cNvSpPr/>
          <p:nvPr/>
        </p:nvSpPr>
        <p:spPr>
          <a:xfrm>
            <a:off x="548640" y="1371600"/>
            <a:ext cx="3474720" cy="2103120"/>
          </a:xfrm>
          <a:prstGeom prst="roundRect">
            <a:avLst>
              <a:gd name="adj" fmla="val 3478"/>
            </a:avLst>
          </a:prstGeom>
          <a:solidFill>
            <a:schemeClr val="bg2"/>
          </a:solidFill>
          <a:ln w="12700">
            <a:solidFill>
              <a:schemeClr val="bg2"/>
            </a:solidFill>
            <a:prstDash val="solid"/>
          </a:ln>
        </p:spPr>
      </p:sp>
      <p:sp>
        <p:nvSpPr>
          <p:cNvPr id="4" name="plus dot 0"/>
          <p:cNvSpPr/>
          <p:nvPr/>
        </p:nvSpPr>
        <p:spPr>
          <a:xfrm>
            <a:off x="822960" y="1645920"/>
            <a:ext cx="411480" cy="411480"/>
          </a:xfrm>
          <a:prstGeom prst="ellipse">
            <a:avLst/>
          </a:prstGeom>
          <a:solidFill>
            <a:schemeClr val="accent1"/>
          </a:solidFill>
          <a:ln w="12700">
            <a:solidFill>
              <a:schemeClr val="accent1"/>
            </a:solidFill>
            <a:prstDash val="solid"/>
          </a:ln>
        </p:spPr>
      </p:sp>
      <p:sp>
        <p:nvSpPr>
          <p:cNvPr id="5" name="plus dot 0 label"/>
          <p:cNvSpPr txBox="1"/>
          <p:nvPr/>
        </p:nvSpPr>
        <p:spPr>
          <a:xfrm>
            <a:off x="822960"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plus head 0"/>
          <p:cNvSpPr txBox="1"/>
          <p:nvPr/>
        </p:nvSpPr>
        <p:spPr>
          <a:xfrm>
            <a:off x="1371600" y="164592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Assessment and readiness</a:t>
            </a:r>
            <a:endParaRPr lang="en-US" sz="1600" dirty="0"/>
          </a:p>
        </p:txBody>
      </p:sp>
      <p:sp>
        <p:nvSpPr>
          <p:cNvPr id="7" name="plus body 0"/>
          <p:cNvSpPr txBox="1"/>
          <p:nvPr/>
        </p:nvSpPr>
        <p:spPr>
          <a:xfrm>
            <a:off x="822960" y="2194560"/>
            <a:ext cx="2926080" cy="1143000"/>
          </a:xfrm>
          <a:prstGeom prst="rect">
            <a:avLst/>
          </a:prstGeom>
          <a:noFill/>
          <a:ln/>
        </p:spPr>
        <p:txBody>
          <a:bodyPr wrap="square" lIns="0" tIns="0" rIns="0" bIns="0" rtlCol="0" anchor="t"/>
          <a:lstStyle/>
          <a:p>
            <a:pPr indent="0" marL="0">
              <a:buNone/>
            </a:pPr>
            <a:r>
              <a:rPr lang="en-US" sz="1400" dirty="0">
                <a:solidFill>
                  <a:schemeClr val="tx1"/>
                </a:solidFill>
              </a:rPr>
              <a:t>Every object is classed Direct, Reconfigure, Transform, Manual or Review. A readiness score from 0 to 100 and risks graded BLOCKING to LOW.</a:t>
            </a:r>
            <a:endParaRPr lang="en-US" sz="1400" dirty="0"/>
          </a:p>
        </p:txBody>
      </p:sp>
      <p:sp>
        <p:nvSpPr>
          <p:cNvPr id="8" name="plus card 1"/>
          <p:cNvSpPr/>
          <p:nvPr/>
        </p:nvSpPr>
        <p:spPr>
          <a:xfrm>
            <a:off x="4297680" y="1371600"/>
            <a:ext cx="3474720" cy="2103120"/>
          </a:xfrm>
          <a:prstGeom prst="roundRect">
            <a:avLst>
              <a:gd name="adj" fmla="val 3478"/>
            </a:avLst>
          </a:prstGeom>
          <a:solidFill>
            <a:schemeClr val="bg2"/>
          </a:solidFill>
          <a:ln w="12700">
            <a:solidFill>
              <a:schemeClr val="bg2"/>
            </a:solidFill>
            <a:prstDash val="solid"/>
          </a:ln>
        </p:spPr>
      </p:sp>
      <p:sp>
        <p:nvSpPr>
          <p:cNvPr id="9" name="plus dot 1"/>
          <p:cNvSpPr/>
          <p:nvPr/>
        </p:nvSpPr>
        <p:spPr>
          <a:xfrm>
            <a:off x="4572000" y="1645920"/>
            <a:ext cx="411480" cy="411480"/>
          </a:xfrm>
          <a:prstGeom prst="ellipse">
            <a:avLst/>
          </a:prstGeom>
          <a:solidFill>
            <a:schemeClr val="accent1"/>
          </a:solidFill>
          <a:ln w="12700">
            <a:solidFill>
              <a:schemeClr val="accent1"/>
            </a:solidFill>
            <a:prstDash val="solid"/>
          </a:ln>
        </p:spPr>
      </p:sp>
      <p:sp>
        <p:nvSpPr>
          <p:cNvPr id="10" name="plus dot 1 label"/>
          <p:cNvSpPr txBox="1"/>
          <p:nvPr/>
        </p:nvSpPr>
        <p:spPr>
          <a:xfrm>
            <a:off x="4572000"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plus head 1"/>
          <p:cNvSpPr txBox="1"/>
          <p:nvPr/>
        </p:nvSpPr>
        <p:spPr>
          <a:xfrm>
            <a:off x="5120640" y="164592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Wave planning and effort</a:t>
            </a:r>
            <a:endParaRPr lang="en-US" sz="1600" dirty="0"/>
          </a:p>
        </p:txBody>
      </p:sp>
      <p:sp>
        <p:nvSpPr>
          <p:cNvPr id="12" name="plus body 1"/>
          <p:cNvSpPr txBox="1"/>
          <p:nvPr/>
        </p:nvSpPr>
        <p:spPr>
          <a:xfrm>
            <a:off x="4572000" y="2194560"/>
            <a:ext cx="2926080" cy="1143000"/>
          </a:xfrm>
          <a:prstGeom prst="rect">
            <a:avLst/>
          </a:prstGeom>
          <a:noFill/>
          <a:ln/>
        </p:spPr>
        <p:txBody>
          <a:bodyPr wrap="square" lIns="0" tIns="0" rIns="0" bIns="0" rtlCol="0" anchor="t"/>
          <a:lstStyle/>
          <a:p>
            <a:pPr indent="0" marL="0">
              <a:buNone/>
            </a:pPr>
            <a:r>
              <a:rPr lang="en-US" sz="1400" dirty="0">
                <a:solidFill>
                  <a:schemeClr val="tx1"/>
                </a:solidFill>
              </a:rPr>
              <a:t>Dependency graph and migration waves. Effort in hours and days per object, wave and type.</a:t>
            </a:r>
            <a:endParaRPr lang="en-US" sz="1400" dirty="0"/>
          </a:p>
        </p:txBody>
      </p:sp>
      <p:sp>
        <p:nvSpPr>
          <p:cNvPr id="13" name="plus card 2"/>
          <p:cNvSpPr/>
          <p:nvPr/>
        </p:nvSpPr>
        <p:spPr>
          <a:xfrm>
            <a:off x="8046720" y="1371600"/>
            <a:ext cx="3474720" cy="2103120"/>
          </a:xfrm>
          <a:prstGeom prst="roundRect">
            <a:avLst>
              <a:gd name="adj" fmla="val 3478"/>
            </a:avLst>
          </a:prstGeom>
          <a:solidFill>
            <a:schemeClr val="bg2"/>
          </a:solidFill>
          <a:ln w="12700">
            <a:solidFill>
              <a:schemeClr val="bg2"/>
            </a:solidFill>
            <a:prstDash val="solid"/>
          </a:ln>
        </p:spPr>
      </p:sp>
      <p:sp>
        <p:nvSpPr>
          <p:cNvPr id="14" name="plus dot 2"/>
          <p:cNvSpPr/>
          <p:nvPr/>
        </p:nvSpPr>
        <p:spPr>
          <a:xfrm>
            <a:off x="8321040" y="1645920"/>
            <a:ext cx="411480" cy="411480"/>
          </a:xfrm>
          <a:prstGeom prst="ellipse">
            <a:avLst/>
          </a:prstGeom>
          <a:solidFill>
            <a:schemeClr val="accent1"/>
          </a:solidFill>
          <a:ln w="12700">
            <a:solidFill>
              <a:schemeClr val="accent1"/>
            </a:solidFill>
            <a:prstDash val="solid"/>
          </a:ln>
        </p:spPr>
      </p:sp>
      <p:sp>
        <p:nvSpPr>
          <p:cNvPr id="15" name="plus dot 2 label"/>
          <p:cNvSpPr txBox="1"/>
          <p:nvPr/>
        </p:nvSpPr>
        <p:spPr>
          <a:xfrm>
            <a:off x="8321040"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plus head 2"/>
          <p:cNvSpPr txBox="1"/>
          <p:nvPr/>
        </p:nvSpPr>
        <p:spPr>
          <a:xfrm>
            <a:off x="8869680" y="164592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Whole-workspace scope</a:t>
            </a:r>
            <a:endParaRPr lang="en-US" sz="1600" dirty="0"/>
          </a:p>
        </p:txBody>
      </p:sp>
      <p:sp>
        <p:nvSpPr>
          <p:cNvPr id="17" name="plus body 2"/>
          <p:cNvSpPr txBox="1"/>
          <p:nvPr/>
        </p:nvSpPr>
        <p:spPr>
          <a:xfrm>
            <a:off x="8321040" y="2194560"/>
            <a:ext cx="2926080" cy="1143000"/>
          </a:xfrm>
          <a:prstGeom prst="rect">
            <a:avLst/>
          </a:prstGeom>
          <a:noFill/>
          <a:ln/>
        </p:spPr>
        <p:txBody>
          <a:bodyPr wrap="square" lIns="0" tIns="0" rIns="0" bIns="0" rtlCol="0" anchor="t"/>
          <a:lstStyle/>
          <a:p>
            <a:pPr indent="0" marL="0">
              <a:buNone/>
            </a:pPr>
            <a:r>
              <a:rPr lang="en-US" sz="1400" dirty="0">
                <a:solidFill>
                  <a:schemeClr val="tx1"/>
                </a:solidFill>
              </a:rPr>
              <a:t>SQL pool, Spark, pipelines, connections, triggers and SQL scripts in one run, with references resolved to Fabric IDs.</a:t>
            </a:r>
            <a:endParaRPr lang="en-US" sz="1400" dirty="0"/>
          </a:p>
        </p:txBody>
      </p:sp>
      <p:sp>
        <p:nvSpPr>
          <p:cNvPr id="18" name="plus card 3"/>
          <p:cNvSpPr/>
          <p:nvPr/>
        </p:nvSpPr>
        <p:spPr>
          <a:xfrm>
            <a:off x="548640" y="3749040"/>
            <a:ext cx="3474720" cy="2103120"/>
          </a:xfrm>
          <a:prstGeom prst="roundRect">
            <a:avLst>
              <a:gd name="adj" fmla="val 3478"/>
            </a:avLst>
          </a:prstGeom>
          <a:solidFill>
            <a:schemeClr val="bg2"/>
          </a:solidFill>
          <a:ln w="12700">
            <a:solidFill>
              <a:schemeClr val="bg2"/>
            </a:solidFill>
            <a:prstDash val="solid"/>
          </a:ln>
        </p:spPr>
      </p:sp>
      <p:sp>
        <p:nvSpPr>
          <p:cNvPr id="19" name="plus dot 3"/>
          <p:cNvSpPr/>
          <p:nvPr/>
        </p:nvSpPr>
        <p:spPr>
          <a:xfrm>
            <a:off x="822960" y="4023360"/>
            <a:ext cx="411480" cy="411480"/>
          </a:xfrm>
          <a:prstGeom prst="ellipse">
            <a:avLst/>
          </a:prstGeom>
          <a:solidFill>
            <a:schemeClr val="accent1"/>
          </a:solidFill>
          <a:ln w="12700">
            <a:solidFill>
              <a:schemeClr val="accent1"/>
            </a:solidFill>
            <a:prstDash val="solid"/>
          </a:ln>
        </p:spPr>
      </p:sp>
      <p:sp>
        <p:nvSpPr>
          <p:cNvPr id="20" name="plus dot 3 label"/>
          <p:cNvSpPr txBox="1"/>
          <p:nvPr/>
        </p:nvSpPr>
        <p:spPr>
          <a:xfrm>
            <a:off x="82296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plus head 3"/>
          <p:cNvSpPr txBox="1"/>
          <p:nvPr/>
        </p:nvSpPr>
        <p:spPr>
          <a:xfrm>
            <a:off x="1371600" y="402336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Data load and cutover sync</a:t>
            </a:r>
            <a:endParaRPr lang="en-US" sz="1600" dirty="0"/>
          </a:p>
        </p:txBody>
      </p:sp>
      <p:sp>
        <p:nvSpPr>
          <p:cNvPr id="22" name="plus body 3"/>
          <p:cNvSpPr txBox="1"/>
          <p:nvPr/>
        </p:nvSpPr>
        <p:spPr>
          <a:xfrm>
            <a:off x="822960" y="4572000"/>
            <a:ext cx="2926080" cy="1143000"/>
          </a:xfrm>
          <a:prstGeom prst="rect">
            <a:avLst/>
          </a:prstGeom>
          <a:noFill/>
          <a:ln/>
        </p:spPr>
        <p:txBody>
          <a:bodyPr wrap="square" lIns="0" tIns="0" rIns="0" bIns="0" rtlCol="0" anchor="t"/>
          <a:lstStyle/>
          <a:p>
            <a:pPr indent="0" marL="0">
              <a:buNone/>
            </a:pPr>
            <a:r>
              <a:rPr lang="en-US" sz="1400" dirty="0">
                <a:solidFill>
                  <a:schemeClr val="tx1"/>
                </a:solidFill>
              </a:rPr>
              <a:t>One Fabric pipeline per wave, IDENTITY-safe loading, and a watermark sync pipeline for cutover.</a:t>
            </a:r>
            <a:endParaRPr lang="en-US" sz="1400" dirty="0"/>
          </a:p>
        </p:txBody>
      </p:sp>
      <p:sp>
        <p:nvSpPr>
          <p:cNvPr id="23" name="plus card 4"/>
          <p:cNvSpPr/>
          <p:nvPr/>
        </p:nvSpPr>
        <p:spPr>
          <a:xfrm>
            <a:off x="4297680" y="3749040"/>
            <a:ext cx="3474720" cy="2103120"/>
          </a:xfrm>
          <a:prstGeom prst="roundRect">
            <a:avLst>
              <a:gd name="adj" fmla="val 3478"/>
            </a:avLst>
          </a:prstGeom>
          <a:solidFill>
            <a:schemeClr val="bg2"/>
          </a:solidFill>
          <a:ln w="12700">
            <a:solidFill>
              <a:schemeClr val="bg2"/>
            </a:solidFill>
            <a:prstDash val="solid"/>
          </a:ln>
        </p:spPr>
      </p:sp>
      <p:sp>
        <p:nvSpPr>
          <p:cNvPr id="24" name="plus dot 4"/>
          <p:cNvSpPr/>
          <p:nvPr/>
        </p:nvSpPr>
        <p:spPr>
          <a:xfrm>
            <a:off x="4572000" y="4023360"/>
            <a:ext cx="411480" cy="411480"/>
          </a:xfrm>
          <a:prstGeom prst="ellipse">
            <a:avLst/>
          </a:prstGeom>
          <a:solidFill>
            <a:schemeClr val="accent1"/>
          </a:solidFill>
          <a:ln w="12700">
            <a:solidFill>
              <a:schemeClr val="accent1"/>
            </a:solidFill>
            <a:prstDash val="solid"/>
          </a:ln>
        </p:spPr>
      </p:sp>
      <p:sp>
        <p:nvSpPr>
          <p:cNvPr id="25" name="plus dot 4 label"/>
          <p:cNvSpPr txBox="1"/>
          <p:nvPr/>
        </p:nvSpPr>
        <p:spPr>
          <a:xfrm>
            <a:off x="457200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plus head 4"/>
          <p:cNvSpPr txBox="1"/>
          <p:nvPr/>
        </p:nvSpPr>
        <p:spPr>
          <a:xfrm>
            <a:off x="5120640" y="402336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Validation built in</a:t>
            </a:r>
            <a:endParaRPr lang="en-US" sz="1600" dirty="0"/>
          </a:p>
        </p:txBody>
      </p:sp>
      <p:sp>
        <p:nvSpPr>
          <p:cNvPr id="27" name="plus body 4"/>
          <p:cNvSpPr txBox="1"/>
          <p:nvPr/>
        </p:nvSpPr>
        <p:spPr>
          <a:xfrm>
            <a:off x="4572000" y="4572000"/>
            <a:ext cx="2926080" cy="1143000"/>
          </a:xfrm>
          <a:prstGeom prst="rect">
            <a:avLst/>
          </a:prstGeom>
          <a:noFill/>
          <a:ln/>
        </p:spPr>
        <p:txBody>
          <a:bodyPr wrap="square" lIns="0" tIns="0" rIns="0" bIns="0" rtlCol="0" anchor="t"/>
          <a:lstStyle/>
          <a:p>
            <a:pPr indent="0" marL="0">
              <a:buNone/>
            </a:pPr>
            <a:r>
              <a:rPr lang="en-US" sz="1400" dirty="0">
                <a:solidFill>
                  <a:schemeClr val="tx1"/>
                </a:solidFill>
              </a:rPr>
              <a:t>Schema, masks, definitions, security and row counts compared. Objects test-run in Fabric. CSV report.</a:t>
            </a:r>
            <a:endParaRPr lang="en-US" sz="1400" dirty="0"/>
          </a:p>
        </p:txBody>
      </p:sp>
      <p:sp>
        <p:nvSpPr>
          <p:cNvPr id="28" name="plus card 5"/>
          <p:cNvSpPr/>
          <p:nvPr/>
        </p:nvSpPr>
        <p:spPr>
          <a:xfrm>
            <a:off x="8046720" y="3749040"/>
            <a:ext cx="3474720" cy="2103120"/>
          </a:xfrm>
          <a:prstGeom prst="roundRect">
            <a:avLst>
              <a:gd name="adj" fmla="val 3478"/>
            </a:avLst>
          </a:prstGeom>
          <a:solidFill>
            <a:schemeClr val="bg2"/>
          </a:solidFill>
          <a:ln w="12700">
            <a:solidFill>
              <a:schemeClr val="bg2"/>
            </a:solidFill>
            <a:prstDash val="solid"/>
          </a:ln>
        </p:spPr>
      </p:sp>
      <p:sp>
        <p:nvSpPr>
          <p:cNvPr id="29" name="plus dot 5"/>
          <p:cNvSpPr/>
          <p:nvPr/>
        </p:nvSpPr>
        <p:spPr>
          <a:xfrm>
            <a:off x="8321040" y="4023360"/>
            <a:ext cx="411480" cy="411480"/>
          </a:xfrm>
          <a:prstGeom prst="ellipse">
            <a:avLst/>
          </a:prstGeom>
          <a:solidFill>
            <a:schemeClr val="accent1"/>
          </a:solidFill>
          <a:ln w="12700">
            <a:solidFill>
              <a:schemeClr val="accent1"/>
            </a:solidFill>
            <a:prstDash val="solid"/>
          </a:ln>
        </p:spPr>
      </p:sp>
      <p:sp>
        <p:nvSpPr>
          <p:cNvPr id="30" name="plus dot 5 label"/>
          <p:cNvSpPr txBox="1"/>
          <p:nvPr/>
        </p:nvSpPr>
        <p:spPr>
          <a:xfrm>
            <a:off x="832104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plus head 5"/>
          <p:cNvSpPr txBox="1"/>
          <p:nvPr/>
        </p:nvSpPr>
        <p:spPr>
          <a:xfrm>
            <a:off x="8869680" y="4023360"/>
            <a:ext cx="2468880" cy="411480"/>
          </a:xfrm>
          <a:prstGeom prst="rect">
            <a:avLst/>
          </a:prstGeom>
          <a:noFill/>
          <a:ln/>
        </p:spPr>
        <p:txBody>
          <a:bodyPr wrap="square" lIns="0" tIns="0" rIns="0" bIns="0" rtlCol="0" anchor="ctr"/>
          <a:lstStyle/>
          <a:p>
            <a:pPr indent="0" marL="0">
              <a:buNone/>
            </a:pPr>
            <a:r>
              <a:rPr lang="en-US" sz="1600" b="1" dirty="0">
                <a:solidFill>
                  <a:schemeClr val="tx2"/>
                </a:solidFill>
              </a:rPr>
              <a:t>Safe, flexible sources</a:t>
            </a:r>
            <a:endParaRPr lang="en-US" sz="1600" dirty="0"/>
          </a:p>
        </p:txBody>
      </p:sp>
      <p:sp>
        <p:nvSpPr>
          <p:cNvPr id="32" name="plus body 5"/>
          <p:cNvSpPr txBox="1"/>
          <p:nvPr/>
        </p:nvSpPr>
        <p:spPr>
          <a:xfrm>
            <a:off x="8321040" y="4572000"/>
            <a:ext cx="2926080" cy="1143000"/>
          </a:xfrm>
          <a:prstGeom prst="rect">
            <a:avLst/>
          </a:prstGeom>
          <a:noFill/>
          <a:ln/>
        </p:spPr>
        <p:txBody>
          <a:bodyPr wrap="square" lIns="0" tIns="0" rIns="0" bIns="0" rtlCol="0" anchor="t"/>
          <a:lstStyle/>
          <a:p>
            <a:pPr indent="0" marL="0">
              <a:buNone/>
            </a:pPr>
            <a:r>
              <a:rPr lang="en-US" sz="1400" dirty="0">
                <a:solidFill>
                  <a:schemeClr val="tx1"/>
                </a:solidFill>
              </a:rPr>
              <a:t>Read-only on Synapse (GET and SELECT). Live workspace or Git/ZIP per branch. Storage paths rewritten to OneLake.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Where Microsoft's tools are ahead, and our open gaps</a:t>
            </a:r>
            <a:endParaRPr lang="en-US" sz="3200" dirty="0"/>
          </a:p>
        </p:txBody>
      </p:sp>
      <p:sp>
        <p:nvSpPr>
          <p:cNvPr id="3" name="col card 0"/>
          <p:cNvSpPr/>
          <p:nvPr/>
        </p:nvSpPr>
        <p:spPr>
          <a:xfrm>
            <a:off x="548640" y="1371600"/>
            <a:ext cx="5394960" cy="4206240"/>
          </a:xfrm>
          <a:prstGeom prst="roundRect">
            <a:avLst>
              <a:gd name="adj" fmla="val 1739"/>
            </a:avLst>
          </a:prstGeom>
          <a:solidFill>
            <a:schemeClr val="bg2"/>
          </a:solidFill>
          <a:ln w="12700">
            <a:solidFill>
              <a:schemeClr val="bg2"/>
            </a:solidFill>
            <a:prstDash val="solid"/>
          </a:ln>
        </p:spPr>
      </p:sp>
      <p:sp>
        <p:nvSpPr>
          <p:cNvPr id="4" name="col dot 0"/>
          <p:cNvSpPr/>
          <p:nvPr/>
        </p:nvSpPr>
        <p:spPr>
          <a:xfrm>
            <a:off x="822960" y="1600200"/>
            <a:ext cx="411480" cy="411480"/>
          </a:xfrm>
          <a:prstGeom prst="ellipse">
            <a:avLst/>
          </a:prstGeom>
          <a:solidFill>
            <a:schemeClr val="accent3"/>
          </a:solidFill>
          <a:ln w="12700">
            <a:solidFill>
              <a:schemeClr val="accent3"/>
            </a:solidFill>
            <a:prstDash val="solid"/>
          </a:ln>
        </p:spPr>
      </p:sp>
      <p:sp>
        <p:nvSpPr>
          <p:cNvPr id="5" name="col dot 0 label"/>
          <p:cNvSpPr txBox="1"/>
          <p:nvPr/>
        </p:nvSpPr>
        <p:spPr>
          <a:xfrm>
            <a:off x="822960" y="1600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6" name="col head 0"/>
          <p:cNvSpPr txBox="1"/>
          <p:nvPr/>
        </p:nvSpPr>
        <p:spPr>
          <a:xfrm>
            <a:off x="1371600" y="1600200"/>
            <a:ext cx="4297680" cy="411480"/>
          </a:xfrm>
          <a:prstGeom prst="rect">
            <a:avLst/>
          </a:prstGeom>
          <a:noFill/>
          <a:ln/>
        </p:spPr>
        <p:txBody>
          <a:bodyPr wrap="square" lIns="0" tIns="0" rIns="0" bIns="0" rtlCol="0" anchor="ctr"/>
          <a:lstStyle/>
          <a:p>
            <a:pPr indent="0" marL="0">
              <a:buNone/>
            </a:pPr>
            <a:r>
              <a:rPr lang="en-US" sz="2000" b="1" dirty="0">
                <a:solidFill>
                  <a:schemeClr val="accent3"/>
                </a:solidFill>
              </a:rPr>
              <a:t>Microsoft advantages</a:t>
            </a:r>
            <a:endParaRPr lang="en-US" sz="2000" dirty="0"/>
          </a:p>
        </p:txBody>
      </p:sp>
      <p:sp>
        <p:nvSpPr>
          <p:cNvPr id="7" name="col list 0"/>
          <p:cNvSpPr txBox="1"/>
          <p:nvPr/>
        </p:nvSpPr>
        <p:spPr>
          <a:xfrm>
            <a:off x="822960" y="2240280"/>
            <a:ext cx="4846320" cy="31546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Native in Fabric: nothing to install, supported by Microsoft</a:t>
            </a:r>
            <a:endParaRPr lang="en-US" sz="1500" dirty="0"/>
          </a:p>
          <a:p>
            <a:pPr marL="342900" indent="-342900">
              <a:spcAft>
                <a:spcPts val="1000"/>
              </a:spcAft>
              <a:buSzPct val="100000"/>
              <a:buChar char="•"/>
            </a:pPr>
            <a:r>
              <a:rPr lang="en-US" sz="1500" dirty="0">
                <a:solidFill>
                  <a:schemeClr val="tx1"/>
                </a:solidFill>
              </a:rPr>
              <a:t>DW: SQL Server and Teradata sources, and DACPAC upload</a:t>
            </a:r>
            <a:endParaRPr lang="en-US" sz="1500" dirty="0"/>
          </a:p>
          <a:p>
            <a:pPr marL="342900" indent="-342900">
              <a:spcAft>
                <a:spcPts val="1000"/>
              </a:spcAft>
              <a:buSzPct val="100000"/>
              <a:buChar char="•"/>
            </a:pPr>
            <a:r>
              <a:rPr lang="en-US" sz="1500" dirty="0">
                <a:solidFill>
                  <a:schemeClr val="tx1"/>
                </a:solidFill>
              </a:rPr>
              <a:t>DW: Copilot-assisted fixes, ordered by dependency count</a:t>
            </a:r>
            <a:endParaRPr lang="en-US" sz="1500" dirty="0"/>
          </a:p>
          <a:p>
            <a:pPr marL="342900" indent="-342900">
              <a:spcAft>
                <a:spcPts val="1000"/>
              </a:spcAft>
              <a:buSzPct val="100000"/>
              <a:buChar char="•"/>
            </a:pPr>
            <a:r>
              <a:rPr lang="en-US" sz="1500" dirty="0">
                <a:solidFill>
                  <a:schemeClr val="tx1"/>
                </a:solidFill>
              </a:rPr>
              <a:t>Spark: lake databases migrated as schemas with OneLake catalog shortcuts</a:t>
            </a:r>
            <a:endParaRPr lang="en-US" sz="1500" dirty="0"/>
          </a:p>
          <a:p>
            <a:pPr marL="342900" indent="-342900">
              <a:spcAft>
                <a:spcPts val="1000"/>
              </a:spcAft>
              <a:buSzPct val="100000"/>
              <a:buChar char="•"/>
            </a:pPr>
            <a:r>
              <a:rPr lang="en-US" sz="1500" dirty="0">
                <a:solidFill>
                  <a:schemeClr val="tx1"/>
                </a:solidFill>
              </a:rPr>
              <a:t>Spark: runs tracked in the Fabric Monitoring Hub</a:t>
            </a:r>
            <a:endParaRPr lang="en-US" sz="1500" dirty="0"/>
          </a:p>
        </p:txBody>
      </p:sp>
      <p:sp>
        <p:nvSpPr>
          <p:cNvPr id="8" name="col card 1"/>
          <p:cNvSpPr/>
          <p:nvPr/>
        </p:nvSpPr>
        <p:spPr>
          <a:xfrm>
            <a:off x="6217920" y="1371600"/>
            <a:ext cx="5394960" cy="4206240"/>
          </a:xfrm>
          <a:prstGeom prst="roundRect">
            <a:avLst>
              <a:gd name="adj" fmla="val 1739"/>
            </a:avLst>
          </a:prstGeom>
          <a:solidFill>
            <a:schemeClr val="bg2"/>
          </a:solidFill>
          <a:ln w="12700">
            <a:solidFill>
              <a:schemeClr val="bg2"/>
            </a:solidFill>
            <a:prstDash val="solid"/>
          </a:ln>
        </p:spPr>
      </p:sp>
      <p:sp>
        <p:nvSpPr>
          <p:cNvPr id="9" name="col dot 1"/>
          <p:cNvSpPr/>
          <p:nvPr/>
        </p:nvSpPr>
        <p:spPr>
          <a:xfrm>
            <a:off x="6492240" y="1600200"/>
            <a:ext cx="411480" cy="411480"/>
          </a:xfrm>
          <a:prstGeom prst="ellipse">
            <a:avLst/>
          </a:prstGeom>
          <a:solidFill>
            <a:schemeClr val="accent4"/>
          </a:solidFill>
          <a:ln w="12700">
            <a:solidFill>
              <a:schemeClr val="accent4"/>
            </a:solidFill>
            <a:prstDash val="solid"/>
          </a:ln>
        </p:spPr>
      </p:sp>
      <p:sp>
        <p:nvSpPr>
          <p:cNvPr id="10" name="col dot 1 label"/>
          <p:cNvSpPr txBox="1"/>
          <p:nvPr/>
        </p:nvSpPr>
        <p:spPr>
          <a:xfrm>
            <a:off x="6492240" y="1600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col head 1"/>
          <p:cNvSpPr txBox="1"/>
          <p:nvPr/>
        </p:nvSpPr>
        <p:spPr>
          <a:xfrm>
            <a:off x="7040880" y="1600200"/>
            <a:ext cx="4297680" cy="411480"/>
          </a:xfrm>
          <a:prstGeom prst="rect">
            <a:avLst/>
          </a:prstGeom>
          <a:noFill/>
          <a:ln/>
        </p:spPr>
        <p:txBody>
          <a:bodyPr wrap="square" lIns="0" tIns="0" rIns="0" bIns="0" rtlCol="0" anchor="ctr"/>
          <a:lstStyle/>
          <a:p>
            <a:pPr indent="0" marL="0">
              <a:buNone/>
            </a:pPr>
            <a:r>
              <a:rPr lang="en-US" sz="2000" b="1" dirty="0">
                <a:solidFill>
                  <a:schemeClr val="accent4"/>
                </a:solidFill>
              </a:rPr>
              <a:t>Our open gaps</a:t>
            </a:r>
            <a:endParaRPr lang="en-US" sz="2000" dirty="0"/>
          </a:p>
        </p:txBody>
      </p:sp>
      <p:sp>
        <p:nvSpPr>
          <p:cNvPr id="12" name="col list 1"/>
          <p:cNvSpPr txBox="1"/>
          <p:nvPr/>
        </p:nvSpPr>
        <p:spPr>
          <a:xfrm>
            <a:off x="6492240" y="2240280"/>
            <a:ext cx="4846320" cy="31546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Lake databases, external data sources and file formats are not discovered</a:t>
            </a:r>
            <a:endParaRPr lang="en-US" sz="1500" dirty="0"/>
          </a:p>
          <a:p>
            <a:pPr marL="342900" indent="-342900">
              <a:spcAft>
                <a:spcPts val="1000"/>
              </a:spcAft>
              <a:buSzPct val="100000"/>
              <a:buChar char="•"/>
            </a:pPr>
            <a:r>
              <a:rPr lang="en-US" sz="1500" dirty="0">
                <a:solidFill>
                  <a:schemeClr val="tx1"/>
                </a:solidFill>
              </a:rPr>
              <a:t>Spark configs and libraries are not moved into Environments, and notebooks are not bound to one</a:t>
            </a:r>
            <a:endParaRPr lang="en-US" sz="1500" dirty="0"/>
          </a:p>
          <a:p>
            <a:pPr marL="342900" indent="-342900">
              <a:spcAft>
                <a:spcPts val="1000"/>
              </a:spcAft>
              <a:buSzPct val="100000"/>
              <a:buChar char="•"/>
            </a:pPr>
            <a:r>
              <a:rPr lang="en-US" sz="1500" dirty="0">
                <a:solidFill>
                  <a:schemeClr val="tx1"/>
                </a:solidFill>
              </a:rPr>
              <a:t>Not handled: mapping data flows, serverless SQL, event and tumbling-window triggers, integration runtimes</a:t>
            </a:r>
            <a:endParaRPr lang="en-US" sz="1500" dirty="0"/>
          </a:p>
          <a:p>
            <a:pPr marL="342900" indent="-342900">
              <a:spcAft>
                <a:spcPts val="1000"/>
              </a:spcAft>
              <a:buSzPct val="100000"/>
              <a:buChar char="•"/>
            </a:pPr>
            <a:r>
              <a:rPr lang="en-US" sz="1500" dirty="0">
                <a:solidFill>
                  <a:schemeClr val="tx1"/>
                </a:solidFill>
              </a:rPr>
              <a:t>No rollback, and no Fabric Git or deployment pipeline integration</a:t>
            </a:r>
            <a:endParaRPr lang="en-US" sz="1500" dirty="0"/>
          </a:p>
          <a:p>
            <a:pPr marL="342900" indent="-342900">
              <a:spcAft>
                <a:spcPts val="1000"/>
              </a:spcAft>
              <a:buSzPct val="100000"/>
              <a:buChar char="•"/>
            </a:pPr>
            <a:r>
              <a:rPr lang="en-US" sz="1500" dirty="0">
                <a:solidFill>
                  <a:schemeClr val="tx1"/>
                </a:solidFill>
              </a:rPr>
              <a:t>Copy and sync pipeline settings not yet confirmed on a real Fabric run</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Which tool fits which situation</a:t>
            </a:r>
            <a:endParaRPr lang="en-US" sz="3200" dirty="0"/>
          </a:p>
        </p:txBody>
      </p:sp>
      <p:sp>
        <p:nvSpPr>
          <p:cNvPr id="3" name="fit row 0"/>
          <p:cNvSpPr/>
          <p:nvPr/>
        </p:nvSpPr>
        <p:spPr>
          <a:xfrm>
            <a:off x="548640" y="1371600"/>
            <a:ext cx="11064240" cy="640080"/>
          </a:xfrm>
          <a:prstGeom prst="roundRect">
            <a:avLst>
              <a:gd name="adj" fmla="val 11429"/>
            </a:avLst>
          </a:prstGeom>
          <a:solidFill>
            <a:schemeClr val="bg2"/>
          </a:solidFill>
          <a:ln w="9525">
            <a:solidFill>
              <a:schemeClr val="bg2"/>
            </a:solidFill>
            <a:prstDash val="solid"/>
          </a:ln>
        </p:spPr>
      </p:sp>
      <p:sp>
        <p:nvSpPr>
          <p:cNvPr id="4" name="fit text 0"/>
          <p:cNvSpPr txBox="1"/>
          <p:nvPr/>
        </p:nvSpPr>
        <p:spPr>
          <a:xfrm>
            <a:off x="777240" y="1371600"/>
            <a:ext cx="7315200" cy="640080"/>
          </a:xfrm>
          <a:prstGeom prst="rect">
            <a:avLst/>
          </a:prstGeom>
          <a:noFill/>
          <a:ln/>
        </p:spPr>
        <p:txBody>
          <a:bodyPr wrap="square" lIns="0" tIns="0" rIns="0" bIns="0" rtlCol="0" anchor="ctr"/>
          <a:lstStyle/>
          <a:p>
            <a:pPr indent="0" marL="0">
              <a:buNone/>
            </a:pPr>
            <a:r>
              <a:rPr lang="en-US" sz="1500" dirty="0">
                <a:solidFill>
                  <a:schemeClr val="tx1"/>
                </a:solidFill>
              </a:rPr>
              <a:t>Full Synapse workspace with pipelines, triggers and dependencies between workloads</a:t>
            </a:r>
            <a:endParaRPr lang="en-US" sz="1500" dirty="0"/>
          </a:p>
        </p:txBody>
      </p:sp>
      <p:sp>
        <p:nvSpPr>
          <p:cNvPr id="5" name="fit pill 0"/>
          <p:cNvSpPr/>
          <p:nvPr/>
        </p:nvSpPr>
        <p:spPr>
          <a:xfrm>
            <a:off x="8412480" y="1481328"/>
            <a:ext cx="3017520" cy="420624"/>
          </a:xfrm>
          <a:prstGeom prst="roundRect">
            <a:avLst>
              <a:gd name="adj" fmla="val 43478"/>
            </a:avLst>
          </a:prstGeom>
          <a:solidFill>
            <a:schemeClr val="accent1"/>
          </a:solidFill>
          <a:ln w="12700">
            <a:solidFill>
              <a:schemeClr val="accent1"/>
            </a:solidFill>
            <a:prstDash val="solid"/>
          </a:ln>
        </p:spPr>
      </p:sp>
      <p:sp>
        <p:nvSpPr>
          <p:cNvPr id="6" name="fit pill text 0"/>
          <p:cNvSpPr txBox="1"/>
          <p:nvPr/>
        </p:nvSpPr>
        <p:spPr>
          <a:xfrm>
            <a:off x="8412480" y="1481328"/>
            <a:ext cx="3017520" cy="420624"/>
          </a:xfrm>
          <a:prstGeom prst="rect">
            <a:avLst/>
          </a:prstGeom>
          <a:noFill/>
          <a:ln/>
        </p:spPr>
        <p:txBody>
          <a:bodyPr wrap="square" lIns="0" tIns="0" rIns="0" bIns="0" rtlCol="0" anchor="ctr"/>
          <a:lstStyle/>
          <a:p>
            <a:pPr algn="ctr" indent="0" marL="0">
              <a:buNone/>
            </a:pPr>
            <a:r>
              <a:rPr lang="en-US" sz="1300" b="1" dirty="0">
                <a:solidFill>
                  <a:schemeClr val="bg1"/>
                </a:solidFill>
              </a:rPr>
              <a:t>Our Accelerator</a:t>
            </a:r>
            <a:endParaRPr lang="en-US" sz="1300" dirty="0"/>
          </a:p>
        </p:txBody>
      </p:sp>
      <p:sp>
        <p:nvSpPr>
          <p:cNvPr id="7" name="fit row 1"/>
          <p:cNvSpPr/>
          <p:nvPr/>
        </p:nvSpPr>
        <p:spPr>
          <a:xfrm>
            <a:off x="548640" y="2148840"/>
            <a:ext cx="11064240" cy="640080"/>
          </a:xfrm>
          <a:prstGeom prst="roundRect">
            <a:avLst>
              <a:gd name="adj" fmla="val 11429"/>
            </a:avLst>
          </a:prstGeom>
          <a:solidFill>
            <a:schemeClr val="bg1"/>
          </a:solidFill>
          <a:ln w="9525">
            <a:solidFill>
              <a:schemeClr val="bg2"/>
            </a:solidFill>
            <a:prstDash val="solid"/>
          </a:ln>
        </p:spPr>
      </p:sp>
      <p:sp>
        <p:nvSpPr>
          <p:cNvPr id="8" name="fit text 1"/>
          <p:cNvSpPr txBox="1"/>
          <p:nvPr/>
        </p:nvSpPr>
        <p:spPr>
          <a:xfrm>
            <a:off x="777240" y="2148840"/>
            <a:ext cx="7315200" cy="640080"/>
          </a:xfrm>
          <a:prstGeom prst="rect">
            <a:avLst/>
          </a:prstGeom>
          <a:noFill/>
          <a:ln/>
        </p:spPr>
        <p:txBody>
          <a:bodyPr wrap="square" lIns="0" tIns="0" rIns="0" bIns="0" rtlCol="0" anchor="ctr"/>
          <a:lstStyle/>
          <a:p>
            <a:pPr indent="0" marL="0">
              <a:buNone/>
            </a:pPr>
            <a:r>
              <a:rPr lang="en-US" sz="1500" dirty="0">
                <a:solidFill>
                  <a:schemeClr val="tx1"/>
                </a:solidFill>
              </a:rPr>
              <a:t>Need an assessment, effort estimate and wave plan before committing</a:t>
            </a:r>
            <a:endParaRPr lang="en-US" sz="1500" dirty="0"/>
          </a:p>
        </p:txBody>
      </p:sp>
      <p:sp>
        <p:nvSpPr>
          <p:cNvPr id="9" name="fit pill 1"/>
          <p:cNvSpPr/>
          <p:nvPr/>
        </p:nvSpPr>
        <p:spPr>
          <a:xfrm>
            <a:off x="8412480" y="2258568"/>
            <a:ext cx="3017520" cy="420624"/>
          </a:xfrm>
          <a:prstGeom prst="roundRect">
            <a:avLst>
              <a:gd name="adj" fmla="val 43478"/>
            </a:avLst>
          </a:prstGeom>
          <a:solidFill>
            <a:schemeClr val="accent1"/>
          </a:solidFill>
          <a:ln w="12700">
            <a:solidFill>
              <a:schemeClr val="accent1"/>
            </a:solidFill>
            <a:prstDash val="solid"/>
          </a:ln>
        </p:spPr>
      </p:sp>
      <p:sp>
        <p:nvSpPr>
          <p:cNvPr id="10" name="fit pill text 1"/>
          <p:cNvSpPr txBox="1"/>
          <p:nvPr/>
        </p:nvSpPr>
        <p:spPr>
          <a:xfrm>
            <a:off x="8412480" y="2258568"/>
            <a:ext cx="3017520" cy="420624"/>
          </a:xfrm>
          <a:prstGeom prst="rect">
            <a:avLst/>
          </a:prstGeom>
          <a:noFill/>
          <a:ln/>
        </p:spPr>
        <p:txBody>
          <a:bodyPr wrap="square" lIns="0" tIns="0" rIns="0" bIns="0" rtlCol="0" anchor="ctr"/>
          <a:lstStyle/>
          <a:p>
            <a:pPr algn="ctr" indent="0" marL="0">
              <a:buNone/>
            </a:pPr>
            <a:r>
              <a:rPr lang="en-US" sz="1300" b="1" dirty="0">
                <a:solidFill>
                  <a:schemeClr val="bg1"/>
                </a:solidFill>
              </a:rPr>
              <a:t>Our Accelerator</a:t>
            </a:r>
            <a:endParaRPr lang="en-US" sz="1300" dirty="0"/>
          </a:p>
        </p:txBody>
      </p:sp>
      <p:sp>
        <p:nvSpPr>
          <p:cNvPr id="11" name="fit row 2"/>
          <p:cNvSpPr/>
          <p:nvPr/>
        </p:nvSpPr>
        <p:spPr>
          <a:xfrm>
            <a:off x="548640" y="2926080"/>
            <a:ext cx="11064240" cy="640080"/>
          </a:xfrm>
          <a:prstGeom prst="roundRect">
            <a:avLst>
              <a:gd name="adj" fmla="val 11429"/>
            </a:avLst>
          </a:prstGeom>
          <a:solidFill>
            <a:schemeClr val="bg2"/>
          </a:solidFill>
          <a:ln w="9525">
            <a:solidFill>
              <a:schemeClr val="bg2"/>
            </a:solidFill>
            <a:prstDash val="solid"/>
          </a:ln>
        </p:spPr>
      </p:sp>
      <p:sp>
        <p:nvSpPr>
          <p:cNvPr id="12" name="fit text 2"/>
          <p:cNvSpPr txBox="1"/>
          <p:nvPr/>
        </p:nvSpPr>
        <p:spPr>
          <a:xfrm>
            <a:off x="777240" y="2926080"/>
            <a:ext cx="7315200" cy="640080"/>
          </a:xfrm>
          <a:prstGeom prst="rect">
            <a:avLst/>
          </a:prstGeom>
          <a:noFill/>
          <a:ln/>
        </p:spPr>
        <p:txBody>
          <a:bodyPr wrap="square" lIns="0" tIns="0" rIns="0" bIns="0" rtlCol="0" anchor="ctr"/>
          <a:lstStyle/>
          <a:p>
            <a:pPr indent="0" marL="0">
              <a:buNone/>
            </a:pPr>
            <a:r>
              <a:rPr lang="en-US" sz="1500" dirty="0">
                <a:solidFill>
                  <a:schemeClr val="tx1"/>
                </a:solidFill>
              </a:rPr>
              <a:t>Cutover with incremental sync and validation after migration</a:t>
            </a:r>
            <a:endParaRPr lang="en-US" sz="1500" dirty="0"/>
          </a:p>
        </p:txBody>
      </p:sp>
      <p:sp>
        <p:nvSpPr>
          <p:cNvPr id="13" name="fit pill 2"/>
          <p:cNvSpPr/>
          <p:nvPr/>
        </p:nvSpPr>
        <p:spPr>
          <a:xfrm>
            <a:off x="8412480" y="3035808"/>
            <a:ext cx="3017520" cy="420624"/>
          </a:xfrm>
          <a:prstGeom prst="roundRect">
            <a:avLst>
              <a:gd name="adj" fmla="val 43478"/>
            </a:avLst>
          </a:prstGeom>
          <a:solidFill>
            <a:schemeClr val="accent1"/>
          </a:solidFill>
          <a:ln w="12700">
            <a:solidFill>
              <a:schemeClr val="accent1"/>
            </a:solidFill>
            <a:prstDash val="solid"/>
          </a:ln>
        </p:spPr>
      </p:sp>
      <p:sp>
        <p:nvSpPr>
          <p:cNvPr id="14" name="fit pill text 2"/>
          <p:cNvSpPr txBox="1"/>
          <p:nvPr/>
        </p:nvSpPr>
        <p:spPr>
          <a:xfrm>
            <a:off x="8412480" y="3035808"/>
            <a:ext cx="3017520" cy="420624"/>
          </a:xfrm>
          <a:prstGeom prst="rect">
            <a:avLst/>
          </a:prstGeom>
          <a:noFill/>
          <a:ln/>
        </p:spPr>
        <p:txBody>
          <a:bodyPr wrap="square" lIns="0" tIns="0" rIns="0" bIns="0" rtlCol="0" anchor="ctr"/>
          <a:lstStyle/>
          <a:p>
            <a:pPr algn="ctr" indent="0" marL="0">
              <a:buNone/>
            </a:pPr>
            <a:r>
              <a:rPr lang="en-US" sz="1300" b="1" dirty="0">
                <a:solidFill>
                  <a:schemeClr val="bg1"/>
                </a:solidFill>
              </a:rPr>
              <a:t>Our Accelerator</a:t>
            </a:r>
            <a:endParaRPr lang="en-US" sz="1300" dirty="0"/>
          </a:p>
        </p:txBody>
      </p:sp>
      <p:sp>
        <p:nvSpPr>
          <p:cNvPr id="15" name="fit row 3"/>
          <p:cNvSpPr/>
          <p:nvPr/>
        </p:nvSpPr>
        <p:spPr>
          <a:xfrm>
            <a:off x="548640" y="3703320"/>
            <a:ext cx="11064240" cy="640080"/>
          </a:xfrm>
          <a:prstGeom prst="roundRect">
            <a:avLst>
              <a:gd name="adj" fmla="val 11429"/>
            </a:avLst>
          </a:prstGeom>
          <a:solidFill>
            <a:schemeClr val="bg1"/>
          </a:solidFill>
          <a:ln w="9525">
            <a:solidFill>
              <a:schemeClr val="bg2"/>
            </a:solidFill>
            <a:prstDash val="solid"/>
          </a:ln>
        </p:spPr>
      </p:sp>
      <p:sp>
        <p:nvSpPr>
          <p:cNvPr id="16" name="fit text 3"/>
          <p:cNvSpPr txBox="1"/>
          <p:nvPr/>
        </p:nvSpPr>
        <p:spPr>
          <a:xfrm>
            <a:off x="777240" y="3703320"/>
            <a:ext cx="7315200" cy="640080"/>
          </a:xfrm>
          <a:prstGeom prst="rect">
            <a:avLst/>
          </a:prstGeom>
          <a:noFill/>
          <a:ln/>
        </p:spPr>
        <p:txBody>
          <a:bodyPr wrap="square" lIns="0" tIns="0" rIns="0" bIns="0" rtlCol="0" anchor="ctr"/>
          <a:lstStyle/>
          <a:p>
            <a:pPr indent="0" marL="0">
              <a:buNone/>
            </a:pPr>
            <a:r>
              <a:rPr lang="en-US" sz="1500" dirty="0">
                <a:solidFill>
                  <a:schemeClr val="tx1"/>
                </a:solidFill>
              </a:rPr>
              <a:t>Source is SQL Server or Teradata rather than Synapse</a:t>
            </a:r>
            <a:endParaRPr lang="en-US" sz="1500" dirty="0"/>
          </a:p>
        </p:txBody>
      </p:sp>
      <p:sp>
        <p:nvSpPr>
          <p:cNvPr id="17" name="fit pill 3"/>
          <p:cNvSpPr/>
          <p:nvPr/>
        </p:nvSpPr>
        <p:spPr>
          <a:xfrm>
            <a:off x="8412480" y="3813048"/>
            <a:ext cx="3017520" cy="420624"/>
          </a:xfrm>
          <a:prstGeom prst="roundRect">
            <a:avLst>
              <a:gd name="adj" fmla="val 43478"/>
            </a:avLst>
          </a:prstGeom>
          <a:solidFill>
            <a:schemeClr val="accent3"/>
          </a:solidFill>
          <a:ln w="12700">
            <a:solidFill>
              <a:schemeClr val="accent3"/>
            </a:solidFill>
            <a:prstDash val="solid"/>
          </a:ln>
        </p:spPr>
      </p:sp>
      <p:sp>
        <p:nvSpPr>
          <p:cNvPr id="18" name="fit pill text 3"/>
          <p:cNvSpPr txBox="1"/>
          <p:nvPr/>
        </p:nvSpPr>
        <p:spPr>
          <a:xfrm>
            <a:off x="8412480" y="3813048"/>
            <a:ext cx="3017520" cy="420624"/>
          </a:xfrm>
          <a:prstGeom prst="rect">
            <a:avLst/>
          </a:prstGeom>
          <a:noFill/>
          <a:ln/>
        </p:spPr>
        <p:txBody>
          <a:bodyPr wrap="square" lIns="0" tIns="0" rIns="0" bIns="0" rtlCol="0" anchor="ctr"/>
          <a:lstStyle/>
          <a:p>
            <a:pPr algn="ctr" indent="0" marL="0">
              <a:buNone/>
            </a:pPr>
            <a:r>
              <a:rPr lang="en-US" sz="1300" b="1" dirty="0">
                <a:solidFill>
                  <a:schemeClr val="bg1"/>
                </a:solidFill>
              </a:rPr>
              <a:t>DW Migration Assistant</a:t>
            </a:r>
            <a:endParaRPr lang="en-US" sz="1300" dirty="0"/>
          </a:p>
        </p:txBody>
      </p:sp>
      <p:sp>
        <p:nvSpPr>
          <p:cNvPr id="19" name="fit row 4"/>
          <p:cNvSpPr/>
          <p:nvPr/>
        </p:nvSpPr>
        <p:spPr>
          <a:xfrm>
            <a:off x="548640" y="4480560"/>
            <a:ext cx="11064240" cy="640080"/>
          </a:xfrm>
          <a:prstGeom prst="roundRect">
            <a:avLst>
              <a:gd name="adj" fmla="val 11429"/>
            </a:avLst>
          </a:prstGeom>
          <a:solidFill>
            <a:schemeClr val="bg2"/>
          </a:solidFill>
          <a:ln w="9525">
            <a:solidFill>
              <a:schemeClr val="bg2"/>
            </a:solidFill>
            <a:prstDash val="solid"/>
          </a:ln>
        </p:spPr>
      </p:sp>
      <p:sp>
        <p:nvSpPr>
          <p:cNvPr id="20" name="fit text 4"/>
          <p:cNvSpPr txBox="1"/>
          <p:nvPr/>
        </p:nvSpPr>
        <p:spPr>
          <a:xfrm>
            <a:off x="777240" y="4480560"/>
            <a:ext cx="7315200" cy="640080"/>
          </a:xfrm>
          <a:prstGeom prst="rect">
            <a:avLst/>
          </a:prstGeom>
          <a:noFill/>
          <a:ln/>
        </p:spPr>
        <p:txBody>
          <a:bodyPr wrap="square" lIns="0" tIns="0" rIns="0" bIns="0" rtlCol="0" anchor="ctr"/>
          <a:lstStyle/>
          <a:p>
            <a:pPr indent="0" marL="0">
              <a:buNone/>
            </a:pPr>
            <a:r>
              <a:rPr lang="en-US" sz="1500" dirty="0">
                <a:solidFill>
                  <a:schemeClr val="tx1"/>
                </a:solidFill>
              </a:rPr>
              <a:t>Warehouse-only move where the team prefers native tooling and Copilot</a:t>
            </a:r>
            <a:endParaRPr lang="en-US" sz="1500" dirty="0"/>
          </a:p>
        </p:txBody>
      </p:sp>
      <p:sp>
        <p:nvSpPr>
          <p:cNvPr id="21" name="fit pill 4"/>
          <p:cNvSpPr/>
          <p:nvPr/>
        </p:nvSpPr>
        <p:spPr>
          <a:xfrm>
            <a:off x="8412480" y="4590288"/>
            <a:ext cx="3017520" cy="420624"/>
          </a:xfrm>
          <a:prstGeom prst="roundRect">
            <a:avLst>
              <a:gd name="adj" fmla="val 43478"/>
            </a:avLst>
          </a:prstGeom>
          <a:solidFill>
            <a:schemeClr val="accent3"/>
          </a:solidFill>
          <a:ln w="12700">
            <a:solidFill>
              <a:schemeClr val="accent3"/>
            </a:solidFill>
            <a:prstDash val="solid"/>
          </a:ln>
        </p:spPr>
      </p:sp>
      <p:sp>
        <p:nvSpPr>
          <p:cNvPr id="22" name="fit pill text 4"/>
          <p:cNvSpPr txBox="1"/>
          <p:nvPr/>
        </p:nvSpPr>
        <p:spPr>
          <a:xfrm>
            <a:off x="8412480" y="4590288"/>
            <a:ext cx="3017520" cy="420624"/>
          </a:xfrm>
          <a:prstGeom prst="rect">
            <a:avLst/>
          </a:prstGeom>
          <a:noFill/>
          <a:ln/>
        </p:spPr>
        <p:txBody>
          <a:bodyPr wrap="square" lIns="0" tIns="0" rIns="0" bIns="0" rtlCol="0" anchor="ctr"/>
          <a:lstStyle/>
          <a:p>
            <a:pPr algn="ctr" indent="0" marL="0">
              <a:buNone/>
            </a:pPr>
            <a:r>
              <a:rPr lang="en-US" sz="1300" b="1" dirty="0">
                <a:solidFill>
                  <a:schemeClr val="bg1"/>
                </a:solidFill>
              </a:rPr>
              <a:t>DW Migration Assistant</a:t>
            </a:r>
            <a:endParaRPr lang="en-US" sz="1300" dirty="0"/>
          </a:p>
        </p:txBody>
      </p:sp>
      <p:sp>
        <p:nvSpPr>
          <p:cNvPr id="23" name="fit row 5"/>
          <p:cNvSpPr/>
          <p:nvPr/>
        </p:nvSpPr>
        <p:spPr>
          <a:xfrm>
            <a:off x="548640" y="5257800"/>
            <a:ext cx="11064240" cy="640080"/>
          </a:xfrm>
          <a:prstGeom prst="roundRect">
            <a:avLst>
              <a:gd name="adj" fmla="val 11429"/>
            </a:avLst>
          </a:prstGeom>
          <a:solidFill>
            <a:schemeClr val="bg1"/>
          </a:solidFill>
          <a:ln w="9525">
            <a:solidFill>
              <a:schemeClr val="bg2"/>
            </a:solidFill>
            <a:prstDash val="solid"/>
          </a:ln>
        </p:spPr>
      </p:sp>
      <p:sp>
        <p:nvSpPr>
          <p:cNvPr id="24" name="fit text 5"/>
          <p:cNvSpPr txBox="1"/>
          <p:nvPr/>
        </p:nvSpPr>
        <p:spPr>
          <a:xfrm>
            <a:off x="777240" y="5257800"/>
            <a:ext cx="7315200" cy="640080"/>
          </a:xfrm>
          <a:prstGeom prst="rect">
            <a:avLst/>
          </a:prstGeom>
          <a:noFill/>
          <a:ln/>
        </p:spPr>
        <p:txBody>
          <a:bodyPr wrap="square" lIns="0" tIns="0" rIns="0" bIns="0" rtlCol="0" anchor="ctr"/>
          <a:lstStyle/>
          <a:p>
            <a:pPr indent="0" marL="0">
              <a:buNone/>
            </a:pPr>
            <a:r>
              <a:rPr lang="en-US" sz="1500" dirty="0">
                <a:solidFill>
                  <a:schemeClr val="tx1"/>
                </a:solidFill>
              </a:rPr>
              <a:t>Lake databases with managed Delta tables (until we close the gap)</a:t>
            </a:r>
            <a:endParaRPr lang="en-US" sz="1500" dirty="0"/>
          </a:p>
        </p:txBody>
      </p:sp>
      <p:sp>
        <p:nvSpPr>
          <p:cNvPr id="25" name="fit pill 5"/>
          <p:cNvSpPr/>
          <p:nvPr/>
        </p:nvSpPr>
        <p:spPr>
          <a:xfrm>
            <a:off x="8412480" y="5367528"/>
            <a:ext cx="3017520" cy="420624"/>
          </a:xfrm>
          <a:prstGeom prst="roundRect">
            <a:avLst>
              <a:gd name="adj" fmla="val 43478"/>
            </a:avLst>
          </a:prstGeom>
          <a:solidFill>
            <a:schemeClr val="accent2"/>
          </a:solidFill>
          <a:ln w="12700">
            <a:solidFill>
              <a:schemeClr val="accent2"/>
            </a:solidFill>
            <a:prstDash val="solid"/>
          </a:ln>
        </p:spPr>
      </p:sp>
      <p:sp>
        <p:nvSpPr>
          <p:cNvPr id="26" name="fit pill text 5"/>
          <p:cNvSpPr txBox="1"/>
          <p:nvPr/>
        </p:nvSpPr>
        <p:spPr>
          <a:xfrm>
            <a:off x="8412480" y="5367528"/>
            <a:ext cx="3017520" cy="420624"/>
          </a:xfrm>
          <a:prstGeom prst="rect">
            <a:avLst/>
          </a:prstGeom>
          <a:noFill/>
          <a:ln/>
        </p:spPr>
        <p:txBody>
          <a:bodyPr wrap="square" lIns="0" tIns="0" rIns="0" bIns="0" rtlCol="0" anchor="ctr"/>
          <a:lstStyle/>
          <a:p>
            <a:pPr algn="ctr" indent="0" marL="0">
              <a:buNone/>
            </a:pPr>
            <a:r>
              <a:rPr lang="en-US" sz="1300" b="1" dirty="0">
                <a:solidFill>
                  <a:schemeClr val="bg1"/>
                </a:solidFill>
              </a:rPr>
              <a:t>Spark Migration Assistant</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bg1"/>
                </a:solidFill>
              </a:rPr>
              <a:t>Positioning and next steps</a:t>
            </a:r>
            <a:endParaRPr lang="en-US" sz="3200" dirty="0"/>
          </a:p>
        </p:txBody>
      </p:sp>
      <p:sp>
        <p:nvSpPr>
          <p:cNvPr id="3" name="closing message"/>
          <p:cNvSpPr txBox="1"/>
          <p:nvPr/>
        </p:nvSpPr>
        <p:spPr>
          <a:xfrm>
            <a:off x="548640" y="1325880"/>
            <a:ext cx="11064240" cy="822960"/>
          </a:xfrm>
          <a:prstGeom prst="rect">
            <a:avLst/>
          </a:prstGeom>
          <a:noFill/>
          <a:ln/>
        </p:spPr>
        <p:txBody>
          <a:bodyPr wrap="square" lIns="0" tIns="0" rIns="0" bIns="0" rtlCol="0" anchor="t"/>
          <a:lstStyle/>
          <a:p>
            <a:pPr indent="0" marL="0">
              <a:buNone/>
            </a:pPr>
            <a:r>
              <a:rPr lang="en-US" sz="2000" b="1" dirty="0">
                <a:solidFill>
                  <a:schemeClr val="bg2"/>
                </a:solidFill>
              </a:rPr>
              <a:t>Lead with our accelerator as the end-to-end path for Synapse. Use the Spark assistant for lake databases until we close that gap.</a:t>
            </a:r>
            <a:endParaRPr lang="en-US" sz="2000" dirty="0"/>
          </a:p>
        </p:txBody>
      </p:sp>
      <p:sp>
        <p:nvSpPr>
          <p:cNvPr id="4" name="next card 0"/>
          <p:cNvSpPr/>
          <p:nvPr/>
        </p:nvSpPr>
        <p:spPr>
          <a:xfrm>
            <a:off x="548640" y="2514600"/>
            <a:ext cx="2560320" cy="2651760"/>
          </a:xfrm>
          <a:prstGeom prst="roundRect">
            <a:avLst>
              <a:gd name="adj" fmla="val 2857"/>
            </a:avLst>
          </a:prstGeom>
          <a:solidFill>
            <a:schemeClr val="bg1">
              <a:alpha val="10000"/>
            </a:schemeClr>
          </a:solidFill>
          <a:ln w="12700">
            <a:solidFill>
              <a:schemeClr val="accent1"/>
            </a:solidFill>
            <a:prstDash val="solid"/>
          </a:ln>
        </p:spPr>
      </p:sp>
      <p:sp>
        <p:nvSpPr>
          <p:cNvPr id="5" name="next dot 0"/>
          <p:cNvSpPr/>
          <p:nvPr/>
        </p:nvSpPr>
        <p:spPr>
          <a:xfrm>
            <a:off x="777240" y="2743200"/>
            <a:ext cx="457200" cy="457200"/>
          </a:xfrm>
          <a:prstGeom prst="ellipse">
            <a:avLst/>
          </a:prstGeom>
          <a:solidFill>
            <a:schemeClr val="accent1"/>
          </a:solidFill>
          <a:ln w="12700">
            <a:solidFill>
              <a:schemeClr val="accent1"/>
            </a:solidFill>
            <a:prstDash val="solid"/>
          </a:ln>
        </p:spPr>
      </p:sp>
      <p:sp>
        <p:nvSpPr>
          <p:cNvPr id="6" name="next dot 0 label"/>
          <p:cNvSpPr txBox="1"/>
          <p:nvPr/>
        </p:nvSpPr>
        <p:spPr>
          <a:xfrm>
            <a:off x="777240" y="27432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next head 0"/>
          <p:cNvSpPr txBox="1"/>
          <p:nvPr/>
        </p:nvSpPr>
        <p:spPr>
          <a:xfrm>
            <a:off x="777240" y="3337560"/>
            <a:ext cx="2103120" cy="411480"/>
          </a:xfrm>
          <a:prstGeom prst="rect">
            <a:avLst/>
          </a:prstGeom>
          <a:noFill/>
          <a:ln/>
        </p:spPr>
        <p:txBody>
          <a:bodyPr wrap="square" lIns="0" tIns="0" rIns="0" bIns="0" rtlCol="0" anchor="ctr"/>
          <a:lstStyle/>
          <a:p>
            <a:pPr indent="0" marL="0">
              <a:buNone/>
            </a:pPr>
            <a:r>
              <a:rPr lang="en-US" sz="1700" b="1" dirty="0">
                <a:solidFill>
                  <a:schemeClr val="bg1"/>
                </a:solidFill>
              </a:rPr>
              <a:t>Lake databases</a:t>
            </a:r>
            <a:endParaRPr lang="en-US" sz="1700" dirty="0"/>
          </a:p>
        </p:txBody>
      </p:sp>
      <p:sp>
        <p:nvSpPr>
          <p:cNvPr id="8" name="next body 0"/>
          <p:cNvSpPr txBox="1"/>
          <p:nvPr/>
        </p:nvSpPr>
        <p:spPr>
          <a:xfrm>
            <a:off x="777240" y="3794760"/>
            <a:ext cx="2103120" cy="1234440"/>
          </a:xfrm>
          <a:prstGeom prst="rect">
            <a:avLst/>
          </a:prstGeom>
          <a:noFill/>
          <a:ln/>
        </p:spPr>
        <p:txBody>
          <a:bodyPr wrap="square" lIns="0" tIns="0" rIns="0" bIns="0" rtlCol="0" anchor="t"/>
          <a:lstStyle/>
          <a:p>
            <a:pPr indent="0" marL="0">
              <a:buNone/>
            </a:pPr>
            <a:r>
              <a:rPr lang="en-US" sz="1400" dirty="0">
                <a:solidFill>
                  <a:schemeClr val="bg2"/>
                </a:solidFill>
              </a:rPr>
              <a:t>Map to Lakehouse schemas with OneLake catalog shortcuts, as the Spark assistant does</a:t>
            </a:r>
            <a:endParaRPr lang="en-US" sz="1400" dirty="0"/>
          </a:p>
        </p:txBody>
      </p:sp>
      <p:sp>
        <p:nvSpPr>
          <p:cNvPr id="9" name="next card 1"/>
          <p:cNvSpPr/>
          <p:nvPr/>
        </p:nvSpPr>
        <p:spPr>
          <a:xfrm>
            <a:off x="3383280" y="2514600"/>
            <a:ext cx="2560320" cy="2651760"/>
          </a:xfrm>
          <a:prstGeom prst="roundRect">
            <a:avLst>
              <a:gd name="adj" fmla="val 2857"/>
            </a:avLst>
          </a:prstGeom>
          <a:solidFill>
            <a:schemeClr val="bg1">
              <a:alpha val="10000"/>
            </a:schemeClr>
          </a:solidFill>
          <a:ln w="12700">
            <a:solidFill>
              <a:schemeClr val="accent1"/>
            </a:solidFill>
            <a:prstDash val="solid"/>
          </a:ln>
        </p:spPr>
      </p:sp>
      <p:sp>
        <p:nvSpPr>
          <p:cNvPr id="10" name="next dot 1"/>
          <p:cNvSpPr/>
          <p:nvPr/>
        </p:nvSpPr>
        <p:spPr>
          <a:xfrm>
            <a:off x="3611880" y="2743200"/>
            <a:ext cx="457200" cy="457200"/>
          </a:xfrm>
          <a:prstGeom prst="ellipse">
            <a:avLst/>
          </a:prstGeom>
          <a:solidFill>
            <a:schemeClr val="accent1"/>
          </a:solidFill>
          <a:ln w="12700">
            <a:solidFill>
              <a:schemeClr val="accent1"/>
            </a:solidFill>
            <a:prstDash val="solid"/>
          </a:ln>
        </p:spPr>
      </p:sp>
      <p:sp>
        <p:nvSpPr>
          <p:cNvPr id="11" name="next dot 1 label"/>
          <p:cNvSpPr txBox="1"/>
          <p:nvPr/>
        </p:nvSpPr>
        <p:spPr>
          <a:xfrm>
            <a:off x="3611880" y="27432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next head 1"/>
          <p:cNvSpPr txBox="1"/>
          <p:nvPr/>
        </p:nvSpPr>
        <p:spPr>
          <a:xfrm>
            <a:off x="3611880" y="3337560"/>
            <a:ext cx="2103120" cy="411480"/>
          </a:xfrm>
          <a:prstGeom prst="rect">
            <a:avLst/>
          </a:prstGeom>
          <a:noFill/>
          <a:ln/>
        </p:spPr>
        <p:txBody>
          <a:bodyPr wrap="square" lIns="0" tIns="0" rIns="0" bIns="0" rtlCol="0" anchor="ctr"/>
          <a:lstStyle/>
          <a:p>
            <a:pPr indent="0" marL="0">
              <a:buNone/>
            </a:pPr>
            <a:r>
              <a:rPr lang="en-US" sz="1700" b="1" dirty="0">
                <a:solidFill>
                  <a:schemeClr val="bg1"/>
                </a:solidFill>
              </a:rPr>
              <a:t>Spark environments</a:t>
            </a:r>
            <a:endParaRPr lang="en-US" sz="1700" dirty="0"/>
          </a:p>
        </p:txBody>
      </p:sp>
      <p:sp>
        <p:nvSpPr>
          <p:cNvPr id="13" name="next body 1"/>
          <p:cNvSpPr txBox="1"/>
          <p:nvPr/>
        </p:nvSpPr>
        <p:spPr>
          <a:xfrm>
            <a:off x="3611880" y="3794760"/>
            <a:ext cx="2103120" cy="1234440"/>
          </a:xfrm>
          <a:prstGeom prst="rect">
            <a:avLst/>
          </a:prstGeom>
          <a:noFill/>
          <a:ln/>
        </p:spPr>
        <p:txBody>
          <a:bodyPr wrap="square" lIns="0" tIns="0" rIns="0" bIns="0" rtlCol="0" anchor="t"/>
          <a:lstStyle/>
          <a:p>
            <a:pPr indent="0" marL="0">
              <a:buNone/>
            </a:pPr>
            <a:r>
              <a:rPr lang="en-US" sz="1400" dirty="0">
                <a:solidFill>
                  <a:schemeClr val="bg2"/>
                </a:solidFill>
              </a:rPr>
              <a:t>Move configs and libraries into Environments and bind notebooks to them</a:t>
            </a:r>
            <a:endParaRPr lang="en-US" sz="1400" dirty="0"/>
          </a:p>
        </p:txBody>
      </p:sp>
      <p:sp>
        <p:nvSpPr>
          <p:cNvPr id="14" name="next card 2"/>
          <p:cNvSpPr/>
          <p:nvPr/>
        </p:nvSpPr>
        <p:spPr>
          <a:xfrm>
            <a:off x="6217920" y="2514600"/>
            <a:ext cx="2560320" cy="2651760"/>
          </a:xfrm>
          <a:prstGeom prst="roundRect">
            <a:avLst>
              <a:gd name="adj" fmla="val 2857"/>
            </a:avLst>
          </a:prstGeom>
          <a:solidFill>
            <a:schemeClr val="bg1">
              <a:alpha val="10000"/>
            </a:schemeClr>
          </a:solidFill>
          <a:ln w="12700">
            <a:solidFill>
              <a:schemeClr val="accent1"/>
            </a:solidFill>
            <a:prstDash val="solid"/>
          </a:ln>
        </p:spPr>
      </p:sp>
      <p:sp>
        <p:nvSpPr>
          <p:cNvPr id="15" name="next dot 2"/>
          <p:cNvSpPr/>
          <p:nvPr/>
        </p:nvSpPr>
        <p:spPr>
          <a:xfrm>
            <a:off x="6446520" y="2743200"/>
            <a:ext cx="457200" cy="457200"/>
          </a:xfrm>
          <a:prstGeom prst="ellipse">
            <a:avLst/>
          </a:prstGeom>
          <a:solidFill>
            <a:schemeClr val="accent1"/>
          </a:solidFill>
          <a:ln w="12700">
            <a:solidFill>
              <a:schemeClr val="accent1"/>
            </a:solidFill>
            <a:prstDash val="solid"/>
          </a:ln>
        </p:spPr>
      </p:sp>
      <p:sp>
        <p:nvSpPr>
          <p:cNvPr id="16" name="next dot 2 label"/>
          <p:cNvSpPr txBox="1"/>
          <p:nvPr/>
        </p:nvSpPr>
        <p:spPr>
          <a:xfrm>
            <a:off x="6446520" y="27432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next head 2"/>
          <p:cNvSpPr txBox="1"/>
          <p:nvPr/>
        </p:nvSpPr>
        <p:spPr>
          <a:xfrm>
            <a:off x="6446520" y="3337560"/>
            <a:ext cx="2103120" cy="411480"/>
          </a:xfrm>
          <a:prstGeom prst="rect">
            <a:avLst/>
          </a:prstGeom>
          <a:noFill/>
          <a:ln/>
        </p:spPr>
        <p:txBody>
          <a:bodyPr wrap="square" lIns="0" tIns="0" rIns="0" bIns="0" rtlCol="0" anchor="ctr"/>
          <a:lstStyle/>
          <a:p>
            <a:pPr indent="0" marL="0">
              <a:buNone/>
            </a:pPr>
            <a:r>
              <a:rPr lang="en-US" sz="1700" b="1" dirty="0">
                <a:solidFill>
                  <a:schemeClr val="bg1"/>
                </a:solidFill>
              </a:rPr>
              <a:t>Real Fabric run</a:t>
            </a:r>
            <a:endParaRPr lang="en-US" sz="1700" dirty="0"/>
          </a:p>
        </p:txBody>
      </p:sp>
      <p:sp>
        <p:nvSpPr>
          <p:cNvPr id="18" name="next body 2"/>
          <p:cNvSpPr txBox="1"/>
          <p:nvPr/>
        </p:nvSpPr>
        <p:spPr>
          <a:xfrm>
            <a:off x="6446520" y="3794760"/>
            <a:ext cx="2103120" cy="1234440"/>
          </a:xfrm>
          <a:prstGeom prst="rect">
            <a:avLst/>
          </a:prstGeom>
          <a:noFill/>
          <a:ln/>
        </p:spPr>
        <p:txBody>
          <a:bodyPr wrap="square" lIns="0" tIns="0" rIns="0" bIns="0" rtlCol="0" anchor="t"/>
          <a:lstStyle/>
          <a:p>
            <a:pPr indent="0" marL="0">
              <a:buNone/>
            </a:pPr>
            <a:r>
              <a:rPr lang="en-US" sz="1400" dirty="0">
                <a:solidFill>
                  <a:schemeClr val="bg2"/>
                </a:solidFill>
              </a:rPr>
              <a:t>Confirm the copy and sync pipeline settings end to end</a:t>
            </a:r>
            <a:endParaRPr lang="en-US" sz="1400" dirty="0"/>
          </a:p>
        </p:txBody>
      </p:sp>
      <p:sp>
        <p:nvSpPr>
          <p:cNvPr id="19" name="next card 3"/>
          <p:cNvSpPr/>
          <p:nvPr/>
        </p:nvSpPr>
        <p:spPr>
          <a:xfrm>
            <a:off x="9052560" y="2514600"/>
            <a:ext cx="2560320" cy="2651760"/>
          </a:xfrm>
          <a:prstGeom prst="roundRect">
            <a:avLst>
              <a:gd name="adj" fmla="val 2857"/>
            </a:avLst>
          </a:prstGeom>
          <a:solidFill>
            <a:schemeClr val="bg1">
              <a:alpha val="10000"/>
            </a:schemeClr>
          </a:solidFill>
          <a:ln w="12700">
            <a:solidFill>
              <a:schemeClr val="accent1"/>
            </a:solidFill>
            <a:prstDash val="solid"/>
          </a:ln>
        </p:spPr>
      </p:sp>
      <p:sp>
        <p:nvSpPr>
          <p:cNvPr id="20" name="next dot 3"/>
          <p:cNvSpPr/>
          <p:nvPr/>
        </p:nvSpPr>
        <p:spPr>
          <a:xfrm>
            <a:off x="9281160" y="2743200"/>
            <a:ext cx="457200" cy="457200"/>
          </a:xfrm>
          <a:prstGeom prst="ellipse">
            <a:avLst/>
          </a:prstGeom>
          <a:solidFill>
            <a:schemeClr val="accent1"/>
          </a:solidFill>
          <a:ln w="12700">
            <a:solidFill>
              <a:schemeClr val="accent1"/>
            </a:solidFill>
            <a:prstDash val="solid"/>
          </a:ln>
        </p:spPr>
      </p:sp>
      <p:sp>
        <p:nvSpPr>
          <p:cNvPr id="21" name="next dot 3 label"/>
          <p:cNvSpPr txBox="1"/>
          <p:nvPr/>
        </p:nvSpPr>
        <p:spPr>
          <a:xfrm>
            <a:off x="9281160" y="27432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next head 3"/>
          <p:cNvSpPr txBox="1"/>
          <p:nvPr/>
        </p:nvSpPr>
        <p:spPr>
          <a:xfrm>
            <a:off x="9281160" y="3337560"/>
            <a:ext cx="2103120" cy="411480"/>
          </a:xfrm>
          <a:prstGeom prst="rect">
            <a:avLst/>
          </a:prstGeom>
          <a:noFill/>
          <a:ln/>
        </p:spPr>
        <p:txBody>
          <a:bodyPr wrap="square" lIns="0" tIns="0" rIns="0" bIns="0" rtlCol="0" anchor="ctr"/>
          <a:lstStyle/>
          <a:p>
            <a:pPr indent="0" marL="0">
              <a:buNone/>
            </a:pPr>
            <a:r>
              <a:rPr lang="en-US" sz="1700" b="1" dirty="0">
                <a:solidFill>
                  <a:schemeClr val="bg1"/>
                </a:solidFill>
              </a:rPr>
              <a:t>Release path</a:t>
            </a:r>
            <a:endParaRPr lang="en-US" sz="1700" dirty="0"/>
          </a:p>
        </p:txBody>
      </p:sp>
      <p:sp>
        <p:nvSpPr>
          <p:cNvPr id="23" name="next body 3"/>
          <p:cNvSpPr txBox="1"/>
          <p:nvPr/>
        </p:nvSpPr>
        <p:spPr>
          <a:xfrm>
            <a:off x="9281160" y="3794760"/>
            <a:ext cx="2103120" cy="1234440"/>
          </a:xfrm>
          <a:prstGeom prst="rect">
            <a:avLst/>
          </a:prstGeom>
          <a:noFill/>
          <a:ln/>
        </p:spPr>
        <p:txBody>
          <a:bodyPr wrap="square" lIns="0" tIns="0" rIns="0" bIns="0" rtlCol="0" anchor="t"/>
          <a:lstStyle/>
          <a:p>
            <a:pPr indent="0" marL="0">
              <a:buNone/>
            </a:pPr>
            <a:r>
              <a:rPr lang="en-US" sz="1400" dirty="0">
                <a:solidFill>
                  <a:schemeClr val="bg2"/>
                </a:solidFill>
              </a:rPr>
              <a:t>Add Fabric Git integration and deployment pipelines</a:t>
            </a:r>
            <a:endParaRPr lang="en-US" sz="1400" dirty="0"/>
          </a:p>
        </p:txBody>
      </p:sp>
      <p:sp>
        <p:nvSpPr>
          <p:cNvPr id="24" name="sources"/>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000" dirty="0">
                <a:solidFill>
                  <a:schemeClr val="bg2"/>
                </a:solidFill>
              </a:rPr>
              <a:t>Sources: learn.microsoft.com/fabric/data-warehouse/migration-assistant  ·  learn.microsoft.com/fabric/data-engineering/synapse-to-fabric-spark-migration-assistant  ·  accelerator README</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Synapse Fabric Comparison">
  <a:themeElements>
    <a:clrScheme name="Synapse Fabric Comparison">
      <a:dk1>
        <a:srgbClr val="1B2A2F"/>
      </a:dk1>
      <a:lt1>
        <a:srgbClr val="FFFFFF"/>
      </a:lt1>
      <a:dk2>
        <a:srgbClr val="0F3B3A"/>
      </a:dk2>
      <a:lt2>
        <a:srgbClr val="EEF4F3"/>
      </a:lt2>
      <a:accent1>
        <a:srgbClr val="0E8C7F"/>
      </a:accent1>
      <a:accent2>
        <a:srgbClr val="D98E2B"/>
      </a:accent2>
      <a:accent3>
        <a:srgbClr val="4F6189"/>
      </a:accent3>
      <a:accent4>
        <a:srgbClr val="B9472F"/>
      </a:accent4>
      <a:accent5>
        <a:srgbClr val="3E8E41"/>
      </a:accent5>
      <a:accent6>
        <a:srgbClr val="8A9599"/>
      </a:accent6>
      <a:hlink>
        <a:srgbClr val="0E8C7F"/>
      </a:hlink>
      <a:folHlink>
        <a:srgbClr val="4F6189"/>
      </a:folHlink>
    </a:clrScheme>
    <a:fontScheme name="Synapse Fabric Compari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Migration Accelerator vs Fabric Migration Assistants</dc:title>
  <dc:subject>PptxGenJS Presentation</dc:subject>
  <dc:creator>Synapse to Fabric Migration Accelerator team</dc:creator>
  <cp:lastModifiedBy>Synapse to Fabric Migration Accelerator team</cp:lastModifiedBy>
  <cp:revision>1</cp:revision>
  <dcterms:created xsi:type="dcterms:W3CDTF">2026-10-14T08:53:43Z</dcterms:created>
  <dcterms:modified xsi:type="dcterms:W3CDTF">2026-10-14T08:53:43Z</dcterms:modified>
</cp:coreProperties>
</file>