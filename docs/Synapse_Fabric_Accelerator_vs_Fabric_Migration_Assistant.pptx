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90e2b6-b56c-8443-0b01-ba8c31a46a6a}">
          <p14:sldIdLst>
            <p14:sldId id="256"/>
            <p14:sldId id="257"/>
            <p14:sldId id="258"/>
          </p14:sldIdLst>
        </p14:section>
        <p14:section name="01 The two tools" id="{64581501-61ed-a1f0-bb31-0c4afbd6cc49}">
          <p14:sldIdLst>
            <p14:sldId id="259"/>
            <p14:sldId id="260"/>
            <p14:sldId id="261"/>
            <p14:sldId id="262"/>
            <p14:sldId id="263"/>
          </p14:sldIdLst>
        </p14:section>
        <p14:section name="02 Head-to-head" id="{29b957bf-3406-dde5-0a82-97f1d5af86d6}">
          <p14:sldIdLst>
            <p14:sldId id="264"/>
            <p14:sldId id="265"/>
            <p14:sldId id="266"/>
            <p14:sldId id="267"/>
            <p14:sldId id="268"/>
            <p14:sldId id="269"/>
            <p14:sldId id="270"/>
            <p14:sldId id="271"/>
            <p14:sldId id="272"/>
            <p14:sldId id="273"/>
            <p14:sldId id="274"/>
          </p14:sldIdLst>
        </p14:section>
        <p14:section name="03 Inside the accelerator" id="{b023bde6-be0d-dcd0-bf21-3f71447b23f1}">
          <p14:sldIdLst>
            <p14:sldId id="275"/>
            <p14:sldId id="276"/>
            <p14:sldId id="277"/>
            <p14:sldId id="278"/>
          </p14:sldIdLst>
        </p14:section>
        <p14:section name="04 Way forward" id="{274df0d1-6833-dfa3-69ff-74ce8aadcc00}">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333"/>
                </a:solidFill>
                <a:latin typeface="+mj-lt"/>
              </a:defRPr>
            </a:pPr>
            <a:r>
              <a:rPr sz="1400" b="0" i="0" u="none" strike="noStrike">
                <a:solidFill>
                  <a:srgbClr val="1B2333"/>
                </a:solidFill>
                <a:latin typeface="+mj-lt"/>
              </a:rPr>
              <a:t>Readiness points lost per risk</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C8404F"/>
            </a:solidFill>
            <a:effectLst/>
          </c:spPr>
          <c:invertIfNegative val="0"/>
          <c:dLbls>
            <c:numFmt formatCode="General"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C8404F"/>
              </a:solidFill>
              <a:effectLst/>
            </c:spPr>
          </c:dPt>
          <c:dPt>
            <c:idx val="1"/>
            <c:invertIfNegative val="0"/>
            <c:bubble3D val="0"/>
            <c:spPr>
              <a:solidFill>
                <a:srgbClr val="C77C0E"/>
              </a:solidFill>
              <a:effectLst/>
            </c:spPr>
          </c:dPt>
          <c:dPt>
            <c:idx val="2"/>
            <c:invertIfNegative val="0"/>
            <c:bubble3D val="0"/>
            <c:spPr>
              <a:solidFill>
                <a:srgbClr val="4157D6"/>
              </a:solidFill>
              <a:effectLst/>
            </c:spPr>
          </c:dPt>
          <c:dPt>
            <c:idx val="3"/>
            <c:invertIfNegative val="0"/>
            <c:bubble3D val="0"/>
            <c:spPr>
              <a:solidFill>
                <a:srgbClr val="5D6B82"/>
              </a:solidFill>
              <a:effectLst/>
            </c:spPr>
          </c:dPt>
          <c:cat>
            <c:multiLvlStrRef>
              <c:f>Sheet1!$A$2:$A$5</c:f>
              <c:multiLvlStrCache>
                <c:ptCount val="4"/>
                <c:lvl>
                  <c:pt idx="0">
                    <c:v>Blocking</c:v>
                  </c:pt>
                  <c:pt idx="1">
                    <c:v>High</c:v>
                  </c:pt>
                  <c:pt idx="2">
                    <c:v>Medium</c:v>
                  </c:pt>
                  <c:pt idx="3">
                    <c:v>Low</c:v>
                  </c:pt>
                </c:lvl>
              </c:multiLvlStrCache>
            </c:multiLvlStrRef>
          </c:cat>
          <c:val>
            <c:numRef>
              <c:f>Sheet1!$B$2:$B$5</c:f>
              <c:numCache>
                <c:formatCode>General</c:formatCode>
                <c:ptCount val="4"/>
                <c:pt idx="0">
                  <c:v>25</c:v>
                </c:pt>
                <c:pt idx="1">
                  <c:v>6</c:v>
                </c:pt>
                <c:pt idx="2">
                  <c:v>2</c:v>
                </c:pt>
                <c:pt idx="3">
                  <c:v>0.5</c:v>
                </c:pt>
              </c:numCache>
            </c:numRef>
          </c:val>
        </c:ser>
        <c:dLbls>
          <c:numFmt formatCode="General" sourceLinked="0"/>
          <c:txPr>
            <a:bodyPr/>
            <a:lstStyle/>
            <a:p>
              <a:pPr>
                <a:defRPr b="0" i="0" strike="noStrike" sz="1200" u="none">
                  <a:solidFill>
                    <a:srgbClr val="1B23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EEF3F7"/>
        </a:solidFill>
        <a:ln>
          <a:noFill/>
        </a:ln>
        <a:effectLst/>
      </c:spPr>
    </c:plotArea>
    <c:plotVisOnly val="1"/>
    <c:dispBlanksAs val="span"/>
  </c:chart>
  <c:spPr>
    <a:solidFill>
      <a:srgbClr val="EEF3F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compare our Synapse → Fabric Migration Accelerator with Microsoft's Fabric Migration Assistant, so we can say clearly where each one fits.
Everything about the accelerator comes from its code (branch Rasool, commit c0d16de, 13 Oct 2026). Everything about Microsoft's tools comes from Microsoft Learn and the Fabric blog as of October 2026; the sources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First what each tool is; then the head-to-head comparison, including where Microsoft is ahead; then a look inside the accelerator; and finally the gaps, the roadmap and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version. Microsoft's Fabric Migration Assistant is really three separate tools: a warehouse assistant (generally available), a Spark assistant and a pipeline migration experience (both in preview). Each covers one workload.
The accelerator covers the whole Synapse workspace in one dependency-ordered run, plans and scores the risks before it writes, and validates afterwards, including whether each object actually runs in Fabric.
Microsoft's advantages are real: it is native, supported, needs no install and supports more sources. That is why the recommendation is about fit, not a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what we are comparing.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Synapse migration is not just a database move. A typical workspace has six areas to carry over: the warehouse objects, the data itself, Spark, orchestration, connectivity, and the delivery process around it.
Each area has its own Fabric target and its own Synapse-only code: mssparkutils in notebooks, DISTRIBUTION clauses in T-SQL, linked services and datasets in pipelines. Keep this picture in mind when we look at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does not have one migration tool; it has a family, all reached from the Migrate button in a Fabric workspace or from Synapse Studio.
1. Migration Assistant for Fabric Data Warehouse: generally available. Sources are Synapse dedicated SQL pools, SQL Server / Azure SQL, and Teradata metadata in preview. Input is a DACPAC, a zip of Teradata scripts, or a live connection. It always creates a new warehouse.
2. Spark Migration Assistant: public preview. Moves Spark pools (to Fabric pools plus Environments), notebooks, Spark job definitions and lake databases. It does not move data, and Microsoft says the code refactoring, configuration gaps and validation are still yours to do.
3. Synapse pipeline migration: preview, started from the Integrate hub in Synapse Studio. It assesses pipelines (Ready, Needs review, Coming soon, Not compatible), maps linked services to Fabric connections you have created, and migrates supported pipelines with triggers disabled.
4. Agent skills (microsoft/skills-for-fabric on GitHub): synapse-migration and pipeline-migration skills for AI coding agents such as GitHub Copilot CLI.
The bottom strip is the warehouse assistant's four steps. Note that copying data and rerouting connections are separate, largely manual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accelerator is one guided journey. Each step is reviewed and confirmed before the next one unlocks.
Discover reads the workspace from up to three sources (the Git repository, the live workspace, the dedicated SQL pool) and merges them. Assess classifies every object as Direct, Reconfigure, Transform, Manual or Review. Waves orders objects by their real dependencies. Plan scores readiness from 0 to 100 and lists risks and effort, and nothing is written until then. Migrate creates everything in Fabric wave by wave, and data is loaded by Fabric data pipelines. Validate compares both sides object by object and checks that each object runs.
After a run, what was created is committed to the Fabric workspace's Git branch, so the migration is reviewed in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feature-level view of the journey.
Discover: Git collaboration branch (including merged work not yet published), the live workspace, or a ZIP export; the SQL pool catalog through fixed read-only queries; drift between Git and the published workspace; a searchable inventory and a workspace explorer.
Assess: five classes and workstreams, the component map, and the queue of objects that the rules cannot convert, where LLM drafts are reviewed.
Waves: an interactive dependency graph and wave grouping.
Plan: readiness, risks, effort, eleven switchable stages, credentials, per-table date filters and storage routes through OneLake.
Migrate: pre-run checks, pause, resume, retry failed, optional update in place, and the commit to Fabric Git.
Validate: comparison, run checks in Fabric, optional real runs, and a CSV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comparison itself: coverage first, then what the tools share, then the strengths on each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a row to see which tool moves that kind of object.
The accelerator's column is full except lake databases, which it does not discover yet. Microsoft's coverage is spread over three tools, so a full Synapse migration with Microsoft's tooling means running all three and stitching the results together, in the right order (Spark items first, then pipelines).
Notable cells: Microsoft's warehouse assistant does not support external tables; the accelerator turns them into OneLake shortcuts. Microsoft's Spark assistant copies notebooks but leaves mssparkutils, linked services and file paths for you to refactor; the accelerator rewrites them. Microsoft's pipeline migration maps linked services to Fabric connections that you create first; the accelerator creates SQL, ADLS Gen2 and Blob connections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agree on the fundamentals of a Synapse-to-Fabric move.
Both migrate the warehouse objects and the security objects: roles, GRANT and DENY permissions and dynamic data masking. Microsoft documents this for its warehouse assistant; the accelerator rebuilds the same set from the catalog.
Both convert Synapse-only T-SQL automatically and show what they changed. Both order work by dependency: Microsoft splits failures into primary and dependent objects; the accelerator uses waves.
Both use AI only as a suggestion that a person reviews. Both move rows with Fabric's own engines (a Copy job, or data pipelines).
Both have the same hard limits, because they are Fabric limits: no SQL authentication, no multi-statement table-valued functions, no .NET for Spark, and libraries have to be added to the Environment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the accelerator is the stronger choice for a complete Synapse migration.
1. End to end: one run, ordered by real dependencies, instead of three tools run in sequence by hand.
2. It reads Synapse from its Git collaboration branch, so work that is merged but not yet published is included, and the exact commit is recorded. Test and Prod values come from the environment's parameters file.
3. It plans before it writes: findings that would fail a run (an unsupported column type, an unreadable view, a pipeline activity with no Fabric equivalent, missing credentials) show up as risks first.
4. Data arrives intact: IDENTITY key values are kept, masks exist before the first row, and counts are compared.
5. It proves the result runs, not just that it exists.
6. It fits a DevOps process: each run lands in Git for review.
The next four slides go deeper into points 3, 4, 5 and code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is where the accelerator differs most in approach.
The planner is deterministic: the same plan over the same estate always gives the same strategies, risks, effort, readiness and fingerprint. Readiness starts at 100 and loses 25 points per blocking risk, 6 per high, 2 per medium and 0.5 per low. Examples of blocking risks: a dependency planned in a later wave, an unsupported column type, a masking function Fabric does not have, a target with no capacity.
Effort is estimated in working days: a review allowance for automated objects and a build allowance for manual ones.
Microsoft's warehouse assistant creates the new warehouse first and then lists what failed in its Fix problems step. Its pipeline migration does run an assessment first. Neither scores the whole workspace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never passes through the accelerator. For each wave it creates a metadata-driven Fabric data pipeline: a ForEach over the wave's tables (four at a time) whose Copy activity reads the pool through a Fabric connection and writes the Warehouse with the COPY command. Then it runs the pipeline, waits, and compares row counts table by table.
IDENTITY: Fabric supports IDENTITY on bigint only. The accelerator keeps the column as bigint IDENTITY, loads rows into a staging table without IDENTITY, moves them in with SET IDENTITY_INSERT so the Synapse key values are kept, and reseeds. Microsoft's warehouse assistant lists IDENTITY columns among its limitations.
Masks are written into CREATE TABLE, and a table whose masking function Fabric lacks is not created at all, so no row is ever loaded unmasked.
Date filters load part of a table; keep-in-sync registers the table with a watermark in a control table, and one sync pipeline per Warehouse (daily schedule, created switched off) copies new and changed rows, replacing rows by key. Limit: hard deletes in Synapse are not carried.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reads both sides and writes to neither, unless you ask it to run items.
Each row has one of three verdicts. A check that could not run is REVIEW with the reason, never a match.
What is compared: column names and types (a type converted by design is REVIEW), masks, row counts with the same filter, definition text ignoring comments and whitespace, roles with members and permissions, notebook cells, pipeline activities including nested ones, Spark pool size, and the presence of connections, schedules and shortcuts.
Does it run: tables and views are queried, procedures are compiled with sp_describe_first_result_set, and pipelines, notebooks and Spark jobs are judged by their latest run. On request it runs them now (three at a time, up to 240 minutes) and runs procedures inside a transaction that is rolled back. A failed run makes the row a MISMATCH; an object that matches but has never run is only REVIEW.
Microsoft's warehouse guidance says to test and compare the old and new warehouses in your reporting tools; the Spark assistant produces a migration report of what was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work in a migration is code that Fabric would reject.
Notebooks: mssparkutils becomes notebookutils, the Synapse SQL connector import becomes Fabric's connector, and synapsesql reads of the migrated pool are pointed at the Warehouse. Things that cannot be converted safely (TokenLibrary, linked-service credentials, mssparkutils.env) are flagged rather than guessed.
Pipelines: datasets are folded into each activity, references to notebooks, pipelines and Spark jobs become Fabric item ids, and anything that read or wrote the pool now targets the Warehouse. 33 activity types are converted; a pipeline with any other activity (for example a mapping data flow) is not created, and the activity names are reported.
T-SQL: storage options are removed, RENAME OBJECT becomes sp_rename, isolation-level and workload-management statements are removed, and COPY INTO loses Synapse's managed identity. Twelve patterns Fabric does not support are reported before the run.
Storage: code that read storage as Synapse's managed identity runs as the user in Fabric, and a storage account in another tenant rejects that user. The accelerator creates a OneLake shortcut per container and rewrites the paths, including f-strings and T-SQL that builds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Microsoft's tooling is ahead, stated plainly.
1. It is a Microsoft product inside Fabric; the warehouse assistant is generally available and supported. The accelerator is our own tool.
2. Nothing to install. The accelerator needs Python, Node.js, the Azure CLI (and optionally the Fabric CLI) and ODBC Driver 18 on the machine that runs its API.
3. More sources: SQL Server, Azure SQL Database and Managed Instance, and Teradata metadata in preview. The accelerator is Synapse-only today.
4. Copilot is integrated in the Fabric query editor, and the Fix problems list is prioritised by how many objects depend on each failure. Copilot needs a paid capacity.
5. A Copy job can run continuous incremental copies as a managed Fabric item. The accelerator builds its own scheduled, watermark-based sync pipeline instead.
6. The Spark assistant migrates lake databases (as Lakehouse schemas, with OneLake catalog shortcuts for managed Delta tables) and keeps folder structure. The accelerator does not discover lake databases yet and places notebooks and pipelines at the workspace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is where the two tools overlap most, so it is the fairest place to compare them directly.
Collation: Microsoft's assistant always creates the new warehouse case-insensitive, whatever the default setting. The accelerator offers same-as-Synapse (the default), case-insensitive or case-sensitive.
IDENTITY: Microsoft lists it as a limitation and points to its IDENTITY documentation. The accelerator keeps it and preserves the key values.
External tables: unsupported in Microsoft's assistant; OneLake shortcuts in the accelerator.
Fixing failures: both approaches work. Microsoft's Copilot is convenient inside Fabric; the accelerator applies deterministic rules first, then offers reviewed LLM drafts.
Data, validation and rerouting are separate, mostly manual steps in Microsoft's flow; in the accelerator they are part of the run.
Sources: Microsoft's assistant wins clearly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tools use AI as an assistant, never as an autopilot.
Microsoft: Copilot's Fix query errors works in the Fabric query editor on scripts that failed to migrate. It needs the Copilot tenant switch, a paid F2/P1 or higher capacity (not trial), and a supported region; outside the US and France, data may be processed in another geography if the admin allows it.
Accelerator: drafts are made by Claude through the Claude Code CLI, run headless with every tool switched off, no MCP servers and no saved session, from an empty folder, so it can only answer. Seven object kinds are supported. Each draft goes through automatic checks (for example: still a multi-statement function, unbalanced parentheses, Synapse-only constructs left) and a failing check blocks acceptance. An accepted transform is pinned to a hash of the source; if the source changes, the run falls back to the rules and says so. Project rules live in prompts/transform/project.md, and MIGRATION_LLM=off switches generation off.
What leaves the machine with the accelerator: the object's definition, its rule output, the names and column types of its dependencies, and the project rules. No credentials or table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closer look at how the accelerator is built, and why it can be trusted with a client's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 React web app talks to a small Python API on the operator's machine. The API reads Synapse and writes Fabric; Fabric commits to its own Git repository.
The trust model is enforced by the code, not by convention. The Azure transport only has a GET method. Every SQL statement against the pool is one of 16 registered SELECT queries, each checked when the module loads (it must start with SELECT, contain no semicolon and none of 20 forbidden words), and only a registered query object can be run. Tests check the layering: only the connections package may sign in, only one module may open an ODBC connection, and only one may start a git process.
No secrets: Synapse sign-in happens in Microsoft's own sign-in window; Fabric sign-in through the Azure CLI or the Fabric CLI. Credentials Fabric needs for connections are typed once, held in memory, and never stored, logged or returned. Tokens are cached in memory per audience and refreshed five minutes before they expire.
The API listens on localhost only and refuses requests that are not addressed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lands in a Fabric Dev workspace connected to Fabric's own Git repository, not the Synapse one.
After each run, the accelerator reads the workspace's Git connection and status through Fabric's Git REST APIs and makes a selective commit of the items the run added or changed, with a message naming the run. The per-wave data-load pipelines and the sync pipeline are left out on purpose, because they are rebuilt per environment.
It never forces anything: if the branch has changes the workspace has not taken, or there are conflicts, it stops and says what to do in Fabric. A head that moved during the commit is retried once; a commit that is too large is split. A commit problem never fails the run, and Commit now retries it.
Then the pull-request link opens Azure DevOps or GitHub on a new pull request from dev into main. Deploying from Git to Test and Prod with fabric-cicd is the next piece of the roadmap.
One-time setup by hand: the Fabric repository and branches, the tenant setting for Git, and connecting the Dev workspace to Git. No Git token is ever handled by the accelerator.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numbers that show the depth behind the user interface. All are counted from the code, not estimated.
24 Synapse component types have a Fabric mapping. 11 migration stages can each be switched on or off. 33 pipeline activity types are converted. 33 SQL column type names are mapped to Fabric Warehouse types, and every change is noted on the column. The web app talks to 45 API endpoints.
Quality: 1,508 backend tests pass offline in under 30 seconds (104 are skipped: opt-in live-Azure suites and a local sample repository), and 70 UI tests pass on demo data. The tests use fakes for Fabric, SQL, git and Azure, so they prove the logic and the exact requests; a first real run still confirms Fabric's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what the accelerator does not do yet, what comes next, and how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the gaps is part of the accelerator's design: anything it cannot convert is reported as a risk before the run and as left for a person after it.
Not covered yet: lake databases and serverless SQL databases are not discovered (serverless SQL scripts and pipelines are flagged in Plan). Mapping data flows, event and tumbling-window triggers, monthly or every-N-day schedules, integration runtimes and Spark libraries need a person. Folders are not recreated. Synapse is the only source. It runs on one machine for one operator, and it is not a supported Microsoft product.
Roadmap, from the project's own documents: deploying from Git to Test and Prod with fabric-cicd is next; the assistant panel is already in the UI as a preview; other sources are listed as coming soon; the transformation guide plans faster bulk loads (CETAS to Parquet plus COPY INTO, partition-parallel) and discovery of lake and serverless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depends on the estate, not on which tool is better in general.
The accelerator fits complete Synapse workspaces, especially when pipelines, notebooks and Spark move together, when the client needs a plan and evidence before go-live, when Synapse is in Git or several environments are involved, and when storage lives in another tenant.
Microsoft's assistant fits warehouse-only moves, non-Synapse sources, organisations that require a Microsoft-supported tool inside the portal, and estates with lake databases that must move now.
They also combine well: run the accelerator for the workspace, add Microsoft's Spark assistant for lake databases, and use Copilot in Fabric for one-off fixes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used for Microsoft's side:
- learn.microsoft.com/fabric/data-warehouse/migration-assistant
- learn.microsoft.com/fabric/data-warehouse/migrate-using-upload-file and migrate-using-connection-to-source-system
- learn.microsoft.com/fabric/data-engineering/synapse-to-fabric-spark-migration-assistant and synapse-migration-spark-workloads
- learn.microsoft.com/azure/data-factory/how-to-upgrade-your-azure-synapse-analytics-pipelines-to-fabric-data-factory
- learn.microsoft.com/fabric/data-factory/upgrade-planning-azure-data-factory and how-to-upgrade-your-azure-data-factory-pipelines-to-fabric-data-factory
- github.com/microsoft/skills-for-fabric (skills/synapse-migration, skills/pipeline-migration)
Microsoft's tools change often; check these pages again before a decision depends on 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28232"/>
            <a:ext cx="8686800" cy="256032"/>
          </a:xfrm>
          <a:prstGeom prst="rect">
            <a:avLst/>
          </a:prstGeom>
          <a:noFill/>
          <a:ln/>
        </p:spPr>
        <p:txBody>
          <a:bodyPr wrap="square" lIns="0" tIns="0" rIns="0" bIns="0" rtlCol="0" anchor="t"/>
          <a:lstStyle/>
          <a:p>
            <a:pPr indent="0" marL="0">
              <a:buNone/>
            </a:pPr>
            <a:r>
              <a:rPr lang="en-US" sz="1000" dirty="0">
                <a:solidFill>
                  <a:schemeClr val="accent6"/>
                </a:solidFill>
              </a:rPr>
              <a:t>Synapse → Fabric Migration Accelerator  ·  Comparison with Microsoft Fabric Migration Assistant</a:t>
            </a:r>
            <a:endParaRPr lang="en-US" sz="1000" dirty="0"/>
          </a:p>
        </p:txBody>
      </p:sp>
      <p:sp>
        <p:nvSpPr>
          <p:cNvPr id="3" name="Text 1"/>
          <p:cNvSpPr/>
          <p:nvPr>
            <p:ph idx="101" type="title" hasCustomPrompt="1"/>
          </p:nvPr>
        </p:nvSpPr>
        <p:spPr>
          <a:xfrm>
            <a:off x="548640" y="585216"/>
            <a:ext cx="11094415" cy="749808"/>
          </a:xfrm>
          <a:prstGeom prst="rect">
            <a:avLst/>
          </a:prstGeom>
          <a:noFill/>
          <a:ln/>
        </p:spPr>
        <p:txBody>
          <a:bodyPr wrap="square" rtlCol="0"/>
          <a:lstStyle>
            <a:lvl1pPr algn="l" indent="0" marL="0">
              <a:buNone/>
              <a:defRPr lang="en-US" sz="3200"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rtlCol="0"/>
          <a:lstStyle>
            <a:lvl1pPr algn="l" indent="0" marL="0">
              <a:buNone/>
              <a:defRPr lang="en-US" sz="4200"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880360"/>
            <a:ext cx="10515600" cy="91440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10515600" cy="54864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2.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slideLayout" Target="../slideLayouts/slideLayout2.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lIns="0" tIns="0" rIns="0" bIns="0" rtlCol="0" anchor="b"/>
          <a:lstStyle/>
          <a:p>
            <a:pPr algn="l" indent="0" marL="0">
              <a:buNone/>
            </a:pPr>
            <a:r>
              <a:rPr lang="en-US" sz="4200" dirty="0">
                <a:solidFill>
                  <a:schemeClr val="bg1"/>
                </a:solidFill>
              </a:rPr>
              <a:t>Synapse → Fabric Migration Accelerator</a:t>
            </a: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lIns="0" tIns="0" rIns="0" bIns="0" rtlCol="0" anchor="t"/>
          <a:lstStyle/>
          <a:p>
            <a:pPr indent="0" marL="0">
              <a:buNone/>
            </a:pPr>
            <a:r>
              <a:rPr lang="en-US" sz="2000" dirty="0">
                <a:solidFill>
                  <a:schemeClr val="accent5"/>
                </a:solidFill>
              </a:rPr>
              <a:t>How it compares with Microsoft's Fabric Migration Assistant</a:t>
            </a:r>
            <a:endParaRPr lang="en-US" sz="2000" dirty="0"/>
          </a:p>
        </p:txBody>
      </p:sp>
      <p:sp>
        <p:nvSpPr>
          <p:cNvPr id="4" name="a1f-meta"/>
          <p:cNvSpPr txBox="1"/>
          <p:nvPr/>
        </p:nvSpPr>
        <p:spPr>
          <a:xfrm>
            <a:off x="731520" y="4983480"/>
            <a:ext cx="6766560" cy="320040"/>
          </a:xfrm>
          <a:prstGeom prst="rect">
            <a:avLst/>
          </a:prstGeom>
          <a:noFill/>
          <a:ln/>
        </p:spPr>
        <p:txBody>
          <a:bodyPr wrap="square" lIns="0" tIns="0" rIns="0" bIns="0" rtlCol="0" anchor="t"/>
          <a:lstStyle/>
          <a:p>
            <a:pPr indent="0" marL="0">
              <a:buNone/>
            </a:pPr>
            <a:r>
              <a:rPr lang="en-US" sz="1400" dirty="0">
                <a:solidFill>
                  <a:srgbClr val="C9D4E5"/>
                </a:solidFill>
              </a:rPr>
              <a:t>Capabilities  ·  Strengths on both sides  ·  Trade-offs  ·  October 2026</a:t>
            </a:r>
            <a:endParaRPr lang="en-US" sz="1400" dirty="0"/>
          </a:p>
        </p:txBody>
      </p:sp>
      <p:sp>
        <p:nvSpPr>
          <p:cNvPr id="5" name="a2z-src"/>
          <p:cNvSpPr/>
          <p:nvPr/>
        </p:nvSpPr>
        <p:spPr>
          <a:xfrm>
            <a:off x="8001000" y="2331720"/>
            <a:ext cx="1280160" cy="1280160"/>
          </a:xfrm>
          <a:prstGeom prst="ellipse">
            <a:avLst/>
          </a:prstGeom>
          <a:solidFill>
            <a:schemeClr val="accent2"/>
          </a:solidFill>
          <a:ln/>
        </p:spPr>
      </p:sp>
      <p:pic>
        <p:nvPicPr>
          <p:cNvPr id="6" name="a2z-srci" descr="preencoded.png">    </p:cNvPr>
          <p:cNvPicPr>
            <a:picLocks noChangeAspect="1"/>
          </p:cNvPicPr>
          <p:nvPr/>
        </p:nvPicPr>
        <p:blipFill>
          <a:blip r:embed="rId1"/>
          <a:stretch>
            <a:fillRect/>
          </a:stretch>
        </p:blipFill>
        <p:spPr>
          <a:xfrm>
            <a:off x="8321040" y="2651760"/>
            <a:ext cx="640080" cy="640080"/>
          </a:xfrm>
          <a:prstGeom prst="rect">
            <a:avLst/>
          </a:prstGeom>
        </p:spPr>
      </p:pic>
      <p:sp>
        <p:nvSpPr>
          <p:cNvPr id="7" name="a2z-srcl"/>
          <p:cNvSpPr txBox="1"/>
          <p:nvPr/>
        </p:nvSpPr>
        <p:spPr>
          <a:xfrm>
            <a:off x="7772400" y="3749040"/>
            <a:ext cx="1737360" cy="548640"/>
          </a:xfrm>
          <a:prstGeom prst="rect">
            <a:avLst/>
          </a:prstGeom>
          <a:noFill/>
          <a:ln/>
        </p:spPr>
        <p:txBody>
          <a:bodyPr wrap="square" lIns="0" tIns="0" rIns="0" bIns="0" rtlCol="0" anchor="t"/>
          <a:lstStyle/>
          <a:p>
            <a:pPr algn="ctr" indent="0" marL="0">
              <a:buNone/>
            </a:pPr>
            <a:r>
              <a:rPr lang="en-US" sz="1300" dirty="0">
                <a:solidFill>
                  <a:schemeClr val="bg1"/>
                </a:solidFill>
              </a:rPr>
              <a:t>Azure Synapse Analytics</a:t>
            </a:r>
            <a:endParaRPr lang="en-US" sz="1300" dirty="0"/>
          </a:p>
        </p:txBody>
      </p:sp>
      <p:sp>
        <p:nvSpPr>
          <p:cNvPr id="8" name="a3w-arrow"/>
          <p:cNvSpPr/>
          <p:nvPr/>
        </p:nvSpPr>
        <p:spPr>
          <a:xfrm>
            <a:off x="9418320" y="2971800"/>
            <a:ext cx="594360" cy="91"/>
          </a:xfrm>
          <a:prstGeom prst="line">
            <a:avLst/>
          </a:prstGeom>
          <a:noFill/>
          <a:ln w="31750">
            <a:solidFill>
              <a:srgbClr val="2BB7A3"/>
            </a:solidFill>
            <a:prstDash val="solid"/>
            <a:tailEnd type="triangle"/>
          </a:ln>
        </p:spPr>
      </p:sp>
      <p:sp>
        <p:nvSpPr>
          <p:cNvPr id="9" name="a4z-dst"/>
          <p:cNvSpPr/>
          <p:nvPr/>
        </p:nvSpPr>
        <p:spPr>
          <a:xfrm>
            <a:off x="10104120" y="2331720"/>
            <a:ext cx="1280160" cy="1280160"/>
          </a:xfrm>
          <a:prstGeom prst="ellipse">
            <a:avLst/>
          </a:prstGeom>
          <a:solidFill>
            <a:schemeClr val="accent5"/>
          </a:solidFill>
          <a:ln/>
        </p:spPr>
      </p:sp>
      <p:pic>
        <p:nvPicPr>
          <p:cNvPr id="10" name="a4z-dsti" descr="preencoded.png">    </p:cNvPr>
          <p:cNvPicPr>
            <a:picLocks noChangeAspect="1"/>
          </p:cNvPicPr>
          <p:nvPr/>
        </p:nvPicPr>
        <p:blipFill>
          <a:blip r:embed="rId2"/>
          <a:stretch>
            <a:fillRect/>
          </a:stretch>
        </p:blipFill>
        <p:spPr>
          <a:xfrm>
            <a:off x="10424160" y="2651760"/>
            <a:ext cx="640080" cy="640080"/>
          </a:xfrm>
          <a:prstGeom prst="rect">
            <a:avLst/>
          </a:prstGeom>
        </p:spPr>
      </p:pic>
      <p:sp>
        <p:nvSpPr>
          <p:cNvPr id="11" name="a4z-dstl"/>
          <p:cNvSpPr txBox="1"/>
          <p:nvPr/>
        </p:nvSpPr>
        <p:spPr>
          <a:xfrm>
            <a:off x="9875520" y="3749040"/>
            <a:ext cx="1737360" cy="548640"/>
          </a:xfrm>
          <a:prstGeom prst="rect">
            <a:avLst/>
          </a:prstGeom>
          <a:noFill/>
          <a:ln/>
        </p:spPr>
        <p:txBody>
          <a:bodyPr wrap="square" lIns="0" tIns="0" rIns="0" bIns="0" rtlCol="0" anchor="t"/>
          <a:lstStyle/>
          <a:p>
            <a:pPr algn="ctr" indent="0" marL="0">
              <a:buNone/>
            </a:pPr>
            <a:r>
              <a:rPr lang="en-US" sz="1300" dirty="0">
                <a:solidFill>
                  <a:schemeClr val="bg1"/>
                </a:solidFill>
              </a:rPr>
              <a:t>Microsoft Fabric</a:t>
            </a:r>
            <a:endParaRPr lang="en-US" sz="13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childTnLst>
                          </p:cTn>
                        </p:par>
                        <p:par>
                          <p:cTn id="8" fill="hold">
                            <p:stCondLst>
                              <p:cond delay="450"/>
                            </p:stCondLst>
                            <p:childTnLst>
                              <p:par>
                                <p:cTn id="9" presetID="5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450" fill="hold"/>
                                        <p:tgtEl>
                                          <p:spTgt spid="5"/>
                                        </p:tgtEl>
                                        <p:attrNameLst>
                                          <p:attrName>ppt_w</p:attrName>
                                        </p:attrNameLst>
                                      </p:cBhvr>
                                      <p:tavLst>
                                        <p:tav tm="0">
                                          <p:val>
                                            <p:fltVal val="0"/>
                                          </p:val>
                                        </p:tav>
                                        <p:tav tm="100000">
                                          <p:val>
                                            <p:strVal val="#ppt_w"/>
                                          </p:val>
                                        </p:tav>
                                      </p:tavLst>
                                    </p:anim>
                                    <p:anim calcmode="lin" valueType="num">
                                      <p:cBhvr>
                                        <p:cTn id="12" dur="450" fill="hold"/>
                                        <p:tgtEl>
                                          <p:spTgt spid="5"/>
                                        </p:tgtEl>
                                        <p:attrNameLst>
                                          <p:attrName>ppt_h</p:attrName>
                                        </p:attrNameLst>
                                      </p:cBhvr>
                                      <p:tavLst>
                                        <p:tav tm="0">
                                          <p:val>
                                            <p:fltVal val="0"/>
                                          </p:val>
                                        </p:tav>
                                        <p:tav tm="100000">
                                          <p:val>
                                            <p:strVal val="#ppt_h"/>
                                          </p:val>
                                        </p:tav>
                                      </p:tavLst>
                                    </p:anim>
                                    <p:animEffect transition="in" filter="fade">
                                      <p:cBhvr>
                                        <p:cTn id="13" dur="450"/>
                                        <p:tgtEl>
                                          <p:spTgt spid="5"/>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450" fill="hold"/>
                                        <p:tgtEl>
                                          <p:spTgt spid="6"/>
                                        </p:tgtEl>
                                        <p:attrNameLst>
                                          <p:attrName>ppt_w</p:attrName>
                                        </p:attrNameLst>
                                      </p:cBhvr>
                                      <p:tavLst>
                                        <p:tav tm="0">
                                          <p:val>
                                            <p:fltVal val="0"/>
                                          </p:val>
                                        </p:tav>
                                        <p:tav tm="100000">
                                          <p:val>
                                            <p:strVal val="#ppt_w"/>
                                          </p:val>
                                        </p:tav>
                                      </p:tavLst>
                                    </p:anim>
                                    <p:anim calcmode="lin" valueType="num">
                                      <p:cBhvr>
                                        <p:cTn id="17" dur="450" fill="hold"/>
                                        <p:tgtEl>
                                          <p:spTgt spid="6"/>
                                        </p:tgtEl>
                                        <p:attrNameLst>
                                          <p:attrName>ppt_h</p:attrName>
                                        </p:attrNameLst>
                                      </p:cBhvr>
                                      <p:tavLst>
                                        <p:tav tm="0">
                                          <p:val>
                                            <p:fltVal val="0"/>
                                          </p:val>
                                        </p:tav>
                                        <p:tav tm="100000">
                                          <p:val>
                                            <p:strVal val="#ppt_h"/>
                                          </p:val>
                                        </p:tav>
                                      </p:tavLst>
                                    </p:anim>
                                    <p:animEffect transition="in" filter="fade">
                                      <p:cBhvr>
                                        <p:cTn id="18" dur="450"/>
                                        <p:tgtEl>
                                          <p:spTgt spid="6"/>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450" fill="hold"/>
                                        <p:tgtEl>
                                          <p:spTgt spid="7"/>
                                        </p:tgtEl>
                                        <p:attrNameLst>
                                          <p:attrName>ppt_w</p:attrName>
                                        </p:attrNameLst>
                                      </p:cBhvr>
                                      <p:tavLst>
                                        <p:tav tm="0">
                                          <p:val>
                                            <p:fltVal val="0"/>
                                          </p:val>
                                        </p:tav>
                                        <p:tav tm="100000">
                                          <p:val>
                                            <p:strVal val="#ppt_w"/>
                                          </p:val>
                                        </p:tav>
                                      </p:tavLst>
                                    </p:anim>
                                    <p:anim calcmode="lin" valueType="num">
                                      <p:cBhvr>
                                        <p:cTn id="22" dur="450" fill="hold"/>
                                        <p:tgtEl>
                                          <p:spTgt spid="7"/>
                                        </p:tgtEl>
                                        <p:attrNameLst>
                                          <p:attrName>ppt_h</p:attrName>
                                        </p:attrNameLst>
                                      </p:cBhvr>
                                      <p:tavLst>
                                        <p:tav tm="0">
                                          <p:val>
                                            <p:fltVal val="0"/>
                                          </p:val>
                                        </p:tav>
                                        <p:tav tm="100000">
                                          <p:val>
                                            <p:strVal val="#ppt_h"/>
                                          </p:val>
                                        </p:tav>
                                      </p:tavLst>
                                    </p:anim>
                                    <p:animEffect transition="in" filter="fade">
                                      <p:cBhvr>
                                        <p:cTn id="23" dur="450"/>
                                        <p:tgtEl>
                                          <p:spTgt spid="7"/>
                                        </p:tgtEl>
                                      </p:cBhvr>
                                    </p:animEffect>
                                  </p:childTnLst>
                                </p:cTn>
                              </p:par>
                            </p:childTnLst>
                          </p:cTn>
                        </p:par>
                        <p:par>
                          <p:cTn id="24" fill="hold">
                            <p:stCondLst>
                              <p:cond delay="900"/>
                            </p:stCondLst>
                            <p:childTnLst>
                              <p:par>
                                <p:cTn id="25" presetID="22" presetClass="entr" presetSubtype="8"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1400"/>
                            </p:stCondLst>
                            <p:childTnLst>
                              <p:par>
                                <p:cTn id="29" presetID="53" presetClass="entr" presetSubtype="16"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450" fill="hold"/>
                                        <p:tgtEl>
                                          <p:spTgt spid="9"/>
                                        </p:tgtEl>
                                        <p:attrNameLst>
                                          <p:attrName>ppt_w</p:attrName>
                                        </p:attrNameLst>
                                      </p:cBhvr>
                                      <p:tavLst>
                                        <p:tav tm="0">
                                          <p:val>
                                            <p:fltVal val="0"/>
                                          </p:val>
                                        </p:tav>
                                        <p:tav tm="100000">
                                          <p:val>
                                            <p:strVal val="#ppt_w"/>
                                          </p:val>
                                        </p:tav>
                                      </p:tavLst>
                                    </p:anim>
                                    <p:anim calcmode="lin" valueType="num">
                                      <p:cBhvr>
                                        <p:cTn id="32" dur="450" fill="hold"/>
                                        <p:tgtEl>
                                          <p:spTgt spid="9"/>
                                        </p:tgtEl>
                                        <p:attrNameLst>
                                          <p:attrName>ppt_h</p:attrName>
                                        </p:attrNameLst>
                                      </p:cBhvr>
                                      <p:tavLst>
                                        <p:tav tm="0">
                                          <p:val>
                                            <p:fltVal val="0"/>
                                          </p:val>
                                        </p:tav>
                                        <p:tav tm="100000">
                                          <p:val>
                                            <p:strVal val="#ppt_h"/>
                                          </p:val>
                                        </p:tav>
                                      </p:tavLst>
                                    </p:anim>
                                    <p:animEffect transition="in" filter="fade">
                                      <p:cBhvr>
                                        <p:cTn id="33" dur="450"/>
                                        <p:tgtEl>
                                          <p:spTgt spid="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450" fill="hold"/>
                                        <p:tgtEl>
                                          <p:spTgt spid="10"/>
                                        </p:tgtEl>
                                        <p:attrNameLst>
                                          <p:attrName>ppt_w</p:attrName>
                                        </p:attrNameLst>
                                      </p:cBhvr>
                                      <p:tavLst>
                                        <p:tav tm="0">
                                          <p:val>
                                            <p:fltVal val="0"/>
                                          </p:val>
                                        </p:tav>
                                        <p:tav tm="100000">
                                          <p:val>
                                            <p:strVal val="#ppt_w"/>
                                          </p:val>
                                        </p:tav>
                                      </p:tavLst>
                                    </p:anim>
                                    <p:anim calcmode="lin" valueType="num">
                                      <p:cBhvr>
                                        <p:cTn id="37" dur="450" fill="hold"/>
                                        <p:tgtEl>
                                          <p:spTgt spid="10"/>
                                        </p:tgtEl>
                                        <p:attrNameLst>
                                          <p:attrName>ppt_h</p:attrName>
                                        </p:attrNameLst>
                                      </p:cBhvr>
                                      <p:tavLst>
                                        <p:tav tm="0">
                                          <p:val>
                                            <p:fltVal val="0"/>
                                          </p:val>
                                        </p:tav>
                                        <p:tav tm="100000">
                                          <p:val>
                                            <p:strVal val="#ppt_h"/>
                                          </p:val>
                                        </p:tav>
                                      </p:tavLst>
                                    </p:anim>
                                    <p:animEffect transition="in" filter="fade">
                                      <p:cBhvr>
                                        <p:cTn id="38" dur="450"/>
                                        <p:tgtEl>
                                          <p:spTgt spid="1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450" fill="hold"/>
                                        <p:tgtEl>
                                          <p:spTgt spid="11"/>
                                        </p:tgtEl>
                                        <p:attrNameLst>
                                          <p:attrName>ppt_w</p:attrName>
                                        </p:attrNameLst>
                                      </p:cBhvr>
                                      <p:tavLst>
                                        <p:tav tm="0">
                                          <p:val>
                                            <p:fltVal val="0"/>
                                          </p:val>
                                        </p:tav>
                                        <p:tav tm="100000">
                                          <p:val>
                                            <p:strVal val="#ppt_w"/>
                                          </p:val>
                                        </p:tav>
                                      </p:tavLst>
                                    </p:anim>
                                    <p:anim calcmode="lin" valueType="num">
                                      <p:cBhvr>
                                        <p:cTn id="42" dur="450" fill="hold"/>
                                        <p:tgtEl>
                                          <p:spTgt spid="11"/>
                                        </p:tgtEl>
                                        <p:attrNameLst>
                                          <p:attrName>ppt_h</p:attrName>
                                        </p:attrNameLst>
                                      </p:cBhvr>
                                      <p:tavLst>
                                        <p:tav tm="0">
                                          <p:val>
                                            <p:fltVal val="0"/>
                                          </p:val>
                                        </p:tav>
                                        <p:tav tm="100000">
                                          <p:val>
                                            <p:strVal val="#ppt_h"/>
                                          </p:val>
                                        </p:tav>
                                      </p:tavLst>
                                    </p:anim>
                                    <p:animEffect transition="in" filter="fade">
                                      <p:cBhvr>
                                        <p:cTn id="43"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OVERVIEW</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What we will cover</a:t>
            </a:r>
            <a:endParaRPr lang="en-US" sz="3200" dirty="0"/>
          </a:p>
        </p:txBody>
      </p:sp>
      <p:sp>
        <p:nvSpPr>
          <p:cNvPr id="4" name="a1u-ag0"/>
          <p:cNvSpPr/>
          <p:nvPr/>
        </p:nvSpPr>
        <p:spPr>
          <a:xfrm>
            <a:off x="548640" y="1691640"/>
            <a:ext cx="2587752" cy="3566160"/>
          </a:xfrm>
          <a:prstGeom prst="roundRect">
            <a:avLst>
              <a:gd name="adj" fmla="val 4240"/>
            </a:avLst>
          </a:prstGeom>
          <a:solidFill>
            <a:schemeClr val="bg2"/>
          </a:solidFill>
          <a:ln/>
        </p:spPr>
      </p:sp>
      <p:sp>
        <p:nvSpPr>
          <p:cNvPr id="5" name="a1u-ag0n"/>
          <p:cNvSpPr txBox="1"/>
          <p:nvPr/>
        </p:nvSpPr>
        <p:spPr>
          <a:xfrm>
            <a:off x="822960" y="1947672"/>
            <a:ext cx="1371600" cy="868680"/>
          </a:xfrm>
          <a:prstGeom prst="rect">
            <a:avLst/>
          </a:prstGeom>
          <a:noFill/>
          <a:ln/>
        </p:spPr>
        <p:txBody>
          <a:bodyPr wrap="square" lIns="0" tIns="0" rIns="0" bIns="0" rtlCol="0" anchor="t"/>
          <a:lstStyle/>
          <a:p>
            <a:pPr indent="0" marL="0">
              <a:buNone/>
            </a:pPr>
            <a:r>
              <a:rPr lang="en-US" sz="5000" dirty="0">
                <a:solidFill>
                  <a:schemeClr val="accent1"/>
                </a:solidFill>
                <a:latin typeface="+mj-lt" pitchFamily="34" charset="0"/>
                <a:ea typeface="+mj-lt" pitchFamily="34" charset="-122"/>
                <a:cs typeface="+mj-lt" pitchFamily="34" charset="-120"/>
              </a:rPr>
              <a:t>01</a:t>
            </a:r>
            <a:endParaRPr lang="en-US" sz="5000" dirty="0"/>
          </a:p>
        </p:txBody>
      </p:sp>
      <p:sp>
        <p:nvSpPr>
          <p:cNvPr id="6" name="a1u-ag0c"/>
          <p:cNvSpPr/>
          <p:nvPr/>
        </p:nvSpPr>
        <p:spPr>
          <a:xfrm>
            <a:off x="2221992" y="2057400"/>
            <a:ext cx="640080" cy="640080"/>
          </a:xfrm>
          <a:prstGeom prst="ellipse">
            <a:avLst/>
          </a:prstGeom>
          <a:solidFill>
            <a:schemeClr val="tx2"/>
          </a:solidFill>
          <a:ln/>
        </p:spPr>
      </p:sp>
      <p:pic>
        <p:nvPicPr>
          <p:cNvPr id="7" name="a1u-ag0ci" descr="preencoded.png">    </p:cNvPr>
          <p:cNvPicPr>
            <a:picLocks noChangeAspect="1"/>
          </p:cNvPicPr>
          <p:nvPr/>
        </p:nvPicPr>
        <p:blipFill>
          <a:blip r:embed="rId1"/>
          <a:stretch>
            <a:fillRect/>
          </a:stretch>
        </p:blipFill>
        <p:spPr>
          <a:xfrm>
            <a:off x="2382012" y="2217420"/>
            <a:ext cx="320040" cy="320040"/>
          </a:xfrm>
          <a:prstGeom prst="rect">
            <a:avLst/>
          </a:prstGeom>
        </p:spPr>
      </p:pic>
      <p:sp>
        <p:nvSpPr>
          <p:cNvPr id="8" name="a1u-ag0h"/>
          <p:cNvSpPr txBox="1"/>
          <p:nvPr/>
        </p:nvSpPr>
        <p:spPr>
          <a:xfrm>
            <a:off x="822960" y="3017520"/>
            <a:ext cx="2084832" cy="822960"/>
          </a:xfrm>
          <a:prstGeom prst="rect">
            <a:avLst/>
          </a:prstGeom>
          <a:noFill/>
          <a:ln/>
        </p:spPr>
        <p:txBody>
          <a:bodyPr wrap="square" lIns="0" tIns="0" rIns="0" bIns="0" rtlCol="0" anchor="t"/>
          <a:lstStyle/>
          <a:p>
            <a:pPr indent="0" marL="0">
              <a:buNone/>
            </a:pPr>
            <a:r>
              <a:rPr lang="en-US" sz="2200" dirty="0">
                <a:solidFill>
                  <a:schemeClr val="tx2"/>
                </a:solidFill>
                <a:latin typeface="+mj-lt" pitchFamily="34" charset="0"/>
                <a:ea typeface="+mj-lt" pitchFamily="34" charset="-122"/>
                <a:cs typeface="+mj-lt" pitchFamily="34" charset="-120"/>
              </a:rPr>
              <a:t>The two tools at a glance</a:t>
            </a:r>
            <a:endParaRPr lang="en-US" sz="2200" dirty="0"/>
          </a:p>
        </p:txBody>
      </p:sp>
      <p:sp>
        <p:nvSpPr>
          <p:cNvPr id="9" name="a1u-ag0b"/>
          <p:cNvSpPr txBox="1"/>
          <p:nvPr/>
        </p:nvSpPr>
        <p:spPr>
          <a:xfrm>
            <a:off x="822960" y="3931920"/>
            <a:ext cx="2084832" cy="1188720"/>
          </a:xfrm>
          <a:prstGeom prst="rect">
            <a:avLst/>
          </a:prstGeom>
          <a:noFill/>
          <a:ln/>
        </p:spPr>
        <p:txBody>
          <a:bodyPr wrap="square" lIns="0" tIns="0" rIns="0" bIns="0" rtlCol="0" anchor="t"/>
          <a:lstStyle/>
          <a:p>
            <a:pPr indent="0" marL="0">
              <a:buNone/>
            </a:pPr>
            <a:r>
              <a:rPr lang="en-US" sz="1600" dirty="0">
                <a:solidFill>
                  <a:schemeClr val="accent6"/>
                </a:solidFill>
              </a:rPr>
              <a:t>What each one is, and how it works</a:t>
            </a:r>
            <a:endParaRPr lang="en-US" sz="1600" dirty="0"/>
          </a:p>
        </p:txBody>
      </p:sp>
      <p:sp>
        <p:nvSpPr>
          <p:cNvPr id="10" name="a2u-ag1"/>
          <p:cNvSpPr/>
          <p:nvPr/>
        </p:nvSpPr>
        <p:spPr>
          <a:xfrm>
            <a:off x="3383280" y="1691640"/>
            <a:ext cx="2587752" cy="3566160"/>
          </a:xfrm>
          <a:prstGeom prst="roundRect">
            <a:avLst>
              <a:gd name="adj" fmla="val 4240"/>
            </a:avLst>
          </a:prstGeom>
          <a:solidFill>
            <a:schemeClr val="bg2"/>
          </a:solidFill>
          <a:ln/>
        </p:spPr>
      </p:sp>
      <p:sp>
        <p:nvSpPr>
          <p:cNvPr id="11" name="a2u-ag1n"/>
          <p:cNvSpPr txBox="1"/>
          <p:nvPr/>
        </p:nvSpPr>
        <p:spPr>
          <a:xfrm>
            <a:off x="3657600" y="1947672"/>
            <a:ext cx="1371600" cy="868680"/>
          </a:xfrm>
          <a:prstGeom prst="rect">
            <a:avLst/>
          </a:prstGeom>
          <a:noFill/>
          <a:ln/>
        </p:spPr>
        <p:txBody>
          <a:bodyPr wrap="square" lIns="0" tIns="0" rIns="0" bIns="0" rtlCol="0" anchor="t"/>
          <a:lstStyle/>
          <a:p>
            <a:pPr indent="0" marL="0">
              <a:buNone/>
            </a:pPr>
            <a:r>
              <a:rPr lang="en-US" sz="5000" dirty="0">
                <a:solidFill>
                  <a:schemeClr val="accent1"/>
                </a:solidFill>
                <a:latin typeface="+mj-lt" pitchFamily="34" charset="0"/>
                <a:ea typeface="+mj-lt" pitchFamily="34" charset="-122"/>
                <a:cs typeface="+mj-lt" pitchFamily="34" charset="-120"/>
              </a:rPr>
              <a:t>02</a:t>
            </a:r>
            <a:endParaRPr lang="en-US" sz="5000" dirty="0"/>
          </a:p>
        </p:txBody>
      </p:sp>
      <p:sp>
        <p:nvSpPr>
          <p:cNvPr id="12" name="a2u-ag1c"/>
          <p:cNvSpPr/>
          <p:nvPr/>
        </p:nvSpPr>
        <p:spPr>
          <a:xfrm>
            <a:off x="5056632" y="2057400"/>
            <a:ext cx="640080" cy="640080"/>
          </a:xfrm>
          <a:prstGeom prst="ellipse">
            <a:avLst/>
          </a:prstGeom>
          <a:solidFill>
            <a:schemeClr val="tx2"/>
          </a:solidFill>
          <a:ln/>
        </p:spPr>
      </p:sp>
      <p:pic>
        <p:nvPicPr>
          <p:cNvPr id="13" name="a2u-ag1ci" descr="preencoded.png">    </p:cNvPr>
          <p:cNvPicPr>
            <a:picLocks noChangeAspect="1"/>
          </p:cNvPicPr>
          <p:nvPr/>
        </p:nvPicPr>
        <p:blipFill>
          <a:blip r:embed="rId2"/>
          <a:stretch>
            <a:fillRect/>
          </a:stretch>
        </p:blipFill>
        <p:spPr>
          <a:xfrm>
            <a:off x="5216652" y="2217420"/>
            <a:ext cx="320040" cy="320040"/>
          </a:xfrm>
          <a:prstGeom prst="rect">
            <a:avLst/>
          </a:prstGeom>
        </p:spPr>
      </p:pic>
      <p:sp>
        <p:nvSpPr>
          <p:cNvPr id="14" name="a2u-ag1h"/>
          <p:cNvSpPr txBox="1"/>
          <p:nvPr/>
        </p:nvSpPr>
        <p:spPr>
          <a:xfrm>
            <a:off x="3657600" y="3017520"/>
            <a:ext cx="2084832" cy="822960"/>
          </a:xfrm>
          <a:prstGeom prst="rect">
            <a:avLst/>
          </a:prstGeom>
          <a:noFill/>
          <a:ln/>
        </p:spPr>
        <p:txBody>
          <a:bodyPr wrap="square" lIns="0" tIns="0" rIns="0" bIns="0" rtlCol="0" anchor="t"/>
          <a:lstStyle/>
          <a:p>
            <a:pPr indent="0" marL="0">
              <a:buNone/>
            </a:pPr>
            <a:r>
              <a:rPr lang="en-US" sz="2200" dirty="0">
                <a:solidFill>
                  <a:schemeClr val="tx2"/>
                </a:solidFill>
                <a:latin typeface="+mj-lt" pitchFamily="34" charset="0"/>
                <a:ea typeface="+mj-lt" pitchFamily="34" charset="-122"/>
                <a:cs typeface="+mj-lt" pitchFamily="34" charset="-120"/>
              </a:rPr>
              <a:t>Head-to-head</a:t>
            </a:r>
            <a:endParaRPr lang="en-US" sz="2200" dirty="0"/>
          </a:p>
        </p:txBody>
      </p:sp>
      <p:sp>
        <p:nvSpPr>
          <p:cNvPr id="15" name="a2u-ag1b"/>
          <p:cNvSpPr txBox="1"/>
          <p:nvPr/>
        </p:nvSpPr>
        <p:spPr>
          <a:xfrm>
            <a:off x="3657600" y="3931920"/>
            <a:ext cx="2084832" cy="1188720"/>
          </a:xfrm>
          <a:prstGeom prst="rect">
            <a:avLst/>
          </a:prstGeom>
          <a:noFill/>
          <a:ln/>
        </p:spPr>
        <p:txBody>
          <a:bodyPr wrap="square" lIns="0" tIns="0" rIns="0" bIns="0" rtlCol="0" anchor="t"/>
          <a:lstStyle/>
          <a:p>
            <a:pPr indent="0" marL="0">
              <a:buNone/>
            </a:pPr>
            <a:r>
              <a:rPr lang="en-US" sz="1600" dirty="0">
                <a:solidFill>
                  <a:schemeClr val="accent6"/>
                </a:solidFill>
              </a:rPr>
              <a:t>Coverage, common ground, and where each tool leads</a:t>
            </a:r>
            <a:endParaRPr lang="en-US" sz="1600" dirty="0"/>
          </a:p>
        </p:txBody>
      </p:sp>
      <p:sp>
        <p:nvSpPr>
          <p:cNvPr id="16" name="a3u-ag2"/>
          <p:cNvSpPr/>
          <p:nvPr/>
        </p:nvSpPr>
        <p:spPr>
          <a:xfrm>
            <a:off x="6217920" y="1691640"/>
            <a:ext cx="2587752" cy="3566160"/>
          </a:xfrm>
          <a:prstGeom prst="roundRect">
            <a:avLst>
              <a:gd name="adj" fmla="val 4240"/>
            </a:avLst>
          </a:prstGeom>
          <a:solidFill>
            <a:schemeClr val="bg2"/>
          </a:solidFill>
          <a:ln/>
        </p:spPr>
      </p:sp>
      <p:sp>
        <p:nvSpPr>
          <p:cNvPr id="17" name="a3u-ag2n"/>
          <p:cNvSpPr txBox="1"/>
          <p:nvPr/>
        </p:nvSpPr>
        <p:spPr>
          <a:xfrm>
            <a:off x="6492240" y="1947672"/>
            <a:ext cx="1371600" cy="868680"/>
          </a:xfrm>
          <a:prstGeom prst="rect">
            <a:avLst/>
          </a:prstGeom>
          <a:noFill/>
          <a:ln/>
        </p:spPr>
        <p:txBody>
          <a:bodyPr wrap="square" lIns="0" tIns="0" rIns="0" bIns="0" rtlCol="0" anchor="t"/>
          <a:lstStyle/>
          <a:p>
            <a:pPr indent="0" marL="0">
              <a:buNone/>
            </a:pPr>
            <a:r>
              <a:rPr lang="en-US" sz="5000" dirty="0">
                <a:solidFill>
                  <a:schemeClr val="accent1"/>
                </a:solidFill>
                <a:latin typeface="+mj-lt" pitchFamily="34" charset="0"/>
                <a:ea typeface="+mj-lt" pitchFamily="34" charset="-122"/>
                <a:cs typeface="+mj-lt" pitchFamily="34" charset="-120"/>
              </a:rPr>
              <a:t>03</a:t>
            </a:r>
            <a:endParaRPr lang="en-US" sz="5000" dirty="0"/>
          </a:p>
        </p:txBody>
      </p:sp>
      <p:sp>
        <p:nvSpPr>
          <p:cNvPr id="18" name="a3u-ag2c"/>
          <p:cNvSpPr/>
          <p:nvPr/>
        </p:nvSpPr>
        <p:spPr>
          <a:xfrm>
            <a:off x="7891272" y="2057400"/>
            <a:ext cx="640080" cy="640080"/>
          </a:xfrm>
          <a:prstGeom prst="ellipse">
            <a:avLst/>
          </a:prstGeom>
          <a:solidFill>
            <a:schemeClr val="tx2"/>
          </a:solidFill>
          <a:ln/>
        </p:spPr>
      </p:sp>
      <p:pic>
        <p:nvPicPr>
          <p:cNvPr id="19" name="a3u-ag2ci" descr="preencoded.png">    </p:cNvPr>
          <p:cNvPicPr>
            <a:picLocks noChangeAspect="1"/>
          </p:cNvPicPr>
          <p:nvPr/>
        </p:nvPicPr>
        <p:blipFill>
          <a:blip r:embed="rId3"/>
          <a:stretch>
            <a:fillRect/>
          </a:stretch>
        </p:blipFill>
        <p:spPr>
          <a:xfrm>
            <a:off x="8051292" y="2217420"/>
            <a:ext cx="320040" cy="320040"/>
          </a:xfrm>
          <a:prstGeom prst="rect">
            <a:avLst/>
          </a:prstGeom>
        </p:spPr>
      </p:pic>
      <p:sp>
        <p:nvSpPr>
          <p:cNvPr id="20" name="a3u-ag2h"/>
          <p:cNvSpPr txBox="1"/>
          <p:nvPr/>
        </p:nvSpPr>
        <p:spPr>
          <a:xfrm>
            <a:off x="6492240" y="3017520"/>
            <a:ext cx="2084832" cy="822960"/>
          </a:xfrm>
          <a:prstGeom prst="rect">
            <a:avLst/>
          </a:prstGeom>
          <a:noFill/>
          <a:ln/>
        </p:spPr>
        <p:txBody>
          <a:bodyPr wrap="square" lIns="0" tIns="0" rIns="0" bIns="0" rtlCol="0" anchor="t"/>
          <a:lstStyle/>
          <a:p>
            <a:pPr indent="0" marL="0">
              <a:buNone/>
            </a:pPr>
            <a:r>
              <a:rPr lang="en-US" sz="2200" dirty="0">
                <a:solidFill>
                  <a:schemeClr val="tx2"/>
                </a:solidFill>
                <a:latin typeface="+mj-lt" pitchFamily="34" charset="0"/>
                <a:ea typeface="+mj-lt" pitchFamily="34" charset="-122"/>
                <a:cs typeface="+mj-lt" pitchFamily="34" charset="-120"/>
              </a:rPr>
              <a:t>Inside the accelerator</a:t>
            </a:r>
            <a:endParaRPr lang="en-US" sz="2200" dirty="0"/>
          </a:p>
        </p:txBody>
      </p:sp>
      <p:sp>
        <p:nvSpPr>
          <p:cNvPr id="21" name="a3u-ag2b"/>
          <p:cNvSpPr txBox="1"/>
          <p:nvPr/>
        </p:nvSpPr>
        <p:spPr>
          <a:xfrm>
            <a:off x="6492240" y="3931920"/>
            <a:ext cx="2084832" cy="1188720"/>
          </a:xfrm>
          <a:prstGeom prst="rect">
            <a:avLst/>
          </a:prstGeom>
          <a:noFill/>
          <a:ln/>
        </p:spPr>
        <p:txBody>
          <a:bodyPr wrap="square" lIns="0" tIns="0" rIns="0" bIns="0" rtlCol="0" anchor="t"/>
          <a:lstStyle/>
          <a:p>
            <a:pPr indent="0" marL="0">
              <a:buNone/>
            </a:pPr>
            <a:r>
              <a:rPr lang="en-US" sz="1600" dirty="0">
                <a:solidFill>
                  <a:schemeClr val="accent6"/>
                </a:solidFill>
              </a:rPr>
              <a:t>Architecture, trust, Git and the numbers</a:t>
            </a:r>
            <a:endParaRPr lang="en-US" sz="1600" dirty="0"/>
          </a:p>
        </p:txBody>
      </p:sp>
      <p:sp>
        <p:nvSpPr>
          <p:cNvPr id="22" name="a4u-ag3"/>
          <p:cNvSpPr/>
          <p:nvPr/>
        </p:nvSpPr>
        <p:spPr>
          <a:xfrm>
            <a:off x="9052560" y="1691640"/>
            <a:ext cx="2587752" cy="3566160"/>
          </a:xfrm>
          <a:prstGeom prst="roundRect">
            <a:avLst>
              <a:gd name="adj" fmla="val 4240"/>
            </a:avLst>
          </a:prstGeom>
          <a:solidFill>
            <a:schemeClr val="bg2"/>
          </a:solidFill>
          <a:ln/>
        </p:spPr>
      </p:sp>
      <p:sp>
        <p:nvSpPr>
          <p:cNvPr id="23" name="a4u-ag3n"/>
          <p:cNvSpPr txBox="1"/>
          <p:nvPr/>
        </p:nvSpPr>
        <p:spPr>
          <a:xfrm>
            <a:off x="9326880" y="1947672"/>
            <a:ext cx="1371600" cy="868680"/>
          </a:xfrm>
          <a:prstGeom prst="rect">
            <a:avLst/>
          </a:prstGeom>
          <a:noFill/>
          <a:ln/>
        </p:spPr>
        <p:txBody>
          <a:bodyPr wrap="square" lIns="0" tIns="0" rIns="0" bIns="0" rtlCol="0" anchor="t"/>
          <a:lstStyle/>
          <a:p>
            <a:pPr indent="0" marL="0">
              <a:buNone/>
            </a:pPr>
            <a:r>
              <a:rPr lang="en-US" sz="5000" dirty="0">
                <a:solidFill>
                  <a:schemeClr val="accent1"/>
                </a:solidFill>
                <a:latin typeface="+mj-lt" pitchFamily="34" charset="0"/>
                <a:ea typeface="+mj-lt" pitchFamily="34" charset="-122"/>
                <a:cs typeface="+mj-lt" pitchFamily="34" charset="-120"/>
              </a:rPr>
              <a:t>04</a:t>
            </a:r>
            <a:endParaRPr lang="en-US" sz="5000" dirty="0"/>
          </a:p>
        </p:txBody>
      </p:sp>
      <p:sp>
        <p:nvSpPr>
          <p:cNvPr id="24" name="a4u-ag3c"/>
          <p:cNvSpPr/>
          <p:nvPr/>
        </p:nvSpPr>
        <p:spPr>
          <a:xfrm>
            <a:off x="10725912" y="2057400"/>
            <a:ext cx="640080" cy="640080"/>
          </a:xfrm>
          <a:prstGeom prst="ellipse">
            <a:avLst/>
          </a:prstGeom>
          <a:solidFill>
            <a:schemeClr val="tx2"/>
          </a:solidFill>
          <a:ln/>
        </p:spPr>
      </p:sp>
      <p:pic>
        <p:nvPicPr>
          <p:cNvPr id="25" name="a4u-ag3ci" descr="preencoded.png">    </p:cNvPr>
          <p:cNvPicPr>
            <a:picLocks noChangeAspect="1"/>
          </p:cNvPicPr>
          <p:nvPr/>
        </p:nvPicPr>
        <p:blipFill>
          <a:blip r:embed="rId4"/>
          <a:stretch>
            <a:fillRect/>
          </a:stretch>
        </p:blipFill>
        <p:spPr>
          <a:xfrm>
            <a:off x="10885932" y="2217420"/>
            <a:ext cx="320040" cy="320040"/>
          </a:xfrm>
          <a:prstGeom prst="rect">
            <a:avLst/>
          </a:prstGeom>
        </p:spPr>
      </p:pic>
      <p:sp>
        <p:nvSpPr>
          <p:cNvPr id="26" name="a4u-ag3h"/>
          <p:cNvSpPr txBox="1"/>
          <p:nvPr/>
        </p:nvSpPr>
        <p:spPr>
          <a:xfrm>
            <a:off x="9326880" y="3017520"/>
            <a:ext cx="2084832" cy="822960"/>
          </a:xfrm>
          <a:prstGeom prst="rect">
            <a:avLst/>
          </a:prstGeom>
          <a:noFill/>
          <a:ln/>
        </p:spPr>
        <p:txBody>
          <a:bodyPr wrap="square" lIns="0" tIns="0" rIns="0" bIns="0" rtlCol="0" anchor="t"/>
          <a:lstStyle/>
          <a:p>
            <a:pPr indent="0" marL="0">
              <a:buNone/>
            </a:pPr>
            <a:r>
              <a:rPr lang="en-US" sz="2200" dirty="0">
                <a:solidFill>
                  <a:schemeClr val="tx2"/>
                </a:solidFill>
                <a:latin typeface="+mj-lt" pitchFamily="34" charset="0"/>
                <a:ea typeface="+mj-lt" pitchFamily="34" charset="-122"/>
                <a:cs typeface="+mj-lt" pitchFamily="34" charset="-120"/>
              </a:rPr>
              <a:t>Way forward</a:t>
            </a:r>
            <a:endParaRPr lang="en-US" sz="2200" dirty="0"/>
          </a:p>
        </p:txBody>
      </p:sp>
      <p:sp>
        <p:nvSpPr>
          <p:cNvPr id="27" name="a4u-ag3b"/>
          <p:cNvSpPr txBox="1"/>
          <p:nvPr/>
        </p:nvSpPr>
        <p:spPr>
          <a:xfrm>
            <a:off x="9326880" y="3931920"/>
            <a:ext cx="2084832" cy="1188720"/>
          </a:xfrm>
          <a:prstGeom prst="rect">
            <a:avLst/>
          </a:prstGeom>
          <a:noFill/>
          <a:ln/>
        </p:spPr>
        <p:txBody>
          <a:bodyPr wrap="square" lIns="0" tIns="0" rIns="0" bIns="0" rtlCol="0" anchor="t"/>
          <a:lstStyle/>
          <a:p>
            <a:pPr indent="0" marL="0">
              <a:buNone/>
            </a:pPr>
            <a:r>
              <a:rPr lang="en-US" sz="1600" dirty="0">
                <a:solidFill>
                  <a:schemeClr val="accent6"/>
                </a:solidFill>
              </a:rPr>
              <a:t>Gaps, roadmap, and which tool to use when</a:t>
            </a:r>
            <a:endParaRPr lang="en-US" sz="16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fill="hold"/>
                                        <p:tgtEl>
                                          <p:spTgt spid="9"/>
                                        </p:tgtEl>
                                        <p:attrNameLst>
                                          <p:attrName>ppt_x</p:attrName>
                                        </p:attrNameLst>
                                      </p:cBhvr>
                                      <p:tavLst>
                                        <p:tav tm="0">
                                          <p:val>
                                            <p:strVal val="#ppt_x"/>
                                          </p:val>
                                        </p:tav>
                                        <p:tav tm="100000">
                                          <p:val>
                                            <p:strVal val="#ppt_x"/>
                                          </p:val>
                                        </p:tav>
                                      </p:tavLst>
                                    </p:anim>
                                    <p:anim calcmode="lin" valueType="num">
                                      <p:cBhvr>
                                        <p:cTn id="34" dur="550" fill="hold"/>
                                        <p:tgtEl>
                                          <p:spTgt spid="9"/>
                                        </p:tgtEl>
                                        <p:attrNameLst>
                                          <p:attrName>ppt_y</p:attrName>
                                        </p:attrNameLst>
                                      </p:cBhvr>
                                      <p:tavLst>
                                        <p:tav tm="0">
                                          <p:val>
                                            <p:strVal val="#ppt_y+.1"/>
                                          </p:val>
                                        </p:tav>
                                        <p:tav tm="100000">
                                          <p:val>
                                            <p:strVal val="#ppt_y"/>
                                          </p:val>
                                        </p:tav>
                                      </p:tavLst>
                                    </p:anim>
                                  </p:childTnLst>
                                </p:cTn>
                              </p:par>
                            </p:childTnLst>
                          </p:cTn>
                        </p:par>
                        <p:par>
                          <p:cTn id="35" fill="hold">
                            <p:stCondLst>
                              <p:cond delay="550"/>
                            </p:stCondLst>
                            <p:childTnLst>
                              <p:par>
                                <p:cTn id="36" presetID="42"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50"/>
                                        <p:tgtEl>
                                          <p:spTgt spid="14"/>
                                        </p:tgtEl>
                                      </p:cBhvr>
                                    </p:animEffect>
                                    <p:anim calcmode="lin" valueType="num">
                                      <p:cBhvr>
                                        <p:cTn id="59" dur="550" fill="hold"/>
                                        <p:tgtEl>
                                          <p:spTgt spid="14"/>
                                        </p:tgtEl>
                                        <p:attrNameLst>
                                          <p:attrName>ppt_x</p:attrName>
                                        </p:attrNameLst>
                                      </p:cBhvr>
                                      <p:tavLst>
                                        <p:tav tm="0">
                                          <p:val>
                                            <p:strVal val="#ppt_x"/>
                                          </p:val>
                                        </p:tav>
                                        <p:tav tm="100000">
                                          <p:val>
                                            <p:strVal val="#ppt_x"/>
                                          </p:val>
                                        </p:tav>
                                      </p:tavLst>
                                    </p:anim>
                                    <p:anim calcmode="lin" valueType="num">
                                      <p:cBhvr>
                                        <p:cTn id="60" dur="5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50"/>
                                        <p:tgtEl>
                                          <p:spTgt spid="15"/>
                                        </p:tgtEl>
                                      </p:cBhvr>
                                    </p:animEffect>
                                    <p:anim calcmode="lin" valueType="num">
                                      <p:cBhvr>
                                        <p:cTn id="64" dur="550" fill="hold"/>
                                        <p:tgtEl>
                                          <p:spTgt spid="15"/>
                                        </p:tgtEl>
                                        <p:attrNameLst>
                                          <p:attrName>ppt_x</p:attrName>
                                        </p:attrNameLst>
                                      </p:cBhvr>
                                      <p:tavLst>
                                        <p:tav tm="0">
                                          <p:val>
                                            <p:strVal val="#ppt_x"/>
                                          </p:val>
                                        </p:tav>
                                        <p:tav tm="100000">
                                          <p:val>
                                            <p:strVal val="#ppt_x"/>
                                          </p:val>
                                        </p:tav>
                                      </p:tavLst>
                                    </p:anim>
                                    <p:anim calcmode="lin" valueType="num">
                                      <p:cBhvr>
                                        <p:cTn id="65" dur="550" fill="hold"/>
                                        <p:tgtEl>
                                          <p:spTgt spid="15"/>
                                        </p:tgtEl>
                                        <p:attrNameLst>
                                          <p:attrName>ppt_y</p:attrName>
                                        </p:attrNameLst>
                                      </p:cBhvr>
                                      <p:tavLst>
                                        <p:tav tm="0">
                                          <p:val>
                                            <p:strVal val="#ppt_y+.1"/>
                                          </p:val>
                                        </p:tav>
                                        <p:tav tm="100000">
                                          <p:val>
                                            <p:strVal val="#ppt_y"/>
                                          </p:val>
                                        </p:tav>
                                      </p:tavLst>
                                    </p:anim>
                                  </p:childTnLst>
                                </p:cTn>
                              </p:par>
                            </p:childTnLst>
                          </p:cTn>
                        </p:par>
                        <p:par>
                          <p:cTn id="66" fill="hold">
                            <p:stCondLst>
                              <p:cond delay="1100"/>
                            </p:stCondLst>
                            <p:childTnLst>
                              <p:par>
                                <p:cTn id="67" presetID="42" presetClass="entr" presetSubtype="0"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50"/>
                                        <p:tgtEl>
                                          <p:spTgt spid="19"/>
                                        </p:tgtEl>
                                      </p:cBhvr>
                                    </p:animEffect>
                                    <p:anim calcmode="lin" valueType="num">
                                      <p:cBhvr>
                                        <p:cTn id="85" dur="550" fill="hold"/>
                                        <p:tgtEl>
                                          <p:spTgt spid="19"/>
                                        </p:tgtEl>
                                        <p:attrNameLst>
                                          <p:attrName>ppt_x</p:attrName>
                                        </p:attrNameLst>
                                      </p:cBhvr>
                                      <p:tavLst>
                                        <p:tav tm="0">
                                          <p:val>
                                            <p:strVal val="#ppt_x"/>
                                          </p:val>
                                        </p:tav>
                                        <p:tav tm="100000">
                                          <p:val>
                                            <p:strVal val="#ppt_x"/>
                                          </p:val>
                                        </p:tav>
                                      </p:tavLst>
                                    </p:anim>
                                    <p:anim calcmode="lin" valueType="num">
                                      <p:cBhvr>
                                        <p:cTn id="86" dur="55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50"/>
                                        <p:tgtEl>
                                          <p:spTgt spid="20"/>
                                        </p:tgtEl>
                                      </p:cBhvr>
                                    </p:animEffect>
                                    <p:anim calcmode="lin" valueType="num">
                                      <p:cBhvr>
                                        <p:cTn id="90" dur="550" fill="hold"/>
                                        <p:tgtEl>
                                          <p:spTgt spid="20"/>
                                        </p:tgtEl>
                                        <p:attrNameLst>
                                          <p:attrName>ppt_x</p:attrName>
                                        </p:attrNameLst>
                                      </p:cBhvr>
                                      <p:tavLst>
                                        <p:tav tm="0">
                                          <p:val>
                                            <p:strVal val="#ppt_x"/>
                                          </p:val>
                                        </p:tav>
                                        <p:tav tm="100000">
                                          <p:val>
                                            <p:strVal val="#ppt_x"/>
                                          </p:val>
                                        </p:tav>
                                      </p:tavLst>
                                    </p:anim>
                                    <p:anim calcmode="lin" valueType="num">
                                      <p:cBhvr>
                                        <p:cTn id="91" dur="55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50"/>
                                        <p:tgtEl>
                                          <p:spTgt spid="21"/>
                                        </p:tgtEl>
                                      </p:cBhvr>
                                    </p:animEffect>
                                    <p:anim calcmode="lin" valueType="num">
                                      <p:cBhvr>
                                        <p:cTn id="95" dur="550" fill="hold"/>
                                        <p:tgtEl>
                                          <p:spTgt spid="21"/>
                                        </p:tgtEl>
                                        <p:attrNameLst>
                                          <p:attrName>ppt_x</p:attrName>
                                        </p:attrNameLst>
                                      </p:cBhvr>
                                      <p:tavLst>
                                        <p:tav tm="0">
                                          <p:val>
                                            <p:strVal val="#ppt_x"/>
                                          </p:val>
                                        </p:tav>
                                        <p:tav tm="100000">
                                          <p:val>
                                            <p:strVal val="#ppt_x"/>
                                          </p:val>
                                        </p:tav>
                                      </p:tavLst>
                                    </p:anim>
                                    <p:anim calcmode="lin" valueType="num">
                                      <p:cBhvr>
                                        <p:cTn id="96" dur="550" fill="hold"/>
                                        <p:tgtEl>
                                          <p:spTgt spid="21"/>
                                        </p:tgtEl>
                                        <p:attrNameLst>
                                          <p:attrName>ppt_y</p:attrName>
                                        </p:attrNameLst>
                                      </p:cBhvr>
                                      <p:tavLst>
                                        <p:tav tm="0">
                                          <p:val>
                                            <p:strVal val="#ppt_y+.1"/>
                                          </p:val>
                                        </p:tav>
                                        <p:tav tm="100000">
                                          <p:val>
                                            <p:strVal val="#ppt_y"/>
                                          </p:val>
                                        </p:tav>
                                      </p:tavLst>
                                    </p:anim>
                                  </p:childTnLst>
                                </p:cTn>
                              </p:par>
                            </p:childTnLst>
                          </p:cTn>
                        </p:par>
                        <p:par>
                          <p:cTn id="97" fill="hold">
                            <p:stCondLst>
                              <p:cond delay="1650"/>
                            </p:stCondLst>
                            <p:childTnLst>
                              <p:par>
                                <p:cTn id="98" presetID="42" presetClass="entr" presetSubtype="0"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50"/>
                                        <p:tgtEl>
                                          <p:spTgt spid="23"/>
                                        </p:tgtEl>
                                      </p:cBhvr>
                                    </p:animEffect>
                                    <p:anim calcmode="lin" valueType="num">
                                      <p:cBhvr>
                                        <p:cTn id="106" dur="550" fill="hold"/>
                                        <p:tgtEl>
                                          <p:spTgt spid="23"/>
                                        </p:tgtEl>
                                        <p:attrNameLst>
                                          <p:attrName>ppt_x</p:attrName>
                                        </p:attrNameLst>
                                      </p:cBhvr>
                                      <p:tavLst>
                                        <p:tav tm="0">
                                          <p:val>
                                            <p:strVal val="#ppt_x"/>
                                          </p:val>
                                        </p:tav>
                                        <p:tav tm="100000">
                                          <p:val>
                                            <p:strVal val="#ppt_x"/>
                                          </p:val>
                                        </p:tav>
                                      </p:tavLst>
                                    </p:anim>
                                    <p:anim calcmode="lin" valueType="num">
                                      <p:cBhvr>
                                        <p:cTn id="107" dur="55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50"/>
                                        <p:tgtEl>
                                          <p:spTgt spid="24"/>
                                        </p:tgtEl>
                                      </p:cBhvr>
                                    </p:animEffect>
                                    <p:anim calcmode="lin" valueType="num">
                                      <p:cBhvr>
                                        <p:cTn id="111" dur="550" fill="hold"/>
                                        <p:tgtEl>
                                          <p:spTgt spid="24"/>
                                        </p:tgtEl>
                                        <p:attrNameLst>
                                          <p:attrName>ppt_x</p:attrName>
                                        </p:attrNameLst>
                                      </p:cBhvr>
                                      <p:tavLst>
                                        <p:tav tm="0">
                                          <p:val>
                                            <p:strVal val="#ppt_x"/>
                                          </p:val>
                                        </p:tav>
                                        <p:tav tm="100000">
                                          <p:val>
                                            <p:strVal val="#ppt_x"/>
                                          </p:val>
                                        </p:tav>
                                      </p:tavLst>
                                    </p:anim>
                                    <p:anim calcmode="lin" valueType="num">
                                      <p:cBhvr>
                                        <p:cTn id="112" dur="550" fill="hold"/>
                                        <p:tgtEl>
                                          <p:spTgt spid="24"/>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50"/>
                                        <p:tgtEl>
                                          <p:spTgt spid="25"/>
                                        </p:tgtEl>
                                      </p:cBhvr>
                                    </p:animEffect>
                                    <p:anim calcmode="lin" valueType="num">
                                      <p:cBhvr>
                                        <p:cTn id="116" dur="550" fill="hold"/>
                                        <p:tgtEl>
                                          <p:spTgt spid="25"/>
                                        </p:tgtEl>
                                        <p:attrNameLst>
                                          <p:attrName>ppt_x</p:attrName>
                                        </p:attrNameLst>
                                      </p:cBhvr>
                                      <p:tavLst>
                                        <p:tav tm="0">
                                          <p:val>
                                            <p:strVal val="#ppt_x"/>
                                          </p:val>
                                        </p:tav>
                                        <p:tav tm="100000">
                                          <p:val>
                                            <p:strVal val="#ppt_x"/>
                                          </p:val>
                                        </p:tav>
                                      </p:tavLst>
                                    </p:anim>
                                    <p:anim calcmode="lin" valueType="num">
                                      <p:cBhvr>
                                        <p:cTn id="117" dur="550" fill="hold"/>
                                        <p:tgtEl>
                                          <p:spTgt spid="25"/>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50"/>
                                        <p:tgtEl>
                                          <p:spTgt spid="26"/>
                                        </p:tgtEl>
                                      </p:cBhvr>
                                    </p:animEffect>
                                    <p:anim calcmode="lin" valueType="num">
                                      <p:cBhvr>
                                        <p:cTn id="121" dur="550" fill="hold"/>
                                        <p:tgtEl>
                                          <p:spTgt spid="26"/>
                                        </p:tgtEl>
                                        <p:attrNameLst>
                                          <p:attrName>ppt_x</p:attrName>
                                        </p:attrNameLst>
                                      </p:cBhvr>
                                      <p:tavLst>
                                        <p:tav tm="0">
                                          <p:val>
                                            <p:strVal val="#ppt_x"/>
                                          </p:val>
                                        </p:tav>
                                        <p:tav tm="100000">
                                          <p:val>
                                            <p:strVal val="#ppt_x"/>
                                          </p:val>
                                        </p:tav>
                                      </p:tavLst>
                                    </p:anim>
                                    <p:anim calcmode="lin" valueType="num">
                                      <p:cBhvr>
                                        <p:cTn id="122" dur="550" fill="hold"/>
                                        <p:tgtEl>
                                          <p:spTgt spid="26"/>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50"/>
                                        <p:tgtEl>
                                          <p:spTgt spid="27"/>
                                        </p:tgtEl>
                                      </p:cBhvr>
                                    </p:animEffect>
                                    <p:anim calcmode="lin" valueType="num">
                                      <p:cBhvr>
                                        <p:cTn id="126" dur="550" fill="hold"/>
                                        <p:tgtEl>
                                          <p:spTgt spid="27"/>
                                        </p:tgtEl>
                                        <p:attrNameLst>
                                          <p:attrName>ppt_x</p:attrName>
                                        </p:attrNameLst>
                                      </p:cBhvr>
                                      <p:tavLst>
                                        <p:tav tm="0">
                                          <p:val>
                                            <p:strVal val="#ppt_x"/>
                                          </p:val>
                                        </p:tav>
                                        <p:tav tm="100000">
                                          <p:val>
                                            <p:strVal val="#ppt_x"/>
                                          </p:val>
                                        </p:tav>
                                      </p:tavLst>
                                    </p:anim>
                                    <p:anim calcmode="lin" valueType="num">
                                      <p:cBhvr>
                                        <p:cTn id="127" dur="55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P spid="22" grpId="0" animBg="1"/>
      <p:bldP spid="23" grpId="0" animBg="1"/>
      <p:bldP spid="24"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EXECUTIVE SUMMARY</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short answer</a:t>
            </a:r>
            <a:endParaRPr lang="en-US" sz="3200" dirty="0"/>
          </a:p>
        </p:txBody>
      </p:sp>
      <p:sp>
        <p:nvSpPr>
          <p:cNvPr id="4" name="a1f-panel"/>
          <p:cNvSpPr/>
          <p:nvPr/>
        </p:nvSpPr>
        <p:spPr>
          <a:xfrm>
            <a:off x="548640" y="1572768"/>
            <a:ext cx="4846320" cy="3749040"/>
          </a:xfrm>
          <a:prstGeom prst="roundRect">
            <a:avLst>
              <a:gd name="adj" fmla="val 2927"/>
            </a:avLst>
          </a:prstGeom>
          <a:solidFill>
            <a:schemeClr val="tx2"/>
          </a:solidFill>
          <a:ln/>
        </p:spPr>
      </p:sp>
      <p:sp>
        <p:nvSpPr>
          <p:cNvPr id="5" name="a1f-quote"/>
          <p:cNvSpPr txBox="1"/>
          <p:nvPr/>
        </p:nvSpPr>
        <p:spPr>
          <a:xfrm>
            <a:off x="960120" y="2011680"/>
            <a:ext cx="4023360" cy="2926080"/>
          </a:xfrm>
          <a:prstGeom prst="rect">
            <a:avLst/>
          </a:prstGeom>
          <a:noFill/>
          <a:ln/>
        </p:spPr>
        <p:txBody>
          <a:bodyPr wrap="square" lIns="0" tIns="0" rIns="0" bIns="0" rtlCol="0" anchor="ctr"/>
          <a:lstStyle/>
          <a:p>
            <a:pPr indent="0" marL="0">
              <a:buNone/>
            </a:pPr>
            <a:r>
              <a:rPr lang="en-US" sz="2400" dirty="0">
                <a:solidFill>
                  <a:schemeClr val="bg1"/>
                </a:solidFill>
                <a:latin typeface="+mj-lt" pitchFamily="34" charset="0"/>
                <a:ea typeface="+mj-lt" pitchFamily="34" charset="-122"/>
                <a:cs typeface="+mj-lt" pitchFamily="34" charset="-120"/>
              </a:rPr>
              <a:t>Microsoft's assistants move one workload at a time.</a:t>
            </a:r>
            <a:endParaRPr lang="en-US" sz="2400" dirty="0"/>
          </a:p>
          <a:p>
            <a:pPr indent="0" marL="0">
              <a:buNone/>
            </a:pPr>
            <a:r>
              <a:rPr lang="en-US" sz="1200" dirty="0">
                <a:solidFill>
                  <a:schemeClr val="tx1"/>
                </a:solidFill>
                <a:latin typeface="+mj-lt" pitchFamily="34" charset="0"/>
                <a:ea typeface="+mj-lt" pitchFamily="34" charset="-122"/>
                <a:cs typeface="+mj-lt" pitchFamily="34" charset="-120"/>
              </a:rPr>
              <a:t> </a:t>
            </a:r>
            <a:endParaRPr lang="en-US" sz="2400" dirty="0"/>
          </a:p>
          <a:p>
            <a:pPr indent="0" marL="0">
              <a:buNone/>
            </a:pPr>
            <a:r>
              <a:rPr lang="en-US" sz="2400" dirty="0">
                <a:solidFill>
                  <a:schemeClr val="accent5"/>
                </a:solidFill>
                <a:latin typeface="+mj-lt" pitchFamily="34" charset="0"/>
                <a:ea typeface="+mj-lt" pitchFamily="34" charset="-122"/>
                <a:cs typeface="+mj-lt" pitchFamily="34" charset="-120"/>
              </a:rPr>
              <a:t>Our accelerator moves the whole Synapse workspace in one planned, verified journey.</a:t>
            </a:r>
            <a:endParaRPr lang="en-US" sz="2400" dirty="0"/>
          </a:p>
        </p:txBody>
      </p:sp>
      <p:sp>
        <p:nvSpPr>
          <p:cNvPr id="6" name="a2u-pt0c"/>
          <p:cNvSpPr/>
          <p:nvPr/>
        </p:nvSpPr>
        <p:spPr>
          <a:xfrm>
            <a:off x="5760720" y="1600200"/>
            <a:ext cx="640080" cy="640080"/>
          </a:xfrm>
          <a:prstGeom prst="ellipse">
            <a:avLst/>
          </a:prstGeom>
          <a:solidFill>
            <a:schemeClr val="accent1"/>
          </a:solidFill>
          <a:ln/>
        </p:spPr>
      </p:sp>
      <p:pic>
        <p:nvPicPr>
          <p:cNvPr id="7" name="a2u-pt0ci" descr="preencoded.png">    </p:cNvPr>
          <p:cNvPicPr>
            <a:picLocks noChangeAspect="1"/>
          </p:cNvPicPr>
          <p:nvPr/>
        </p:nvPicPr>
        <p:blipFill>
          <a:blip r:embed="rId1"/>
          <a:stretch>
            <a:fillRect/>
          </a:stretch>
        </p:blipFill>
        <p:spPr>
          <a:xfrm>
            <a:off x="5920740" y="1760220"/>
            <a:ext cx="320040" cy="320040"/>
          </a:xfrm>
          <a:prstGeom prst="rect">
            <a:avLst/>
          </a:prstGeom>
        </p:spPr>
      </p:pic>
      <p:sp>
        <p:nvSpPr>
          <p:cNvPr id="8" name="a2u-pt0h"/>
          <p:cNvSpPr txBox="1"/>
          <p:nvPr/>
        </p:nvSpPr>
        <p:spPr>
          <a:xfrm>
            <a:off x="6629400" y="1581912"/>
            <a:ext cx="4983480" cy="347472"/>
          </a:xfrm>
          <a:prstGeom prst="rect">
            <a:avLst/>
          </a:prstGeom>
          <a:noFill/>
          <a:ln/>
        </p:spPr>
        <p:txBody>
          <a:bodyPr wrap="square" lIns="0" tIns="0" rIns="0" bIns="0" rtlCol="0" anchor="t"/>
          <a:lstStyle/>
          <a:p>
            <a:pPr indent="0" marL="0">
              <a:buNone/>
            </a:pPr>
            <a:r>
              <a:rPr lang="en-US" sz="1800" dirty="0">
                <a:solidFill>
                  <a:schemeClr val="tx2"/>
                </a:solidFill>
                <a:latin typeface="+mj-lt" pitchFamily="34" charset="0"/>
                <a:ea typeface="+mj-lt" pitchFamily="34" charset="-122"/>
                <a:cs typeface="+mj-lt" pitchFamily="34" charset="-120"/>
              </a:rPr>
              <a:t>Broader coverage</a:t>
            </a:r>
            <a:endParaRPr lang="en-US" sz="1800" dirty="0"/>
          </a:p>
        </p:txBody>
      </p:sp>
      <p:sp>
        <p:nvSpPr>
          <p:cNvPr id="9" name="a2u-pt0b"/>
          <p:cNvSpPr txBox="1"/>
          <p:nvPr/>
        </p:nvSpPr>
        <p:spPr>
          <a:xfrm>
            <a:off x="6629400" y="1947672"/>
            <a:ext cx="4983480" cy="868680"/>
          </a:xfrm>
          <a:prstGeom prst="rect">
            <a:avLst/>
          </a:prstGeom>
          <a:noFill/>
          <a:ln/>
        </p:spPr>
        <p:txBody>
          <a:bodyPr wrap="square" lIns="0" tIns="0" rIns="0" bIns="0" rtlCol="0" anchor="t"/>
          <a:lstStyle/>
          <a:p>
            <a:pPr indent="0" marL="0">
              <a:buNone/>
            </a:pPr>
            <a:r>
              <a:rPr lang="en-US" sz="1400" dirty="0">
                <a:solidFill>
                  <a:schemeClr val="tx1"/>
                </a:solidFill>
              </a:rPr>
              <a:t>One run covers SQL, data, Spark, notebooks, pipelines, connections, schedules and external tables. Microsoft spreads these across three separate assistants, two of them in preview.</a:t>
            </a:r>
            <a:endParaRPr lang="en-US" sz="1400" dirty="0"/>
          </a:p>
        </p:txBody>
      </p:sp>
      <p:sp>
        <p:nvSpPr>
          <p:cNvPr id="10" name="a3u-pt1c"/>
          <p:cNvSpPr/>
          <p:nvPr/>
        </p:nvSpPr>
        <p:spPr>
          <a:xfrm>
            <a:off x="5760720" y="2852928"/>
            <a:ext cx="640080" cy="640080"/>
          </a:xfrm>
          <a:prstGeom prst="ellipse">
            <a:avLst/>
          </a:prstGeom>
          <a:solidFill>
            <a:schemeClr val="accent1"/>
          </a:solidFill>
          <a:ln/>
        </p:spPr>
      </p:sp>
      <p:pic>
        <p:nvPicPr>
          <p:cNvPr id="11" name="a3u-pt1ci" descr="preencoded.png">    </p:cNvPr>
          <p:cNvPicPr>
            <a:picLocks noChangeAspect="1"/>
          </p:cNvPicPr>
          <p:nvPr/>
        </p:nvPicPr>
        <p:blipFill>
          <a:blip r:embed="rId2"/>
          <a:stretch>
            <a:fillRect/>
          </a:stretch>
        </p:blipFill>
        <p:spPr>
          <a:xfrm>
            <a:off x="5920740" y="3012948"/>
            <a:ext cx="320040" cy="320040"/>
          </a:xfrm>
          <a:prstGeom prst="rect">
            <a:avLst/>
          </a:prstGeom>
        </p:spPr>
      </p:pic>
      <p:sp>
        <p:nvSpPr>
          <p:cNvPr id="12" name="a3u-pt1h"/>
          <p:cNvSpPr txBox="1"/>
          <p:nvPr/>
        </p:nvSpPr>
        <p:spPr>
          <a:xfrm>
            <a:off x="6629400" y="2834640"/>
            <a:ext cx="4983480" cy="347472"/>
          </a:xfrm>
          <a:prstGeom prst="rect">
            <a:avLst/>
          </a:prstGeom>
          <a:noFill/>
          <a:ln/>
        </p:spPr>
        <p:txBody>
          <a:bodyPr wrap="square" lIns="0" tIns="0" rIns="0" bIns="0" rtlCol="0" anchor="t"/>
          <a:lstStyle/>
          <a:p>
            <a:pPr indent="0" marL="0">
              <a:buNone/>
            </a:pPr>
            <a:r>
              <a:rPr lang="en-US" sz="1800" dirty="0">
                <a:solidFill>
                  <a:schemeClr val="tx2"/>
                </a:solidFill>
                <a:latin typeface="+mj-lt" pitchFamily="34" charset="0"/>
                <a:ea typeface="+mj-lt" pitchFamily="34" charset="-122"/>
                <a:cs typeface="+mj-lt" pitchFamily="34" charset="-120"/>
              </a:rPr>
              <a:t>Safer by design</a:t>
            </a:r>
            <a:endParaRPr lang="en-US" sz="1800" dirty="0"/>
          </a:p>
        </p:txBody>
      </p:sp>
      <p:sp>
        <p:nvSpPr>
          <p:cNvPr id="13" name="a3u-pt1b"/>
          <p:cNvSpPr txBox="1"/>
          <p:nvPr/>
        </p:nvSpPr>
        <p:spPr>
          <a:xfrm>
            <a:off x="6629400" y="3200400"/>
            <a:ext cx="4983480" cy="868680"/>
          </a:xfrm>
          <a:prstGeom prst="rect">
            <a:avLst/>
          </a:prstGeom>
          <a:noFill/>
          <a:ln/>
        </p:spPr>
        <p:txBody>
          <a:bodyPr wrap="square" lIns="0" tIns="0" rIns="0" bIns="0" rtlCol="0" anchor="t"/>
          <a:lstStyle/>
          <a:p>
            <a:pPr indent="0" marL="0">
              <a:buNone/>
            </a:pPr>
            <a:r>
              <a:rPr lang="en-US" sz="1400" dirty="0">
                <a:solidFill>
                  <a:schemeClr val="tx1"/>
                </a:solidFill>
              </a:rPr>
              <a:t>It scores readiness and risks before writing anything, then proves each object runs in Fabric.</a:t>
            </a:r>
            <a:endParaRPr lang="en-US" sz="1400" dirty="0"/>
          </a:p>
        </p:txBody>
      </p:sp>
      <p:sp>
        <p:nvSpPr>
          <p:cNvPr id="14" name="a4u-pt2c"/>
          <p:cNvSpPr/>
          <p:nvPr/>
        </p:nvSpPr>
        <p:spPr>
          <a:xfrm>
            <a:off x="5760720" y="4105656"/>
            <a:ext cx="640080" cy="640080"/>
          </a:xfrm>
          <a:prstGeom prst="ellipse">
            <a:avLst/>
          </a:prstGeom>
          <a:solidFill>
            <a:schemeClr val="accent3"/>
          </a:solidFill>
          <a:ln/>
        </p:spPr>
      </p:sp>
      <p:pic>
        <p:nvPicPr>
          <p:cNvPr id="15" name="a4u-pt2ci" descr="preencoded.png">    </p:cNvPr>
          <p:cNvPicPr>
            <a:picLocks noChangeAspect="1"/>
          </p:cNvPicPr>
          <p:nvPr/>
        </p:nvPicPr>
        <p:blipFill>
          <a:blip r:embed="rId3"/>
          <a:stretch>
            <a:fillRect/>
          </a:stretch>
        </p:blipFill>
        <p:spPr>
          <a:xfrm>
            <a:off x="5920740" y="4265676"/>
            <a:ext cx="320040" cy="320040"/>
          </a:xfrm>
          <a:prstGeom prst="rect">
            <a:avLst/>
          </a:prstGeom>
        </p:spPr>
      </p:pic>
      <p:sp>
        <p:nvSpPr>
          <p:cNvPr id="16" name="a4u-pt2h"/>
          <p:cNvSpPr txBox="1"/>
          <p:nvPr/>
        </p:nvSpPr>
        <p:spPr>
          <a:xfrm>
            <a:off x="6629400" y="4087368"/>
            <a:ext cx="4983480" cy="347472"/>
          </a:xfrm>
          <a:prstGeom prst="rect">
            <a:avLst/>
          </a:prstGeom>
          <a:noFill/>
          <a:ln/>
        </p:spPr>
        <p:txBody>
          <a:bodyPr wrap="square" lIns="0" tIns="0" rIns="0" bIns="0" rtlCol="0" anchor="t"/>
          <a:lstStyle/>
          <a:p>
            <a:pPr indent="0" marL="0">
              <a:buNone/>
            </a:pPr>
            <a:r>
              <a:rPr lang="en-US" sz="1800" dirty="0">
                <a:solidFill>
                  <a:schemeClr val="tx2"/>
                </a:solidFill>
                <a:latin typeface="+mj-lt" pitchFamily="34" charset="0"/>
                <a:ea typeface="+mj-lt" pitchFamily="34" charset="-122"/>
                <a:cs typeface="+mj-lt" pitchFamily="34" charset="-120"/>
              </a:rPr>
              <a:t>The trade-off</a:t>
            </a:r>
            <a:endParaRPr lang="en-US" sz="1800" dirty="0"/>
          </a:p>
        </p:txBody>
      </p:sp>
      <p:sp>
        <p:nvSpPr>
          <p:cNvPr id="17" name="a4u-pt2b"/>
          <p:cNvSpPr txBox="1"/>
          <p:nvPr/>
        </p:nvSpPr>
        <p:spPr>
          <a:xfrm>
            <a:off x="6629400" y="4453128"/>
            <a:ext cx="4983480" cy="868680"/>
          </a:xfrm>
          <a:prstGeom prst="rect">
            <a:avLst/>
          </a:prstGeom>
          <a:noFill/>
          <a:ln/>
        </p:spPr>
        <p:txBody>
          <a:bodyPr wrap="square" lIns="0" tIns="0" rIns="0" bIns="0" rtlCol="0" anchor="t"/>
          <a:lstStyle/>
          <a:p>
            <a:pPr indent="0" marL="0">
              <a:buNone/>
            </a:pPr>
            <a:r>
              <a:rPr lang="en-US" sz="1400" dirty="0">
                <a:solidFill>
                  <a:schemeClr val="tx1"/>
                </a:solidFill>
              </a:rPr>
              <a:t>Microsoft's tool is built into Fabric, supported and multi-source. Ours covers Synapse only today and runs on a local machine.</a:t>
            </a:r>
            <a:endParaRPr lang="en-US" sz="1400" dirty="0"/>
          </a:p>
        </p:txBody>
      </p:sp>
      <p:sp>
        <p:nvSpPr>
          <p:cNvPr id="18" name="a5w-verdict"/>
          <p:cNvSpPr/>
          <p:nvPr/>
        </p:nvSpPr>
        <p:spPr>
          <a:xfrm>
            <a:off x="548640" y="5486400"/>
            <a:ext cx="11094415" cy="713232"/>
          </a:xfrm>
          <a:prstGeom prst="roundRect">
            <a:avLst>
              <a:gd name="adj" fmla="val 15385"/>
            </a:avLst>
          </a:prstGeom>
          <a:solidFill>
            <a:schemeClr val="accent1">
              <a:alpha val="12000"/>
            </a:schemeClr>
          </a:solidFill>
          <a:ln/>
        </p:spPr>
      </p:sp>
      <p:sp>
        <p:nvSpPr>
          <p:cNvPr id="19" name="a5w-verdictc"/>
          <p:cNvSpPr/>
          <p:nvPr/>
        </p:nvSpPr>
        <p:spPr>
          <a:xfrm>
            <a:off x="731520" y="5605272"/>
            <a:ext cx="475488" cy="475488"/>
          </a:xfrm>
          <a:prstGeom prst="ellipse">
            <a:avLst/>
          </a:prstGeom>
          <a:solidFill>
            <a:schemeClr val="accent1"/>
          </a:solidFill>
          <a:ln/>
        </p:spPr>
      </p:sp>
      <p:pic>
        <p:nvPicPr>
          <p:cNvPr id="20" name="a5w-verdictci" descr="preencoded.png">    </p:cNvPr>
          <p:cNvPicPr>
            <a:picLocks noChangeAspect="1"/>
          </p:cNvPicPr>
          <p:nvPr/>
        </p:nvPicPr>
        <p:blipFill>
          <a:blip r:embed="rId4"/>
          <a:stretch>
            <a:fillRect/>
          </a:stretch>
        </p:blipFill>
        <p:spPr>
          <a:xfrm>
            <a:off x="850392" y="5724144"/>
            <a:ext cx="237744" cy="237744"/>
          </a:xfrm>
          <a:prstGeom prst="rect">
            <a:avLst/>
          </a:prstGeom>
        </p:spPr>
      </p:pic>
      <p:sp>
        <p:nvSpPr>
          <p:cNvPr id="21" name="a5w-verdictt"/>
          <p:cNvSpPr txBox="1"/>
          <p:nvPr/>
        </p:nvSpPr>
        <p:spPr>
          <a:xfrm>
            <a:off x="1417320" y="5486400"/>
            <a:ext cx="9997135" cy="713232"/>
          </a:xfrm>
          <a:prstGeom prst="rect">
            <a:avLst/>
          </a:prstGeom>
          <a:noFill/>
          <a:ln/>
        </p:spPr>
        <p:txBody>
          <a:bodyPr wrap="square" lIns="0" tIns="0" rIns="0" bIns="0" rtlCol="0" anchor="ctr"/>
          <a:lstStyle/>
          <a:p>
            <a:pPr indent="0" marL="0">
              <a:buNone/>
            </a:pPr>
            <a:r>
              <a:rPr lang="en-US" sz="1500" b="1" dirty="0">
                <a:solidFill>
                  <a:schemeClr val="accent1"/>
                </a:solidFill>
              </a:rPr>
              <a:t>Best fit:  </a:t>
            </a:r>
            <a:pPr indent="0" marL="0">
              <a:buNone/>
            </a:pPr>
            <a:r>
              <a:rPr lang="en-US" sz="1500" dirty="0">
                <a:solidFill>
                  <a:schemeClr val="tx1"/>
                </a:solidFill>
              </a:rPr>
              <a:t>the accelerator for complete Synapse → Fabric migrations; Microsoft's assistant for warehouse-only moves and for SQL Server or Teradata sources.</a:t>
            </a:r>
            <a:endParaRPr lang="en-US" sz="15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450"/>
                            </p:stCondLst>
                            <p:childTnLst>
                              <p:par>
                                <p:cTn id="12" presetID="42"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50"/>
                                        <p:tgtEl>
                                          <p:spTgt spid="6"/>
                                        </p:tgtEl>
                                      </p:cBhvr>
                                    </p:animEffect>
                                    <p:anim calcmode="lin" valueType="num">
                                      <p:cBhvr>
                                        <p:cTn id="15" dur="550" fill="hold"/>
                                        <p:tgtEl>
                                          <p:spTgt spid="6"/>
                                        </p:tgtEl>
                                        <p:attrNameLst>
                                          <p:attrName>ppt_x</p:attrName>
                                        </p:attrNameLst>
                                      </p:cBhvr>
                                      <p:tavLst>
                                        <p:tav tm="0">
                                          <p:val>
                                            <p:strVal val="#ppt_x"/>
                                          </p:val>
                                        </p:tav>
                                        <p:tav tm="100000">
                                          <p:val>
                                            <p:strVal val="#ppt_x"/>
                                          </p:val>
                                        </p:tav>
                                      </p:tavLst>
                                    </p:anim>
                                    <p:anim calcmode="lin" valueType="num">
                                      <p:cBhvr>
                                        <p:cTn id="16" dur="55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50"/>
                                        <p:tgtEl>
                                          <p:spTgt spid="7"/>
                                        </p:tgtEl>
                                      </p:cBhvr>
                                    </p:animEffect>
                                    <p:anim calcmode="lin" valueType="num">
                                      <p:cBhvr>
                                        <p:cTn id="20" dur="550" fill="hold"/>
                                        <p:tgtEl>
                                          <p:spTgt spid="7"/>
                                        </p:tgtEl>
                                        <p:attrNameLst>
                                          <p:attrName>ppt_x</p:attrName>
                                        </p:attrNameLst>
                                      </p:cBhvr>
                                      <p:tavLst>
                                        <p:tav tm="0">
                                          <p:val>
                                            <p:strVal val="#ppt_x"/>
                                          </p:val>
                                        </p:tav>
                                        <p:tav tm="100000">
                                          <p:val>
                                            <p:strVal val="#ppt_x"/>
                                          </p:val>
                                        </p:tav>
                                      </p:tavLst>
                                    </p:anim>
                                    <p:anim calcmode="lin" valueType="num">
                                      <p:cBhvr>
                                        <p:cTn id="21" dur="55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50"/>
                                        <p:tgtEl>
                                          <p:spTgt spid="8"/>
                                        </p:tgtEl>
                                      </p:cBhvr>
                                    </p:animEffect>
                                    <p:anim calcmode="lin" valueType="num">
                                      <p:cBhvr>
                                        <p:cTn id="25" dur="550" fill="hold"/>
                                        <p:tgtEl>
                                          <p:spTgt spid="8"/>
                                        </p:tgtEl>
                                        <p:attrNameLst>
                                          <p:attrName>ppt_x</p:attrName>
                                        </p:attrNameLst>
                                      </p:cBhvr>
                                      <p:tavLst>
                                        <p:tav tm="0">
                                          <p:val>
                                            <p:strVal val="#ppt_x"/>
                                          </p:val>
                                        </p:tav>
                                        <p:tav tm="100000">
                                          <p:val>
                                            <p:strVal val="#ppt_x"/>
                                          </p:val>
                                        </p:tav>
                                      </p:tavLst>
                                    </p:anim>
                                    <p:anim calcmode="lin" valueType="num">
                                      <p:cBhvr>
                                        <p:cTn id="26" dur="550" fill="hold"/>
                                        <p:tgtEl>
                                          <p:spTgt spid="8"/>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50"/>
                                        <p:tgtEl>
                                          <p:spTgt spid="9"/>
                                        </p:tgtEl>
                                      </p:cBhvr>
                                    </p:animEffect>
                                    <p:anim calcmode="lin" valueType="num">
                                      <p:cBhvr>
                                        <p:cTn id="30" dur="550" fill="hold"/>
                                        <p:tgtEl>
                                          <p:spTgt spid="9"/>
                                        </p:tgtEl>
                                        <p:attrNameLst>
                                          <p:attrName>ppt_x</p:attrName>
                                        </p:attrNameLst>
                                      </p:cBhvr>
                                      <p:tavLst>
                                        <p:tav tm="0">
                                          <p:val>
                                            <p:strVal val="#ppt_x"/>
                                          </p:val>
                                        </p:tav>
                                        <p:tav tm="100000">
                                          <p:val>
                                            <p:strVal val="#ppt_x"/>
                                          </p:val>
                                        </p:tav>
                                      </p:tavLst>
                                    </p:anim>
                                    <p:anim calcmode="lin" valueType="num">
                                      <p:cBhvr>
                                        <p:cTn id="31" dur="550" fill="hold"/>
                                        <p:tgtEl>
                                          <p:spTgt spid="9"/>
                                        </p:tgtEl>
                                        <p:attrNameLst>
                                          <p:attrName>ppt_y</p:attrName>
                                        </p:attrNameLst>
                                      </p:cBhvr>
                                      <p:tavLst>
                                        <p:tav tm="0">
                                          <p:val>
                                            <p:strVal val="#ppt_y+.1"/>
                                          </p:val>
                                        </p:tav>
                                        <p:tav tm="100000">
                                          <p:val>
                                            <p:strVal val="#ppt_y"/>
                                          </p:val>
                                        </p:tav>
                                      </p:tavLst>
                                    </p:anim>
                                  </p:childTnLst>
                                </p:cTn>
                              </p:par>
                            </p:childTnLst>
                          </p:cTn>
                        </p:par>
                        <p:par>
                          <p:cTn id="32" fill="hold">
                            <p:stCondLst>
                              <p:cond delay="1000"/>
                            </p:stCondLst>
                            <p:childTnLst>
                              <p:par>
                                <p:cTn id="33" presetID="42" presetClass="entr" presetSubtype="0" fill="hold" grpId="0"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50"/>
                                        <p:tgtEl>
                                          <p:spTgt spid="10"/>
                                        </p:tgtEl>
                                      </p:cBhvr>
                                    </p:animEffect>
                                    <p:anim calcmode="lin" valueType="num">
                                      <p:cBhvr>
                                        <p:cTn id="36" dur="550" fill="hold"/>
                                        <p:tgtEl>
                                          <p:spTgt spid="10"/>
                                        </p:tgtEl>
                                        <p:attrNameLst>
                                          <p:attrName>ppt_x</p:attrName>
                                        </p:attrNameLst>
                                      </p:cBhvr>
                                      <p:tavLst>
                                        <p:tav tm="0">
                                          <p:val>
                                            <p:strVal val="#ppt_x"/>
                                          </p:val>
                                        </p:tav>
                                        <p:tav tm="100000">
                                          <p:val>
                                            <p:strVal val="#ppt_x"/>
                                          </p:val>
                                        </p:tav>
                                      </p:tavLst>
                                    </p:anim>
                                    <p:anim calcmode="lin" valueType="num">
                                      <p:cBhvr>
                                        <p:cTn id="37" dur="550" fill="hold"/>
                                        <p:tgtEl>
                                          <p:spTgt spid="1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550"/>
                                        <p:tgtEl>
                                          <p:spTgt spid="11"/>
                                        </p:tgtEl>
                                      </p:cBhvr>
                                    </p:animEffect>
                                    <p:anim calcmode="lin" valueType="num">
                                      <p:cBhvr>
                                        <p:cTn id="41" dur="550" fill="hold"/>
                                        <p:tgtEl>
                                          <p:spTgt spid="11"/>
                                        </p:tgtEl>
                                        <p:attrNameLst>
                                          <p:attrName>ppt_x</p:attrName>
                                        </p:attrNameLst>
                                      </p:cBhvr>
                                      <p:tavLst>
                                        <p:tav tm="0">
                                          <p:val>
                                            <p:strVal val="#ppt_x"/>
                                          </p:val>
                                        </p:tav>
                                        <p:tav tm="100000">
                                          <p:val>
                                            <p:strVal val="#ppt_x"/>
                                          </p:val>
                                        </p:tav>
                                      </p:tavLst>
                                    </p:anim>
                                    <p:anim calcmode="lin" valueType="num">
                                      <p:cBhvr>
                                        <p:cTn id="42" dur="550" fill="hold"/>
                                        <p:tgtEl>
                                          <p:spTgt spid="11"/>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50"/>
                                        <p:tgtEl>
                                          <p:spTgt spid="12"/>
                                        </p:tgtEl>
                                      </p:cBhvr>
                                    </p:animEffect>
                                    <p:anim calcmode="lin" valueType="num">
                                      <p:cBhvr>
                                        <p:cTn id="46" dur="550" fill="hold"/>
                                        <p:tgtEl>
                                          <p:spTgt spid="12"/>
                                        </p:tgtEl>
                                        <p:attrNameLst>
                                          <p:attrName>ppt_x</p:attrName>
                                        </p:attrNameLst>
                                      </p:cBhvr>
                                      <p:tavLst>
                                        <p:tav tm="0">
                                          <p:val>
                                            <p:strVal val="#ppt_x"/>
                                          </p:val>
                                        </p:tav>
                                        <p:tav tm="100000">
                                          <p:val>
                                            <p:strVal val="#ppt_x"/>
                                          </p:val>
                                        </p:tav>
                                      </p:tavLst>
                                    </p:anim>
                                    <p:anim calcmode="lin" valueType="num">
                                      <p:cBhvr>
                                        <p:cTn id="47" dur="55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anim calcmode="lin" valueType="num">
                                      <p:cBhvr>
                                        <p:cTn id="51" dur="550" fill="hold"/>
                                        <p:tgtEl>
                                          <p:spTgt spid="13"/>
                                        </p:tgtEl>
                                        <p:attrNameLst>
                                          <p:attrName>ppt_x</p:attrName>
                                        </p:attrNameLst>
                                      </p:cBhvr>
                                      <p:tavLst>
                                        <p:tav tm="0">
                                          <p:val>
                                            <p:strVal val="#ppt_x"/>
                                          </p:val>
                                        </p:tav>
                                        <p:tav tm="100000">
                                          <p:val>
                                            <p:strVal val="#ppt_x"/>
                                          </p:val>
                                        </p:tav>
                                      </p:tavLst>
                                    </p:anim>
                                    <p:anim calcmode="lin" valueType="num">
                                      <p:cBhvr>
                                        <p:cTn id="52" dur="550" fill="hold"/>
                                        <p:tgtEl>
                                          <p:spTgt spid="13"/>
                                        </p:tgtEl>
                                        <p:attrNameLst>
                                          <p:attrName>ppt_y</p:attrName>
                                        </p:attrNameLst>
                                      </p:cBhvr>
                                      <p:tavLst>
                                        <p:tav tm="0">
                                          <p:val>
                                            <p:strVal val="#ppt_y+.1"/>
                                          </p:val>
                                        </p:tav>
                                        <p:tav tm="100000">
                                          <p:val>
                                            <p:strVal val="#ppt_y"/>
                                          </p:val>
                                        </p:tav>
                                      </p:tavLst>
                                    </p:anim>
                                  </p:childTnLst>
                                </p:cTn>
                              </p:par>
                            </p:childTnLst>
                          </p:cTn>
                        </p:par>
                        <p:par>
                          <p:cTn id="53" fill="hold">
                            <p:stCondLst>
                              <p:cond delay="1550"/>
                            </p:stCondLst>
                            <p:childTnLst>
                              <p:par>
                                <p:cTn id="54" presetID="42" presetClass="entr" presetSubtype="0"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550"/>
                                        <p:tgtEl>
                                          <p:spTgt spid="14"/>
                                        </p:tgtEl>
                                      </p:cBhvr>
                                    </p:animEffect>
                                    <p:anim calcmode="lin" valueType="num">
                                      <p:cBhvr>
                                        <p:cTn id="57" dur="550" fill="hold"/>
                                        <p:tgtEl>
                                          <p:spTgt spid="14"/>
                                        </p:tgtEl>
                                        <p:attrNameLst>
                                          <p:attrName>ppt_x</p:attrName>
                                        </p:attrNameLst>
                                      </p:cBhvr>
                                      <p:tavLst>
                                        <p:tav tm="0">
                                          <p:val>
                                            <p:strVal val="#ppt_x"/>
                                          </p:val>
                                        </p:tav>
                                        <p:tav tm="100000">
                                          <p:val>
                                            <p:strVal val="#ppt_x"/>
                                          </p:val>
                                        </p:tav>
                                      </p:tavLst>
                                    </p:anim>
                                    <p:anim calcmode="lin" valueType="num">
                                      <p:cBhvr>
                                        <p:cTn id="58" dur="55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50"/>
                                        <p:tgtEl>
                                          <p:spTgt spid="15"/>
                                        </p:tgtEl>
                                      </p:cBhvr>
                                    </p:animEffect>
                                    <p:anim calcmode="lin" valueType="num">
                                      <p:cBhvr>
                                        <p:cTn id="62" dur="550" fill="hold"/>
                                        <p:tgtEl>
                                          <p:spTgt spid="15"/>
                                        </p:tgtEl>
                                        <p:attrNameLst>
                                          <p:attrName>ppt_x</p:attrName>
                                        </p:attrNameLst>
                                      </p:cBhvr>
                                      <p:tavLst>
                                        <p:tav tm="0">
                                          <p:val>
                                            <p:strVal val="#ppt_x"/>
                                          </p:val>
                                        </p:tav>
                                        <p:tav tm="100000">
                                          <p:val>
                                            <p:strVal val="#ppt_x"/>
                                          </p:val>
                                        </p:tav>
                                      </p:tavLst>
                                    </p:anim>
                                    <p:anim calcmode="lin" valueType="num">
                                      <p:cBhvr>
                                        <p:cTn id="63" dur="55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550"/>
                                        <p:tgtEl>
                                          <p:spTgt spid="16"/>
                                        </p:tgtEl>
                                      </p:cBhvr>
                                    </p:animEffect>
                                    <p:anim calcmode="lin" valueType="num">
                                      <p:cBhvr>
                                        <p:cTn id="67" dur="550" fill="hold"/>
                                        <p:tgtEl>
                                          <p:spTgt spid="16"/>
                                        </p:tgtEl>
                                        <p:attrNameLst>
                                          <p:attrName>ppt_x</p:attrName>
                                        </p:attrNameLst>
                                      </p:cBhvr>
                                      <p:tavLst>
                                        <p:tav tm="0">
                                          <p:val>
                                            <p:strVal val="#ppt_x"/>
                                          </p:val>
                                        </p:tav>
                                        <p:tav tm="100000">
                                          <p:val>
                                            <p:strVal val="#ppt_x"/>
                                          </p:val>
                                        </p:tav>
                                      </p:tavLst>
                                    </p:anim>
                                    <p:anim calcmode="lin" valueType="num">
                                      <p:cBhvr>
                                        <p:cTn id="68" dur="550" fill="hold"/>
                                        <p:tgtEl>
                                          <p:spTgt spid="16"/>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50"/>
                                        <p:tgtEl>
                                          <p:spTgt spid="17"/>
                                        </p:tgtEl>
                                      </p:cBhvr>
                                    </p:animEffect>
                                    <p:anim calcmode="lin" valueType="num">
                                      <p:cBhvr>
                                        <p:cTn id="72" dur="550" fill="hold"/>
                                        <p:tgtEl>
                                          <p:spTgt spid="17"/>
                                        </p:tgtEl>
                                        <p:attrNameLst>
                                          <p:attrName>ppt_x</p:attrName>
                                        </p:attrNameLst>
                                      </p:cBhvr>
                                      <p:tavLst>
                                        <p:tav tm="0">
                                          <p:val>
                                            <p:strVal val="#ppt_x"/>
                                          </p:val>
                                        </p:tav>
                                        <p:tav tm="100000">
                                          <p:val>
                                            <p:strVal val="#ppt_x"/>
                                          </p:val>
                                        </p:tav>
                                      </p:tavLst>
                                    </p:anim>
                                    <p:anim calcmode="lin" valueType="num">
                                      <p:cBhvr>
                                        <p:cTn id="73" dur="550" fill="hold"/>
                                        <p:tgtEl>
                                          <p:spTgt spid="17"/>
                                        </p:tgtEl>
                                        <p:attrNameLst>
                                          <p:attrName>ppt_y</p:attrName>
                                        </p:attrNameLst>
                                      </p:cBhvr>
                                      <p:tavLst>
                                        <p:tav tm="0">
                                          <p:val>
                                            <p:strVal val="#ppt_y+.1"/>
                                          </p:val>
                                        </p:tav>
                                        <p:tav tm="100000">
                                          <p:val>
                                            <p:strVal val="#ppt_y"/>
                                          </p:val>
                                        </p:tav>
                                      </p:tavLst>
                                    </p:anim>
                                  </p:childTnLst>
                                </p:cTn>
                              </p:par>
                            </p:childTnLst>
                          </p:cTn>
                        </p:par>
                        <p:par>
                          <p:cTn id="74" fill="hold">
                            <p:stCondLst>
                              <p:cond delay="2100"/>
                            </p:stCondLst>
                            <p:childTnLst>
                              <p:par>
                                <p:cTn id="75" presetID="22" presetClass="entr" presetSubtype="8" fill="hold" grpId="0" nodeType="after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Effect transition="in" filter="wipe(left)">
                                      <p:cBhvr>
                                        <p:cTn id="80" dur="500"/>
                                        <p:tgtEl>
                                          <p:spTgt spid="19"/>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wipe(left)">
                                      <p:cBhvr>
                                        <p:cTn id="83" dur="500"/>
                                        <p:tgtEl>
                                          <p:spTgt spid="20"/>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wipe(left)">
                                      <p:cBhvr>
                                        <p:cTn id="8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a1z-num"/>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01</a:t>
            </a:r>
            <a:endParaRPr lang="en-US" sz="8800" dirty="0"/>
          </a:p>
        </p:txBody>
      </p:sp>
      <p:sp>
        <p:nvSpPr>
          <p:cNvPr id="3" name="a2z-icon"/>
          <p:cNvSpPr/>
          <p:nvPr/>
        </p:nvSpPr>
        <p:spPr>
          <a:xfrm>
            <a:off x="8549640" y="2011680"/>
            <a:ext cx="2468880" cy="2468880"/>
          </a:xfrm>
          <a:prstGeom prst="ellipse">
            <a:avLst/>
          </a:prstGeom>
          <a:solidFill>
            <a:schemeClr val="accent5">
              <a:alpha val="18000"/>
            </a:schemeClr>
          </a:solidFill>
          <a:ln/>
        </p:spPr>
      </p:sp>
      <p:pic>
        <p:nvPicPr>
          <p:cNvPr id="4" name="a2z-iconi"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The two tools at a glance</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What each one is, and how it works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4</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fill="hold"/>
                                        <p:tgtEl>
                                          <p:spTgt spid="2"/>
                                        </p:tgtEl>
                                        <p:attrNameLst>
                                          <p:attrName>ppt_w</p:attrName>
                                        </p:attrNameLst>
                                      </p:cBhvr>
                                      <p:tavLst>
                                        <p:tav tm="0">
                                          <p:val>
                                            <p:fltVal val="0"/>
                                          </p:val>
                                        </p:tav>
                                        <p:tav tm="100000">
                                          <p:val>
                                            <p:strVal val="#ppt_w"/>
                                          </p:val>
                                        </p:tav>
                                      </p:tavLst>
                                    </p:anim>
                                    <p:anim calcmode="lin" valueType="num">
                                      <p:cBhvr>
                                        <p:cTn id="8" dur="45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childTnLst>
                          </p:cTn>
                        </p:par>
                        <p:par>
                          <p:cTn id="10" fill="hold">
                            <p:stCondLst>
                              <p:cond delay="45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450" fill="hold"/>
                                        <p:tgtEl>
                                          <p:spTgt spid="3"/>
                                        </p:tgtEl>
                                        <p:attrNameLst>
                                          <p:attrName>ppt_w</p:attrName>
                                        </p:attrNameLst>
                                      </p:cBhvr>
                                      <p:tavLst>
                                        <p:tav tm="0">
                                          <p:val>
                                            <p:fltVal val="0"/>
                                          </p:val>
                                        </p:tav>
                                        <p:tav tm="100000">
                                          <p:val>
                                            <p:strVal val="#ppt_w"/>
                                          </p:val>
                                        </p:tav>
                                      </p:tavLst>
                                    </p:anim>
                                    <p:anim calcmode="lin" valueType="num">
                                      <p:cBhvr>
                                        <p:cTn id="14" dur="450" fill="hold"/>
                                        <p:tgtEl>
                                          <p:spTgt spid="3"/>
                                        </p:tgtEl>
                                        <p:attrNameLst>
                                          <p:attrName>ppt_h</p:attrName>
                                        </p:attrNameLst>
                                      </p:cBhvr>
                                      <p:tavLst>
                                        <p:tav tm="0">
                                          <p:val>
                                            <p:fltVal val="0"/>
                                          </p:val>
                                        </p:tav>
                                        <p:tav tm="100000">
                                          <p:val>
                                            <p:strVal val="#ppt_h"/>
                                          </p:val>
                                        </p:tav>
                                      </p:tavLst>
                                    </p:anim>
                                    <p:animEffect transition="in" filter="fade">
                                      <p:cBhvr>
                                        <p:cTn id="15" dur="450"/>
                                        <p:tgtEl>
                                          <p:spTgt spid="3"/>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450" fill="hold"/>
                                        <p:tgtEl>
                                          <p:spTgt spid="4"/>
                                        </p:tgtEl>
                                        <p:attrNameLst>
                                          <p:attrName>ppt_w</p:attrName>
                                        </p:attrNameLst>
                                      </p:cBhvr>
                                      <p:tavLst>
                                        <p:tav tm="0">
                                          <p:val>
                                            <p:fltVal val="0"/>
                                          </p:val>
                                        </p:tav>
                                        <p:tav tm="100000">
                                          <p:val>
                                            <p:strVal val="#ppt_w"/>
                                          </p:val>
                                        </p:tav>
                                      </p:tavLst>
                                    </p:anim>
                                    <p:anim calcmode="lin" valueType="num">
                                      <p:cBhvr>
                                        <p:cTn id="19" dur="450" fill="hold"/>
                                        <p:tgtEl>
                                          <p:spTgt spid="4"/>
                                        </p:tgtEl>
                                        <p:attrNameLst>
                                          <p:attrName>ppt_h</p:attrName>
                                        </p:attrNameLst>
                                      </p:cBhvr>
                                      <p:tavLst>
                                        <p:tav tm="0">
                                          <p:val>
                                            <p:fltVal val="0"/>
                                          </p:val>
                                        </p:tav>
                                        <p:tav tm="100000">
                                          <p:val>
                                            <p:strVal val="#ppt_h"/>
                                          </p:val>
                                        </p:tav>
                                      </p:tavLst>
                                    </p:anim>
                                    <p:animEffect transition="in" filter="fade">
                                      <p:cBhvr>
                                        <p:cTn id="2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TWO TOOLS AT A GLANCE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 Synapse workspace is more than a warehouse</a:t>
            </a:r>
            <a:endParaRPr lang="en-US" sz="3200" dirty="0"/>
          </a:p>
        </p:txBody>
      </p:sp>
      <p:sp>
        <p:nvSpPr>
          <p:cNvPr id="4" name="a1z-area0"/>
          <p:cNvSpPr/>
          <p:nvPr/>
        </p:nvSpPr>
        <p:spPr>
          <a:xfrm>
            <a:off x="548640" y="1572768"/>
            <a:ext cx="3511296" cy="1783080"/>
          </a:xfrm>
          <a:prstGeom prst="roundRect">
            <a:avLst>
              <a:gd name="adj" fmla="val 6154"/>
            </a:avLst>
          </a:prstGeom>
          <a:solidFill>
            <a:schemeClr val="bg2"/>
          </a:solidFill>
          <a:ln/>
        </p:spPr>
      </p:sp>
      <p:sp>
        <p:nvSpPr>
          <p:cNvPr id="5" name="a1z-area0c"/>
          <p:cNvSpPr/>
          <p:nvPr/>
        </p:nvSpPr>
        <p:spPr>
          <a:xfrm>
            <a:off x="822960" y="1847088"/>
            <a:ext cx="548640" cy="548640"/>
          </a:xfrm>
          <a:prstGeom prst="ellipse">
            <a:avLst/>
          </a:prstGeom>
          <a:solidFill>
            <a:schemeClr val="accent1"/>
          </a:solidFill>
          <a:ln/>
        </p:spPr>
      </p:sp>
      <p:pic>
        <p:nvPicPr>
          <p:cNvPr id="6" name="a1z-area0ci" descr="preencoded.png">    </p:cNvPr>
          <p:cNvPicPr>
            <a:picLocks noChangeAspect="1"/>
          </p:cNvPicPr>
          <p:nvPr/>
        </p:nvPicPr>
        <p:blipFill>
          <a:blip r:embed="rId1"/>
          <a:stretch>
            <a:fillRect/>
          </a:stretch>
        </p:blipFill>
        <p:spPr>
          <a:xfrm>
            <a:off x="960120" y="1984248"/>
            <a:ext cx="274320" cy="274320"/>
          </a:xfrm>
          <a:prstGeom prst="rect">
            <a:avLst/>
          </a:prstGeom>
        </p:spPr>
      </p:pic>
      <p:sp>
        <p:nvSpPr>
          <p:cNvPr id="7" name="a1z-area0h"/>
          <p:cNvSpPr txBox="1"/>
          <p:nvPr/>
        </p:nvSpPr>
        <p:spPr>
          <a:xfrm>
            <a:off x="1536192" y="184708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SQL warehouse</a:t>
            </a:r>
            <a:endParaRPr lang="en-US" sz="1800" dirty="0"/>
          </a:p>
        </p:txBody>
      </p:sp>
      <p:sp>
        <p:nvSpPr>
          <p:cNvPr id="8" name="a1z-area0b"/>
          <p:cNvSpPr txBox="1"/>
          <p:nvPr/>
        </p:nvSpPr>
        <p:spPr>
          <a:xfrm>
            <a:off x="822960" y="2532888"/>
            <a:ext cx="2962656" cy="640080"/>
          </a:xfrm>
          <a:prstGeom prst="rect">
            <a:avLst/>
          </a:prstGeom>
          <a:noFill/>
          <a:ln/>
        </p:spPr>
        <p:txBody>
          <a:bodyPr wrap="square" lIns="0" tIns="0" rIns="0" bIns="0" rtlCol="0" anchor="t"/>
          <a:lstStyle/>
          <a:p>
            <a:pPr indent="0" marL="0">
              <a:buNone/>
            </a:pPr>
            <a:r>
              <a:rPr lang="en-US" sz="1400" dirty="0">
                <a:solidFill>
                  <a:schemeClr val="tx1"/>
                </a:solidFill>
              </a:rPr>
              <a:t>Tables, views, procedures, functions, roles and permissions</a:t>
            </a:r>
            <a:endParaRPr lang="en-US" sz="1400" dirty="0"/>
          </a:p>
        </p:txBody>
      </p:sp>
      <p:sp>
        <p:nvSpPr>
          <p:cNvPr id="9" name="a2z-area1"/>
          <p:cNvSpPr/>
          <p:nvPr/>
        </p:nvSpPr>
        <p:spPr>
          <a:xfrm>
            <a:off x="4338828" y="1572768"/>
            <a:ext cx="3511296" cy="1783080"/>
          </a:xfrm>
          <a:prstGeom prst="roundRect">
            <a:avLst>
              <a:gd name="adj" fmla="val 6154"/>
            </a:avLst>
          </a:prstGeom>
          <a:solidFill>
            <a:schemeClr val="bg2"/>
          </a:solidFill>
          <a:ln/>
        </p:spPr>
      </p:sp>
      <p:sp>
        <p:nvSpPr>
          <p:cNvPr id="10" name="a2z-area1c"/>
          <p:cNvSpPr/>
          <p:nvPr/>
        </p:nvSpPr>
        <p:spPr>
          <a:xfrm>
            <a:off x="4613148" y="1847088"/>
            <a:ext cx="548640" cy="548640"/>
          </a:xfrm>
          <a:prstGeom prst="ellipse">
            <a:avLst/>
          </a:prstGeom>
          <a:solidFill>
            <a:schemeClr val="accent1"/>
          </a:solidFill>
          <a:ln/>
        </p:spPr>
      </p:sp>
      <p:pic>
        <p:nvPicPr>
          <p:cNvPr id="11" name="a2z-area1ci" descr="preencoded.png">    </p:cNvPr>
          <p:cNvPicPr>
            <a:picLocks noChangeAspect="1"/>
          </p:cNvPicPr>
          <p:nvPr/>
        </p:nvPicPr>
        <p:blipFill>
          <a:blip r:embed="rId2"/>
          <a:stretch>
            <a:fillRect/>
          </a:stretch>
        </p:blipFill>
        <p:spPr>
          <a:xfrm>
            <a:off x="4750308" y="1984248"/>
            <a:ext cx="274320" cy="274320"/>
          </a:xfrm>
          <a:prstGeom prst="rect">
            <a:avLst/>
          </a:prstGeom>
        </p:spPr>
      </p:pic>
      <p:sp>
        <p:nvSpPr>
          <p:cNvPr id="12" name="a2z-area1h"/>
          <p:cNvSpPr txBox="1"/>
          <p:nvPr/>
        </p:nvSpPr>
        <p:spPr>
          <a:xfrm>
            <a:off x="5326380" y="184708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Table data</a:t>
            </a:r>
            <a:endParaRPr lang="en-US" sz="1800" dirty="0"/>
          </a:p>
        </p:txBody>
      </p:sp>
      <p:sp>
        <p:nvSpPr>
          <p:cNvPr id="13" name="a2z-area1b"/>
          <p:cNvSpPr txBox="1"/>
          <p:nvPr/>
        </p:nvSpPr>
        <p:spPr>
          <a:xfrm>
            <a:off x="4613148" y="2532888"/>
            <a:ext cx="2962656" cy="640080"/>
          </a:xfrm>
          <a:prstGeom prst="rect">
            <a:avLst/>
          </a:prstGeom>
          <a:noFill/>
          <a:ln/>
        </p:spPr>
        <p:txBody>
          <a:bodyPr wrap="square" lIns="0" tIns="0" rIns="0" bIns="0" rtlCol="0" anchor="t"/>
          <a:lstStyle/>
          <a:p>
            <a:pPr indent="0" marL="0">
              <a:buNone/>
            </a:pPr>
            <a:r>
              <a:rPr lang="en-US" sz="1400" dirty="0">
                <a:solidFill>
                  <a:schemeClr val="tx1"/>
                </a:solidFill>
              </a:rPr>
              <a:t>Rows, IDENTITY keys and masked columns, often billions of rows</a:t>
            </a:r>
            <a:endParaRPr lang="en-US" sz="1400" dirty="0"/>
          </a:p>
        </p:txBody>
      </p:sp>
      <p:sp>
        <p:nvSpPr>
          <p:cNvPr id="14" name="a3z-area2"/>
          <p:cNvSpPr/>
          <p:nvPr/>
        </p:nvSpPr>
        <p:spPr>
          <a:xfrm>
            <a:off x="8129016" y="1572768"/>
            <a:ext cx="3511296" cy="1783080"/>
          </a:xfrm>
          <a:prstGeom prst="roundRect">
            <a:avLst>
              <a:gd name="adj" fmla="val 6154"/>
            </a:avLst>
          </a:prstGeom>
          <a:solidFill>
            <a:schemeClr val="bg2"/>
          </a:solidFill>
          <a:ln/>
        </p:spPr>
      </p:sp>
      <p:sp>
        <p:nvSpPr>
          <p:cNvPr id="15" name="a3z-area2c"/>
          <p:cNvSpPr/>
          <p:nvPr/>
        </p:nvSpPr>
        <p:spPr>
          <a:xfrm>
            <a:off x="8403336" y="1847088"/>
            <a:ext cx="548640" cy="548640"/>
          </a:xfrm>
          <a:prstGeom prst="ellipse">
            <a:avLst/>
          </a:prstGeom>
          <a:solidFill>
            <a:schemeClr val="accent1"/>
          </a:solidFill>
          <a:ln/>
        </p:spPr>
      </p:sp>
      <p:pic>
        <p:nvPicPr>
          <p:cNvPr id="16" name="a3z-area2ci" descr="preencoded.png">    </p:cNvPr>
          <p:cNvPicPr>
            <a:picLocks noChangeAspect="1"/>
          </p:cNvPicPr>
          <p:nvPr/>
        </p:nvPicPr>
        <p:blipFill>
          <a:blip r:embed="rId3"/>
          <a:stretch>
            <a:fillRect/>
          </a:stretch>
        </p:blipFill>
        <p:spPr>
          <a:xfrm>
            <a:off x="8540496" y="1984248"/>
            <a:ext cx="274320" cy="274320"/>
          </a:xfrm>
          <a:prstGeom prst="rect">
            <a:avLst/>
          </a:prstGeom>
        </p:spPr>
      </p:pic>
      <p:sp>
        <p:nvSpPr>
          <p:cNvPr id="17" name="a3z-area2h"/>
          <p:cNvSpPr txBox="1"/>
          <p:nvPr/>
        </p:nvSpPr>
        <p:spPr>
          <a:xfrm>
            <a:off x="9116568" y="184708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Spark</a:t>
            </a:r>
            <a:endParaRPr lang="en-US" sz="1800" dirty="0"/>
          </a:p>
        </p:txBody>
      </p:sp>
      <p:sp>
        <p:nvSpPr>
          <p:cNvPr id="18" name="a3z-area2b"/>
          <p:cNvSpPr txBox="1"/>
          <p:nvPr/>
        </p:nvSpPr>
        <p:spPr>
          <a:xfrm>
            <a:off x="8403336" y="2532888"/>
            <a:ext cx="2962656" cy="640080"/>
          </a:xfrm>
          <a:prstGeom prst="rect">
            <a:avLst/>
          </a:prstGeom>
          <a:noFill/>
          <a:ln/>
        </p:spPr>
        <p:txBody>
          <a:bodyPr wrap="square" lIns="0" tIns="0" rIns="0" bIns="0" rtlCol="0" anchor="t"/>
          <a:lstStyle/>
          <a:p>
            <a:pPr indent="0" marL="0">
              <a:buNone/>
            </a:pPr>
            <a:r>
              <a:rPr lang="en-US" sz="1400" dirty="0">
                <a:solidFill>
                  <a:schemeClr val="tx1"/>
                </a:solidFill>
              </a:rPr>
              <a:t>Spark pools, notebooks and Spark job definitions</a:t>
            </a:r>
            <a:endParaRPr lang="en-US" sz="1400" dirty="0"/>
          </a:p>
        </p:txBody>
      </p:sp>
      <p:sp>
        <p:nvSpPr>
          <p:cNvPr id="19" name="a4z-area3"/>
          <p:cNvSpPr/>
          <p:nvPr/>
        </p:nvSpPr>
        <p:spPr>
          <a:xfrm>
            <a:off x="548640" y="3584448"/>
            <a:ext cx="3511296" cy="1783080"/>
          </a:xfrm>
          <a:prstGeom prst="roundRect">
            <a:avLst>
              <a:gd name="adj" fmla="val 6154"/>
            </a:avLst>
          </a:prstGeom>
          <a:solidFill>
            <a:schemeClr val="bg2"/>
          </a:solidFill>
          <a:ln/>
        </p:spPr>
      </p:sp>
      <p:sp>
        <p:nvSpPr>
          <p:cNvPr id="20" name="a4z-area3c"/>
          <p:cNvSpPr/>
          <p:nvPr/>
        </p:nvSpPr>
        <p:spPr>
          <a:xfrm>
            <a:off x="822960" y="3858768"/>
            <a:ext cx="548640" cy="548640"/>
          </a:xfrm>
          <a:prstGeom prst="ellipse">
            <a:avLst/>
          </a:prstGeom>
          <a:solidFill>
            <a:schemeClr val="accent1"/>
          </a:solidFill>
          <a:ln/>
        </p:spPr>
      </p:sp>
      <p:pic>
        <p:nvPicPr>
          <p:cNvPr id="21" name="a4z-area3ci" descr="preencoded.png">    </p:cNvPr>
          <p:cNvPicPr>
            <a:picLocks noChangeAspect="1"/>
          </p:cNvPicPr>
          <p:nvPr/>
        </p:nvPicPr>
        <p:blipFill>
          <a:blip r:embed="rId4"/>
          <a:stretch>
            <a:fillRect/>
          </a:stretch>
        </p:blipFill>
        <p:spPr>
          <a:xfrm>
            <a:off x="960120" y="3995928"/>
            <a:ext cx="274320" cy="274320"/>
          </a:xfrm>
          <a:prstGeom prst="rect">
            <a:avLst/>
          </a:prstGeom>
        </p:spPr>
      </p:pic>
      <p:sp>
        <p:nvSpPr>
          <p:cNvPr id="22" name="a4z-area3h"/>
          <p:cNvSpPr txBox="1"/>
          <p:nvPr/>
        </p:nvSpPr>
        <p:spPr>
          <a:xfrm>
            <a:off x="1536192" y="385876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Orchestration</a:t>
            </a:r>
            <a:endParaRPr lang="en-US" sz="1800" dirty="0"/>
          </a:p>
        </p:txBody>
      </p:sp>
      <p:sp>
        <p:nvSpPr>
          <p:cNvPr id="23" name="a4z-area3b"/>
          <p:cNvSpPr txBox="1"/>
          <p:nvPr/>
        </p:nvSpPr>
        <p:spPr>
          <a:xfrm>
            <a:off x="822960" y="4544568"/>
            <a:ext cx="2962656" cy="640080"/>
          </a:xfrm>
          <a:prstGeom prst="rect">
            <a:avLst/>
          </a:prstGeom>
          <a:noFill/>
          <a:ln/>
        </p:spPr>
        <p:txBody>
          <a:bodyPr wrap="square" lIns="0" tIns="0" rIns="0" bIns="0" rtlCol="0" anchor="t"/>
          <a:lstStyle/>
          <a:p>
            <a:pPr indent="0" marL="0">
              <a:buNone/>
            </a:pPr>
            <a:r>
              <a:rPr lang="en-US" sz="1400" dirty="0">
                <a:solidFill>
                  <a:schemeClr val="tx1"/>
                </a:solidFill>
              </a:rPr>
              <a:t>Pipelines, datasets, and schedule or event triggers</a:t>
            </a:r>
            <a:endParaRPr lang="en-US" sz="1400" dirty="0"/>
          </a:p>
        </p:txBody>
      </p:sp>
      <p:sp>
        <p:nvSpPr>
          <p:cNvPr id="24" name="a5z-area4"/>
          <p:cNvSpPr/>
          <p:nvPr/>
        </p:nvSpPr>
        <p:spPr>
          <a:xfrm>
            <a:off x="4338828" y="3584448"/>
            <a:ext cx="3511296" cy="1783080"/>
          </a:xfrm>
          <a:prstGeom prst="roundRect">
            <a:avLst>
              <a:gd name="adj" fmla="val 6154"/>
            </a:avLst>
          </a:prstGeom>
          <a:solidFill>
            <a:schemeClr val="bg2"/>
          </a:solidFill>
          <a:ln/>
        </p:spPr>
      </p:sp>
      <p:sp>
        <p:nvSpPr>
          <p:cNvPr id="25" name="a5z-area4c"/>
          <p:cNvSpPr/>
          <p:nvPr/>
        </p:nvSpPr>
        <p:spPr>
          <a:xfrm>
            <a:off x="4613148" y="3858768"/>
            <a:ext cx="548640" cy="548640"/>
          </a:xfrm>
          <a:prstGeom prst="ellipse">
            <a:avLst/>
          </a:prstGeom>
          <a:solidFill>
            <a:schemeClr val="accent1"/>
          </a:solidFill>
          <a:ln/>
        </p:spPr>
      </p:sp>
      <p:pic>
        <p:nvPicPr>
          <p:cNvPr id="26" name="a5z-area4ci" descr="preencoded.png">    </p:cNvPr>
          <p:cNvPicPr>
            <a:picLocks noChangeAspect="1"/>
          </p:cNvPicPr>
          <p:nvPr/>
        </p:nvPicPr>
        <p:blipFill>
          <a:blip r:embed="rId5"/>
          <a:stretch>
            <a:fillRect/>
          </a:stretch>
        </p:blipFill>
        <p:spPr>
          <a:xfrm>
            <a:off x="4750308" y="3995928"/>
            <a:ext cx="274320" cy="274320"/>
          </a:xfrm>
          <a:prstGeom prst="rect">
            <a:avLst/>
          </a:prstGeom>
        </p:spPr>
      </p:pic>
      <p:sp>
        <p:nvSpPr>
          <p:cNvPr id="27" name="a5z-area4h"/>
          <p:cNvSpPr txBox="1"/>
          <p:nvPr/>
        </p:nvSpPr>
        <p:spPr>
          <a:xfrm>
            <a:off x="5326380" y="385876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Connectivity</a:t>
            </a:r>
            <a:endParaRPr lang="en-US" sz="1800" dirty="0"/>
          </a:p>
        </p:txBody>
      </p:sp>
      <p:sp>
        <p:nvSpPr>
          <p:cNvPr id="28" name="a5z-area4b"/>
          <p:cNvSpPr txBox="1"/>
          <p:nvPr/>
        </p:nvSpPr>
        <p:spPr>
          <a:xfrm>
            <a:off x="4613148" y="4544568"/>
            <a:ext cx="2962656" cy="640080"/>
          </a:xfrm>
          <a:prstGeom prst="rect">
            <a:avLst/>
          </a:prstGeom>
          <a:noFill/>
          <a:ln/>
        </p:spPr>
        <p:txBody>
          <a:bodyPr wrap="square" lIns="0" tIns="0" rIns="0" bIns="0" rtlCol="0" anchor="t"/>
          <a:lstStyle/>
          <a:p>
            <a:pPr indent="0" marL="0">
              <a:buNone/>
            </a:pPr>
            <a:r>
              <a:rPr lang="en-US" sz="1400" dirty="0">
                <a:solidFill>
                  <a:schemeClr val="tx1"/>
                </a:solidFill>
              </a:rPr>
              <a:t>Linked services, storage paths and integration runtimes</a:t>
            </a:r>
            <a:endParaRPr lang="en-US" sz="1400" dirty="0"/>
          </a:p>
        </p:txBody>
      </p:sp>
      <p:sp>
        <p:nvSpPr>
          <p:cNvPr id="29" name="a6z-area5"/>
          <p:cNvSpPr/>
          <p:nvPr/>
        </p:nvSpPr>
        <p:spPr>
          <a:xfrm>
            <a:off x="8129016" y="3584448"/>
            <a:ext cx="3511296" cy="1783080"/>
          </a:xfrm>
          <a:prstGeom prst="roundRect">
            <a:avLst>
              <a:gd name="adj" fmla="val 6154"/>
            </a:avLst>
          </a:prstGeom>
          <a:solidFill>
            <a:schemeClr val="bg2"/>
          </a:solidFill>
          <a:ln/>
        </p:spPr>
      </p:sp>
      <p:sp>
        <p:nvSpPr>
          <p:cNvPr id="30" name="a6z-area5c"/>
          <p:cNvSpPr/>
          <p:nvPr/>
        </p:nvSpPr>
        <p:spPr>
          <a:xfrm>
            <a:off x="8403336" y="3858768"/>
            <a:ext cx="548640" cy="548640"/>
          </a:xfrm>
          <a:prstGeom prst="ellipse">
            <a:avLst/>
          </a:prstGeom>
          <a:solidFill>
            <a:schemeClr val="accent1"/>
          </a:solidFill>
          <a:ln/>
        </p:spPr>
      </p:sp>
      <p:pic>
        <p:nvPicPr>
          <p:cNvPr id="31" name="a6z-area5ci" descr="preencoded.png">    </p:cNvPr>
          <p:cNvPicPr>
            <a:picLocks noChangeAspect="1"/>
          </p:cNvPicPr>
          <p:nvPr/>
        </p:nvPicPr>
        <p:blipFill>
          <a:blip r:embed="rId6"/>
          <a:stretch>
            <a:fillRect/>
          </a:stretch>
        </p:blipFill>
        <p:spPr>
          <a:xfrm>
            <a:off x="8540496" y="3995928"/>
            <a:ext cx="274320" cy="274320"/>
          </a:xfrm>
          <a:prstGeom prst="rect">
            <a:avLst/>
          </a:prstGeom>
        </p:spPr>
      </p:pic>
      <p:sp>
        <p:nvSpPr>
          <p:cNvPr id="32" name="a6z-area5h"/>
          <p:cNvSpPr txBox="1"/>
          <p:nvPr/>
        </p:nvSpPr>
        <p:spPr>
          <a:xfrm>
            <a:off x="9116568" y="3858768"/>
            <a:ext cx="2322576"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Delivery</a:t>
            </a:r>
            <a:endParaRPr lang="en-US" sz="1800" dirty="0"/>
          </a:p>
        </p:txBody>
      </p:sp>
      <p:sp>
        <p:nvSpPr>
          <p:cNvPr id="33" name="a6z-area5b"/>
          <p:cNvSpPr txBox="1"/>
          <p:nvPr/>
        </p:nvSpPr>
        <p:spPr>
          <a:xfrm>
            <a:off x="8403336" y="4544568"/>
            <a:ext cx="2962656" cy="640080"/>
          </a:xfrm>
          <a:prstGeom prst="rect">
            <a:avLst/>
          </a:prstGeom>
          <a:noFill/>
          <a:ln/>
        </p:spPr>
        <p:txBody>
          <a:bodyPr wrap="square" lIns="0" tIns="0" rIns="0" bIns="0" rtlCol="0" anchor="t"/>
          <a:lstStyle/>
          <a:p>
            <a:pPr indent="0" marL="0">
              <a:buNone/>
            </a:pPr>
            <a:r>
              <a:rPr lang="en-US" sz="1400" dirty="0">
                <a:solidFill>
                  <a:schemeClr val="tx1"/>
                </a:solidFill>
              </a:rPr>
              <a:t>Git repository and environments, from Dev to Test to Prod</a:t>
            </a:r>
            <a:endParaRPr lang="en-US" sz="1400" dirty="0"/>
          </a:p>
        </p:txBody>
      </p:sp>
      <p:sp>
        <p:nvSpPr>
          <p:cNvPr id="34" name="a7f-caption"/>
          <p:cNvSpPr txBox="1"/>
          <p:nvPr/>
        </p:nvSpPr>
        <p:spPr>
          <a:xfrm>
            <a:off x="548640" y="5623560"/>
            <a:ext cx="11094415" cy="411480"/>
          </a:xfrm>
          <a:prstGeom prst="rect">
            <a:avLst/>
          </a:prstGeom>
          <a:noFill/>
          <a:ln/>
        </p:spPr>
        <p:txBody>
          <a:bodyPr wrap="square" lIns="0" tIns="0" rIns="0" bIns="0" rtlCol="0" anchor="t"/>
          <a:lstStyle/>
          <a:p>
            <a:pPr indent="0" marL="0">
              <a:buNone/>
            </a:pPr>
            <a:r>
              <a:rPr lang="en-US" sz="1600" i="1" dirty="0">
                <a:solidFill>
                  <a:schemeClr val="accent6"/>
                </a:solidFill>
              </a:rPr>
              <a:t>Each area has its own Fabric equivalent, and its own Synapse-only code to rewrite.</a:t>
            </a:r>
            <a:endParaRPr lang="en-US" sz="16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450" fill="hold"/>
                                        <p:tgtEl>
                                          <p:spTgt spid="7"/>
                                        </p:tgtEl>
                                        <p:attrNameLst>
                                          <p:attrName>ppt_w</p:attrName>
                                        </p:attrNameLst>
                                      </p:cBhvr>
                                      <p:tavLst>
                                        <p:tav tm="0">
                                          <p:val>
                                            <p:fltVal val="0"/>
                                          </p:val>
                                        </p:tav>
                                        <p:tav tm="100000">
                                          <p:val>
                                            <p:strVal val="#ppt_w"/>
                                          </p:val>
                                        </p:tav>
                                      </p:tavLst>
                                    </p:anim>
                                    <p:anim calcmode="lin" valueType="num">
                                      <p:cBhvr>
                                        <p:cTn id="23" dur="450" fill="hold"/>
                                        <p:tgtEl>
                                          <p:spTgt spid="7"/>
                                        </p:tgtEl>
                                        <p:attrNameLst>
                                          <p:attrName>ppt_h</p:attrName>
                                        </p:attrNameLst>
                                      </p:cBhvr>
                                      <p:tavLst>
                                        <p:tav tm="0">
                                          <p:val>
                                            <p:fltVal val="0"/>
                                          </p:val>
                                        </p:tav>
                                        <p:tav tm="100000">
                                          <p:val>
                                            <p:strVal val="#ppt_h"/>
                                          </p:val>
                                        </p:tav>
                                      </p:tavLst>
                                    </p:anim>
                                    <p:animEffect transition="in" filter="fade">
                                      <p:cBhvr>
                                        <p:cTn id="24" dur="45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450" fill="hold"/>
                                        <p:tgtEl>
                                          <p:spTgt spid="8"/>
                                        </p:tgtEl>
                                        <p:attrNameLst>
                                          <p:attrName>ppt_w</p:attrName>
                                        </p:attrNameLst>
                                      </p:cBhvr>
                                      <p:tavLst>
                                        <p:tav tm="0">
                                          <p:val>
                                            <p:fltVal val="0"/>
                                          </p:val>
                                        </p:tav>
                                        <p:tav tm="100000">
                                          <p:val>
                                            <p:strVal val="#ppt_w"/>
                                          </p:val>
                                        </p:tav>
                                      </p:tavLst>
                                    </p:anim>
                                    <p:anim calcmode="lin" valueType="num">
                                      <p:cBhvr>
                                        <p:cTn id="28" dur="450" fill="hold"/>
                                        <p:tgtEl>
                                          <p:spTgt spid="8"/>
                                        </p:tgtEl>
                                        <p:attrNameLst>
                                          <p:attrName>ppt_h</p:attrName>
                                        </p:attrNameLst>
                                      </p:cBhvr>
                                      <p:tavLst>
                                        <p:tav tm="0">
                                          <p:val>
                                            <p:fltVal val="0"/>
                                          </p:val>
                                        </p:tav>
                                        <p:tav tm="100000">
                                          <p:val>
                                            <p:strVal val="#ppt_h"/>
                                          </p:val>
                                        </p:tav>
                                      </p:tavLst>
                                    </p:anim>
                                    <p:animEffect transition="in" filter="fade">
                                      <p:cBhvr>
                                        <p:cTn id="29" dur="450"/>
                                        <p:tgtEl>
                                          <p:spTgt spid="8"/>
                                        </p:tgtEl>
                                      </p:cBhvr>
                                    </p:animEffect>
                                  </p:childTnLst>
                                </p:cTn>
                              </p:par>
                            </p:childTnLst>
                          </p:cTn>
                        </p:par>
                        <p:par>
                          <p:cTn id="30" fill="hold">
                            <p:stCondLst>
                              <p:cond delay="450"/>
                            </p:stCondLst>
                            <p:childTnLst>
                              <p:par>
                                <p:cTn id="31" presetID="53" presetClass="entr" presetSubtype="16"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450" fill="hold"/>
                                        <p:tgtEl>
                                          <p:spTgt spid="9"/>
                                        </p:tgtEl>
                                        <p:attrNameLst>
                                          <p:attrName>ppt_w</p:attrName>
                                        </p:attrNameLst>
                                      </p:cBhvr>
                                      <p:tavLst>
                                        <p:tav tm="0">
                                          <p:val>
                                            <p:fltVal val="0"/>
                                          </p:val>
                                        </p:tav>
                                        <p:tav tm="100000">
                                          <p:val>
                                            <p:strVal val="#ppt_w"/>
                                          </p:val>
                                        </p:tav>
                                      </p:tavLst>
                                    </p:anim>
                                    <p:anim calcmode="lin" valueType="num">
                                      <p:cBhvr>
                                        <p:cTn id="34" dur="450" fill="hold"/>
                                        <p:tgtEl>
                                          <p:spTgt spid="9"/>
                                        </p:tgtEl>
                                        <p:attrNameLst>
                                          <p:attrName>ppt_h</p:attrName>
                                        </p:attrNameLst>
                                      </p:cBhvr>
                                      <p:tavLst>
                                        <p:tav tm="0">
                                          <p:val>
                                            <p:fltVal val="0"/>
                                          </p:val>
                                        </p:tav>
                                        <p:tav tm="100000">
                                          <p:val>
                                            <p:strVal val="#ppt_h"/>
                                          </p:val>
                                        </p:tav>
                                      </p:tavLst>
                                    </p:anim>
                                    <p:animEffect transition="in" filter="fade">
                                      <p:cBhvr>
                                        <p:cTn id="35" dur="450"/>
                                        <p:tgtEl>
                                          <p:spTgt spid="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450" fill="hold"/>
                                        <p:tgtEl>
                                          <p:spTgt spid="10"/>
                                        </p:tgtEl>
                                        <p:attrNameLst>
                                          <p:attrName>ppt_w</p:attrName>
                                        </p:attrNameLst>
                                      </p:cBhvr>
                                      <p:tavLst>
                                        <p:tav tm="0">
                                          <p:val>
                                            <p:fltVal val="0"/>
                                          </p:val>
                                        </p:tav>
                                        <p:tav tm="100000">
                                          <p:val>
                                            <p:strVal val="#ppt_w"/>
                                          </p:val>
                                        </p:tav>
                                      </p:tavLst>
                                    </p:anim>
                                    <p:anim calcmode="lin" valueType="num">
                                      <p:cBhvr>
                                        <p:cTn id="39" dur="450" fill="hold"/>
                                        <p:tgtEl>
                                          <p:spTgt spid="10"/>
                                        </p:tgtEl>
                                        <p:attrNameLst>
                                          <p:attrName>ppt_h</p:attrName>
                                        </p:attrNameLst>
                                      </p:cBhvr>
                                      <p:tavLst>
                                        <p:tav tm="0">
                                          <p:val>
                                            <p:fltVal val="0"/>
                                          </p:val>
                                        </p:tav>
                                        <p:tav tm="100000">
                                          <p:val>
                                            <p:strVal val="#ppt_h"/>
                                          </p:val>
                                        </p:tav>
                                      </p:tavLst>
                                    </p:anim>
                                    <p:animEffect transition="in" filter="fade">
                                      <p:cBhvr>
                                        <p:cTn id="40" dur="450"/>
                                        <p:tgtEl>
                                          <p:spTgt spid="1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450" fill="hold"/>
                                        <p:tgtEl>
                                          <p:spTgt spid="11"/>
                                        </p:tgtEl>
                                        <p:attrNameLst>
                                          <p:attrName>ppt_w</p:attrName>
                                        </p:attrNameLst>
                                      </p:cBhvr>
                                      <p:tavLst>
                                        <p:tav tm="0">
                                          <p:val>
                                            <p:fltVal val="0"/>
                                          </p:val>
                                        </p:tav>
                                        <p:tav tm="100000">
                                          <p:val>
                                            <p:strVal val="#ppt_w"/>
                                          </p:val>
                                        </p:tav>
                                      </p:tavLst>
                                    </p:anim>
                                    <p:anim calcmode="lin" valueType="num">
                                      <p:cBhvr>
                                        <p:cTn id="44" dur="450" fill="hold"/>
                                        <p:tgtEl>
                                          <p:spTgt spid="11"/>
                                        </p:tgtEl>
                                        <p:attrNameLst>
                                          <p:attrName>ppt_h</p:attrName>
                                        </p:attrNameLst>
                                      </p:cBhvr>
                                      <p:tavLst>
                                        <p:tav tm="0">
                                          <p:val>
                                            <p:fltVal val="0"/>
                                          </p:val>
                                        </p:tav>
                                        <p:tav tm="100000">
                                          <p:val>
                                            <p:strVal val="#ppt_h"/>
                                          </p:val>
                                        </p:tav>
                                      </p:tavLst>
                                    </p:anim>
                                    <p:animEffect transition="in" filter="fade">
                                      <p:cBhvr>
                                        <p:cTn id="45" dur="450"/>
                                        <p:tgtEl>
                                          <p:spTgt spid="1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450" fill="hold"/>
                                        <p:tgtEl>
                                          <p:spTgt spid="12"/>
                                        </p:tgtEl>
                                        <p:attrNameLst>
                                          <p:attrName>ppt_w</p:attrName>
                                        </p:attrNameLst>
                                      </p:cBhvr>
                                      <p:tavLst>
                                        <p:tav tm="0">
                                          <p:val>
                                            <p:fltVal val="0"/>
                                          </p:val>
                                        </p:tav>
                                        <p:tav tm="100000">
                                          <p:val>
                                            <p:strVal val="#ppt_w"/>
                                          </p:val>
                                        </p:tav>
                                      </p:tavLst>
                                    </p:anim>
                                    <p:anim calcmode="lin" valueType="num">
                                      <p:cBhvr>
                                        <p:cTn id="49" dur="450" fill="hold"/>
                                        <p:tgtEl>
                                          <p:spTgt spid="12"/>
                                        </p:tgtEl>
                                        <p:attrNameLst>
                                          <p:attrName>ppt_h</p:attrName>
                                        </p:attrNameLst>
                                      </p:cBhvr>
                                      <p:tavLst>
                                        <p:tav tm="0">
                                          <p:val>
                                            <p:fltVal val="0"/>
                                          </p:val>
                                        </p:tav>
                                        <p:tav tm="100000">
                                          <p:val>
                                            <p:strVal val="#ppt_h"/>
                                          </p:val>
                                        </p:tav>
                                      </p:tavLst>
                                    </p:anim>
                                    <p:animEffect transition="in" filter="fade">
                                      <p:cBhvr>
                                        <p:cTn id="50" dur="450"/>
                                        <p:tgtEl>
                                          <p:spTgt spid="12"/>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450" fill="hold"/>
                                        <p:tgtEl>
                                          <p:spTgt spid="13"/>
                                        </p:tgtEl>
                                        <p:attrNameLst>
                                          <p:attrName>ppt_w</p:attrName>
                                        </p:attrNameLst>
                                      </p:cBhvr>
                                      <p:tavLst>
                                        <p:tav tm="0">
                                          <p:val>
                                            <p:fltVal val="0"/>
                                          </p:val>
                                        </p:tav>
                                        <p:tav tm="100000">
                                          <p:val>
                                            <p:strVal val="#ppt_w"/>
                                          </p:val>
                                        </p:tav>
                                      </p:tavLst>
                                    </p:anim>
                                    <p:anim calcmode="lin" valueType="num">
                                      <p:cBhvr>
                                        <p:cTn id="54" dur="450" fill="hold"/>
                                        <p:tgtEl>
                                          <p:spTgt spid="13"/>
                                        </p:tgtEl>
                                        <p:attrNameLst>
                                          <p:attrName>ppt_h</p:attrName>
                                        </p:attrNameLst>
                                      </p:cBhvr>
                                      <p:tavLst>
                                        <p:tav tm="0">
                                          <p:val>
                                            <p:fltVal val="0"/>
                                          </p:val>
                                        </p:tav>
                                        <p:tav tm="100000">
                                          <p:val>
                                            <p:strVal val="#ppt_h"/>
                                          </p:val>
                                        </p:tav>
                                      </p:tavLst>
                                    </p:anim>
                                    <p:animEffect transition="in" filter="fade">
                                      <p:cBhvr>
                                        <p:cTn id="55" dur="450"/>
                                        <p:tgtEl>
                                          <p:spTgt spid="13"/>
                                        </p:tgtEl>
                                      </p:cBhvr>
                                    </p:animEffect>
                                  </p:childTnLst>
                                </p:cTn>
                              </p:par>
                            </p:childTnLst>
                          </p:cTn>
                        </p:par>
                        <p:par>
                          <p:cTn id="56" fill="hold">
                            <p:stCondLst>
                              <p:cond delay="900"/>
                            </p:stCondLst>
                            <p:childTnLst>
                              <p:par>
                                <p:cTn id="57" presetID="53" presetClass="entr" presetSubtype="16"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p:cTn id="59" dur="450" fill="hold"/>
                                        <p:tgtEl>
                                          <p:spTgt spid="14"/>
                                        </p:tgtEl>
                                        <p:attrNameLst>
                                          <p:attrName>ppt_w</p:attrName>
                                        </p:attrNameLst>
                                      </p:cBhvr>
                                      <p:tavLst>
                                        <p:tav tm="0">
                                          <p:val>
                                            <p:fltVal val="0"/>
                                          </p:val>
                                        </p:tav>
                                        <p:tav tm="100000">
                                          <p:val>
                                            <p:strVal val="#ppt_w"/>
                                          </p:val>
                                        </p:tav>
                                      </p:tavLst>
                                    </p:anim>
                                    <p:anim calcmode="lin" valueType="num">
                                      <p:cBhvr>
                                        <p:cTn id="60" dur="450" fill="hold"/>
                                        <p:tgtEl>
                                          <p:spTgt spid="14"/>
                                        </p:tgtEl>
                                        <p:attrNameLst>
                                          <p:attrName>ppt_h</p:attrName>
                                        </p:attrNameLst>
                                      </p:cBhvr>
                                      <p:tavLst>
                                        <p:tav tm="0">
                                          <p:val>
                                            <p:fltVal val="0"/>
                                          </p:val>
                                        </p:tav>
                                        <p:tav tm="100000">
                                          <p:val>
                                            <p:strVal val="#ppt_h"/>
                                          </p:val>
                                        </p:tav>
                                      </p:tavLst>
                                    </p:anim>
                                    <p:animEffect transition="in" filter="fade">
                                      <p:cBhvr>
                                        <p:cTn id="61" dur="450"/>
                                        <p:tgtEl>
                                          <p:spTgt spid="14"/>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p:cTn id="64" dur="450" fill="hold"/>
                                        <p:tgtEl>
                                          <p:spTgt spid="15"/>
                                        </p:tgtEl>
                                        <p:attrNameLst>
                                          <p:attrName>ppt_w</p:attrName>
                                        </p:attrNameLst>
                                      </p:cBhvr>
                                      <p:tavLst>
                                        <p:tav tm="0">
                                          <p:val>
                                            <p:fltVal val="0"/>
                                          </p:val>
                                        </p:tav>
                                        <p:tav tm="100000">
                                          <p:val>
                                            <p:strVal val="#ppt_w"/>
                                          </p:val>
                                        </p:tav>
                                      </p:tavLst>
                                    </p:anim>
                                    <p:anim calcmode="lin" valueType="num">
                                      <p:cBhvr>
                                        <p:cTn id="65" dur="450" fill="hold"/>
                                        <p:tgtEl>
                                          <p:spTgt spid="15"/>
                                        </p:tgtEl>
                                        <p:attrNameLst>
                                          <p:attrName>ppt_h</p:attrName>
                                        </p:attrNameLst>
                                      </p:cBhvr>
                                      <p:tavLst>
                                        <p:tav tm="0">
                                          <p:val>
                                            <p:fltVal val="0"/>
                                          </p:val>
                                        </p:tav>
                                        <p:tav tm="100000">
                                          <p:val>
                                            <p:strVal val="#ppt_h"/>
                                          </p:val>
                                        </p:tav>
                                      </p:tavLst>
                                    </p:anim>
                                    <p:animEffect transition="in" filter="fade">
                                      <p:cBhvr>
                                        <p:cTn id="66" dur="450"/>
                                        <p:tgtEl>
                                          <p:spTgt spid="15"/>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 calcmode="lin" valueType="num">
                                      <p:cBhvr>
                                        <p:cTn id="69" dur="450" fill="hold"/>
                                        <p:tgtEl>
                                          <p:spTgt spid="16"/>
                                        </p:tgtEl>
                                        <p:attrNameLst>
                                          <p:attrName>ppt_w</p:attrName>
                                        </p:attrNameLst>
                                      </p:cBhvr>
                                      <p:tavLst>
                                        <p:tav tm="0">
                                          <p:val>
                                            <p:fltVal val="0"/>
                                          </p:val>
                                        </p:tav>
                                        <p:tav tm="100000">
                                          <p:val>
                                            <p:strVal val="#ppt_w"/>
                                          </p:val>
                                        </p:tav>
                                      </p:tavLst>
                                    </p:anim>
                                    <p:anim calcmode="lin" valueType="num">
                                      <p:cBhvr>
                                        <p:cTn id="70" dur="450" fill="hold"/>
                                        <p:tgtEl>
                                          <p:spTgt spid="16"/>
                                        </p:tgtEl>
                                        <p:attrNameLst>
                                          <p:attrName>ppt_h</p:attrName>
                                        </p:attrNameLst>
                                      </p:cBhvr>
                                      <p:tavLst>
                                        <p:tav tm="0">
                                          <p:val>
                                            <p:fltVal val="0"/>
                                          </p:val>
                                        </p:tav>
                                        <p:tav tm="100000">
                                          <p:val>
                                            <p:strVal val="#ppt_h"/>
                                          </p:val>
                                        </p:tav>
                                      </p:tavLst>
                                    </p:anim>
                                    <p:animEffect transition="in" filter="fade">
                                      <p:cBhvr>
                                        <p:cTn id="71" dur="450"/>
                                        <p:tgtEl>
                                          <p:spTgt spid="16"/>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450" fill="hold"/>
                                        <p:tgtEl>
                                          <p:spTgt spid="17"/>
                                        </p:tgtEl>
                                        <p:attrNameLst>
                                          <p:attrName>ppt_w</p:attrName>
                                        </p:attrNameLst>
                                      </p:cBhvr>
                                      <p:tavLst>
                                        <p:tav tm="0">
                                          <p:val>
                                            <p:fltVal val="0"/>
                                          </p:val>
                                        </p:tav>
                                        <p:tav tm="100000">
                                          <p:val>
                                            <p:strVal val="#ppt_w"/>
                                          </p:val>
                                        </p:tav>
                                      </p:tavLst>
                                    </p:anim>
                                    <p:anim calcmode="lin" valueType="num">
                                      <p:cBhvr>
                                        <p:cTn id="75" dur="450" fill="hold"/>
                                        <p:tgtEl>
                                          <p:spTgt spid="17"/>
                                        </p:tgtEl>
                                        <p:attrNameLst>
                                          <p:attrName>ppt_h</p:attrName>
                                        </p:attrNameLst>
                                      </p:cBhvr>
                                      <p:tavLst>
                                        <p:tav tm="0">
                                          <p:val>
                                            <p:fltVal val="0"/>
                                          </p:val>
                                        </p:tav>
                                        <p:tav tm="100000">
                                          <p:val>
                                            <p:strVal val="#ppt_h"/>
                                          </p:val>
                                        </p:tav>
                                      </p:tavLst>
                                    </p:anim>
                                    <p:animEffect transition="in" filter="fade">
                                      <p:cBhvr>
                                        <p:cTn id="76" dur="450"/>
                                        <p:tgtEl>
                                          <p:spTgt spid="17"/>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450" fill="hold"/>
                                        <p:tgtEl>
                                          <p:spTgt spid="18"/>
                                        </p:tgtEl>
                                        <p:attrNameLst>
                                          <p:attrName>ppt_w</p:attrName>
                                        </p:attrNameLst>
                                      </p:cBhvr>
                                      <p:tavLst>
                                        <p:tav tm="0">
                                          <p:val>
                                            <p:fltVal val="0"/>
                                          </p:val>
                                        </p:tav>
                                        <p:tav tm="100000">
                                          <p:val>
                                            <p:strVal val="#ppt_w"/>
                                          </p:val>
                                        </p:tav>
                                      </p:tavLst>
                                    </p:anim>
                                    <p:anim calcmode="lin" valueType="num">
                                      <p:cBhvr>
                                        <p:cTn id="80" dur="450" fill="hold"/>
                                        <p:tgtEl>
                                          <p:spTgt spid="18"/>
                                        </p:tgtEl>
                                        <p:attrNameLst>
                                          <p:attrName>ppt_h</p:attrName>
                                        </p:attrNameLst>
                                      </p:cBhvr>
                                      <p:tavLst>
                                        <p:tav tm="0">
                                          <p:val>
                                            <p:fltVal val="0"/>
                                          </p:val>
                                        </p:tav>
                                        <p:tav tm="100000">
                                          <p:val>
                                            <p:strVal val="#ppt_h"/>
                                          </p:val>
                                        </p:tav>
                                      </p:tavLst>
                                    </p:anim>
                                    <p:animEffect transition="in" filter="fade">
                                      <p:cBhvr>
                                        <p:cTn id="81" dur="450"/>
                                        <p:tgtEl>
                                          <p:spTgt spid="18"/>
                                        </p:tgtEl>
                                      </p:cBhvr>
                                    </p:animEffect>
                                  </p:childTnLst>
                                </p:cTn>
                              </p:par>
                            </p:childTnLst>
                          </p:cTn>
                        </p:par>
                        <p:par>
                          <p:cTn id="82" fill="hold">
                            <p:stCondLst>
                              <p:cond delay="1350"/>
                            </p:stCondLst>
                            <p:childTnLst>
                              <p:par>
                                <p:cTn id="83" presetID="53" presetClass="entr" presetSubtype="16"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p:cTn id="85" dur="450" fill="hold"/>
                                        <p:tgtEl>
                                          <p:spTgt spid="19"/>
                                        </p:tgtEl>
                                        <p:attrNameLst>
                                          <p:attrName>ppt_w</p:attrName>
                                        </p:attrNameLst>
                                      </p:cBhvr>
                                      <p:tavLst>
                                        <p:tav tm="0">
                                          <p:val>
                                            <p:fltVal val="0"/>
                                          </p:val>
                                        </p:tav>
                                        <p:tav tm="100000">
                                          <p:val>
                                            <p:strVal val="#ppt_w"/>
                                          </p:val>
                                        </p:tav>
                                      </p:tavLst>
                                    </p:anim>
                                    <p:anim calcmode="lin" valueType="num">
                                      <p:cBhvr>
                                        <p:cTn id="86" dur="450" fill="hold"/>
                                        <p:tgtEl>
                                          <p:spTgt spid="19"/>
                                        </p:tgtEl>
                                        <p:attrNameLst>
                                          <p:attrName>ppt_h</p:attrName>
                                        </p:attrNameLst>
                                      </p:cBhvr>
                                      <p:tavLst>
                                        <p:tav tm="0">
                                          <p:val>
                                            <p:fltVal val="0"/>
                                          </p:val>
                                        </p:tav>
                                        <p:tav tm="100000">
                                          <p:val>
                                            <p:strVal val="#ppt_h"/>
                                          </p:val>
                                        </p:tav>
                                      </p:tavLst>
                                    </p:anim>
                                    <p:animEffect transition="in" filter="fade">
                                      <p:cBhvr>
                                        <p:cTn id="87" dur="450"/>
                                        <p:tgtEl>
                                          <p:spTgt spid="19"/>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p:cTn id="90" dur="450" fill="hold"/>
                                        <p:tgtEl>
                                          <p:spTgt spid="20"/>
                                        </p:tgtEl>
                                        <p:attrNameLst>
                                          <p:attrName>ppt_w</p:attrName>
                                        </p:attrNameLst>
                                      </p:cBhvr>
                                      <p:tavLst>
                                        <p:tav tm="0">
                                          <p:val>
                                            <p:fltVal val="0"/>
                                          </p:val>
                                        </p:tav>
                                        <p:tav tm="100000">
                                          <p:val>
                                            <p:strVal val="#ppt_w"/>
                                          </p:val>
                                        </p:tav>
                                      </p:tavLst>
                                    </p:anim>
                                    <p:anim calcmode="lin" valueType="num">
                                      <p:cBhvr>
                                        <p:cTn id="91" dur="450" fill="hold"/>
                                        <p:tgtEl>
                                          <p:spTgt spid="20"/>
                                        </p:tgtEl>
                                        <p:attrNameLst>
                                          <p:attrName>ppt_h</p:attrName>
                                        </p:attrNameLst>
                                      </p:cBhvr>
                                      <p:tavLst>
                                        <p:tav tm="0">
                                          <p:val>
                                            <p:fltVal val="0"/>
                                          </p:val>
                                        </p:tav>
                                        <p:tav tm="100000">
                                          <p:val>
                                            <p:strVal val="#ppt_h"/>
                                          </p:val>
                                        </p:tav>
                                      </p:tavLst>
                                    </p:anim>
                                    <p:animEffect transition="in" filter="fade">
                                      <p:cBhvr>
                                        <p:cTn id="92" dur="450"/>
                                        <p:tgtEl>
                                          <p:spTgt spid="20"/>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 calcmode="lin" valueType="num">
                                      <p:cBhvr>
                                        <p:cTn id="95" dur="450" fill="hold"/>
                                        <p:tgtEl>
                                          <p:spTgt spid="21"/>
                                        </p:tgtEl>
                                        <p:attrNameLst>
                                          <p:attrName>ppt_w</p:attrName>
                                        </p:attrNameLst>
                                      </p:cBhvr>
                                      <p:tavLst>
                                        <p:tav tm="0">
                                          <p:val>
                                            <p:fltVal val="0"/>
                                          </p:val>
                                        </p:tav>
                                        <p:tav tm="100000">
                                          <p:val>
                                            <p:strVal val="#ppt_w"/>
                                          </p:val>
                                        </p:tav>
                                      </p:tavLst>
                                    </p:anim>
                                    <p:anim calcmode="lin" valueType="num">
                                      <p:cBhvr>
                                        <p:cTn id="96" dur="450" fill="hold"/>
                                        <p:tgtEl>
                                          <p:spTgt spid="21"/>
                                        </p:tgtEl>
                                        <p:attrNameLst>
                                          <p:attrName>ppt_h</p:attrName>
                                        </p:attrNameLst>
                                      </p:cBhvr>
                                      <p:tavLst>
                                        <p:tav tm="0">
                                          <p:val>
                                            <p:fltVal val="0"/>
                                          </p:val>
                                        </p:tav>
                                        <p:tav tm="100000">
                                          <p:val>
                                            <p:strVal val="#ppt_h"/>
                                          </p:val>
                                        </p:tav>
                                      </p:tavLst>
                                    </p:anim>
                                    <p:animEffect transition="in" filter="fade">
                                      <p:cBhvr>
                                        <p:cTn id="97" dur="450"/>
                                        <p:tgtEl>
                                          <p:spTgt spid="21"/>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p:cTn id="100" dur="450" fill="hold"/>
                                        <p:tgtEl>
                                          <p:spTgt spid="22"/>
                                        </p:tgtEl>
                                        <p:attrNameLst>
                                          <p:attrName>ppt_w</p:attrName>
                                        </p:attrNameLst>
                                      </p:cBhvr>
                                      <p:tavLst>
                                        <p:tav tm="0">
                                          <p:val>
                                            <p:fltVal val="0"/>
                                          </p:val>
                                        </p:tav>
                                        <p:tav tm="100000">
                                          <p:val>
                                            <p:strVal val="#ppt_w"/>
                                          </p:val>
                                        </p:tav>
                                      </p:tavLst>
                                    </p:anim>
                                    <p:anim calcmode="lin" valueType="num">
                                      <p:cBhvr>
                                        <p:cTn id="101" dur="450" fill="hold"/>
                                        <p:tgtEl>
                                          <p:spTgt spid="22"/>
                                        </p:tgtEl>
                                        <p:attrNameLst>
                                          <p:attrName>ppt_h</p:attrName>
                                        </p:attrNameLst>
                                      </p:cBhvr>
                                      <p:tavLst>
                                        <p:tav tm="0">
                                          <p:val>
                                            <p:fltVal val="0"/>
                                          </p:val>
                                        </p:tav>
                                        <p:tav tm="100000">
                                          <p:val>
                                            <p:strVal val="#ppt_h"/>
                                          </p:val>
                                        </p:tav>
                                      </p:tavLst>
                                    </p:anim>
                                    <p:animEffect transition="in" filter="fade">
                                      <p:cBhvr>
                                        <p:cTn id="102" dur="450"/>
                                        <p:tgtEl>
                                          <p:spTgt spid="22"/>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 calcmode="lin" valueType="num">
                                      <p:cBhvr>
                                        <p:cTn id="105" dur="450" fill="hold"/>
                                        <p:tgtEl>
                                          <p:spTgt spid="23"/>
                                        </p:tgtEl>
                                        <p:attrNameLst>
                                          <p:attrName>ppt_w</p:attrName>
                                        </p:attrNameLst>
                                      </p:cBhvr>
                                      <p:tavLst>
                                        <p:tav tm="0">
                                          <p:val>
                                            <p:fltVal val="0"/>
                                          </p:val>
                                        </p:tav>
                                        <p:tav tm="100000">
                                          <p:val>
                                            <p:strVal val="#ppt_w"/>
                                          </p:val>
                                        </p:tav>
                                      </p:tavLst>
                                    </p:anim>
                                    <p:anim calcmode="lin" valueType="num">
                                      <p:cBhvr>
                                        <p:cTn id="106" dur="450" fill="hold"/>
                                        <p:tgtEl>
                                          <p:spTgt spid="23"/>
                                        </p:tgtEl>
                                        <p:attrNameLst>
                                          <p:attrName>ppt_h</p:attrName>
                                        </p:attrNameLst>
                                      </p:cBhvr>
                                      <p:tavLst>
                                        <p:tav tm="0">
                                          <p:val>
                                            <p:fltVal val="0"/>
                                          </p:val>
                                        </p:tav>
                                        <p:tav tm="100000">
                                          <p:val>
                                            <p:strVal val="#ppt_h"/>
                                          </p:val>
                                        </p:tav>
                                      </p:tavLst>
                                    </p:anim>
                                    <p:animEffect transition="in" filter="fade">
                                      <p:cBhvr>
                                        <p:cTn id="107" dur="450"/>
                                        <p:tgtEl>
                                          <p:spTgt spid="23"/>
                                        </p:tgtEl>
                                      </p:cBhvr>
                                    </p:animEffect>
                                  </p:childTnLst>
                                </p:cTn>
                              </p:par>
                            </p:childTnLst>
                          </p:cTn>
                        </p:par>
                        <p:par>
                          <p:cTn id="108" fill="hold">
                            <p:stCondLst>
                              <p:cond delay="1800"/>
                            </p:stCondLst>
                            <p:childTnLst>
                              <p:par>
                                <p:cTn id="109" presetID="53" presetClass="entr" presetSubtype="16" fill="hold" grpId="0" nodeType="afterEffect">
                                  <p:stCondLst>
                                    <p:cond delay="0"/>
                                  </p:stCondLst>
                                  <p:childTnLst>
                                    <p:set>
                                      <p:cBhvr>
                                        <p:cTn id="110" dur="1" fill="hold">
                                          <p:stCondLst>
                                            <p:cond delay="0"/>
                                          </p:stCondLst>
                                        </p:cTn>
                                        <p:tgtEl>
                                          <p:spTgt spid="24"/>
                                        </p:tgtEl>
                                        <p:attrNameLst>
                                          <p:attrName>style.visibility</p:attrName>
                                        </p:attrNameLst>
                                      </p:cBhvr>
                                      <p:to>
                                        <p:strVal val="visible"/>
                                      </p:to>
                                    </p:set>
                                    <p:anim calcmode="lin" valueType="num">
                                      <p:cBhvr>
                                        <p:cTn id="111" dur="450" fill="hold"/>
                                        <p:tgtEl>
                                          <p:spTgt spid="24"/>
                                        </p:tgtEl>
                                        <p:attrNameLst>
                                          <p:attrName>ppt_w</p:attrName>
                                        </p:attrNameLst>
                                      </p:cBhvr>
                                      <p:tavLst>
                                        <p:tav tm="0">
                                          <p:val>
                                            <p:fltVal val="0"/>
                                          </p:val>
                                        </p:tav>
                                        <p:tav tm="100000">
                                          <p:val>
                                            <p:strVal val="#ppt_w"/>
                                          </p:val>
                                        </p:tav>
                                      </p:tavLst>
                                    </p:anim>
                                    <p:anim calcmode="lin" valueType="num">
                                      <p:cBhvr>
                                        <p:cTn id="112" dur="450" fill="hold"/>
                                        <p:tgtEl>
                                          <p:spTgt spid="24"/>
                                        </p:tgtEl>
                                        <p:attrNameLst>
                                          <p:attrName>ppt_h</p:attrName>
                                        </p:attrNameLst>
                                      </p:cBhvr>
                                      <p:tavLst>
                                        <p:tav tm="0">
                                          <p:val>
                                            <p:fltVal val="0"/>
                                          </p:val>
                                        </p:tav>
                                        <p:tav tm="100000">
                                          <p:val>
                                            <p:strVal val="#ppt_h"/>
                                          </p:val>
                                        </p:tav>
                                      </p:tavLst>
                                    </p:anim>
                                    <p:animEffect transition="in" filter="fade">
                                      <p:cBhvr>
                                        <p:cTn id="113" dur="450"/>
                                        <p:tgtEl>
                                          <p:spTgt spid="24"/>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 calcmode="lin" valueType="num">
                                      <p:cBhvr>
                                        <p:cTn id="116" dur="450" fill="hold"/>
                                        <p:tgtEl>
                                          <p:spTgt spid="25"/>
                                        </p:tgtEl>
                                        <p:attrNameLst>
                                          <p:attrName>ppt_w</p:attrName>
                                        </p:attrNameLst>
                                      </p:cBhvr>
                                      <p:tavLst>
                                        <p:tav tm="0">
                                          <p:val>
                                            <p:fltVal val="0"/>
                                          </p:val>
                                        </p:tav>
                                        <p:tav tm="100000">
                                          <p:val>
                                            <p:strVal val="#ppt_w"/>
                                          </p:val>
                                        </p:tav>
                                      </p:tavLst>
                                    </p:anim>
                                    <p:anim calcmode="lin" valueType="num">
                                      <p:cBhvr>
                                        <p:cTn id="117" dur="450" fill="hold"/>
                                        <p:tgtEl>
                                          <p:spTgt spid="25"/>
                                        </p:tgtEl>
                                        <p:attrNameLst>
                                          <p:attrName>ppt_h</p:attrName>
                                        </p:attrNameLst>
                                      </p:cBhvr>
                                      <p:tavLst>
                                        <p:tav tm="0">
                                          <p:val>
                                            <p:fltVal val="0"/>
                                          </p:val>
                                        </p:tav>
                                        <p:tav tm="100000">
                                          <p:val>
                                            <p:strVal val="#ppt_h"/>
                                          </p:val>
                                        </p:tav>
                                      </p:tavLst>
                                    </p:anim>
                                    <p:animEffect transition="in" filter="fade">
                                      <p:cBhvr>
                                        <p:cTn id="118" dur="450"/>
                                        <p:tgtEl>
                                          <p:spTgt spid="25"/>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 calcmode="lin" valueType="num">
                                      <p:cBhvr>
                                        <p:cTn id="121" dur="450" fill="hold"/>
                                        <p:tgtEl>
                                          <p:spTgt spid="26"/>
                                        </p:tgtEl>
                                        <p:attrNameLst>
                                          <p:attrName>ppt_w</p:attrName>
                                        </p:attrNameLst>
                                      </p:cBhvr>
                                      <p:tavLst>
                                        <p:tav tm="0">
                                          <p:val>
                                            <p:fltVal val="0"/>
                                          </p:val>
                                        </p:tav>
                                        <p:tav tm="100000">
                                          <p:val>
                                            <p:strVal val="#ppt_w"/>
                                          </p:val>
                                        </p:tav>
                                      </p:tavLst>
                                    </p:anim>
                                    <p:anim calcmode="lin" valueType="num">
                                      <p:cBhvr>
                                        <p:cTn id="122" dur="450" fill="hold"/>
                                        <p:tgtEl>
                                          <p:spTgt spid="26"/>
                                        </p:tgtEl>
                                        <p:attrNameLst>
                                          <p:attrName>ppt_h</p:attrName>
                                        </p:attrNameLst>
                                      </p:cBhvr>
                                      <p:tavLst>
                                        <p:tav tm="0">
                                          <p:val>
                                            <p:fltVal val="0"/>
                                          </p:val>
                                        </p:tav>
                                        <p:tav tm="100000">
                                          <p:val>
                                            <p:strVal val="#ppt_h"/>
                                          </p:val>
                                        </p:tav>
                                      </p:tavLst>
                                    </p:anim>
                                    <p:animEffect transition="in" filter="fade">
                                      <p:cBhvr>
                                        <p:cTn id="123" dur="450"/>
                                        <p:tgtEl>
                                          <p:spTgt spid="26"/>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 calcmode="lin" valueType="num">
                                      <p:cBhvr>
                                        <p:cTn id="126" dur="450" fill="hold"/>
                                        <p:tgtEl>
                                          <p:spTgt spid="27"/>
                                        </p:tgtEl>
                                        <p:attrNameLst>
                                          <p:attrName>ppt_w</p:attrName>
                                        </p:attrNameLst>
                                      </p:cBhvr>
                                      <p:tavLst>
                                        <p:tav tm="0">
                                          <p:val>
                                            <p:fltVal val="0"/>
                                          </p:val>
                                        </p:tav>
                                        <p:tav tm="100000">
                                          <p:val>
                                            <p:strVal val="#ppt_w"/>
                                          </p:val>
                                        </p:tav>
                                      </p:tavLst>
                                    </p:anim>
                                    <p:anim calcmode="lin" valueType="num">
                                      <p:cBhvr>
                                        <p:cTn id="127" dur="450" fill="hold"/>
                                        <p:tgtEl>
                                          <p:spTgt spid="27"/>
                                        </p:tgtEl>
                                        <p:attrNameLst>
                                          <p:attrName>ppt_h</p:attrName>
                                        </p:attrNameLst>
                                      </p:cBhvr>
                                      <p:tavLst>
                                        <p:tav tm="0">
                                          <p:val>
                                            <p:fltVal val="0"/>
                                          </p:val>
                                        </p:tav>
                                        <p:tav tm="100000">
                                          <p:val>
                                            <p:strVal val="#ppt_h"/>
                                          </p:val>
                                        </p:tav>
                                      </p:tavLst>
                                    </p:anim>
                                    <p:animEffect transition="in" filter="fade">
                                      <p:cBhvr>
                                        <p:cTn id="128" dur="450"/>
                                        <p:tgtEl>
                                          <p:spTgt spid="27"/>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 calcmode="lin" valueType="num">
                                      <p:cBhvr>
                                        <p:cTn id="131" dur="450" fill="hold"/>
                                        <p:tgtEl>
                                          <p:spTgt spid="28"/>
                                        </p:tgtEl>
                                        <p:attrNameLst>
                                          <p:attrName>ppt_w</p:attrName>
                                        </p:attrNameLst>
                                      </p:cBhvr>
                                      <p:tavLst>
                                        <p:tav tm="0">
                                          <p:val>
                                            <p:fltVal val="0"/>
                                          </p:val>
                                        </p:tav>
                                        <p:tav tm="100000">
                                          <p:val>
                                            <p:strVal val="#ppt_w"/>
                                          </p:val>
                                        </p:tav>
                                      </p:tavLst>
                                    </p:anim>
                                    <p:anim calcmode="lin" valueType="num">
                                      <p:cBhvr>
                                        <p:cTn id="132" dur="450" fill="hold"/>
                                        <p:tgtEl>
                                          <p:spTgt spid="28"/>
                                        </p:tgtEl>
                                        <p:attrNameLst>
                                          <p:attrName>ppt_h</p:attrName>
                                        </p:attrNameLst>
                                      </p:cBhvr>
                                      <p:tavLst>
                                        <p:tav tm="0">
                                          <p:val>
                                            <p:fltVal val="0"/>
                                          </p:val>
                                        </p:tav>
                                        <p:tav tm="100000">
                                          <p:val>
                                            <p:strVal val="#ppt_h"/>
                                          </p:val>
                                        </p:tav>
                                      </p:tavLst>
                                    </p:anim>
                                    <p:animEffect transition="in" filter="fade">
                                      <p:cBhvr>
                                        <p:cTn id="133" dur="450"/>
                                        <p:tgtEl>
                                          <p:spTgt spid="28"/>
                                        </p:tgtEl>
                                      </p:cBhvr>
                                    </p:animEffect>
                                  </p:childTnLst>
                                </p:cTn>
                              </p:par>
                            </p:childTnLst>
                          </p:cTn>
                        </p:par>
                        <p:par>
                          <p:cTn id="134" fill="hold">
                            <p:stCondLst>
                              <p:cond delay="2250"/>
                            </p:stCondLst>
                            <p:childTnLst>
                              <p:par>
                                <p:cTn id="135" presetID="53" presetClass="entr" presetSubtype="16" fill="hold" grpId="0" nodeType="afterEffect">
                                  <p:stCondLst>
                                    <p:cond delay="0"/>
                                  </p:stCondLst>
                                  <p:childTnLst>
                                    <p:set>
                                      <p:cBhvr>
                                        <p:cTn id="136" dur="1" fill="hold">
                                          <p:stCondLst>
                                            <p:cond delay="0"/>
                                          </p:stCondLst>
                                        </p:cTn>
                                        <p:tgtEl>
                                          <p:spTgt spid="29"/>
                                        </p:tgtEl>
                                        <p:attrNameLst>
                                          <p:attrName>style.visibility</p:attrName>
                                        </p:attrNameLst>
                                      </p:cBhvr>
                                      <p:to>
                                        <p:strVal val="visible"/>
                                      </p:to>
                                    </p:set>
                                    <p:anim calcmode="lin" valueType="num">
                                      <p:cBhvr>
                                        <p:cTn id="137" dur="450" fill="hold"/>
                                        <p:tgtEl>
                                          <p:spTgt spid="29"/>
                                        </p:tgtEl>
                                        <p:attrNameLst>
                                          <p:attrName>ppt_w</p:attrName>
                                        </p:attrNameLst>
                                      </p:cBhvr>
                                      <p:tavLst>
                                        <p:tav tm="0">
                                          <p:val>
                                            <p:fltVal val="0"/>
                                          </p:val>
                                        </p:tav>
                                        <p:tav tm="100000">
                                          <p:val>
                                            <p:strVal val="#ppt_w"/>
                                          </p:val>
                                        </p:tav>
                                      </p:tavLst>
                                    </p:anim>
                                    <p:anim calcmode="lin" valueType="num">
                                      <p:cBhvr>
                                        <p:cTn id="138" dur="450" fill="hold"/>
                                        <p:tgtEl>
                                          <p:spTgt spid="29"/>
                                        </p:tgtEl>
                                        <p:attrNameLst>
                                          <p:attrName>ppt_h</p:attrName>
                                        </p:attrNameLst>
                                      </p:cBhvr>
                                      <p:tavLst>
                                        <p:tav tm="0">
                                          <p:val>
                                            <p:fltVal val="0"/>
                                          </p:val>
                                        </p:tav>
                                        <p:tav tm="100000">
                                          <p:val>
                                            <p:strVal val="#ppt_h"/>
                                          </p:val>
                                        </p:tav>
                                      </p:tavLst>
                                    </p:anim>
                                    <p:animEffect transition="in" filter="fade">
                                      <p:cBhvr>
                                        <p:cTn id="139" dur="450"/>
                                        <p:tgtEl>
                                          <p:spTgt spid="29"/>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30"/>
                                        </p:tgtEl>
                                        <p:attrNameLst>
                                          <p:attrName>style.visibility</p:attrName>
                                        </p:attrNameLst>
                                      </p:cBhvr>
                                      <p:to>
                                        <p:strVal val="visible"/>
                                      </p:to>
                                    </p:set>
                                    <p:anim calcmode="lin" valueType="num">
                                      <p:cBhvr>
                                        <p:cTn id="142" dur="450" fill="hold"/>
                                        <p:tgtEl>
                                          <p:spTgt spid="30"/>
                                        </p:tgtEl>
                                        <p:attrNameLst>
                                          <p:attrName>ppt_w</p:attrName>
                                        </p:attrNameLst>
                                      </p:cBhvr>
                                      <p:tavLst>
                                        <p:tav tm="0">
                                          <p:val>
                                            <p:fltVal val="0"/>
                                          </p:val>
                                        </p:tav>
                                        <p:tav tm="100000">
                                          <p:val>
                                            <p:strVal val="#ppt_w"/>
                                          </p:val>
                                        </p:tav>
                                      </p:tavLst>
                                    </p:anim>
                                    <p:anim calcmode="lin" valueType="num">
                                      <p:cBhvr>
                                        <p:cTn id="143" dur="450" fill="hold"/>
                                        <p:tgtEl>
                                          <p:spTgt spid="30"/>
                                        </p:tgtEl>
                                        <p:attrNameLst>
                                          <p:attrName>ppt_h</p:attrName>
                                        </p:attrNameLst>
                                      </p:cBhvr>
                                      <p:tavLst>
                                        <p:tav tm="0">
                                          <p:val>
                                            <p:fltVal val="0"/>
                                          </p:val>
                                        </p:tav>
                                        <p:tav tm="100000">
                                          <p:val>
                                            <p:strVal val="#ppt_h"/>
                                          </p:val>
                                        </p:tav>
                                      </p:tavLst>
                                    </p:anim>
                                    <p:animEffect transition="in" filter="fade">
                                      <p:cBhvr>
                                        <p:cTn id="144" dur="450"/>
                                        <p:tgtEl>
                                          <p:spTgt spid="30"/>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 calcmode="lin" valueType="num">
                                      <p:cBhvr>
                                        <p:cTn id="147" dur="450" fill="hold"/>
                                        <p:tgtEl>
                                          <p:spTgt spid="31"/>
                                        </p:tgtEl>
                                        <p:attrNameLst>
                                          <p:attrName>ppt_w</p:attrName>
                                        </p:attrNameLst>
                                      </p:cBhvr>
                                      <p:tavLst>
                                        <p:tav tm="0">
                                          <p:val>
                                            <p:fltVal val="0"/>
                                          </p:val>
                                        </p:tav>
                                        <p:tav tm="100000">
                                          <p:val>
                                            <p:strVal val="#ppt_w"/>
                                          </p:val>
                                        </p:tav>
                                      </p:tavLst>
                                    </p:anim>
                                    <p:anim calcmode="lin" valueType="num">
                                      <p:cBhvr>
                                        <p:cTn id="148" dur="450" fill="hold"/>
                                        <p:tgtEl>
                                          <p:spTgt spid="31"/>
                                        </p:tgtEl>
                                        <p:attrNameLst>
                                          <p:attrName>ppt_h</p:attrName>
                                        </p:attrNameLst>
                                      </p:cBhvr>
                                      <p:tavLst>
                                        <p:tav tm="0">
                                          <p:val>
                                            <p:fltVal val="0"/>
                                          </p:val>
                                        </p:tav>
                                        <p:tav tm="100000">
                                          <p:val>
                                            <p:strVal val="#ppt_h"/>
                                          </p:val>
                                        </p:tav>
                                      </p:tavLst>
                                    </p:anim>
                                    <p:animEffect transition="in" filter="fade">
                                      <p:cBhvr>
                                        <p:cTn id="149" dur="450"/>
                                        <p:tgtEl>
                                          <p:spTgt spid="31"/>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 calcmode="lin" valueType="num">
                                      <p:cBhvr>
                                        <p:cTn id="152" dur="450" fill="hold"/>
                                        <p:tgtEl>
                                          <p:spTgt spid="32"/>
                                        </p:tgtEl>
                                        <p:attrNameLst>
                                          <p:attrName>ppt_w</p:attrName>
                                        </p:attrNameLst>
                                      </p:cBhvr>
                                      <p:tavLst>
                                        <p:tav tm="0">
                                          <p:val>
                                            <p:fltVal val="0"/>
                                          </p:val>
                                        </p:tav>
                                        <p:tav tm="100000">
                                          <p:val>
                                            <p:strVal val="#ppt_w"/>
                                          </p:val>
                                        </p:tav>
                                      </p:tavLst>
                                    </p:anim>
                                    <p:anim calcmode="lin" valueType="num">
                                      <p:cBhvr>
                                        <p:cTn id="153" dur="450" fill="hold"/>
                                        <p:tgtEl>
                                          <p:spTgt spid="32"/>
                                        </p:tgtEl>
                                        <p:attrNameLst>
                                          <p:attrName>ppt_h</p:attrName>
                                        </p:attrNameLst>
                                      </p:cBhvr>
                                      <p:tavLst>
                                        <p:tav tm="0">
                                          <p:val>
                                            <p:fltVal val="0"/>
                                          </p:val>
                                        </p:tav>
                                        <p:tav tm="100000">
                                          <p:val>
                                            <p:strVal val="#ppt_h"/>
                                          </p:val>
                                        </p:tav>
                                      </p:tavLst>
                                    </p:anim>
                                    <p:animEffect transition="in" filter="fade">
                                      <p:cBhvr>
                                        <p:cTn id="154" dur="450"/>
                                        <p:tgtEl>
                                          <p:spTgt spid="32"/>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 calcmode="lin" valueType="num">
                                      <p:cBhvr>
                                        <p:cTn id="157" dur="450" fill="hold"/>
                                        <p:tgtEl>
                                          <p:spTgt spid="33"/>
                                        </p:tgtEl>
                                        <p:attrNameLst>
                                          <p:attrName>ppt_w</p:attrName>
                                        </p:attrNameLst>
                                      </p:cBhvr>
                                      <p:tavLst>
                                        <p:tav tm="0">
                                          <p:val>
                                            <p:fltVal val="0"/>
                                          </p:val>
                                        </p:tav>
                                        <p:tav tm="100000">
                                          <p:val>
                                            <p:strVal val="#ppt_w"/>
                                          </p:val>
                                        </p:tav>
                                      </p:tavLst>
                                    </p:anim>
                                    <p:anim calcmode="lin" valueType="num">
                                      <p:cBhvr>
                                        <p:cTn id="158" dur="450" fill="hold"/>
                                        <p:tgtEl>
                                          <p:spTgt spid="33"/>
                                        </p:tgtEl>
                                        <p:attrNameLst>
                                          <p:attrName>ppt_h</p:attrName>
                                        </p:attrNameLst>
                                      </p:cBhvr>
                                      <p:tavLst>
                                        <p:tav tm="0">
                                          <p:val>
                                            <p:fltVal val="0"/>
                                          </p:val>
                                        </p:tav>
                                        <p:tav tm="100000">
                                          <p:val>
                                            <p:strVal val="#ppt_h"/>
                                          </p:val>
                                        </p:tav>
                                      </p:tavLst>
                                    </p:anim>
                                    <p:animEffect transition="in" filter="fade">
                                      <p:cBhvr>
                                        <p:cTn id="159" dur="450"/>
                                        <p:tgtEl>
                                          <p:spTgt spid="33"/>
                                        </p:tgtEl>
                                      </p:cBhvr>
                                    </p:animEffect>
                                  </p:childTnLst>
                                </p:cTn>
                              </p:par>
                            </p:childTnLst>
                          </p:cTn>
                        </p:par>
                        <p:par>
                          <p:cTn id="160" fill="hold">
                            <p:stCondLst>
                              <p:cond delay="2700"/>
                            </p:stCondLst>
                            <p:childTnLst>
                              <p:par>
                                <p:cTn id="161" presetID="10" presetClass="entr" presetSubtype="0" fill="hold" grpId="0" nodeType="afterEffect">
                                  <p:stCondLst>
                                    <p:cond delay="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TWO TOOLS AT A GLANCE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Microsoft's answer: a family of assistants</a:t>
            </a:r>
            <a:endParaRPr lang="en-US" sz="3200" dirty="0"/>
          </a:p>
        </p:txBody>
      </p:sp>
      <p:sp>
        <p:nvSpPr>
          <p:cNvPr id="4" name="a1u-ms0"/>
          <p:cNvSpPr/>
          <p:nvPr/>
        </p:nvSpPr>
        <p:spPr>
          <a:xfrm>
            <a:off x="548640" y="1554480"/>
            <a:ext cx="2587752" cy="2880360"/>
          </a:xfrm>
          <a:prstGeom prst="roundRect">
            <a:avLst>
              <a:gd name="adj" fmla="val 4240"/>
            </a:avLst>
          </a:prstGeom>
          <a:solidFill>
            <a:schemeClr val="accent2">
              <a:alpha val="9000"/>
            </a:schemeClr>
          </a:solidFill>
          <a:ln/>
        </p:spPr>
      </p:sp>
      <p:sp>
        <p:nvSpPr>
          <p:cNvPr id="5" name="a1u-ms0c"/>
          <p:cNvSpPr/>
          <p:nvPr/>
        </p:nvSpPr>
        <p:spPr>
          <a:xfrm>
            <a:off x="777240" y="1783080"/>
            <a:ext cx="548640" cy="548640"/>
          </a:xfrm>
          <a:prstGeom prst="ellipse">
            <a:avLst/>
          </a:prstGeom>
          <a:solidFill>
            <a:schemeClr val="accent2"/>
          </a:solidFill>
          <a:ln/>
        </p:spPr>
      </p:sp>
      <p:pic>
        <p:nvPicPr>
          <p:cNvPr id="6" name="a1u-ms0ci" descr="preencoded.png">    </p:cNvPr>
          <p:cNvPicPr>
            <a:picLocks noChangeAspect="1"/>
          </p:cNvPicPr>
          <p:nvPr/>
        </p:nvPicPr>
        <p:blipFill>
          <a:blip r:embed="rId1"/>
          <a:stretch>
            <a:fillRect/>
          </a:stretch>
        </p:blipFill>
        <p:spPr>
          <a:xfrm>
            <a:off x="914400" y="1920240"/>
            <a:ext cx="274320" cy="274320"/>
          </a:xfrm>
          <a:prstGeom prst="rect">
            <a:avLst/>
          </a:prstGeom>
        </p:spPr>
      </p:pic>
      <p:sp>
        <p:nvSpPr>
          <p:cNvPr id="7" name="a1u-ms0s"/>
          <p:cNvSpPr/>
          <p:nvPr/>
        </p:nvSpPr>
        <p:spPr>
          <a:xfrm>
            <a:off x="2130552" y="1920240"/>
            <a:ext cx="777240" cy="274320"/>
          </a:xfrm>
          <a:prstGeom prst="roundRect">
            <a:avLst>
              <a:gd name="adj" fmla="val 50000"/>
            </a:avLst>
          </a:prstGeom>
          <a:solidFill>
            <a:schemeClr val="accent1">
              <a:alpha val="22000"/>
            </a:schemeClr>
          </a:solidFill>
          <a:ln/>
        </p:spPr>
      </p:sp>
      <p:sp>
        <p:nvSpPr>
          <p:cNvPr id="8" name="a1u-ms0st"/>
          <p:cNvSpPr txBox="1"/>
          <p:nvPr/>
        </p:nvSpPr>
        <p:spPr>
          <a:xfrm>
            <a:off x="2130552" y="1920240"/>
            <a:ext cx="777240" cy="274320"/>
          </a:xfrm>
          <a:prstGeom prst="rect">
            <a:avLst/>
          </a:prstGeom>
          <a:noFill/>
          <a:ln/>
        </p:spPr>
        <p:txBody>
          <a:bodyPr wrap="square" lIns="0" tIns="0" rIns="0" bIns="0" rtlCol="0" anchor="ctr"/>
          <a:lstStyle/>
          <a:p>
            <a:pPr algn="ctr" indent="0" marL="0">
              <a:buNone/>
            </a:pPr>
            <a:r>
              <a:rPr lang="en-US" sz="1000" b="1" dirty="0">
                <a:solidFill>
                  <a:schemeClr val="tx1"/>
                </a:solidFill>
              </a:rPr>
              <a:t>GA</a:t>
            </a:r>
            <a:endParaRPr lang="en-US" sz="1000" dirty="0"/>
          </a:p>
        </p:txBody>
      </p:sp>
      <p:sp>
        <p:nvSpPr>
          <p:cNvPr id="9" name="a1u-ms0h"/>
          <p:cNvSpPr txBox="1"/>
          <p:nvPr/>
        </p:nvSpPr>
        <p:spPr>
          <a:xfrm>
            <a:off x="777240" y="2468880"/>
            <a:ext cx="2130552" cy="41148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Warehouse assistant</a:t>
            </a:r>
            <a:endParaRPr lang="en-US" sz="1700" dirty="0"/>
          </a:p>
        </p:txBody>
      </p:sp>
      <p:sp>
        <p:nvSpPr>
          <p:cNvPr id="10" name="a1u-ms0b"/>
          <p:cNvSpPr txBox="1"/>
          <p:nvPr/>
        </p:nvSpPr>
        <p:spPr>
          <a:xfrm>
            <a:off x="777240" y="2926080"/>
            <a:ext cx="2130552" cy="1645920"/>
          </a:xfrm>
          <a:prstGeom prst="rect">
            <a:avLst/>
          </a:prstGeom>
          <a:noFill/>
          <a:ln/>
        </p:spPr>
        <p:txBody>
          <a:bodyPr wrap="square" lIns="0" tIns="0" rIns="0" bIns="0" rtlCol="0" anchor="t"/>
          <a:lstStyle/>
          <a:p>
            <a:pPr indent="0" marL="0">
              <a:buNone/>
            </a:pPr>
            <a:r>
              <a:rPr lang="en-US" sz="1400" dirty="0">
                <a:solidFill>
                  <a:schemeClr val="tx1"/>
                </a:solidFill>
              </a:rPr>
              <a:t>Synapse dedicated pools, SQL Server and Teradata (preview) into a new Fabric Warehouse. Upload a file or connect live.</a:t>
            </a:r>
            <a:endParaRPr lang="en-US" sz="1400" dirty="0"/>
          </a:p>
        </p:txBody>
      </p:sp>
      <p:sp>
        <p:nvSpPr>
          <p:cNvPr id="11" name="a2u-ms1"/>
          <p:cNvSpPr/>
          <p:nvPr/>
        </p:nvSpPr>
        <p:spPr>
          <a:xfrm>
            <a:off x="3383280" y="1554480"/>
            <a:ext cx="2587752" cy="2880360"/>
          </a:xfrm>
          <a:prstGeom prst="roundRect">
            <a:avLst>
              <a:gd name="adj" fmla="val 4240"/>
            </a:avLst>
          </a:prstGeom>
          <a:solidFill>
            <a:schemeClr val="accent2">
              <a:alpha val="9000"/>
            </a:schemeClr>
          </a:solidFill>
          <a:ln/>
        </p:spPr>
      </p:sp>
      <p:sp>
        <p:nvSpPr>
          <p:cNvPr id="12" name="a2u-ms1c"/>
          <p:cNvSpPr/>
          <p:nvPr/>
        </p:nvSpPr>
        <p:spPr>
          <a:xfrm>
            <a:off x="3611880" y="1783080"/>
            <a:ext cx="548640" cy="548640"/>
          </a:xfrm>
          <a:prstGeom prst="ellipse">
            <a:avLst/>
          </a:prstGeom>
          <a:solidFill>
            <a:schemeClr val="accent2"/>
          </a:solidFill>
          <a:ln/>
        </p:spPr>
      </p:sp>
      <p:pic>
        <p:nvPicPr>
          <p:cNvPr id="13" name="a2u-ms1ci" descr="preencoded.png">    </p:cNvPr>
          <p:cNvPicPr>
            <a:picLocks noChangeAspect="1"/>
          </p:cNvPicPr>
          <p:nvPr/>
        </p:nvPicPr>
        <p:blipFill>
          <a:blip r:embed="rId2"/>
          <a:stretch>
            <a:fillRect/>
          </a:stretch>
        </p:blipFill>
        <p:spPr>
          <a:xfrm>
            <a:off x="3749040" y="1920240"/>
            <a:ext cx="274320" cy="274320"/>
          </a:xfrm>
          <a:prstGeom prst="rect">
            <a:avLst/>
          </a:prstGeom>
        </p:spPr>
      </p:pic>
      <p:sp>
        <p:nvSpPr>
          <p:cNvPr id="14" name="a2u-ms1s"/>
          <p:cNvSpPr/>
          <p:nvPr/>
        </p:nvSpPr>
        <p:spPr>
          <a:xfrm>
            <a:off x="4965192" y="1920240"/>
            <a:ext cx="777240" cy="274320"/>
          </a:xfrm>
          <a:prstGeom prst="roundRect">
            <a:avLst>
              <a:gd name="adj" fmla="val 50000"/>
            </a:avLst>
          </a:prstGeom>
          <a:solidFill>
            <a:schemeClr val="accent3">
              <a:alpha val="22000"/>
            </a:schemeClr>
          </a:solidFill>
          <a:ln/>
        </p:spPr>
      </p:sp>
      <p:sp>
        <p:nvSpPr>
          <p:cNvPr id="15" name="a2u-ms1st"/>
          <p:cNvSpPr txBox="1"/>
          <p:nvPr/>
        </p:nvSpPr>
        <p:spPr>
          <a:xfrm>
            <a:off x="4965192" y="1920240"/>
            <a:ext cx="777240" cy="274320"/>
          </a:xfrm>
          <a:prstGeom prst="rect">
            <a:avLst/>
          </a:prstGeom>
          <a:noFill/>
          <a:ln/>
        </p:spPr>
        <p:txBody>
          <a:bodyPr wrap="square" lIns="0" tIns="0" rIns="0" bIns="0" rtlCol="0" anchor="ctr"/>
          <a:lstStyle/>
          <a:p>
            <a:pPr algn="ctr" indent="0" marL="0">
              <a:buNone/>
            </a:pPr>
            <a:r>
              <a:rPr lang="en-US" sz="1000" b="1" dirty="0">
                <a:solidFill>
                  <a:schemeClr val="tx1"/>
                </a:solidFill>
              </a:rPr>
              <a:t>PREVIEW</a:t>
            </a:r>
            <a:endParaRPr lang="en-US" sz="1000" dirty="0"/>
          </a:p>
        </p:txBody>
      </p:sp>
      <p:sp>
        <p:nvSpPr>
          <p:cNvPr id="16" name="a2u-ms1h"/>
          <p:cNvSpPr txBox="1"/>
          <p:nvPr/>
        </p:nvSpPr>
        <p:spPr>
          <a:xfrm>
            <a:off x="3611880" y="2468880"/>
            <a:ext cx="2130552" cy="41148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Spark assistant</a:t>
            </a:r>
            <a:endParaRPr lang="en-US" sz="1700" dirty="0"/>
          </a:p>
        </p:txBody>
      </p:sp>
      <p:sp>
        <p:nvSpPr>
          <p:cNvPr id="17" name="a2u-ms1b"/>
          <p:cNvSpPr txBox="1"/>
          <p:nvPr/>
        </p:nvSpPr>
        <p:spPr>
          <a:xfrm>
            <a:off x="3611880" y="2926080"/>
            <a:ext cx="2130552" cy="1645920"/>
          </a:xfrm>
          <a:prstGeom prst="rect">
            <a:avLst/>
          </a:prstGeom>
          <a:noFill/>
          <a:ln/>
        </p:spPr>
        <p:txBody>
          <a:bodyPr wrap="square" lIns="0" tIns="0" rIns="0" bIns="0" rtlCol="0" anchor="t"/>
          <a:lstStyle/>
          <a:p>
            <a:pPr indent="0" marL="0">
              <a:buNone/>
            </a:pPr>
            <a:r>
              <a:rPr lang="en-US" sz="1400" dirty="0">
                <a:solidFill>
                  <a:schemeClr val="tx1"/>
                </a:solidFill>
              </a:rPr>
              <a:t>Spark pools, notebooks, Spark job definitions and lake databases. Copies items; code refactoring is left to you.</a:t>
            </a:r>
            <a:endParaRPr lang="en-US" sz="1400" dirty="0"/>
          </a:p>
        </p:txBody>
      </p:sp>
      <p:sp>
        <p:nvSpPr>
          <p:cNvPr id="18" name="a3u-ms2"/>
          <p:cNvSpPr/>
          <p:nvPr/>
        </p:nvSpPr>
        <p:spPr>
          <a:xfrm>
            <a:off x="6217920" y="1554480"/>
            <a:ext cx="2587752" cy="2880360"/>
          </a:xfrm>
          <a:prstGeom prst="roundRect">
            <a:avLst>
              <a:gd name="adj" fmla="val 4240"/>
            </a:avLst>
          </a:prstGeom>
          <a:solidFill>
            <a:schemeClr val="accent2">
              <a:alpha val="9000"/>
            </a:schemeClr>
          </a:solidFill>
          <a:ln/>
        </p:spPr>
      </p:sp>
      <p:sp>
        <p:nvSpPr>
          <p:cNvPr id="19" name="a3u-ms2c"/>
          <p:cNvSpPr/>
          <p:nvPr/>
        </p:nvSpPr>
        <p:spPr>
          <a:xfrm>
            <a:off x="6446520" y="1783080"/>
            <a:ext cx="548640" cy="548640"/>
          </a:xfrm>
          <a:prstGeom prst="ellipse">
            <a:avLst/>
          </a:prstGeom>
          <a:solidFill>
            <a:schemeClr val="accent2"/>
          </a:solidFill>
          <a:ln/>
        </p:spPr>
      </p:sp>
      <p:pic>
        <p:nvPicPr>
          <p:cNvPr id="20" name="a3u-ms2ci" descr="preencoded.png">    </p:cNvPr>
          <p:cNvPicPr>
            <a:picLocks noChangeAspect="1"/>
          </p:cNvPicPr>
          <p:nvPr/>
        </p:nvPicPr>
        <p:blipFill>
          <a:blip r:embed="rId3"/>
          <a:stretch>
            <a:fillRect/>
          </a:stretch>
        </p:blipFill>
        <p:spPr>
          <a:xfrm>
            <a:off x="6583680" y="1920240"/>
            <a:ext cx="274320" cy="274320"/>
          </a:xfrm>
          <a:prstGeom prst="rect">
            <a:avLst/>
          </a:prstGeom>
        </p:spPr>
      </p:pic>
      <p:sp>
        <p:nvSpPr>
          <p:cNvPr id="21" name="a3u-ms2s"/>
          <p:cNvSpPr/>
          <p:nvPr/>
        </p:nvSpPr>
        <p:spPr>
          <a:xfrm>
            <a:off x="7799832" y="1920240"/>
            <a:ext cx="777240" cy="274320"/>
          </a:xfrm>
          <a:prstGeom prst="roundRect">
            <a:avLst>
              <a:gd name="adj" fmla="val 50000"/>
            </a:avLst>
          </a:prstGeom>
          <a:solidFill>
            <a:schemeClr val="accent3">
              <a:alpha val="22000"/>
            </a:schemeClr>
          </a:solidFill>
          <a:ln/>
        </p:spPr>
      </p:sp>
      <p:sp>
        <p:nvSpPr>
          <p:cNvPr id="22" name="a3u-ms2st"/>
          <p:cNvSpPr txBox="1"/>
          <p:nvPr/>
        </p:nvSpPr>
        <p:spPr>
          <a:xfrm>
            <a:off x="7799832" y="1920240"/>
            <a:ext cx="777240" cy="274320"/>
          </a:xfrm>
          <a:prstGeom prst="rect">
            <a:avLst/>
          </a:prstGeom>
          <a:noFill/>
          <a:ln/>
        </p:spPr>
        <p:txBody>
          <a:bodyPr wrap="square" lIns="0" tIns="0" rIns="0" bIns="0" rtlCol="0" anchor="ctr"/>
          <a:lstStyle/>
          <a:p>
            <a:pPr algn="ctr" indent="0" marL="0">
              <a:buNone/>
            </a:pPr>
            <a:r>
              <a:rPr lang="en-US" sz="1000" b="1" dirty="0">
                <a:solidFill>
                  <a:schemeClr val="tx1"/>
                </a:solidFill>
              </a:rPr>
              <a:t>PREVIEW</a:t>
            </a:r>
            <a:endParaRPr lang="en-US" sz="1000" dirty="0"/>
          </a:p>
        </p:txBody>
      </p:sp>
      <p:sp>
        <p:nvSpPr>
          <p:cNvPr id="23" name="a3u-ms2h"/>
          <p:cNvSpPr txBox="1"/>
          <p:nvPr/>
        </p:nvSpPr>
        <p:spPr>
          <a:xfrm>
            <a:off x="6446520" y="2468880"/>
            <a:ext cx="2130552" cy="41148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Pipeline migration</a:t>
            </a:r>
            <a:endParaRPr lang="en-US" sz="1700" dirty="0"/>
          </a:p>
        </p:txBody>
      </p:sp>
      <p:sp>
        <p:nvSpPr>
          <p:cNvPr id="24" name="a3u-ms2b"/>
          <p:cNvSpPr txBox="1"/>
          <p:nvPr/>
        </p:nvSpPr>
        <p:spPr>
          <a:xfrm>
            <a:off x="6446520" y="2926080"/>
            <a:ext cx="2130552" cy="1645920"/>
          </a:xfrm>
          <a:prstGeom prst="rect">
            <a:avLst/>
          </a:prstGeom>
          <a:noFill/>
          <a:ln/>
        </p:spPr>
        <p:txBody>
          <a:bodyPr wrap="square" lIns="0" tIns="0" rIns="0" bIns="0" rtlCol="0" anchor="t"/>
          <a:lstStyle/>
          <a:p>
            <a:pPr indent="0" marL="0">
              <a:buNone/>
            </a:pPr>
            <a:r>
              <a:rPr lang="en-US" sz="1400" dirty="0">
                <a:solidFill>
                  <a:schemeClr val="tx1"/>
                </a:solidFill>
              </a:rPr>
              <a:t>Assesses Synapse pipelines in Synapse Studio, maps linked services to connections and migrates supported pipelines.</a:t>
            </a:r>
            <a:endParaRPr lang="en-US" sz="1400" dirty="0"/>
          </a:p>
        </p:txBody>
      </p:sp>
      <p:sp>
        <p:nvSpPr>
          <p:cNvPr id="25" name="a4u-ms3"/>
          <p:cNvSpPr/>
          <p:nvPr/>
        </p:nvSpPr>
        <p:spPr>
          <a:xfrm>
            <a:off x="9052560" y="1554480"/>
            <a:ext cx="2587752" cy="2880360"/>
          </a:xfrm>
          <a:prstGeom prst="roundRect">
            <a:avLst>
              <a:gd name="adj" fmla="val 4240"/>
            </a:avLst>
          </a:prstGeom>
          <a:solidFill>
            <a:schemeClr val="accent2">
              <a:alpha val="9000"/>
            </a:schemeClr>
          </a:solidFill>
          <a:ln/>
        </p:spPr>
      </p:sp>
      <p:sp>
        <p:nvSpPr>
          <p:cNvPr id="26" name="a4u-ms3c"/>
          <p:cNvSpPr/>
          <p:nvPr/>
        </p:nvSpPr>
        <p:spPr>
          <a:xfrm>
            <a:off x="9281160" y="1783080"/>
            <a:ext cx="548640" cy="548640"/>
          </a:xfrm>
          <a:prstGeom prst="ellipse">
            <a:avLst/>
          </a:prstGeom>
          <a:solidFill>
            <a:schemeClr val="accent2"/>
          </a:solidFill>
          <a:ln/>
        </p:spPr>
      </p:sp>
      <p:pic>
        <p:nvPicPr>
          <p:cNvPr id="27" name="a4u-ms3ci" descr="preencoded.png">    </p:cNvPr>
          <p:cNvPicPr>
            <a:picLocks noChangeAspect="1"/>
          </p:cNvPicPr>
          <p:nvPr/>
        </p:nvPicPr>
        <p:blipFill>
          <a:blip r:embed="rId4"/>
          <a:stretch>
            <a:fillRect/>
          </a:stretch>
        </p:blipFill>
        <p:spPr>
          <a:xfrm>
            <a:off x="9418320" y="1920240"/>
            <a:ext cx="274320" cy="274320"/>
          </a:xfrm>
          <a:prstGeom prst="rect">
            <a:avLst/>
          </a:prstGeom>
        </p:spPr>
      </p:pic>
      <p:sp>
        <p:nvSpPr>
          <p:cNvPr id="28" name="a4u-ms3s"/>
          <p:cNvSpPr/>
          <p:nvPr/>
        </p:nvSpPr>
        <p:spPr>
          <a:xfrm>
            <a:off x="10634472" y="1920240"/>
            <a:ext cx="777240" cy="274320"/>
          </a:xfrm>
          <a:prstGeom prst="roundRect">
            <a:avLst>
              <a:gd name="adj" fmla="val 50000"/>
            </a:avLst>
          </a:prstGeom>
          <a:solidFill>
            <a:schemeClr val="accent3">
              <a:alpha val="22000"/>
            </a:schemeClr>
          </a:solidFill>
          <a:ln/>
        </p:spPr>
      </p:sp>
      <p:sp>
        <p:nvSpPr>
          <p:cNvPr id="29" name="a4u-ms3st"/>
          <p:cNvSpPr txBox="1"/>
          <p:nvPr/>
        </p:nvSpPr>
        <p:spPr>
          <a:xfrm>
            <a:off x="10634472" y="1920240"/>
            <a:ext cx="777240" cy="274320"/>
          </a:xfrm>
          <a:prstGeom prst="rect">
            <a:avLst/>
          </a:prstGeom>
          <a:noFill/>
          <a:ln/>
        </p:spPr>
        <p:txBody>
          <a:bodyPr wrap="square" lIns="0" tIns="0" rIns="0" bIns="0" rtlCol="0" anchor="ctr"/>
          <a:lstStyle/>
          <a:p>
            <a:pPr algn="ctr" indent="0" marL="0">
              <a:buNone/>
            </a:pPr>
            <a:r>
              <a:rPr lang="en-US" sz="1000" b="1" dirty="0">
                <a:solidFill>
                  <a:schemeClr val="tx1"/>
                </a:solidFill>
              </a:rPr>
              <a:t>PREVIEW</a:t>
            </a:r>
            <a:endParaRPr lang="en-US" sz="1000" dirty="0"/>
          </a:p>
        </p:txBody>
      </p:sp>
      <p:sp>
        <p:nvSpPr>
          <p:cNvPr id="30" name="a4u-ms3h"/>
          <p:cNvSpPr txBox="1"/>
          <p:nvPr/>
        </p:nvSpPr>
        <p:spPr>
          <a:xfrm>
            <a:off x="9281160" y="2468880"/>
            <a:ext cx="2130552" cy="41148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Agent skills</a:t>
            </a:r>
            <a:endParaRPr lang="en-US" sz="1700" dirty="0"/>
          </a:p>
        </p:txBody>
      </p:sp>
      <p:sp>
        <p:nvSpPr>
          <p:cNvPr id="31" name="a4u-ms3b"/>
          <p:cNvSpPr txBox="1"/>
          <p:nvPr/>
        </p:nvSpPr>
        <p:spPr>
          <a:xfrm>
            <a:off x="9281160" y="2926080"/>
            <a:ext cx="2130552" cy="1645920"/>
          </a:xfrm>
          <a:prstGeom prst="rect">
            <a:avLst/>
          </a:prstGeom>
          <a:noFill/>
          <a:ln/>
        </p:spPr>
        <p:txBody>
          <a:bodyPr wrap="square" lIns="0" tIns="0" rIns="0" bIns="0" rtlCol="0" anchor="t"/>
          <a:lstStyle/>
          <a:p>
            <a:pPr indent="0" marL="0">
              <a:buNone/>
            </a:pPr>
            <a:r>
              <a:rPr lang="en-US" sz="1400" dirty="0">
                <a:solidFill>
                  <a:schemeClr val="tx1"/>
                </a:solidFill>
              </a:rPr>
              <a:t>Open-source skills that let AI coding agents run Synapse Spark and pipeline migrations from the command line.</a:t>
            </a:r>
            <a:endParaRPr lang="en-US" sz="1400" dirty="0"/>
          </a:p>
        </p:txBody>
      </p:sp>
      <p:sp>
        <p:nvSpPr>
          <p:cNvPr id="32" name="a5f-flowl"/>
          <p:cNvSpPr txBox="1"/>
          <p:nvPr/>
        </p:nvSpPr>
        <p:spPr>
          <a:xfrm>
            <a:off x="548640" y="4681728"/>
            <a:ext cx="5486400" cy="274320"/>
          </a:xfrm>
          <a:prstGeom prst="rect">
            <a:avLst/>
          </a:prstGeom>
          <a:noFill/>
          <a:ln/>
        </p:spPr>
        <p:txBody>
          <a:bodyPr wrap="square" lIns="0" tIns="0" rIns="0" bIns="0" rtlCol="0" anchor="t"/>
          <a:lstStyle/>
          <a:p>
            <a:pPr indent="0" marL="0">
              <a:buNone/>
            </a:pPr>
            <a:r>
              <a:rPr lang="en-US" sz="1300" b="1" dirty="0">
                <a:solidFill>
                  <a:schemeClr val="accent6"/>
                </a:solidFill>
              </a:rPr>
              <a:t>The warehouse assistant, step by step</a:t>
            </a:r>
            <a:endParaRPr lang="en-US" sz="1300" dirty="0"/>
          </a:p>
        </p:txBody>
      </p:sp>
      <p:sp>
        <p:nvSpPr>
          <p:cNvPr id="33" name="a5w-flow0"/>
          <p:cNvSpPr/>
          <p:nvPr/>
        </p:nvSpPr>
        <p:spPr>
          <a:xfrm>
            <a:off x="548640" y="5047488"/>
            <a:ext cx="2807208" cy="685800"/>
          </a:xfrm>
          <a:prstGeom prst="chevron">
            <a:avLst/>
          </a:prstGeom>
          <a:solidFill>
            <a:schemeClr val="accent2">
              <a:alpha val="18000"/>
            </a:schemeClr>
          </a:solidFill>
          <a:ln/>
        </p:spPr>
      </p:sp>
      <p:sp>
        <p:nvSpPr>
          <p:cNvPr id="34" name="a5w-flow0t"/>
          <p:cNvSpPr txBox="1"/>
          <p:nvPr/>
        </p:nvSpPr>
        <p:spPr>
          <a:xfrm>
            <a:off x="841248" y="5047488"/>
            <a:ext cx="2286000" cy="685800"/>
          </a:xfrm>
          <a:prstGeom prst="rect">
            <a:avLst/>
          </a:prstGeom>
          <a:noFill/>
          <a:ln/>
        </p:spPr>
        <p:txBody>
          <a:bodyPr wrap="square" lIns="0" tIns="0" rIns="0" bIns="0" rtlCol="0" anchor="ctr"/>
          <a:lstStyle/>
          <a:p>
            <a:pPr algn="ctr" indent="0" marL="0">
              <a:buNone/>
            </a:pPr>
            <a:r>
              <a:rPr lang="en-US" sz="1400" b="1" dirty="0">
                <a:solidFill>
                  <a:schemeClr val="tx2"/>
                </a:solidFill>
              </a:rPr>
              <a:t>1  Migrate metadata</a:t>
            </a:r>
            <a:endParaRPr lang="en-US" sz="1400" dirty="0"/>
          </a:p>
        </p:txBody>
      </p:sp>
      <p:sp>
        <p:nvSpPr>
          <p:cNvPr id="35" name="a6w-flow1"/>
          <p:cNvSpPr/>
          <p:nvPr/>
        </p:nvSpPr>
        <p:spPr>
          <a:xfrm>
            <a:off x="3319272" y="5047488"/>
            <a:ext cx="2807208" cy="685800"/>
          </a:xfrm>
          <a:prstGeom prst="chevron">
            <a:avLst/>
          </a:prstGeom>
          <a:solidFill>
            <a:schemeClr val="accent2">
              <a:alpha val="18000"/>
            </a:schemeClr>
          </a:solidFill>
          <a:ln/>
        </p:spPr>
      </p:sp>
      <p:sp>
        <p:nvSpPr>
          <p:cNvPr id="36" name="a6w-flow1t"/>
          <p:cNvSpPr txBox="1"/>
          <p:nvPr/>
        </p:nvSpPr>
        <p:spPr>
          <a:xfrm>
            <a:off x="3611880" y="5047488"/>
            <a:ext cx="2286000" cy="685800"/>
          </a:xfrm>
          <a:prstGeom prst="rect">
            <a:avLst/>
          </a:prstGeom>
          <a:noFill/>
          <a:ln/>
        </p:spPr>
        <p:txBody>
          <a:bodyPr wrap="square" lIns="0" tIns="0" rIns="0" bIns="0" rtlCol="0" anchor="ctr"/>
          <a:lstStyle/>
          <a:p>
            <a:pPr algn="ctr" indent="0" marL="0">
              <a:buNone/>
            </a:pPr>
            <a:r>
              <a:rPr lang="en-US" sz="1400" b="1" dirty="0">
                <a:solidFill>
                  <a:schemeClr val="tx2"/>
                </a:solidFill>
              </a:rPr>
              <a:t>2  Fix problems (Copilot)</a:t>
            </a:r>
            <a:endParaRPr lang="en-US" sz="1400" dirty="0"/>
          </a:p>
        </p:txBody>
      </p:sp>
      <p:sp>
        <p:nvSpPr>
          <p:cNvPr id="37" name="a7w-flow2"/>
          <p:cNvSpPr/>
          <p:nvPr/>
        </p:nvSpPr>
        <p:spPr>
          <a:xfrm>
            <a:off x="6089904" y="5047488"/>
            <a:ext cx="2807208" cy="685800"/>
          </a:xfrm>
          <a:prstGeom prst="chevron">
            <a:avLst/>
          </a:prstGeom>
          <a:solidFill>
            <a:schemeClr val="accent2">
              <a:alpha val="18000"/>
            </a:schemeClr>
          </a:solidFill>
          <a:ln/>
        </p:spPr>
      </p:sp>
      <p:sp>
        <p:nvSpPr>
          <p:cNvPr id="38" name="a7w-flow2t"/>
          <p:cNvSpPr txBox="1"/>
          <p:nvPr/>
        </p:nvSpPr>
        <p:spPr>
          <a:xfrm>
            <a:off x="6382512" y="5047488"/>
            <a:ext cx="2286000" cy="685800"/>
          </a:xfrm>
          <a:prstGeom prst="rect">
            <a:avLst/>
          </a:prstGeom>
          <a:noFill/>
          <a:ln/>
        </p:spPr>
        <p:txBody>
          <a:bodyPr wrap="square" lIns="0" tIns="0" rIns="0" bIns="0" rtlCol="0" anchor="ctr"/>
          <a:lstStyle/>
          <a:p>
            <a:pPr algn="ctr" indent="0" marL="0">
              <a:buNone/>
            </a:pPr>
            <a:r>
              <a:rPr lang="en-US" sz="1400" b="1" dirty="0">
                <a:solidFill>
                  <a:schemeClr val="tx2"/>
                </a:solidFill>
              </a:rPr>
              <a:t>3  Copy data (Copy job)</a:t>
            </a:r>
            <a:endParaRPr lang="en-US" sz="1400" dirty="0"/>
          </a:p>
        </p:txBody>
      </p:sp>
      <p:sp>
        <p:nvSpPr>
          <p:cNvPr id="39" name="a8w-flow3"/>
          <p:cNvSpPr/>
          <p:nvPr/>
        </p:nvSpPr>
        <p:spPr>
          <a:xfrm>
            <a:off x="8860536" y="5047488"/>
            <a:ext cx="2807208" cy="685800"/>
          </a:xfrm>
          <a:prstGeom prst="chevron">
            <a:avLst/>
          </a:prstGeom>
          <a:solidFill>
            <a:schemeClr val="accent2">
              <a:alpha val="18000"/>
            </a:schemeClr>
          </a:solidFill>
          <a:ln/>
        </p:spPr>
      </p:sp>
      <p:sp>
        <p:nvSpPr>
          <p:cNvPr id="40" name="a8w-flow3t"/>
          <p:cNvSpPr txBox="1"/>
          <p:nvPr/>
        </p:nvSpPr>
        <p:spPr>
          <a:xfrm>
            <a:off x="9153144" y="5047488"/>
            <a:ext cx="2286000" cy="685800"/>
          </a:xfrm>
          <a:prstGeom prst="rect">
            <a:avLst/>
          </a:prstGeom>
          <a:noFill/>
          <a:ln/>
        </p:spPr>
        <p:txBody>
          <a:bodyPr wrap="square" lIns="0" tIns="0" rIns="0" bIns="0" rtlCol="0" anchor="ctr"/>
          <a:lstStyle/>
          <a:p>
            <a:pPr algn="ctr" indent="0" marL="0">
              <a:buNone/>
            </a:pPr>
            <a:r>
              <a:rPr lang="en-US" sz="1400" b="1" dirty="0">
                <a:solidFill>
                  <a:schemeClr val="tx2"/>
                </a:solidFill>
              </a:rPr>
              <a:t>4  Reroute connections</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fill="hold"/>
                                        <p:tgtEl>
                                          <p:spTgt spid="9"/>
                                        </p:tgtEl>
                                        <p:attrNameLst>
                                          <p:attrName>ppt_x</p:attrName>
                                        </p:attrNameLst>
                                      </p:cBhvr>
                                      <p:tavLst>
                                        <p:tav tm="0">
                                          <p:val>
                                            <p:strVal val="#ppt_x"/>
                                          </p:val>
                                        </p:tav>
                                        <p:tav tm="100000">
                                          <p:val>
                                            <p:strVal val="#ppt_x"/>
                                          </p:val>
                                        </p:tav>
                                      </p:tavLst>
                                    </p:anim>
                                    <p:anim calcmode="lin" valueType="num">
                                      <p:cBhvr>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fill="hold"/>
                                        <p:tgtEl>
                                          <p:spTgt spid="10"/>
                                        </p:tgtEl>
                                        <p:attrNameLst>
                                          <p:attrName>ppt_x</p:attrName>
                                        </p:attrNameLst>
                                      </p:cBhvr>
                                      <p:tavLst>
                                        <p:tav tm="0">
                                          <p:val>
                                            <p:strVal val="#ppt_x"/>
                                          </p:val>
                                        </p:tav>
                                        <p:tav tm="100000">
                                          <p:val>
                                            <p:strVal val="#ppt_x"/>
                                          </p:val>
                                        </p:tav>
                                      </p:tavLst>
                                    </p:anim>
                                    <p:anim calcmode="lin" valueType="num">
                                      <p:cBhvr>
                                        <p:cTn id="39" dur="550" fill="hold"/>
                                        <p:tgtEl>
                                          <p:spTgt spid="10"/>
                                        </p:tgtEl>
                                        <p:attrNameLst>
                                          <p:attrName>ppt_y</p:attrName>
                                        </p:attrNameLst>
                                      </p:cBhvr>
                                      <p:tavLst>
                                        <p:tav tm="0">
                                          <p:val>
                                            <p:strVal val="#ppt_y+.1"/>
                                          </p:val>
                                        </p:tav>
                                        <p:tav tm="100000">
                                          <p:val>
                                            <p:strVal val="#ppt_y"/>
                                          </p:val>
                                        </p:tav>
                                      </p:tavLst>
                                    </p:anim>
                                  </p:childTnLst>
                                </p:cTn>
                              </p:par>
                            </p:childTnLst>
                          </p:cTn>
                        </p:par>
                        <p:par>
                          <p:cTn id="40" fill="hold">
                            <p:stCondLst>
                              <p:cond delay="550"/>
                            </p:stCondLst>
                            <p:childTnLst>
                              <p:par>
                                <p:cTn id="41" presetID="42"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50"/>
                                        <p:tgtEl>
                                          <p:spTgt spid="14"/>
                                        </p:tgtEl>
                                      </p:cBhvr>
                                    </p:animEffect>
                                    <p:anim calcmode="lin" valueType="num">
                                      <p:cBhvr>
                                        <p:cTn id="59" dur="550" fill="hold"/>
                                        <p:tgtEl>
                                          <p:spTgt spid="14"/>
                                        </p:tgtEl>
                                        <p:attrNameLst>
                                          <p:attrName>ppt_x</p:attrName>
                                        </p:attrNameLst>
                                      </p:cBhvr>
                                      <p:tavLst>
                                        <p:tav tm="0">
                                          <p:val>
                                            <p:strVal val="#ppt_x"/>
                                          </p:val>
                                        </p:tav>
                                        <p:tav tm="100000">
                                          <p:val>
                                            <p:strVal val="#ppt_x"/>
                                          </p:val>
                                        </p:tav>
                                      </p:tavLst>
                                    </p:anim>
                                    <p:anim calcmode="lin" valueType="num">
                                      <p:cBhvr>
                                        <p:cTn id="60" dur="5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50"/>
                                        <p:tgtEl>
                                          <p:spTgt spid="15"/>
                                        </p:tgtEl>
                                      </p:cBhvr>
                                    </p:animEffect>
                                    <p:anim calcmode="lin" valueType="num">
                                      <p:cBhvr>
                                        <p:cTn id="64" dur="550" fill="hold"/>
                                        <p:tgtEl>
                                          <p:spTgt spid="15"/>
                                        </p:tgtEl>
                                        <p:attrNameLst>
                                          <p:attrName>ppt_x</p:attrName>
                                        </p:attrNameLst>
                                      </p:cBhvr>
                                      <p:tavLst>
                                        <p:tav tm="0">
                                          <p:val>
                                            <p:strVal val="#ppt_x"/>
                                          </p:val>
                                        </p:tav>
                                        <p:tav tm="100000">
                                          <p:val>
                                            <p:strVal val="#ppt_x"/>
                                          </p:val>
                                        </p:tav>
                                      </p:tavLst>
                                    </p:anim>
                                    <p:anim calcmode="lin" valueType="num">
                                      <p:cBhvr>
                                        <p:cTn id="65" dur="55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50"/>
                                        <p:tgtEl>
                                          <p:spTgt spid="16"/>
                                        </p:tgtEl>
                                      </p:cBhvr>
                                    </p:animEffect>
                                    <p:anim calcmode="lin" valueType="num">
                                      <p:cBhvr>
                                        <p:cTn id="69" dur="550" fill="hold"/>
                                        <p:tgtEl>
                                          <p:spTgt spid="16"/>
                                        </p:tgtEl>
                                        <p:attrNameLst>
                                          <p:attrName>ppt_x</p:attrName>
                                        </p:attrNameLst>
                                      </p:cBhvr>
                                      <p:tavLst>
                                        <p:tav tm="0">
                                          <p:val>
                                            <p:strVal val="#ppt_x"/>
                                          </p:val>
                                        </p:tav>
                                        <p:tav tm="100000">
                                          <p:val>
                                            <p:strVal val="#ppt_x"/>
                                          </p:val>
                                        </p:tav>
                                      </p:tavLst>
                                    </p:anim>
                                    <p:anim calcmode="lin" valueType="num">
                                      <p:cBhvr>
                                        <p:cTn id="70" dur="550" fill="hold"/>
                                        <p:tgtEl>
                                          <p:spTgt spid="1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50"/>
                                        <p:tgtEl>
                                          <p:spTgt spid="17"/>
                                        </p:tgtEl>
                                      </p:cBhvr>
                                    </p:animEffect>
                                    <p:anim calcmode="lin" valueType="num">
                                      <p:cBhvr>
                                        <p:cTn id="74" dur="550" fill="hold"/>
                                        <p:tgtEl>
                                          <p:spTgt spid="17"/>
                                        </p:tgtEl>
                                        <p:attrNameLst>
                                          <p:attrName>ppt_x</p:attrName>
                                        </p:attrNameLst>
                                      </p:cBhvr>
                                      <p:tavLst>
                                        <p:tav tm="0">
                                          <p:val>
                                            <p:strVal val="#ppt_x"/>
                                          </p:val>
                                        </p:tav>
                                        <p:tav tm="100000">
                                          <p:val>
                                            <p:strVal val="#ppt_x"/>
                                          </p:val>
                                        </p:tav>
                                      </p:tavLst>
                                    </p:anim>
                                    <p:anim calcmode="lin" valueType="num">
                                      <p:cBhvr>
                                        <p:cTn id="75" dur="550" fill="hold"/>
                                        <p:tgtEl>
                                          <p:spTgt spid="17"/>
                                        </p:tgtEl>
                                        <p:attrNameLst>
                                          <p:attrName>ppt_y</p:attrName>
                                        </p:attrNameLst>
                                      </p:cBhvr>
                                      <p:tavLst>
                                        <p:tav tm="0">
                                          <p:val>
                                            <p:strVal val="#ppt_y+.1"/>
                                          </p:val>
                                        </p:tav>
                                        <p:tav tm="100000">
                                          <p:val>
                                            <p:strVal val="#ppt_y"/>
                                          </p:val>
                                        </p:tav>
                                      </p:tavLst>
                                    </p:anim>
                                  </p:childTnLst>
                                </p:cTn>
                              </p:par>
                            </p:childTnLst>
                          </p:cTn>
                        </p:par>
                        <p:par>
                          <p:cTn id="76" fill="hold">
                            <p:stCondLst>
                              <p:cond delay="1100"/>
                            </p:stCondLst>
                            <p:childTnLst>
                              <p:par>
                                <p:cTn id="77" presetID="42" presetClass="entr" presetSubtype="0"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50"/>
                                        <p:tgtEl>
                                          <p:spTgt spid="19"/>
                                        </p:tgtEl>
                                      </p:cBhvr>
                                    </p:animEffect>
                                    <p:anim calcmode="lin" valueType="num">
                                      <p:cBhvr>
                                        <p:cTn id="85" dur="550" fill="hold"/>
                                        <p:tgtEl>
                                          <p:spTgt spid="19"/>
                                        </p:tgtEl>
                                        <p:attrNameLst>
                                          <p:attrName>ppt_x</p:attrName>
                                        </p:attrNameLst>
                                      </p:cBhvr>
                                      <p:tavLst>
                                        <p:tav tm="0">
                                          <p:val>
                                            <p:strVal val="#ppt_x"/>
                                          </p:val>
                                        </p:tav>
                                        <p:tav tm="100000">
                                          <p:val>
                                            <p:strVal val="#ppt_x"/>
                                          </p:val>
                                        </p:tav>
                                      </p:tavLst>
                                    </p:anim>
                                    <p:anim calcmode="lin" valueType="num">
                                      <p:cBhvr>
                                        <p:cTn id="86" dur="55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50"/>
                                        <p:tgtEl>
                                          <p:spTgt spid="20"/>
                                        </p:tgtEl>
                                      </p:cBhvr>
                                    </p:animEffect>
                                    <p:anim calcmode="lin" valueType="num">
                                      <p:cBhvr>
                                        <p:cTn id="90" dur="550" fill="hold"/>
                                        <p:tgtEl>
                                          <p:spTgt spid="20"/>
                                        </p:tgtEl>
                                        <p:attrNameLst>
                                          <p:attrName>ppt_x</p:attrName>
                                        </p:attrNameLst>
                                      </p:cBhvr>
                                      <p:tavLst>
                                        <p:tav tm="0">
                                          <p:val>
                                            <p:strVal val="#ppt_x"/>
                                          </p:val>
                                        </p:tav>
                                        <p:tav tm="100000">
                                          <p:val>
                                            <p:strVal val="#ppt_x"/>
                                          </p:val>
                                        </p:tav>
                                      </p:tavLst>
                                    </p:anim>
                                    <p:anim calcmode="lin" valueType="num">
                                      <p:cBhvr>
                                        <p:cTn id="91" dur="55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50"/>
                                        <p:tgtEl>
                                          <p:spTgt spid="21"/>
                                        </p:tgtEl>
                                      </p:cBhvr>
                                    </p:animEffect>
                                    <p:anim calcmode="lin" valueType="num">
                                      <p:cBhvr>
                                        <p:cTn id="95" dur="550" fill="hold"/>
                                        <p:tgtEl>
                                          <p:spTgt spid="21"/>
                                        </p:tgtEl>
                                        <p:attrNameLst>
                                          <p:attrName>ppt_x</p:attrName>
                                        </p:attrNameLst>
                                      </p:cBhvr>
                                      <p:tavLst>
                                        <p:tav tm="0">
                                          <p:val>
                                            <p:strVal val="#ppt_x"/>
                                          </p:val>
                                        </p:tav>
                                        <p:tav tm="100000">
                                          <p:val>
                                            <p:strVal val="#ppt_x"/>
                                          </p:val>
                                        </p:tav>
                                      </p:tavLst>
                                    </p:anim>
                                    <p:anim calcmode="lin" valueType="num">
                                      <p:cBhvr>
                                        <p:cTn id="96" dur="55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50"/>
                                        <p:tgtEl>
                                          <p:spTgt spid="22"/>
                                        </p:tgtEl>
                                      </p:cBhvr>
                                    </p:animEffect>
                                    <p:anim calcmode="lin" valueType="num">
                                      <p:cBhvr>
                                        <p:cTn id="100" dur="550" fill="hold"/>
                                        <p:tgtEl>
                                          <p:spTgt spid="22"/>
                                        </p:tgtEl>
                                        <p:attrNameLst>
                                          <p:attrName>ppt_x</p:attrName>
                                        </p:attrNameLst>
                                      </p:cBhvr>
                                      <p:tavLst>
                                        <p:tav tm="0">
                                          <p:val>
                                            <p:strVal val="#ppt_x"/>
                                          </p:val>
                                        </p:tav>
                                        <p:tav tm="100000">
                                          <p:val>
                                            <p:strVal val="#ppt_x"/>
                                          </p:val>
                                        </p:tav>
                                      </p:tavLst>
                                    </p:anim>
                                    <p:anim calcmode="lin" valueType="num">
                                      <p:cBhvr>
                                        <p:cTn id="101" dur="550" fill="hold"/>
                                        <p:tgtEl>
                                          <p:spTgt spid="2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50"/>
                                        <p:tgtEl>
                                          <p:spTgt spid="23"/>
                                        </p:tgtEl>
                                      </p:cBhvr>
                                    </p:animEffect>
                                    <p:anim calcmode="lin" valueType="num">
                                      <p:cBhvr>
                                        <p:cTn id="105" dur="550" fill="hold"/>
                                        <p:tgtEl>
                                          <p:spTgt spid="23"/>
                                        </p:tgtEl>
                                        <p:attrNameLst>
                                          <p:attrName>ppt_x</p:attrName>
                                        </p:attrNameLst>
                                      </p:cBhvr>
                                      <p:tavLst>
                                        <p:tav tm="0">
                                          <p:val>
                                            <p:strVal val="#ppt_x"/>
                                          </p:val>
                                        </p:tav>
                                        <p:tav tm="100000">
                                          <p:val>
                                            <p:strVal val="#ppt_x"/>
                                          </p:val>
                                        </p:tav>
                                      </p:tavLst>
                                    </p:anim>
                                    <p:anim calcmode="lin" valueType="num">
                                      <p:cBhvr>
                                        <p:cTn id="106" dur="550" fill="hold"/>
                                        <p:tgtEl>
                                          <p:spTgt spid="23"/>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50"/>
                                        <p:tgtEl>
                                          <p:spTgt spid="24"/>
                                        </p:tgtEl>
                                      </p:cBhvr>
                                    </p:animEffect>
                                    <p:anim calcmode="lin" valueType="num">
                                      <p:cBhvr>
                                        <p:cTn id="110" dur="550" fill="hold"/>
                                        <p:tgtEl>
                                          <p:spTgt spid="24"/>
                                        </p:tgtEl>
                                        <p:attrNameLst>
                                          <p:attrName>ppt_x</p:attrName>
                                        </p:attrNameLst>
                                      </p:cBhvr>
                                      <p:tavLst>
                                        <p:tav tm="0">
                                          <p:val>
                                            <p:strVal val="#ppt_x"/>
                                          </p:val>
                                        </p:tav>
                                        <p:tav tm="100000">
                                          <p:val>
                                            <p:strVal val="#ppt_x"/>
                                          </p:val>
                                        </p:tav>
                                      </p:tavLst>
                                    </p:anim>
                                    <p:anim calcmode="lin" valueType="num">
                                      <p:cBhvr>
                                        <p:cTn id="111" dur="550" fill="hold"/>
                                        <p:tgtEl>
                                          <p:spTgt spid="24"/>
                                        </p:tgtEl>
                                        <p:attrNameLst>
                                          <p:attrName>ppt_y</p:attrName>
                                        </p:attrNameLst>
                                      </p:cBhvr>
                                      <p:tavLst>
                                        <p:tav tm="0">
                                          <p:val>
                                            <p:strVal val="#ppt_y+.1"/>
                                          </p:val>
                                        </p:tav>
                                        <p:tav tm="100000">
                                          <p:val>
                                            <p:strVal val="#ppt_y"/>
                                          </p:val>
                                        </p:tav>
                                      </p:tavLst>
                                    </p:anim>
                                  </p:childTnLst>
                                </p:cTn>
                              </p:par>
                            </p:childTnLst>
                          </p:cTn>
                        </p:par>
                        <p:par>
                          <p:cTn id="112" fill="hold">
                            <p:stCondLst>
                              <p:cond delay="1650"/>
                            </p:stCondLst>
                            <p:childTnLst>
                              <p:par>
                                <p:cTn id="113" presetID="42" presetClass="entr" presetSubtype="0" fill="hold" grpId="0" nodeType="after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50"/>
                                        <p:tgtEl>
                                          <p:spTgt spid="25"/>
                                        </p:tgtEl>
                                      </p:cBhvr>
                                    </p:animEffect>
                                    <p:anim calcmode="lin" valueType="num">
                                      <p:cBhvr>
                                        <p:cTn id="116" dur="550" fill="hold"/>
                                        <p:tgtEl>
                                          <p:spTgt spid="25"/>
                                        </p:tgtEl>
                                        <p:attrNameLst>
                                          <p:attrName>ppt_x</p:attrName>
                                        </p:attrNameLst>
                                      </p:cBhvr>
                                      <p:tavLst>
                                        <p:tav tm="0">
                                          <p:val>
                                            <p:strVal val="#ppt_x"/>
                                          </p:val>
                                        </p:tav>
                                        <p:tav tm="100000">
                                          <p:val>
                                            <p:strVal val="#ppt_x"/>
                                          </p:val>
                                        </p:tav>
                                      </p:tavLst>
                                    </p:anim>
                                    <p:anim calcmode="lin" valueType="num">
                                      <p:cBhvr>
                                        <p:cTn id="117" dur="550" fill="hold"/>
                                        <p:tgtEl>
                                          <p:spTgt spid="25"/>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50"/>
                                        <p:tgtEl>
                                          <p:spTgt spid="26"/>
                                        </p:tgtEl>
                                      </p:cBhvr>
                                    </p:animEffect>
                                    <p:anim calcmode="lin" valueType="num">
                                      <p:cBhvr>
                                        <p:cTn id="121" dur="550" fill="hold"/>
                                        <p:tgtEl>
                                          <p:spTgt spid="26"/>
                                        </p:tgtEl>
                                        <p:attrNameLst>
                                          <p:attrName>ppt_x</p:attrName>
                                        </p:attrNameLst>
                                      </p:cBhvr>
                                      <p:tavLst>
                                        <p:tav tm="0">
                                          <p:val>
                                            <p:strVal val="#ppt_x"/>
                                          </p:val>
                                        </p:tav>
                                        <p:tav tm="100000">
                                          <p:val>
                                            <p:strVal val="#ppt_x"/>
                                          </p:val>
                                        </p:tav>
                                      </p:tavLst>
                                    </p:anim>
                                    <p:anim calcmode="lin" valueType="num">
                                      <p:cBhvr>
                                        <p:cTn id="122" dur="550" fill="hold"/>
                                        <p:tgtEl>
                                          <p:spTgt spid="26"/>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50"/>
                                        <p:tgtEl>
                                          <p:spTgt spid="27"/>
                                        </p:tgtEl>
                                      </p:cBhvr>
                                    </p:animEffect>
                                    <p:anim calcmode="lin" valueType="num">
                                      <p:cBhvr>
                                        <p:cTn id="126" dur="550" fill="hold"/>
                                        <p:tgtEl>
                                          <p:spTgt spid="27"/>
                                        </p:tgtEl>
                                        <p:attrNameLst>
                                          <p:attrName>ppt_x</p:attrName>
                                        </p:attrNameLst>
                                      </p:cBhvr>
                                      <p:tavLst>
                                        <p:tav tm="0">
                                          <p:val>
                                            <p:strVal val="#ppt_x"/>
                                          </p:val>
                                        </p:tav>
                                        <p:tav tm="100000">
                                          <p:val>
                                            <p:strVal val="#ppt_x"/>
                                          </p:val>
                                        </p:tav>
                                      </p:tavLst>
                                    </p:anim>
                                    <p:anim calcmode="lin" valueType="num">
                                      <p:cBhvr>
                                        <p:cTn id="127" dur="550" fill="hold"/>
                                        <p:tgtEl>
                                          <p:spTgt spid="27"/>
                                        </p:tgtEl>
                                        <p:attrNameLst>
                                          <p:attrName>ppt_y</p:attrName>
                                        </p:attrNameLst>
                                      </p:cBhvr>
                                      <p:tavLst>
                                        <p:tav tm="0">
                                          <p:val>
                                            <p:strVal val="#ppt_y+.1"/>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fade">
                                      <p:cBhvr>
                                        <p:cTn id="130" dur="550"/>
                                        <p:tgtEl>
                                          <p:spTgt spid="28"/>
                                        </p:tgtEl>
                                      </p:cBhvr>
                                    </p:animEffect>
                                    <p:anim calcmode="lin" valueType="num">
                                      <p:cBhvr>
                                        <p:cTn id="131" dur="550" fill="hold"/>
                                        <p:tgtEl>
                                          <p:spTgt spid="28"/>
                                        </p:tgtEl>
                                        <p:attrNameLst>
                                          <p:attrName>ppt_x</p:attrName>
                                        </p:attrNameLst>
                                      </p:cBhvr>
                                      <p:tavLst>
                                        <p:tav tm="0">
                                          <p:val>
                                            <p:strVal val="#ppt_x"/>
                                          </p:val>
                                        </p:tav>
                                        <p:tav tm="100000">
                                          <p:val>
                                            <p:strVal val="#ppt_x"/>
                                          </p:val>
                                        </p:tav>
                                      </p:tavLst>
                                    </p:anim>
                                    <p:anim calcmode="lin" valueType="num">
                                      <p:cBhvr>
                                        <p:cTn id="132" dur="550" fill="hold"/>
                                        <p:tgtEl>
                                          <p:spTgt spid="28"/>
                                        </p:tgtEl>
                                        <p:attrNameLst>
                                          <p:attrName>ppt_y</p:attrName>
                                        </p:attrNameLst>
                                      </p:cBhvr>
                                      <p:tavLst>
                                        <p:tav tm="0">
                                          <p:val>
                                            <p:strVal val="#ppt_y+.1"/>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29"/>
                                        </p:tgtEl>
                                        <p:attrNameLst>
                                          <p:attrName>style.visibility</p:attrName>
                                        </p:attrNameLst>
                                      </p:cBhvr>
                                      <p:to>
                                        <p:strVal val="visible"/>
                                      </p:to>
                                    </p:set>
                                    <p:animEffect transition="in" filter="fade">
                                      <p:cBhvr>
                                        <p:cTn id="135" dur="550"/>
                                        <p:tgtEl>
                                          <p:spTgt spid="29"/>
                                        </p:tgtEl>
                                      </p:cBhvr>
                                    </p:animEffect>
                                    <p:anim calcmode="lin" valueType="num">
                                      <p:cBhvr>
                                        <p:cTn id="136" dur="550" fill="hold"/>
                                        <p:tgtEl>
                                          <p:spTgt spid="29"/>
                                        </p:tgtEl>
                                        <p:attrNameLst>
                                          <p:attrName>ppt_x</p:attrName>
                                        </p:attrNameLst>
                                      </p:cBhvr>
                                      <p:tavLst>
                                        <p:tav tm="0">
                                          <p:val>
                                            <p:strVal val="#ppt_x"/>
                                          </p:val>
                                        </p:tav>
                                        <p:tav tm="100000">
                                          <p:val>
                                            <p:strVal val="#ppt_x"/>
                                          </p:val>
                                        </p:tav>
                                      </p:tavLst>
                                    </p:anim>
                                    <p:anim calcmode="lin" valueType="num">
                                      <p:cBhvr>
                                        <p:cTn id="137" dur="550" fill="hold"/>
                                        <p:tgtEl>
                                          <p:spTgt spid="29"/>
                                        </p:tgtEl>
                                        <p:attrNameLst>
                                          <p:attrName>ppt_y</p:attrName>
                                        </p:attrNameLst>
                                      </p:cBhvr>
                                      <p:tavLst>
                                        <p:tav tm="0">
                                          <p:val>
                                            <p:strVal val="#ppt_y+.1"/>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30"/>
                                        </p:tgtEl>
                                        <p:attrNameLst>
                                          <p:attrName>style.visibility</p:attrName>
                                        </p:attrNameLst>
                                      </p:cBhvr>
                                      <p:to>
                                        <p:strVal val="visible"/>
                                      </p:to>
                                    </p:set>
                                    <p:animEffect transition="in" filter="fade">
                                      <p:cBhvr>
                                        <p:cTn id="140" dur="550"/>
                                        <p:tgtEl>
                                          <p:spTgt spid="30"/>
                                        </p:tgtEl>
                                      </p:cBhvr>
                                    </p:animEffect>
                                    <p:anim calcmode="lin" valueType="num">
                                      <p:cBhvr>
                                        <p:cTn id="141" dur="550" fill="hold"/>
                                        <p:tgtEl>
                                          <p:spTgt spid="30"/>
                                        </p:tgtEl>
                                        <p:attrNameLst>
                                          <p:attrName>ppt_x</p:attrName>
                                        </p:attrNameLst>
                                      </p:cBhvr>
                                      <p:tavLst>
                                        <p:tav tm="0">
                                          <p:val>
                                            <p:strVal val="#ppt_x"/>
                                          </p:val>
                                        </p:tav>
                                        <p:tav tm="100000">
                                          <p:val>
                                            <p:strVal val="#ppt_x"/>
                                          </p:val>
                                        </p:tav>
                                      </p:tavLst>
                                    </p:anim>
                                    <p:anim calcmode="lin" valueType="num">
                                      <p:cBhvr>
                                        <p:cTn id="142" dur="550" fill="hold"/>
                                        <p:tgtEl>
                                          <p:spTgt spid="30"/>
                                        </p:tgtEl>
                                        <p:attrNameLst>
                                          <p:attrName>ppt_y</p:attrName>
                                        </p:attrNameLst>
                                      </p:cBhvr>
                                      <p:tavLst>
                                        <p:tav tm="0">
                                          <p:val>
                                            <p:strVal val="#ppt_y+.1"/>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550"/>
                                        <p:tgtEl>
                                          <p:spTgt spid="31"/>
                                        </p:tgtEl>
                                      </p:cBhvr>
                                    </p:animEffect>
                                    <p:anim calcmode="lin" valueType="num">
                                      <p:cBhvr>
                                        <p:cTn id="146" dur="550" fill="hold"/>
                                        <p:tgtEl>
                                          <p:spTgt spid="31"/>
                                        </p:tgtEl>
                                        <p:attrNameLst>
                                          <p:attrName>ppt_x</p:attrName>
                                        </p:attrNameLst>
                                      </p:cBhvr>
                                      <p:tavLst>
                                        <p:tav tm="0">
                                          <p:val>
                                            <p:strVal val="#ppt_x"/>
                                          </p:val>
                                        </p:tav>
                                        <p:tav tm="100000">
                                          <p:val>
                                            <p:strVal val="#ppt_x"/>
                                          </p:val>
                                        </p:tav>
                                      </p:tavLst>
                                    </p:anim>
                                    <p:anim calcmode="lin" valueType="num">
                                      <p:cBhvr>
                                        <p:cTn id="147" dur="550" fill="hold"/>
                                        <p:tgtEl>
                                          <p:spTgt spid="31"/>
                                        </p:tgtEl>
                                        <p:attrNameLst>
                                          <p:attrName>ppt_y</p:attrName>
                                        </p:attrNameLst>
                                      </p:cBhvr>
                                      <p:tavLst>
                                        <p:tav tm="0">
                                          <p:val>
                                            <p:strVal val="#ppt_y+.1"/>
                                          </p:val>
                                        </p:tav>
                                        <p:tav tm="100000">
                                          <p:val>
                                            <p:strVal val="#ppt_y"/>
                                          </p:val>
                                        </p:tav>
                                      </p:tavLst>
                                    </p:anim>
                                  </p:childTnLst>
                                </p:cTn>
                              </p:par>
                            </p:childTnLst>
                          </p:cTn>
                        </p:par>
                        <p:par>
                          <p:cTn id="148" fill="hold">
                            <p:stCondLst>
                              <p:cond delay="2200"/>
                            </p:stCondLst>
                            <p:childTnLst>
                              <p:par>
                                <p:cTn id="149" presetID="10" presetClass="entr" presetSubtype="0" fill="hold" grpId="0" nodeType="afterEffect">
                                  <p:stCondLst>
                                    <p:cond delay="0"/>
                                  </p:stCondLst>
                                  <p:childTnLst>
                                    <p:set>
                                      <p:cBhvr>
                                        <p:cTn id="150" dur="1" fill="hold">
                                          <p:stCondLst>
                                            <p:cond delay="0"/>
                                          </p:stCondLst>
                                        </p:cTn>
                                        <p:tgtEl>
                                          <p:spTgt spid="32"/>
                                        </p:tgtEl>
                                        <p:attrNameLst>
                                          <p:attrName>style.visibility</p:attrName>
                                        </p:attrNameLst>
                                      </p:cBhvr>
                                      <p:to>
                                        <p:strVal val="visible"/>
                                      </p:to>
                                    </p:set>
                                    <p:animEffect transition="in" filter="fade">
                                      <p:cBhvr>
                                        <p:cTn id="151" dur="450"/>
                                        <p:tgtEl>
                                          <p:spTgt spid="32"/>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33"/>
                                        </p:tgtEl>
                                        <p:attrNameLst>
                                          <p:attrName>style.visibility</p:attrName>
                                        </p:attrNameLst>
                                      </p:cBhvr>
                                      <p:to>
                                        <p:strVal val="visible"/>
                                      </p:to>
                                    </p:set>
                                    <p:animEffect transition="in" filter="wipe(left)">
                                      <p:cBhvr>
                                        <p:cTn id="154" dur="500"/>
                                        <p:tgtEl>
                                          <p:spTgt spid="33"/>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wipe(left)">
                                      <p:cBhvr>
                                        <p:cTn id="157" dur="500"/>
                                        <p:tgtEl>
                                          <p:spTgt spid="34"/>
                                        </p:tgtEl>
                                      </p:cBhvr>
                                    </p:animEffect>
                                  </p:childTnLst>
                                </p:cTn>
                              </p:par>
                            </p:childTnLst>
                          </p:cTn>
                        </p:par>
                        <p:par>
                          <p:cTn id="158" fill="hold">
                            <p:stCondLst>
                              <p:cond delay="2700"/>
                            </p:stCondLst>
                            <p:childTnLst>
                              <p:par>
                                <p:cTn id="159" presetID="22" presetClass="entr" presetSubtype="8" fill="hold" grpId="0" nodeType="afterEffect">
                                  <p:stCondLst>
                                    <p:cond delay="0"/>
                                  </p:stCondLst>
                                  <p:childTnLst>
                                    <p:set>
                                      <p:cBhvr>
                                        <p:cTn id="160" dur="1" fill="hold">
                                          <p:stCondLst>
                                            <p:cond delay="0"/>
                                          </p:stCondLst>
                                        </p:cTn>
                                        <p:tgtEl>
                                          <p:spTgt spid="35"/>
                                        </p:tgtEl>
                                        <p:attrNameLst>
                                          <p:attrName>style.visibility</p:attrName>
                                        </p:attrNameLst>
                                      </p:cBhvr>
                                      <p:to>
                                        <p:strVal val="visible"/>
                                      </p:to>
                                    </p:set>
                                    <p:animEffect transition="in" filter="wipe(left)">
                                      <p:cBhvr>
                                        <p:cTn id="161" dur="500"/>
                                        <p:tgtEl>
                                          <p:spTgt spid="35"/>
                                        </p:tgtEl>
                                      </p:cBhvr>
                                    </p:animEffect>
                                  </p:childTnLst>
                                </p:cTn>
                              </p:par>
                              <p:par>
                                <p:cTn id="162" presetID="22" presetClass="entr" presetSubtype="8" fill="hold" grpId="0" nodeType="withEffect">
                                  <p:stCondLst>
                                    <p:cond delay="0"/>
                                  </p:stCondLst>
                                  <p:childTnLst>
                                    <p:set>
                                      <p:cBhvr>
                                        <p:cTn id="163" dur="1" fill="hold">
                                          <p:stCondLst>
                                            <p:cond delay="0"/>
                                          </p:stCondLst>
                                        </p:cTn>
                                        <p:tgtEl>
                                          <p:spTgt spid="36"/>
                                        </p:tgtEl>
                                        <p:attrNameLst>
                                          <p:attrName>style.visibility</p:attrName>
                                        </p:attrNameLst>
                                      </p:cBhvr>
                                      <p:to>
                                        <p:strVal val="visible"/>
                                      </p:to>
                                    </p:set>
                                    <p:animEffect transition="in" filter="wipe(left)">
                                      <p:cBhvr>
                                        <p:cTn id="164" dur="500"/>
                                        <p:tgtEl>
                                          <p:spTgt spid="36"/>
                                        </p:tgtEl>
                                      </p:cBhvr>
                                    </p:animEffect>
                                  </p:childTnLst>
                                </p:cTn>
                              </p:par>
                            </p:childTnLst>
                          </p:cTn>
                        </p:par>
                        <p:par>
                          <p:cTn id="165" fill="hold">
                            <p:stCondLst>
                              <p:cond delay="3200"/>
                            </p:stCondLst>
                            <p:childTnLst>
                              <p:par>
                                <p:cTn id="166" presetID="22" presetClass="entr" presetSubtype="8" fill="hold" grpId="0" nodeType="afterEffect">
                                  <p:stCondLst>
                                    <p:cond delay="0"/>
                                  </p:stCondLst>
                                  <p:childTnLst>
                                    <p:set>
                                      <p:cBhvr>
                                        <p:cTn id="167" dur="1" fill="hold">
                                          <p:stCondLst>
                                            <p:cond delay="0"/>
                                          </p:stCondLst>
                                        </p:cTn>
                                        <p:tgtEl>
                                          <p:spTgt spid="37"/>
                                        </p:tgtEl>
                                        <p:attrNameLst>
                                          <p:attrName>style.visibility</p:attrName>
                                        </p:attrNameLst>
                                      </p:cBhvr>
                                      <p:to>
                                        <p:strVal val="visible"/>
                                      </p:to>
                                    </p:set>
                                    <p:animEffect transition="in" filter="wipe(left)">
                                      <p:cBhvr>
                                        <p:cTn id="168" dur="500"/>
                                        <p:tgtEl>
                                          <p:spTgt spid="37"/>
                                        </p:tgtEl>
                                      </p:cBhvr>
                                    </p:animEffect>
                                  </p:childTnLst>
                                </p:cTn>
                              </p:par>
                              <p:par>
                                <p:cTn id="169" presetID="22" presetClass="entr" presetSubtype="8" fill="hold" grpId="0" nodeType="with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wipe(left)">
                                      <p:cBhvr>
                                        <p:cTn id="171" dur="500"/>
                                        <p:tgtEl>
                                          <p:spTgt spid="38"/>
                                        </p:tgtEl>
                                      </p:cBhvr>
                                    </p:animEffect>
                                  </p:childTnLst>
                                </p:cTn>
                              </p:par>
                            </p:childTnLst>
                          </p:cTn>
                        </p:par>
                        <p:par>
                          <p:cTn id="172" fill="hold">
                            <p:stCondLst>
                              <p:cond delay="3700"/>
                            </p:stCondLst>
                            <p:childTnLst>
                              <p:par>
                                <p:cTn id="173" presetID="22" presetClass="entr" presetSubtype="8" fill="hold" grpId="0" nodeType="afterEffect">
                                  <p:stCondLst>
                                    <p:cond delay="0"/>
                                  </p:stCondLst>
                                  <p:childTnLst>
                                    <p:set>
                                      <p:cBhvr>
                                        <p:cTn id="174" dur="1" fill="hold">
                                          <p:stCondLst>
                                            <p:cond delay="0"/>
                                          </p:stCondLst>
                                        </p:cTn>
                                        <p:tgtEl>
                                          <p:spTgt spid="39"/>
                                        </p:tgtEl>
                                        <p:attrNameLst>
                                          <p:attrName>style.visibility</p:attrName>
                                        </p:attrNameLst>
                                      </p:cBhvr>
                                      <p:to>
                                        <p:strVal val="visible"/>
                                      </p:to>
                                    </p:set>
                                    <p:animEffect transition="in" filter="wipe(left)">
                                      <p:cBhvr>
                                        <p:cTn id="175" dur="500"/>
                                        <p:tgtEl>
                                          <p:spTgt spid="39"/>
                                        </p:tgtEl>
                                      </p:cBhvr>
                                    </p:animEffect>
                                  </p:childTnLst>
                                </p:cTn>
                              </p:par>
                              <p:par>
                                <p:cTn id="176" presetID="22" presetClass="entr" presetSubtype="8" fill="hold" grpId="0" nodeType="withEffect">
                                  <p:stCondLst>
                                    <p:cond delay="0"/>
                                  </p:stCondLst>
                                  <p:childTnLst>
                                    <p:set>
                                      <p:cBhvr>
                                        <p:cTn id="177" dur="1" fill="hold">
                                          <p:stCondLst>
                                            <p:cond delay="0"/>
                                          </p:stCondLst>
                                        </p:cTn>
                                        <p:tgtEl>
                                          <p:spTgt spid="40"/>
                                        </p:tgtEl>
                                        <p:attrNameLst>
                                          <p:attrName>style.visibility</p:attrName>
                                        </p:attrNameLst>
                                      </p:cBhvr>
                                      <p:to>
                                        <p:strVal val="visible"/>
                                      </p:to>
                                    </p:set>
                                    <p:animEffect transition="in" filter="wipe(left)">
                                      <p:cBhvr>
                                        <p:cTn id="178"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TWO TOOLS AT A GLANCE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Our accelerator: one journey, six steps</a:t>
            </a:r>
            <a:endParaRPr lang="en-US" sz="3200" dirty="0"/>
          </a:p>
        </p:txBody>
      </p:sp>
      <p:sp>
        <p:nvSpPr>
          <p:cNvPr id="4" name="a1z-st0"/>
          <p:cNvSpPr/>
          <p:nvPr/>
        </p:nvSpPr>
        <p:spPr>
          <a:xfrm>
            <a:off x="932688" y="1691640"/>
            <a:ext cx="969264" cy="969264"/>
          </a:xfrm>
          <a:prstGeom prst="ellipse">
            <a:avLst/>
          </a:prstGeom>
          <a:solidFill>
            <a:schemeClr val="accent1"/>
          </a:solidFill>
          <a:ln/>
        </p:spPr>
      </p:sp>
      <p:pic>
        <p:nvPicPr>
          <p:cNvPr id="5" name="a1z-st0i" descr="preencoded.png">    </p:cNvPr>
          <p:cNvPicPr>
            <a:picLocks noChangeAspect="1"/>
          </p:cNvPicPr>
          <p:nvPr/>
        </p:nvPicPr>
        <p:blipFill>
          <a:blip r:embed="rId1"/>
          <a:stretch>
            <a:fillRect/>
          </a:stretch>
        </p:blipFill>
        <p:spPr>
          <a:xfrm>
            <a:off x="1175004" y="1933956"/>
            <a:ext cx="484632" cy="484632"/>
          </a:xfrm>
          <a:prstGeom prst="rect">
            <a:avLst/>
          </a:prstGeom>
        </p:spPr>
      </p:pic>
      <p:sp>
        <p:nvSpPr>
          <p:cNvPr id="6" name="a1z-st0h"/>
          <p:cNvSpPr txBox="1"/>
          <p:nvPr/>
        </p:nvSpPr>
        <p:spPr>
          <a:xfrm>
            <a:off x="548640"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1  Discover</a:t>
            </a:r>
            <a:endParaRPr lang="en-US" sz="1700" dirty="0"/>
          </a:p>
        </p:txBody>
      </p:sp>
      <p:sp>
        <p:nvSpPr>
          <p:cNvPr id="7" name="a1z-st0b"/>
          <p:cNvSpPr txBox="1"/>
          <p:nvPr/>
        </p:nvSpPr>
        <p:spPr>
          <a:xfrm>
            <a:off x="548640"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Git, live workspace and SQL pool</a:t>
            </a:r>
            <a:endParaRPr lang="en-US" sz="1400" dirty="0"/>
          </a:p>
        </p:txBody>
      </p:sp>
      <p:sp>
        <p:nvSpPr>
          <p:cNvPr id="8" name="a2w-ar1"/>
          <p:cNvSpPr/>
          <p:nvPr/>
        </p:nvSpPr>
        <p:spPr>
          <a:xfrm>
            <a:off x="1984248" y="2176272"/>
            <a:ext cx="737006" cy="91"/>
          </a:xfrm>
          <a:prstGeom prst="line">
            <a:avLst/>
          </a:prstGeom>
          <a:noFill/>
          <a:ln w="22225">
            <a:solidFill>
              <a:srgbClr val="5D6B82"/>
            </a:solidFill>
            <a:prstDash val="solid"/>
            <a:tailEnd type="triangle"/>
          </a:ln>
        </p:spPr>
      </p:sp>
      <p:sp>
        <p:nvSpPr>
          <p:cNvPr id="9" name="a2z-st1"/>
          <p:cNvSpPr/>
          <p:nvPr/>
        </p:nvSpPr>
        <p:spPr>
          <a:xfrm>
            <a:off x="2803550" y="1691640"/>
            <a:ext cx="969264" cy="969264"/>
          </a:xfrm>
          <a:prstGeom prst="ellipse">
            <a:avLst/>
          </a:prstGeom>
          <a:solidFill>
            <a:schemeClr val="accent1"/>
          </a:solidFill>
          <a:ln/>
        </p:spPr>
      </p:sp>
      <p:pic>
        <p:nvPicPr>
          <p:cNvPr id="10" name="a2z-st1i" descr="preencoded.png">    </p:cNvPr>
          <p:cNvPicPr>
            <a:picLocks noChangeAspect="1"/>
          </p:cNvPicPr>
          <p:nvPr/>
        </p:nvPicPr>
        <p:blipFill>
          <a:blip r:embed="rId2"/>
          <a:stretch>
            <a:fillRect/>
          </a:stretch>
        </p:blipFill>
        <p:spPr>
          <a:xfrm>
            <a:off x="3045866" y="1933956"/>
            <a:ext cx="484632" cy="484632"/>
          </a:xfrm>
          <a:prstGeom prst="rect">
            <a:avLst/>
          </a:prstGeom>
        </p:spPr>
      </p:pic>
      <p:sp>
        <p:nvSpPr>
          <p:cNvPr id="11" name="a2z-st1h"/>
          <p:cNvSpPr txBox="1"/>
          <p:nvPr/>
        </p:nvSpPr>
        <p:spPr>
          <a:xfrm>
            <a:off x="2419502"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2  Assess</a:t>
            </a:r>
            <a:endParaRPr lang="en-US" sz="1700" dirty="0"/>
          </a:p>
        </p:txBody>
      </p:sp>
      <p:sp>
        <p:nvSpPr>
          <p:cNvPr id="12" name="a2z-st1b"/>
          <p:cNvSpPr txBox="1"/>
          <p:nvPr/>
        </p:nvSpPr>
        <p:spPr>
          <a:xfrm>
            <a:off x="2419502"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Five classes, from Direct to Manual</a:t>
            </a:r>
            <a:endParaRPr lang="en-US" sz="1400" dirty="0"/>
          </a:p>
        </p:txBody>
      </p:sp>
      <p:sp>
        <p:nvSpPr>
          <p:cNvPr id="13" name="a3w-ar2"/>
          <p:cNvSpPr/>
          <p:nvPr/>
        </p:nvSpPr>
        <p:spPr>
          <a:xfrm>
            <a:off x="3855110" y="2176272"/>
            <a:ext cx="737006" cy="91"/>
          </a:xfrm>
          <a:prstGeom prst="line">
            <a:avLst/>
          </a:prstGeom>
          <a:noFill/>
          <a:ln w="22225">
            <a:solidFill>
              <a:srgbClr val="5D6B82"/>
            </a:solidFill>
            <a:prstDash val="solid"/>
            <a:tailEnd type="triangle"/>
          </a:ln>
        </p:spPr>
      </p:sp>
      <p:sp>
        <p:nvSpPr>
          <p:cNvPr id="14" name="a3z-st2"/>
          <p:cNvSpPr/>
          <p:nvPr/>
        </p:nvSpPr>
        <p:spPr>
          <a:xfrm>
            <a:off x="4674413" y="1691640"/>
            <a:ext cx="969264" cy="969264"/>
          </a:xfrm>
          <a:prstGeom prst="ellipse">
            <a:avLst/>
          </a:prstGeom>
          <a:solidFill>
            <a:schemeClr val="accent1"/>
          </a:solidFill>
          <a:ln/>
        </p:spPr>
      </p:sp>
      <p:pic>
        <p:nvPicPr>
          <p:cNvPr id="15" name="a3z-st2i" descr="preencoded.png">    </p:cNvPr>
          <p:cNvPicPr>
            <a:picLocks noChangeAspect="1"/>
          </p:cNvPicPr>
          <p:nvPr/>
        </p:nvPicPr>
        <p:blipFill>
          <a:blip r:embed="rId3"/>
          <a:stretch>
            <a:fillRect/>
          </a:stretch>
        </p:blipFill>
        <p:spPr>
          <a:xfrm>
            <a:off x="4916729" y="1933956"/>
            <a:ext cx="484632" cy="484632"/>
          </a:xfrm>
          <a:prstGeom prst="rect">
            <a:avLst/>
          </a:prstGeom>
        </p:spPr>
      </p:pic>
      <p:sp>
        <p:nvSpPr>
          <p:cNvPr id="16" name="a3z-st2h"/>
          <p:cNvSpPr txBox="1"/>
          <p:nvPr/>
        </p:nvSpPr>
        <p:spPr>
          <a:xfrm>
            <a:off x="4290365"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3  Waves</a:t>
            </a:r>
            <a:endParaRPr lang="en-US" sz="1700" dirty="0"/>
          </a:p>
        </p:txBody>
      </p:sp>
      <p:sp>
        <p:nvSpPr>
          <p:cNvPr id="17" name="a3z-st2b"/>
          <p:cNvSpPr txBox="1"/>
          <p:nvPr/>
        </p:nvSpPr>
        <p:spPr>
          <a:xfrm>
            <a:off x="4290365"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Dependency order: nothing too early</a:t>
            </a:r>
            <a:endParaRPr lang="en-US" sz="1400" dirty="0"/>
          </a:p>
        </p:txBody>
      </p:sp>
      <p:sp>
        <p:nvSpPr>
          <p:cNvPr id="18" name="a4w-ar3"/>
          <p:cNvSpPr/>
          <p:nvPr/>
        </p:nvSpPr>
        <p:spPr>
          <a:xfrm>
            <a:off x="5725973" y="2176272"/>
            <a:ext cx="737006" cy="91"/>
          </a:xfrm>
          <a:prstGeom prst="line">
            <a:avLst/>
          </a:prstGeom>
          <a:noFill/>
          <a:ln w="22225">
            <a:solidFill>
              <a:srgbClr val="5D6B82"/>
            </a:solidFill>
            <a:prstDash val="solid"/>
            <a:tailEnd type="triangle"/>
          </a:ln>
        </p:spPr>
      </p:sp>
      <p:sp>
        <p:nvSpPr>
          <p:cNvPr id="19" name="a4z-st3"/>
          <p:cNvSpPr/>
          <p:nvPr/>
        </p:nvSpPr>
        <p:spPr>
          <a:xfrm>
            <a:off x="6545275" y="1691640"/>
            <a:ext cx="969264" cy="969264"/>
          </a:xfrm>
          <a:prstGeom prst="ellipse">
            <a:avLst/>
          </a:prstGeom>
          <a:solidFill>
            <a:schemeClr val="accent1"/>
          </a:solidFill>
          <a:ln/>
        </p:spPr>
      </p:sp>
      <p:pic>
        <p:nvPicPr>
          <p:cNvPr id="20" name="a4z-st3i" descr="preencoded.png">    </p:cNvPr>
          <p:cNvPicPr>
            <a:picLocks noChangeAspect="1"/>
          </p:cNvPicPr>
          <p:nvPr/>
        </p:nvPicPr>
        <p:blipFill>
          <a:blip r:embed="rId4"/>
          <a:stretch>
            <a:fillRect/>
          </a:stretch>
        </p:blipFill>
        <p:spPr>
          <a:xfrm>
            <a:off x="6787591" y="1933956"/>
            <a:ext cx="484632" cy="484632"/>
          </a:xfrm>
          <a:prstGeom prst="rect">
            <a:avLst/>
          </a:prstGeom>
        </p:spPr>
      </p:pic>
      <p:sp>
        <p:nvSpPr>
          <p:cNvPr id="21" name="a4z-st3h"/>
          <p:cNvSpPr txBox="1"/>
          <p:nvPr/>
        </p:nvSpPr>
        <p:spPr>
          <a:xfrm>
            <a:off x="6161227"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4  Plan</a:t>
            </a:r>
            <a:endParaRPr lang="en-US" sz="1700" dirty="0"/>
          </a:p>
        </p:txBody>
      </p:sp>
      <p:sp>
        <p:nvSpPr>
          <p:cNvPr id="22" name="a4z-st3b"/>
          <p:cNvSpPr txBox="1"/>
          <p:nvPr/>
        </p:nvSpPr>
        <p:spPr>
          <a:xfrm>
            <a:off x="6161227"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Risks scored before any write</a:t>
            </a:r>
            <a:endParaRPr lang="en-US" sz="1400" dirty="0"/>
          </a:p>
        </p:txBody>
      </p:sp>
      <p:sp>
        <p:nvSpPr>
          <p:cNvPr id="23" name="a5w-ar4"/>
          <p:cNvSpPr/>
          <p:nvPr/>
        </p:nvSpPr>
        <p:spPr>
          <a:xfrm>
            <a:off x="7596835" y="2176272"/>
            <a:ext cx="737006" cy="91"/>
          </a:xfrm>
          <a:prstGeom prst="line">
            <a:avLst/>
          </a:prstGeom>
          <a:noFill/>
          <a:ln w="22225">
            <a:solidFill>
              <a:srgbClr val="5D6B82"/>
            </a:solidFill>
            <a:prstDash val="solid"/>
            <a:tailEnd type="triangle"/>
          </a:ln>
        </p:spPr>
      </p:sp>
      <p:sp>
        <p:nvSpPr>
          <p:cNvPr id="24" name="a5z-st4"/>
          <p:cNvSpPr/>
          <p:nvPr/>
        </p:nvSpPr>
        <p:spPr>
          <a:xfrm>
            <a:off x="8416138" y="1691640"/>
            <a:ext cx="969264" cy="969264"/>
          </a:xfrm>
          <a:prstGeom prst="ellipse">
            <a:avLst/>
          </a:prstGeom>
          <a:solidFill>
            <a:schemeClr val="accent1"/>
          </a:solidFill>
          <a:ln/>
        </p:spPr>
      </p:sp>
      <p:pic>
        <p:nvPicPr>
          <p:cNvPr id="25" name="a5z-st4i" descr="preencoded.png">    </p:cNvPr>
          <p:cNvPicPr>
            <a:picLocks noChangeAspect="1"/>
          </p:cNvPicPr>
          <p:nvPr/>
        </p:nvPicPr>
        <p:blipFill>
          <a:blip r:embed="rId5"/>
          <a:stretch>
            <a:fillRect/>
          </a:stretch>
        </p:blipFill>
        <p:spPr>
          <a:xfrm>
            <a:off x="8658454" y="1933956"/>
            <a:ext cx="484632" cy="484632"/>
          </a:xfrm>
          <a:prstGeom prst="rect">
            <a:avLst/>
          </a:prstGeom>
        </p:spPr>
      </p:pic>
      <p:sp>
        <p:nvSpPr>
          <p:cNvPr id="26" name="a5z-st4h"/>
          <p:cNvSpPr txBox="1"/>
          <p:nvPr/>
        </p:nvSpPr>
        <p:spPr>
          <a:xfrm>
            <a:off x="8032090"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5  Migrate</a:t>
            </a:r>
            <a:endParaRPr lang="en-US" sz="1700" dirty="0"/>
          </a:p>
        </p:txBody>
      </p:sp>
      <p:sp>
        <p:nvSpPr>
          <p:cNvPr id="27" name="a5z-st4b"/>
          <p:cNvSpPr txBox="1"/>
          <p:nvPr/>
        </p:nvSpPr>
        <p:spPr>
          <a:xfrm>
            <a:off x="8032090"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Created in Fabric, wave by wave</a:t>
            </a:r>
            <a:endParaRPr lang="en-US" sz="1400" dirty="0"/>
          </a:p>
        </p:txBody>
      </p:sp>
      <p:sp>
        <p:nvSpPr>
          <p:cNvPr id="28" name="a6w-ar5"/>
          <p:cNvSpPr/>
          <p:nvPr/>
        </p:nvSpPr>
        <p:spPr>
          <a:xfrm>
            <a:off x="9467698" y="2176272"/>
            <a:ext cx="737006" cy="91"/>
          </a:xfrm>
          <a:prstGeom prst="line">
            <a:avLst/>
          </a:prstGeom>
          <a:noFill/>
          <a:ln w="22225">
            <a:solidFill>
              <a:srgbClr val="5D6B82"/>
            </a:solidFill>
            <a:prstDash val="solid"/>
            <a:tailEnd type="triangle"/>
          </a:ln>
        </p:spPr>
      </p:sp>
      <p:sp>
        <p:nvSpPr>
          <p:cNvPr id="29" name="a6z-st5"/>
          <p:cNvSpPr/>
          <p:nvPr/>
        </p:nvSpPr>
        <p:spPr>
          <a:xfrm>
            <a:off x="10287000" y="1691640"/>
            <a:ext cx="969264" cy="969264"/>
          </a:xfrm>
          <a:prstGeom prst="ellipse">
            <a:avLst/>
          </a:prstGeom>
          <a:solidFill>
            <a:schemeClr val="accent1"/>
          </a:solidFill>
          <a:ln/>
        </p:spPr>
      </p:sp>
      <p:pic>
        <p:nvPicPr>
          <p:cNvPr id="30" name="a6z-st5i" descr="preencoded.png">    </p:cNvPr>
          <p:cNvPicPr>
            <a:picLocks noChangeAspect="1"/>
          </p:cNvPicPr>
          <p:nvPr/>
        </p:nvPicPr>
        <p:blipFill>
          <a:blip r:embed="rId6"/>
          <a:stretch>
            <a:fillRect/>
          </a:stretch>
        </p:blipFill>
        <p:spPr>
          <a:xfrm>
            <a:off x="10529316" y="1933956"/>
            <a:ext cx="484632" cy="484632"/>
          </a:xfrm>
          <a:prstGeom prst="rect">
            <a:avLst/>
          </a:prstGeom>
        </p:spPr>
      </p:pic>
      <p:sp>
        <p:nvSpPr>
          <p:cNvPr id="31" name="a6z-st5h"/>
          <p:cNvSpPr txBox="1"/>
          <p:nvPr/>
        </p:nvSpPr>
        <p:spPr>
          <a:xfrm>
            <a:off x="9902952" y="2788920"/>
            <a:ext cx="1737360" cy="365760"/>
          </a:xfrm>
          <a:prstGeom prst="rect">
            <a:avLst/>
          </a:prstGeom>
          <a:noFill/>
          <a:ln/>
        </p:spPr>
        <p:txBody>
          <a:bodyPr wrap="square" lIns="0" tIns="0" rIns="0" bIns="0" rtlCol="0" anchor="t"/>
          <a:lstStyle/>
          <a:p>
            <a:pPr algn="ctr" indent="0" marL="0">
              <a:buNone/>
            </a:pPr>
            <a:r>
              <a:rPr lang="en-US" sz="1700" dirty="0">
                <a:solidFill>
                  <a:schemeClr val="tx2"/>
                </a:solidFill>
                <a:latin typeface="+mj-lt" pitchFamily="34" charset="0"/>
                <a:ea typeface="+mj-lt" pitchFamily="34" charset="-122"/>
                <a:cs typeface="+mj-lt" pitchFamily="34" charset="-120"/>
              </a:rPr>
              <a:t>6  Validate</a:t>
            </a:r>
            <a:endParaRPr lang="en-US" sz="1700" dirty="0"/>
          </a:p>
        </p:txBody>
      </p:sp>
      <p:sp>
        <p:nvSpPr>
          <p:cNvPr id="32" name="a6z-st5b"/>
          <p:cNvSpPr txBox="1"/>
          <p:nvPr/>
        </p:nvSpPr>
        <p:spPr>
          <a:xfrm>
            <a:off x="9902952" y="3200400"/>
            <a:ext cx="1737360" cy="731520"/>
          </a:xfrm>
          <a:prstGeom prst="rect">
            <a:avLst/>
          </a:prstGeom>
          <a:noFill/>
          <a:ln/>
        </p:spPr>
        <p:txBody>
          <a:bodyPr wrap="square" lIns="0" tIns="0" rIns="0" bIns="0" rtlCol="0" anchor="t"/>
          <a:lstStyle/>
          <a:p>
            <a:pPr algn="ctr" indent="0" marL="0">
              <a:buNone/>
            </a:pPr>
            <a:r>
              <a:rPr lang="en-US" sz="1400" dirty="0">
                <a:solidFill>
                  <a:schemeClr val="accent6"/>
                </a:solidFill>
              </a:rPr>
              <a:t>Compared, and checked to run</a:t>
            </a:r>
            <a:endParaRPr lang="en-US" sz="1400" dirty="0"/>
          </a:p>
        </p:txBody>
      </p:sp>
      <p:sp>
        <p:nvSpPr>
          <p:cNvPr id="33" name="a7w-git"/>
          <p:cNvSpPr/>
          <p:nvPr/>
        </p:nvSpPr>
        <p:spPr>
          <a:xfrm>
            <a:off x="548640" y="4206240"/>
            <a:ext cx="11094415" cy="868680"/>
          </a:xfrm>
          <a:prstGeom prst="roundRect">
            <a:avLst>
              <a:gd name="adj" fmla="val 12632"/>
            </a:avLst>
          </a:prstGeom>
          <a:solidFill>
            <a:schemeClr val="accent1">
              <a:alpha val="12000"/>
            </a:schemeClr>
          </a:solidFill>
          <a:ln/>
        </p:spPr>
      </p:sp>
      <p:sp>
        <p:nvSpPr>
          <p:cNvPr id="34" name="a7w-gitc"/>
          <p:cNvSpPr/>
          <p:nvPr/>
        </p:nvSpPr>
        <p:spPr>
          <a:xfrm>
            <a:off x="777240" y="4361688"/>
            <a:ext cx="548640" cy="548640"/>
          </a:xfrm>
          <a:prstGeom prst="ellipse">
            <a:avLst/>
          </a:prstGeom>
          <a:solidFill>
            <a:schemeClr val="accent1"/>
          </a:solidFill>
          <a:ln/>
        </p:spPr>
      </p:sp>
      <p:pic>
        <p:nvPicPr>
          <p:cNvPr id="35" name="a7w-gitci" descr="preencoded.png">    </p:cNvPr>
          <p:cNvPicPr>
            <a:picLocks noChangeAspect="1"/>
          </p:cNvPicPr>
          <p:nvPr/>
        </p:nvPicPr>
        <p:blipFill>
          <a:blip r:embed="rId7"/>
          <a:stretch>
            <a:fillRect/>
          </a:stretch>
        </p:blipFill>
        <p:spPr>
          <a:xfrm>
            <a:off x="914400" y="4498848"/>
            <a:ext cx="274320" cy="274320"/>
          </a:xfrm>
          <a:prstGeom prst="rect">
            <a:avLst/>
          </a:prstGeom>
        </p:spPr>
      </p:pic>
      <p:sp>
        <p:nvSpPr>
          <p:cNvPr id="36" name="a7w-gitt"/>
          <p:cNvSpPr txBox="1"/>
          <p:nvPr/>
        </p:nvSpPr>
        <p:spPr>
          <a:xfrm>
            <a:off x="1554480" y="4206240"/>
            <a:ext cx="9905695" cy="868680"/>
          </a:xfrm>
          <a:prstGeom prst="rect">
            <a:avLst/>
          </a:prstGeom>
          <a:noFill/>
          <a:ln/>
        </p:spPr>
        <p:txBody>
          <a:bodyPr wrap="square" lIns="0" tIns="0" rIns="0" bIns="0" rtlCol="0" anchor="ctr"/>
          <a:lstStyle/>
          <a:p>
            <a:pPr indent="0" marL="0">
              <a:buNone/>
            </a:pPr>
            <a:r>
              <a:rPr lang="en-US" sz="1500" b="1" dirty="0">
                <a:solidFill>
                  <a:schemeClr val="accent1"/>
                </a:solidFill>
              </a:rPr>
              <a:t>Then:  </a:t>
            </a:r>
            <a:pPr indent="0" marL="0">
              <a:buNone/>
            </a:pPr>
            <a:r>
              <a:rPr lang="en-US" sz="1500" dirty="0">
                <a:solidFill>
                  <a:schemeClr val="tx1"/>
                </a:solidFill>
              </a:rPr>
              <a:t>each run is committed to the Fabric workspace's Git branch, ready for a pull request from dev into main.</a:t>
            </a:r>
            <a:endParaRPr lang="en-US" sz="1500" dirty="0"/>
          </a:p>
        </p:txBody>
      </p:sp>
      <p:sp>
        <p:nvSpPr>
          <p:cNvPr id="37" name="a8f-cap"/>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400" dirty="0">
                <a:solidFill>
                  <a:schemeClr val="accent6"/>
                </a:solidFill>
              </a:rPr>
              <a:t>A web app (React) on a local Python API  ·  Live mode on real workspaces  ·  Demo mode on a 1,500-object sample</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450" fill="hold"/>
                                        <p:tgtEl>
                                          <p:spTgt spid="7"/>
                                        </p:tgtEl>
                                        <p:attrNameLst>
                                          <p:attrName>ppt_w</p:attrName>
                                        </p:attrNameLst>
                                      </p:cBhvr>
                                      <p:tavLst>
                                        <p:tav tm="0">
                                          <p:val>
                                            <p:fltVal val="0"/>
                                          </p:val>
                                        </p:tav>
                                        <p:tav tm="100000">
                                          <p:val>
                                            <p:strVal val="#ppt_w"/>
                                          </p:val>
                                        </p:tav>
                                      </p:tavLst>
                                    </p:anim>
                                    <p:anim calcmode="lin" valueType="num">
                                      <p:cBhvr>
                                        <p:cTn id="23" dur="450" fill="hold"/>
                                        <p:tgtEl>
                                          <p:spTgt spid="7"/>
                                        </p:tgtEl>
                                        <p:attrNameLst>
                                          <p:attrName>ppt_h</p:attrName>
                                        </p:attrNameLst>
                                      </p:cBhvr>
                                      <p:tavLst>
                                        <p:tav tm="0">
                                          <p:val>
                                            <p:fltVal val="0"/>
                                          </p:val>
                                        </p:tav>
                                        <p:tav tm="100000">
                                          <p:val>
                                            <p:strVal val="#ppt_h"/>
                                          </p:val>
                                        </p:tav>
                                      </p:tavLst>
                                    </p:anim>
                                    <p:animEffect transition="in" filter="fade">
                                      <p:cBhvr>
                                        <p:cTn id="24" dur="450"/>
                                        <p:tgtEl>
                                          <p:spTgt spid="7"/>
                                        </p:tgtEl>
                                      </p:cBhvr>
                                    </p:animEffect>
                                  </p:childTnLst>
                                </p:cTn>
                              </p:par>
                            </p:childTnLst>
                          </p:cTn>
                        </p:par>
                        <p:par>
                          <p:cTn id="25" fill="hold">
                            <p:stCondLst>
                              <p:cond delay="450"/>
                            </p:stCondLst>
                            <p:childTnLst>
                              <p:par>
                                <p:cTn id="26" presetID="2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450" fill="hold"/>
                                        <p:tgtEl>
                                          <p:spTgt spid="9"/>
                                        </p:tgtEl>
                                        <p:attrNameLst>
                                          <p:attrName>ppt_w</p:attrName>
                                        </p:attrNameLst>
                                      </p:cBhvr>
                                      <p:tavLst>
                                        <p:tav tm="0">
                                          <p:val>
                                            <p:fltVal val="0"/>
                                          </p:val>
                                        </p:tav>
                                        <p:tav tm="100000">
                                          <p:val>
                                            <p:strVal val="#ppt_w"/>
                                          </p:val>
                                        </p:tav>
                                      </p:tavLst>
                                    </p:anim>
                                    <p:anim calcmode="lin" valueType="num">
                                      <p:cBhvr>
                                        <p:cTn id="32" dur="450" fill="hold"/>
                                        <p:tgtEl>
                                          <p:spTgt spid="9"/>
                                        </p:tgtEl>
                                        <p:attrNameLst>
                                          <p:attrName>ppt_h</p:attrName>
                                        </p:attrNameLst>
                                      </p:cBhvr>
                                      <p:tavLst>
                                        <p:tav tm="0">
                                          <p:val>
                                            <p:fltVal val="0"/>
                                          </p:val>
                                        </p:tav>
                                        <p:tav tm="100000">
                                          <p:val>
                                            <p:strVal val="#ppt_h"/>
                                          </p:val>
                                        </p:tav>
                                      </p:tavLst>
                                    </p:anim>
                                    <p:animEffect transition="in" filter="fade">
                                      <p:cBhvr>
                                        <p:cTn id="33" dur="450"/>
                                        <p:tgtEl>
                                          <p:spTgt spid="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450" fill="hold"/>
                                        <p:tgtEl>
                                          <p:spTgt spid="10"/>
                                        </p:tgtEl>
                                        <p:attrNameLst>
                                          <p:attrName>ppt_w</p:attrName>
                                        </p:attrNameLst>
                                      </p:cBhvr>
                                      <p:tavLst>
                                        <p:tav tm="0">
                                          <p:val>
                                            <p:fltVal val="0"/>
                                          </p:val>
                                        </p:tav>
                                        <p:tav tm="100000">
                                          <p:val>
                                            <p:strVal val="#ppt_w"/>
                                          </p:val>
                                        </p:tav>
                                      </p:tavLst>
                                    </p:anim>
                                    <p:anim calcmode="lin" valueType="num">
                                      <p:cBhvr>
                                        <p:cTn id="37" dur="450" fill="hold"/>
                                        <p:tgtEl>
                                          <p:spTgt spid="10"/>
                                        </p:tgtEl>
                                        <p:attrNameLst>
                                          <p:attrName>ppt_h</p:attrName>
                                        </p:attrNameLst>
                                      </p:cBhvr>
                                      <p:tavLst>
                                        <p:tav tm="0">
                                          <p:val>
                                            <p:fltVal val="0"/>
                                          </p:val>
                                        </p:tav>
                                        <p:tav tm="100000">
                                          <p:val>
                                            <p:strVal val="#ppt_h"/>
                                          </p:val>
                                        </p:tav>
                                      </p:tavLst>
                                    </p:anim>
                                    <p:animEffect transition="in" filter="fade">
                                      <p:cBhvr>
                                        <p:cTn id="38" dur="450"/>
                                        <p:tgtEl>
                                          <p:spTgt spid="1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450" fill="hold"/>
                                        <p:tgtEl>
                                          <p:spTgt spid="11"/>
                                        </p:tgtEl>
                                        <p:attrNameLst>
                                          <p:attrName>ppt_w</p:attrName>
                                        </p:attrNameLst>
                                      </p:cBhvr>
                                      <p:tavLst>
                                        <p:tav tm="0">
                                          <p:val>
                                            <p:fltVal val="0"/>
                                          </p:val>
                                        </p:tav>
                                        <p:tav tm="100000">
                                          <p:val>
                                            <p:strVal val="#ppt_w"/>
                                          </p:val>
                                        </p:tav>
                                      </p:tavLst>
                                    </p:anim>
                                    <p:anim calcmode="lin" valueType="num">
                                      <p:cBhvr>
                                        <p:cTn id="42" dur="450" fill="hold"/>
                                        <p:tgtEl>
                                          <p:spTgt spid="11"/>
                                        </p:tgtEl>
                                        <p:attrNameLst>
                                          <p:attrName>ppt_h</p:attrName>
                                        </p:attrNameLst>
                                      </p:cBhvr>
                                      <p:tavLst>
                                        <p:tav tm="0">
                                          <p:val>
                                            <p:fltVal val="0"/>
                                          </p:val>
                                        </p:tav>
                                        <p:tav tm="100000">
                                          <p:val>
                                            <p:strVal val="#ppt_h"/>
                                          </p:val>
                                        </p:tav>
                                      </p:tavLst>
                                    </p:anim>
                                    <p:animEffect transition="in" filter="fade">
                                      <p:cBhvr>
                                        <p:cTn id="43" dur="450"/>
                                        <p:tgtEl>
                                          <p:spTgt spid="1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450" fill="hold"/>
                                        <p:tgtEl>
                                          <p:spTgt spid="12"/>
                                        </p:tgtEl>
                                        <p:attrNameLst>
                                          <p:attrName>ppt_w</p:attrName>
                                        </p:attrNameLst>
                                      </p:cBhvr>
                                      <p:tavLst>
                                        <p:tav tm="0">
                                          <p:val>
                                            <p:fltVal val="0"/>
                                          </p:val>
                                        </p:tav>
                                        <p:tav tm="100000">
                                          <p:val>
                                            <p:strVal val="#ppt_w"/>
                                          </p:val>
                                        </p:tav>
                                      </p:tavLst>
                                    </p:anim>
                                    <p:anim calcmode="lin" valueType="num">
                                      <p:cBhvr>
                                        <p:cTn id="47" dur="450" fill="hold"/>
                                        <p:tgtEl>
                                          <p:spTgt spid="12"/>
                                        </p:tgtEl>
                                        <p:attrNameLst>
                                          <p:attrName>ppt_h</p:attrName>
                                        </p:attrNameLst>
                                      </p:cBhvr>
                                      <p:tavLst>
                                        <p:tav tm="0">
                                          <p:val>
                                            <p:fltVal val="0"/>
                                          </p:val>
                                        </p:tav>
                                        <p:tav tm="100000">
                                          <p:val>
                                            <p:strVal val="#ppt_h"/>
                                          </p:val>
                                        </p:tav>
                                      </p:tavLst>
                                    </p:anim>
                                    <p:animEffect transition="in" filter="fade">
                                      <p:cBhvr>
                                        <p:cTn id="48" dur="450"/>
                                        <p:tgtEl>
                                          <p:spTgt spid="12"/>
                                        </p:tgtEl>
                                      </p:cBhvr>
                                    </p:animEffect>
                                  </p:childTnLst>
                                </p:cTn>
                              </p:par>
                            </p:childTnLst>
                          </p:cTn>
                        </p:par>
                        <p:par>
                          <p:cTn id="49" fill="hold">
                            <p:stCondLst>
                              <p:cond delay="950"/>
                            </p:stCondLst>
                            <p:childTnLst>
                              <p:par>
                                <p:cTn id="50" presetID="22" presetClass="entr" presetSubtype="8"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450" fill="hold"/>
                                        <p:tgtEl>
                                          <p:spTgt spid="14"/>
                                        </p:tgtEl>
                                        <p:attrNameLst>
                                          <p:attrName>ppt_w</p:attrName>
                                        </p:attrNameLst>
                                      </p:cBhvr>
                                      <p:tavLst>
                                        <p:tav tm="0">
                                          <p:val>
                                            <p:fltVal val="0"/>
                                          </p:val>
                                        </p:tav>
                                        <p:tav tm="100000">
                                          <p:val>
                                            <p:strVal val="#ppt_w"/>
                                          </p:val>
                                        </p:tav>
                                      </p:tavLst>
                                    </p:anim>
                                    <p:anim calcmode="lin" valueType="num">
                                      <p:cBhvr>
                                        <p:cTn id="56" dur="450" fill="hold"/>
                                        <p:tgtEl>
                                          <p:spTgt spid="14"/>
                                        </p:tgtEl>
                                        <p:attrNameLst>
                                          <p:attrName>ppt_h</p:attrName>
                                        </p:attrNameLst>
                                      </p:cBhvr>
                                      <p:tavLst>
                                        <p:tav tm="0">
                                          <p:val>
                                            <p:fltVal val="0"/>
                                          </p:val>
                                        </p:tav>
                                        <p:tav tm="100000">
                                          <p:val>
                                            <p:strVal val="#ppt_h"/>
                                          </p:val>
                                        </p:tav>
                                      </p:tavLst>
                                    </p:anim>
                                    <p:animEffect transition="in" filter="fade">
                                      <p:cBhvr>
                                        <p:cTn id="57" dur="450"/>
                                        <p:tgtEl>
                                          <p:spTgt spid="14"/>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450" fill="hold"/>
                                        <p:tgtEl>
                                          <p:spTgt spid="15"/>
                                        </p:tgtEl>
                                        <p:attrNameLst>
                                          <p:attrName>ppt_w</p:attrName>
                                        </p:attrNameLst>
                                      </p:cBhvr>
                                      <p:tavLst>
                                        <p:tav tm="0">
                                          <p:val>
                                            <p:fltVal val="0"/>
                                          </p:val>
                                        </p:tav>
                                        <p:tav tm="100000">
                                          <p:val>
                                            <p:strVal val="#ppt_w"/>
                                          </p:val>
                                        </p:tav>
                                      </p:tavLst>
                                    </p:anim>
                                    <p:anim calcmode="lin" valueType="num">
                                      <p:cBhvr>
                                        <p:cTn id="61" dur="450" fill="hold"/>
                                        <p:tgtEl>
                                          <p:spTgt spid="15"/>
                                        </p:tgtEl>
                                        <p:attrNameLst>
                                          <p:attrName>ppt_h</p:attrName>
                                        </p:attrNameLst>
                                      </p:cBhvr>
                                      <p:tavLst>
                                        <p:tav tm="0">
                                          <p:val>
                                            <p:fltVal val="0"/>
                                          </p:val>
                                        </p:tav>
                                        <p:tav tm="100000">
                                          <p:val>
                                            <p:strVal val="#ppt_h"/>
                                          </p:val>
                                        </p:tav>
                                      </p:tavLst>
                                    </p:anim>
                                    <p:animEffect transition="in" filter="fade">
                                      <p:cBhvr>
                                        <p:cTn id="62" dur="450"/>
                                        <p:tgtEl>
                                          <p:spTgt spid="15"/>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childTnLst>
                          </p:cTn>
                        </p:par>
                        <p:par>
                          <p:cTn id="73" fill="hold">
                            <p:stCondLst>
                              <p:cond delay="1450"/>
                            </p:stCondLst>
                            <p:childTnLst>
                              <p:par>
                                <p:cTn id="74" presetID="22" presetClass="entr" presetSubtype="8"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ipe(left)">
                                      <p:cBhvr>
                                        <p:cTn id="76" dur="500"/>
                                        <p:tgtEl>
                                          <p:spTgt spid="18"/>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450" fill="hold"/>
                                        <p:tgtEl>
                                          <p:spTgt spid="19"/>
                                        </p:tgtEl>
                                        <p:attrNameLst>
                                          <p:attrName>ppt_w</p:attrName>
                                        </p:attrNameLst>
                                      </p:cBhvr>
                                      <p:tavLst>
                                        <p:tav tm="0">
                                          <p:val>
                                            <p:fltVal val="0"/>
                                          </p:val>
                                        </p:tav>
                                        <p:tav tm="100000">
                                          <p:val>
                                            <p:strVal val="#ppt_w"/>
                                          </p:val>
                                        </p:tav>
                                      </p:tavLst>
                                    </p:anim>
                                    <p:anim calcmode="lin" valueType="num">
                                      <p:cBhvr>
                                        <p:cTn id="80" dur="450" fill="hold"/>
                                        <p:tgtEl>
                                          <p:spTgt spid="19"/>
                                        </p:tgtEl>
                                        <p:attrNameLst>
                                          <p:attrName>ppt_h</p:attrName>
                                        </p:attrNameLst>
                                      </p:cBhvr>
                                      <p:tavLst>
                                        <p:tav tm="0">
                                          <p:val>
                                            <p:fltVal val="0"/>
                                          </p:val>
                                        </p:tav>
                                        <p:tav tm="100000">
                                          <p:val>
                                            <p:strVal val="#ppt_h"/>
                                          </p:val>
                                        </p:tav>
                                      </p:tavLst>
                                    </p:anim>
                                    <p:animEffect transition="in" filter="fade">
                                      <p:cBhvr>
                                        <p:cTn id="81" dur="450"/>
                                        <p:tgtEl>
                                          <p:spTgt spid="1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450" fill="hold"/>
                                        <p:tgtEl>
                                          <p:spTgt spid="20"/>
                                        </p:tgtEl>
                                        <p:attrNameLst>
                                          <p:attrName>ppt_w</p:attrName>
                                        </p:attrNameLst>
                                      </p:cBhvr>
                                      <p:tavLst>
                                        <p:tav tm="0">
                                          <p:val>
                                            <p:fltVal val="0"/>
                                          </p:val>
                                        </p:tav>
                                        <p:tav tm="100000">
                                          <p:val>
                                            <p:strVal val="#ppt_w"/>
                                          </p:val>
                                        </p:tav>
                                      </p:tavLst>
                                    </p:anim>
                                    <p:anim calcmode="lin" valueType="num">
                                      <p:cBhvr>
                                        <p:cTn id="85" dur="450" fill="hold"/>
                                        <p:tgtEl>
                                          <p:spTgt spid="20"/>
                                        </p:tgtEl>
                                        <p:attrNameLst>
                                          <p:attrName>ppt_h</p:attrName>
                                        </p:attrNameLst>
                                      </p:cBhvr>
                                      <p:tavLst>
                                        <p:tav tm="0">
                                          <p:val>
                                            <p:fltVal val="0"/>
                                          </p:val>
                                        </p:tav>
                                        <p:tav tm="100000">
                                          <p:val>
                                            <p:strVal val="#ppt_h"/>
                                          </p:val>
                                        </p:tav>
                                      </p:tavLst>
                                    </p:anim>
                                    <p:animEffect transition="in" filter="fade">
                                      <p:cBhvr>
                                        <p:cTn id="86" dur="450"/>
                                        <p:tgtEl>
                                          <p:spTgt spid="20"/>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 calcmode="lin" valueType="num">
                                      <p:cBhvr>
                                        <p:cTn id="89" dur="450" fill="hold"/>
                                        <p:tgtEl>
                                          <p:spTgt spid="21"/>
                                        </p:tgtEl>
                                        <p:attrNameLst>
                                          <p:attrName>ppt_w</p:attrName>
                                        </p:attrNameLst>
                                      </p:cBhvr>
                                      <p:tavLst>
                                        <p:tav tm="0">
                                          <p:val>
                                            <p:fltVal val="0"/>
                                          </p:val>
                                        </p:tav>
                                        <p:tav tm="100000">
                                          <p:val>
                                            <p:strVal val="#ppt_w"/>
                                          </p:val>
                                        </p:tav>
                                      </p:tavLst>
                                    </p:anim>
                                    <p:anim calcmode="lin" valueType="num">
                                      <p:cBhvr>
                                        <p:cTn id="90" dur="450" fill="hold"/>
                                        <p:tgtEl>
                                          <p:spTgt spid="21"/>
                                        </p:tgtEl>
                                        <p:attrNameLst>
                                          <p:attrName>ppt_h</p:attrName>
                                        </p:attrNameLst>
                                      </p:cBhvr>
                                      <p:tavLst>
                                        <p:tav tm="0">
                                          <p:val>
                                            <p:fltVal val="0"/>
                                          </p:val>
                                        </p:tav>
                                        <p:tav tm="100000">
                                          <p:val>
                                            <p:strVal val="#ppt_h"/>
                                          </p:val>
                                        </p:tav>
                                      </p:tavLst>
                                    </p:anim>
                                    <p:animEffect transition="in" filter="fade">
                                      <p:cBhvr>
                                        <p:cTn id="91" dur="450"/>
                                        <p:tgtEl>
                                          <p:spTgt spid="21"/>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 calcmode="lin" valueType="num">
                                      <p:cBhvr>
                                        <p:cTn id="94" dur="450" fill="hold"/>
                                        <p:tgtEl>
                                          <p:spTgt spid="22"/>
                                        </p:tgtEl>
                                        <p:attrNameLst>
                                          <p:attrName>ppt_w</p:attrName>
                                        </p:attrNameLst>
                                      </p:cBhvr>
                                      <p:tavLst>
                                        <p:tav tm="0">
                                          <p:val>
                                            <p:fltVal val="0"/>
                                          </p:val>
                                        </p:tav>
                                        <p:tav tm="100000">
                                          <p:val>
                                            <p:strVal val="#ppt_w"/>
                                          </p:val>
                                        </p:tav>
                                      </p:tavLst>
                                    </p:anim>
                                    <p:anim calcmode="lin" valueType="num">
                                      <p:cBhvr>
                                        <p:cTn id="95" dur="450" fill="hold"/>
                                        <p:tgtEl>
                                          <p:spTgt spid="22"/>
                                        </p:tgtEl>
                                        <p:attrNameLst>
                                          <p:attrName>ppt_h</p:attrName>
                                        </p:attrNameLst>
                                      </p:cBhvr>
                                      <p:tavLst>
                                        <p:tav tm="0">
                                          <p:val>
                                            <p:fltVal val="0"/>
                                          </p:val>
                                        </p:tav>
                                        <p:tav tm="100000">
                                          <p:val>
                                            <p:strVal val="#ppt_h"/>
                                          </p:val>
                                        </p:tav>
                                      </p:tavLst>
                                    </p:anim>
                                    <p:animEffect transition="in" filter="fade">
                                      <p:cBhvr>
                                        <p:cTn id="96" dur="450"/>
                                        <p:tgtEl>
                                          <p:spTgt spid="22"/>
                                        </p:tgtEl>
                                      </p:cBhvr>
                                    </p:animEffect>
                                  </p:childTnLst>
                                </p:cTn>
                              </p:par>
                            </p:childTnLst>
                          </p:cTn>
                        </p:par>
                        <p:par>
                          <p:cTn id="97" fill="hold">
                            <p:stCondLst>
                              <p:cond delay="1950"/>
                            </p:stCondLst>
                            <p:childTnLst>
                              <p:par>
                                <p:cTn id="98" presetID="22" presetClass="entr" presetSubtype="8"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wipe(left)">
                                      <p:cBhvr>
                                        <p:cTn id="100" dur="500"/>
                                        <p:tgtEl>
                                          <p:spTgt spid="23"/>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p:cTn id="103" dur="450" fill="hold"/>
                                        <p:tgtEl>
                                          <p:spTgt spid="24"/>
                                        </p:tgtEl>
                                        <p:attrNameLst>
                                          <p:attrName>ppt_w</p:attrName>
                                        </p:attrNameLst>
                                      </p:cBhvr>
                                      <p:tavLst>
                                        <p:tav tm="0">
                                          <p:val>
                                            <p:fltVal val="0"/>
                                          </p:val>
                                        </p:tav>
                                        <p:tav tm="100000">
                                          <p:val>
                                            <p:strVal val="#ppt_w"/>
                                          </p:val>
                                        </p:tav>
                                      </p:tavLst>
                                    </p:anim>
                                    <p:anim calcmode="lin" valueType="num">
                                      <p:cBhvr>
                                        <p:cTn id="104" dur="450" fill="hold"/>
                                        <p:tgtEl>
                                          <p:spTgt spid="24"/>
                                        </p:tgtEl>
                                        <p:attrNameLst>
                                          <p:attrName>ppt_h</p:attrName>
                                        </p:attrNameLst>
                                      </p:cBhvr>
                                      <p:tavLst>
                                        <p:tav tm="0">
                                          <p:val>
                                            <p:fltVal val="0"/>
                                          </p:val>
                                        </p:tav>
                                        <p:tav tm="100000">
                                          <p:val>
                                            <p:strVal val="#ppt_h"/>
                                          </p:val>
                                        </p:tav>
                                      </p:tavLst>
                                    </p:anim>
                                    <p:animEffect transition="in" filter="fade">
                                      <p:cBhvr>
                                        <p:cTn id="105" dur="450"/>
                                        <p:tgtEl>
                                          <p:spTgt spid="24"/>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 calcmode="lin" valueType="num">
                                      <p:cBhvr>
                                        <p:cTn id="108" dur="450" fill="hold"/>
                                        <p:tgtEl>
                                          <p:spTgt spid="25"/>
                                        </p:tgtEl>
                                        <p:attrNameLst>
                                          <p:attrName>ppt_w</p:attrName>
                                        </p:attrNameLst>
                                      </p:cBhvr>
                                      <p:tavLst>
                                        <p:tav tm="0">
                                          <p:val>
                                            <p:fltVal val="0"/>
                                          </p:val>
                                        </p:tav>
                                        <p:tav tm="100000">
                                          <p:val>
                                            <p:strVal val="#ppt_w"/>
                                          </p:val>
                                        </p:tav>
                                      </p:tavLst>
                                    </p:anim>
                                    <p:anim calcmode="lin" valueType="num">
                                      <p:cBhvr>
                                        <p:cTn id="109" dur="450" fill="hold"/>
                                        <p:tgtEl>
                                          <p:spTgt spid="25"/>
                                        </p:tgtEl>
                                        <p:attrNameLst>
                                          <p:attrName>ppt_h</p:attrName>
                                        </p:attrNameLst>
                                      </p:cBhvr>
                                      <p:tavLst>
                                        <p:tav tm="0">
                                          <p:val>
                                            <p:fltVal val="0"/>
                                          </p:val>
                                        </p:tav>
                                        <p:tav tm="100000">
                                          <p:val>
                                            <p:strVal val="#ppt_h"/>
                                          </p:val>
                                        </p:tav>
                                      </p:tavLst>
                                    </p:anim>
                                    <p:animEffect transition="in" filter="fade">
                                      <p:cBhvr>
                                        <p:cTn id="110" dur="450"/>
                                        <p:tgtEl>
                                          <p:spTgt spid="25"/>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 calcmode="lin" valueType="num">
                                      <p:cBhvr>
                                        <p:cTn id="113" dur="450" fill="hold"/>
                                        <p:tgtEl>
                                          <p:spTgt spid="26"/>
                                        </p:tgtEl>
                                        <p:attrNameLst>
                                          <p:attrName>ppt_w</p:attrName>
                                        </p:attrNameLst>
                                      </p:cBhvr>
                                      <p:tavLst>
                                        <p:tav tm="0">
                                          <p:val>
                                            <p:fltVal val="0"/>
                                          </p:val>
                                        </p:tav>
                                        <p:tav tm="100000">
                                          <p:val>
                                            <p:strVal val="#ppt_w"/>
                                          </p:val>
                                        </p:tav>
                                      </p:tavLst>
                                    </p:anim>
                                    <p:anim calcmode="lin" valueType="num">
                                      <p:cBhvr>
                                        <p:cTn id="114" dur="450" fill="hold"/>
                                        <p:tgtEl>
                                          <p:spTgt spid="26"/>
                                        </p:tgtEl>
                                        <p:attrNameLst>
                                          <p:attrName>ppt_h</p:attrName>
                                        </p:attrNameLst>
                                      </p:cBhvr>
                                      <p:tavLst>
                                        <p:tav tm="0">
                                          <p:val>
                                            <p:fltVal val="0"/>
                                          </p:val>
                                        </p:tav>
                                        <p:tav tm="100000">
                                          <p:val>
                                            <p:strVal val="#ppt_h"/>
                                          </p:val>
                                        </p:tav>
                                      </p:tavLst>
                                    </p:anim>
                                    <p:animEffect transition="in" filter="fade">
                                      <p:cBhvr>
                                        <p:cTn id="115" dur="450"/>
                                        <p:tgtEl>
                                          <p:spTgt spid="26"/>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 calcmode="lin" valueType="num">
                                      <p:cBhvr>
                                        <p:cTn id="118" dur="450" fill="hold"/>
                                        <p:tgtEl>
                                          <p:spTgt spid="27"/>
                                        </p:tgtEl>
                                        <p:attrNameLst>
                                          <p:attrName>ppt_w</p:attrName>
                                        </p:attrNameLst>
                                      </p:cBhvr>
                                      <p:tavLst>
                                        <p:tav tm="0">
                                          <p:val>
                                            <p:fltVal val="0"/>
                                          </p:val>
                                        </p:tav>
                                        <p:tav tm="100000">
                                          <p:val>
                                            <p:strVal val="#ppt_w"/>
                                          </p:val>
                                        </p:tav>
                                      </p:tavLst>
                                    </p:anim>
                                    <p:anim calcmode="lin" valueType="num">
                                      <p:cBhvr>
                                        <p:cTn id="119" dur="450" fill="hold"/>
                                        <p:tgtEl>
                                          <p:spTgt spid="27"/>
                                        </p:tgtEl>
                                        <p:attrNameLst>
                                          <p:attrName>ppt_h</p:attrName>
                                        </p:attrNameLst>
                                      </p:cBhvr>
                                      <p:tavLst>
                                        <p:tav tm="0">
                                          <p:val>
                                            <p:fltVal val="0"/>
                                          </p:val>
                                        </p:tav>
                                        <p:tav tm="100000">
                                          <p:val>
                                            <p:strVal val="#ppt_h"/>
                                          </p:val>
                                        </p:tav>
                                      </p:tavLst>
                                    </p:anim>
                                    <p:animEffect transition="in" filter="fade">
                                      <p:cBhvr>
                                        <p:cTn id="120" dur="450"/>
                                        <p:tgtEl>
                                          <p:spTgt spid="27"/>
                                        </p:tgtEl>
                                      </p:cBhvr>
                                    </p:animEffect>
                                  </p:childTnLst>
                                </p:cTn>
                              </p:par>
                            </p:childTnLst>
                          </p:cTn>
                        </p:par>
                        <p:par>
                          <p:cTn id="121" fill="hold">
                            <p:stCondLst>
                              <p:cond delay="2450"/>
                            </p:stCondLst>
                            <p:childTnLst>
                              <p:par>
                                <p:cTn id="122" presetID="22" presetClass="entr" presetSubtype="8"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wipe(left)">
                                      <p:cBhvr>
                                        <p:cTn id="124" dur="500"/>
                                        <p:tgtEl>
                                          <p:spTgt spid="28"/>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p:cTn id="127" dur="450" fill="hold"/>
                                        <p:tgtEl>
                                          <p:spTgt spid="29"/>
                                        </p:tgtEl>
                                        <p:attrNameLst>
                                          <p:attrName>ppt_w</p:attrName>
                                        </p:attrNameLst>
                                      </p:cBhvr>
                                      <p:tavLst>
                                        <p:tav tm="0">
                                          <p:val>
                                            <p:fltVal val="0"/>
                                          </p:val>
                                        </p:tav>
                                        <p:tav tm="100000">
                                          <p:val>
                                            <p:strVal val="#ppt_w"/>
                                          </p:val>
                                        </p:tav>
                                      </p:tavLst>
                                    </p:anim>
                                    <p:anim calcmode="lin" valueType="num">
                                      <p:cBhvr>
                                        <p:cTn id="128" dur="450" fill="hold"/>
                                        <p:tgtEl>
                                          <p:spTgt spid="29"/>
                                        </p:tgtEl>
                                        <p:attrNameLst>
                                          <p:attrName>ppt_h</p:attrName>
                                        </p:attrNameLst>
                                      </p:cBhvr>
                                      <p:tavLst>
                                        <p:tav tm="0">
                                          <p:val>
                                            <p:fltVal val="0"/>
                                          </p:val>
                                        </p:tav>
                                        <p:tav tm="100000">
                                          <p:val>
                                            <p:strVal val="#ppt_h"/>
                                          </p:val>
                                        </p:tav>
                                      </p:tavLst>
                                    </p:anim>
                                    <p:animEffect transition="in" filter="fade">
                                      <p:cBhvr>
                                        <p:cTn id="129" dur="450"/>
                                        <p:tgtEl>
                                          <p:spTgt spid="29"/>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450" fill="hold"/>
                                        <p:tgtEl>
                                          <p:spTgt spid="30"/>
                                        </p:tgtEl>
                                        <p:attrNameLst>
                                          <p:attrName>ppt_w</p:attrName>
                                        </p:attrNameLst>
                                      </p:cBhvr>
                                      <p:tavLst>
                                        <p:tav tm="0">
                                          <p:val>
                                            <p:fltVal val="0"/>
                                          </p:val>
                                        </p:tav>
                                        <p:tav tm="100000">
                                          <p:val>
                                            <p:strVal val="#ppt_w"/>
                                          </p:val>
                                        </p:tav>
                                      </p:tavLst>
                                    </p:anim>
                                    <p:anim calcmode="lin" valueType="num">
                                      <p:cBhvr>
                                        <p:cTn id="133" dur="450" fill="hold"/>
                                        <p:tgtEl>
                                          <p:spTgt spid="30"/>
                                        </p:tgtEl>
                                        <p:attrNameLst>
                                          <p:attrName>ppt_h</p:attrName>
                                        </p:attrNameLst>
                                      </p:cBhvr>
                                      <p:tavLst>
                                        <p:tav tm="0">
                                          <p:val>
                                            <p:fltVal val="0"/>
                                          </p:val>
                                        </p:tav>
                                        <p:tav tm="100000">
                                          <p:val>
                                            <p:strVal val="#ppt_h"/>
                                          </p:val>
                                        </p:tav>
                                      </p:tavLst>
                                    </p:anim>
                                    <p:animEffect transition="in" filter="fade">
                                      <p:cBhvr>
                                        <p:cTn id="134" dur="450"/>
                                        <p:tgtEl>
                                          <p:spTgt spid="30"/>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p:cTn id="137" dur="450" fill="hold"/>
                                        <p:tgtEl>
                                          <p:spTgt spid="31"/>
                                        </p:tgtEl>
                                        <p:attrNameLst>
                                          <p:attrName>ppt_w</p:attrName>
                                        </p:attrNameLst>
                                      </p:cBhvr>
                                      <p:tavLst>
                                        <p:tav tm="0">
                                          <p:val>
                                            <p:fltVal val="0"/>
                                          </p:val>
                                        </p:tav>
                                        <p:tav tm="100000">
                                          <p:val>
                                            <p:strVal val="#ppt_w"/>
                                          </p:val>
                                        </p:tav>
                                      </p:tavLst>
                                    </p:anim>
                                    <p:anim calcmode="lin" valueType="num">
                                      <p:cBhvr>
                                        <p:cTn id="138" dur="450" fill="hold"/>
                                        <p:tgtEl>
                                          <p:spTgt spid="31"/>
                                        </p:tgtEl>
                                        <p:attrNameLst>
                                          <p:attrName>ppt_h</p:attrName>
                                        </p:attrNameLst>
                                      </p:cBhvr>
                                      <p:tavLst>
                                        <p:tav tm="0">
                                          <p:val>
                                            <p:fltVal val="0"/>
                                          </p:val>
                                        </p:tav>
                                        <p:tav tm="100000">
                                          <p:val>
                                            <p:strVal val="#ppt_h"/>
                                          </p:val>
                                        </p:tav>
                                      </p:tavLst>
                                    </p:anim>
                                    <p:animEffect transition="in" filter="fade">
                                      <p:cBhvr>
                                        <p:cTn id="139" dur="450"/>
                                        <p:tgtEl>
                                          <p:spTgt spid="31"/>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p:cTn id="142" dur="450" fill="hold"/>
                                        <p:tgtEl>
                                          <p:spTgt spid="32"/>
                                        </p:tgtEl>
                                        <p:attrNameLst>
                                          <p:attrName>ppt_w</p:attrName>
                                        </p:attrNameLst>
                                      </p:cBhvr>
                                      <p:tavLst>
                                        <p:tav tm="0">
                                          <p:val>
                                            <p:fltVal val="0"/>
                                          </p:val>
                                        </p:tav>
                                        <p:tav tm="100000">
                                          <p:val>
                                            <p:strVal val="#ppt_w"/>
                                          </p:val>
                                        </p:tav>
                                      </p:tavLst>
                                    </p:anim>
                                    <p:anim calcmode="lin" valueType="num">
                                      <p:cBhvr>
                                        <p:cTn id="143" dur="450" fill="hold"/>
                                        <p:tgtEl>
                                          <p:spTgt spid="32"/>
                                        </p:tgtEl>
                                        <p:attrNameLst>
                                          <p:attrName>ppt_h</p:attrName>
                                        </p:attrNameLst>
                                      </p:cBhvr>
                                      <p:tavLst>
                                        <p:tav tm="0">
                                          <p:val>
                                            <p:fltVal val="0"/>
                                          </p:val>
                                        </p:tav>
                                        <p:tav tm="100000">
                                          <p:val>
                                            <p:strVal val="#ppt_h"/>
                                          </p:val>
                                        </p:tav>
                                      </p:tavLst>
                                    </p:anim>
                                    <p:animEffect transition="in" filter="fade">
                                      <p:cBhvr>
                                        <p:cTn id="144" dur="450"/>
                                        <p:tgtEl>
                                          <p:spTgt spid="32"/>
                                        </p:tgtEl>
                                      </p:cBhvr>
                                    </p:animEffect>
                                  </p:childTnLst>
                                </p:cTn>
                              </p:par>
                            </p:childTnLst>
                          </p:cTn>
                        </p:par>
                        <p:par>
                          <p:cTn id="145" fill="hold">
                            <p:stCondLst>
                              <p:cond delay="2950"/>
                            </p:stCondLst>
                            <p:childTnLst>
                              <p:par>
                                <p:cTn id="146" presetID="22" presetClass="entr" presetSubtype="8"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wipe(left)">
                                      <p:cBhvr>
                                        <p:cTn id="148" dur="500"/>
                                        <p:tgtEl>
                                          <p:spTgt spid="33"/>
                                        </p:tgtEl>
                                      </p:cBhvr>
                                    </p:animEffect>
                                  </p:childTnLst>
                                </p:cTn>
                              </p:par>
                              <p:par>
                                <p:cTn id="149" presetID="22" presetClass="entr" presetSubtype="8" fill="hold" grpId="0" nodeType="with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wipe(left)">
                                      <p:cBhvr>
                                        <p:cTn id="151" dur="500"/>
                                        <p:tgtEl>
                                          <p:spTgt spid="34"/>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35"/>
                                        </p:tgtEl>
                                        <p:attrNameLst>
                                          <p:attrName>style.visibility</p:attrName>
                                        </p:attrNameLst>
                                      </p:cBhvr>
                                      <p:to>
                                        <p:strVal val="visible"/>
                                      </p:to>
                                    </p:set>
                                    <p:animEffect transition="in" filter="wipe(left)">
                                      <p:cBhvr>
                                        <p:cTn id="154" dur="500"/>
                                        <p:tgtEl>
                                          <p:spTgt spid="35"/>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wipe(left)">
                                      <p:cBhvr>
                                        <p:cTn id="157" dur="500"/>
                                        <p:tgtEl>
                                          <p:spTgt spid="36"/>
                                        </p:tgtEl>
                                      </p:cBhvr>
                                    </p:animEffect>
                                  </p:childTnLst>
                                </p:cTn>
                              </p:par>
                            </p:childTnLst>
                          </p:cTn>
                        </p:par>
                        <p:par>
                          <p:cTn id="158" fill="hold">
                            <p:stCondLst>
                              <p:cond delay="3450"/>
                            </p:stCondLst>
                            <p:childTnLst>
                              <p:par>
                                <p:cTn id="159" presetID="10" presetClass="entr" presetSubtype="0" fill="hold" grpId="0" nodeType="afterEffect">
                                  <p:stCondLst>
                                    <p:cond delay="0"/>
                                  </p:stCondLst>
                                  <p:childTnLst>
                                    <p:set>
                                      <p:cBhvr>
                                        <p:cTn id="160" dur="1" fill="hold">
                                          <p:stCondLst>
                                            <p:cond delay="0"/>
                                          </p:stCondLst>
                                        </p:cTn>
                                        <p:tgtEl>
                                          <p:spTgt spid="37"/>
                                        </p:tgtEl>
                                        <p:attrNameLst>
                                          <p:attrName>style.visibility</p:attrName>
                                        </p:attrNameLst>
                                      </p:cBhvr>
                                      <p:to>
                                        <p:strVal val="visible"/>
                                      </p:to>
                                    </p:set>
                                    <p:animEffect transition="in" filter="fade">
                                      <p:cBhvr>
                                        <p:cTn id="161"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01 · THE TWO TOOLS AT A GLANCE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What each step gives you</a:t>
            </a:r>
            <a:endParaRPr lang="en-US" sz="3200" dirty="0"/>
          </a:p>
        </p:txBody>
      </p:sp>
      <p:sp>
        <p:nvSpPr>
          <p:cNvPr id="4" name="a1u-col0"/>
          <p:cNvSpPr/>
          <p:nvPr/>
        </p:nvSpPr>
        <p:spPr>
          <a:xfrm>
            <a:off x="548640" y="1536192"/>
            <a:ext cx="3511296" cy="2212848"/>
          </a:xfrm>
          <a:prstGeom prst="roundRect">
            <a:avLst>
              <a:gd name="adj" fmla="val 4959"/>
            </a:avLst>
          </a:prstGeom>
          <a:solidFill>
            <a:schemeClr val="bg2"/>
          </a:solidFill>
          <a:ln/>
        </p:spPr>
      </p:sp>
      <p:sp>
        <p:nvSpPr>
          <p:cNvPr id="5" name="a1u-col0c"/>
          <p:cNvSpPr/>
          <p:nvPr/>
        </p:nvSpPr>
        <p:spPr>
          <a:xfrm>
            <a:off x="777240" y="1737360"/>
            <a:ext cx="502920" cy="502920"/>
          </a:xfrm>
          <a:prstGeom prst="ellipse">
            <a:avLst/>
          </a:prstGeom>
          <a:solidFill>
            <a:schemeClr val="accent1"/>
          </a:solidFill>
          <a:ln/>
        </p:spPr>
      </p:sp>
      <p:pic>
        <p:nvPicPr>
          <p:cNvPr id="6" name="a1u-col0ci" descr="preencoded.png">    </p:cNvPr>
          <p:cNvPicPr>
            <a:picLocks noChangeAspect="1"/>
          </p:cNvPicPr>
          <p:nvPr/>
        </p:nvPicPr>
        <p:blipFill>
          <a:blip r:embed="rId1"/>
          <a:stretch>
            <a:fillRect/>
          </a:stretch>
        </p:blipFill>
        <p:spPr>
          <a:xfrm>
            <a:off x="902970" y="1863090"/>
            <a:ext cx="251460" cy="251460"/>
          </a:xfrm>
          <a:prstGeom prst="rect">
            <a:avLst/>
          </a:prstGeom>
        </p:spPr>
      </p:pic>
      <p:sp>
        <p:nvSpPr>
          <p:cNvPr id="7" name="a1u-col0h"/>
          <p:cNvSpPr txBox="1"/>
          <p:nvPr/>
        </p:nvSpPr>
        <p:spPr>
          <a:xfrm>
            <a:off x="1417320" y="1737360"/>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1  Discover</a:t>
            </a:r>
            <a:endParaRPr lang="en-US" sz="1700" dirty="0"/>
          </a:p>
        </p:txBody>
      </p:sp>
      <p:sp>
        <p:nvSpPr>
          <p:cNvPr id="8" name="a1u-col0b"/>
          <p:cNvSpPr txBox="1"/>
          <p:nvPr/>
        </p:nvSpPr>
        <p:spPr>
          <a:xfrm>
            <a:off x="777240" y="2359152"/>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Git branch, live workspace or ZIP</a:t>
            </a:r>
            <a:endParaRPr lang="en-US" sz="1400" dirty="0"/>
          </a:p>
          <a:p>
            <a:pPr marL="177800" indent="-177800">
              <a:spcAft>
                <a:spcPts val="300"/>
              </a:spcAft>
              <a:buSzPct val="100000"/>
              <a:buChar char="•"/>
            </a:pPr>
            <a:r>
              <a:rPr lang="en-US" sz="1400" dirty="0">
                <a:solidFill>
                  <a:schemeClr val="tx1"/>
                </a:solidFill>
              </a:rPr>
              <a:t>Dedicated SQL pool catalog</a:t>
            </a:r>
            <a:endParaRPr lang="en-US" sz="1400" dirty="0"/>
          </a:p>
          <a:p>
            <a:pPr marL="177800" indent="-177800">
              <a:spcAft>
                <a:spcPts val="300"/>
              </a:spcAft>
              <a:buSzPct val="100000"/>
              <a:buChar char="•"/>
            </a:pPr>
            <a:r>
              <a:rPr lang="en-US" sz="1400" dirty="0">
                <a:solidFill>
                  <a:schemeClr val="tx1"/>
                </a:solidFill>
              </a:rPr>
              <a:t>Git vs. published drift flagged</a:t>
            </a:r>
            <a:endParaRPr lang="en-US" sz="1400" dirty="0"/>
          </a:p>
          <a:p>
            <a:pPr marL="177800" indent="-177800">
              <a:spcAft>
                <a:spcPts val="300"/>
              </a:spcAft>
              <a:buSzPct val="100000"/>
              <a:buChar char="•"/>
            </a:pPr>
            <a:r>
              <a:rPr lang="en-US" sz="1400" dirty="0">
                <a:solidFill>
                  <a:schemeClr val="tx1"/>
                </a:solidFill>
              </a:rPr>
              <a:t>Searchable inventory and explorer</a:t>
            </a:r>
            <a:endParaRPr lang="en-US" sz="1400" dirty="0"/>
          </a:p>
        </p:txBody>
      </p:sp>
      <p:sp>
        <p:nvSpPr>
          <p:cNvPr id="9" name="a2u-col1"/>
          <p:cNvSpPr/>
          <p:nvPr/>
        </p:nvSpPr>
        <p:spPr>
          <a:xfrm>
            <a:off x="4338828" y="1536192"/>
            <a:ext cx="3511296" cy="2212848"/>
          </a:xfrm>
          <a:prstGeom prst="roundRect">
            <a:avLst>
              <a:gd name="adj" fmla="val 4959"/>
            </a:avLst>
          </a:prstGeom>
          <a:solidFill>
            <a:schemeClr val="bg2"/>
          </a:solidFill>
          <a:ln/>
        </p:spPr>
      </p:sp>
      <p:sp>
        <p:nvSpPr>
          <p:cNvPr id="10" name="a2u-col1c"/>
          <p:cNvSpPr/>
          <p:nvPr/>
        </p:nvSpPr>
        <p:spPr>
          <a:xfrm>
            <a:off x="4567428" y="1737360"/>
            <a:ext cx="502920" cy="502920"/>
          </a:xfrm>
          <a:prstGeom prst="ellipse">
            <a:avLst/>
          </a:prstGeom>
          <a:solidFill>
            <a:schemeClr val="accent1"/>
          </a:solidFill>
          <a:ln/>
        </p:spPr>
      </p:sp>
      <p:pic>
        <p:nvPicPr>
          <p:cNvPr id="11" name="a2u-col1ci" descr="preencoded.png">    </p:cNvPr>
          <p:cNvPicPr>
            <a:picLocks noChangeAspect="1"/>
          </p:cNvPicPr>
          <p:nvPr/>
        </p:nvPicPr>
        <p:blipFill>
          <a:blip r:embed="rId2"/>
          <a:stretch>
            <a:fillRect/>
          </a:stretch>
        </p:blipFill>
        <p:spPr>
          <a:xfrm>
            <a:off x="4693158" y="1863090"/>
            <a:ext cx="251460" cy="251460"/>
          </a:xfrm>
          <a:prstGeom prst="rect">
            <a:avLst/>
          </a:prstGeom>
        </p:spPr>
      </p:pic>
      <p:sp>
        <p:nvSpPr>
          <p:cNvPr id="12" name="a2u-col1h"/>
          <p:cNvSpPr txBox="1"/>
          <p:nvPr/>
        </p:nvSpPr>
        <p:spPr>
          <a:xfrm>
            <a:off x="5207508" y="1737360"/>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2  Assess</a:t>
            </a:r>
            <a:endParaRPr lang="en-US" sz="1700" dirty="0"/>
          </a:p>
        </p:txBody>
      </p:sp>
      <p:sp>
        <p:nvSpPr>
          <p:cNvPr id="13" name="a2u-col1b"/>
          <p:cNvSpPr txBox="1"/>
          <p:nvPr/>
        </p:nvSpPr>
        <p:spPr>
          <a:xfrm>
            <a:off x="4567428" y="2359152"/>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Five migration classes</a:t>
            </a:r>
            <a:endParaRPr lang="en-US" sz="1400" dirty="0"/>
          </a:p>
          <a:p>
            <a:pPr marL="177800" indent="-177800">
              <a:spcAft>
                <a:spcPts val="300"/>
              </a:spcAft>
              <a:buSzPct val="100000"/>
              <a:buChar char="•"/>
            </a:pPr>
            <a:r>
              <a:rPr lang="en-US" sz="1400" dirty="0">
                <a:solidFill>
                  <a:schemeClr val="tx1"/>
                </a:solidFill>
              </a:rPr>
              <a:t>Workstreams and Fabric targets</a:t>
            </a:r>
            <a:endParaRPr lang="en-US" sz="1400" dirty="0"/>
          </a:p>
          <a:p>
            <a:pPr marL="177800" indent="-177800">
              <a:spcAft>
                <a:spcPts val="300"/>
              </a:spcAft>
              <a:buSzPct val="100000"/>
              <a:buChar char="•"/>
            </a:pPr>
            <a:r>
              <a:rPr lang="en-US" sz="1400" dirty="0">
                <a:solidFill>
                  <a:schemeClr val="tx1"/>
                </a:solidFill>
              </a:rPr>
              <a:t>Synapse → Fabric component map</a:t>
            </a:r>
            <a:endParaRPr lang="en-US" sz="1400" dirty="0"/>
          </a:p>
          <a:p>
            <a:pPr marL="177800" indent="-177800">
              <a:spcAft>
                <a:spcPts val="300"/>
              </a:spcAft>
              <a:buSzPct val="100000"/>
              <a:buChar char="•"/>
            </a:pPr>
            <a:r>
              <a:rPr lang="en-US" sz="1400" dirty="0">
                <a:solidFill>
                  <a:schemeClr val="tx1"/>
                </a:solidFill>
              </a:rPr>
              <a:t>Review queue for LLM drafts</a:t>
            </a:r>
            <a:endParaRPr lang="en-US" sz="1400" dirty="0"/>
          </a:p>
        </p:txBody>
      </p:sp>
      <p:sp>
        <p:nvSpPr>
          <p:cNvPr id="14" name="a3u-col2"/>
          <p:cNvSpPr/>
          <p:nvPr/>
        </p:nvSpPr>
        <p:spPr>
          <a:xfrm>
            <a:off x="8129016" y="1536192"/>
            <a:ext cx="3511296" cy="2212848"/>
          </a:xfrm>
          <a:prstGeom prst="roundRect">
            <a:avLst>
              <a:gd name="adj" fmla="val 4959"/>
            </a:avLst>
          </a:prstGeom>
          <a:solidFill>
            <a:schemeClr val="bg2"/>
          </a:solidFill>
          <a:ln/>
        </p:spPr>
      </p:sp>
      <p:sp>
        <p:nvSpPr>
          <p:cNvPr id="15" name="a3u-col2c"/>
          <p:cNvSpPr/>
          <p:nvPr/>
        </p:nvSpPr>
        <p:spPr>
          <a:xfrm>
            <a:off x="8357616" y="1737360"/>
            <a:ext cx="502920" cy="502920"/>
          </a:xfrm>
          <a:prstGeom prst="ellipse">
            <a:avLst/>
          </a:prstGeom>
          <a:solidFill>
            <a:schemeClr val="accent1"/>
          </a:solidFill>
          <a:ln/>
        </p:spPr>
      </p:sp>
      <p:pic>
        <p:nvPicPr>
          <p:cNvPr id="16" name="a3u-col2ci" descr="preencoded.png">    </p:cNvPr>
          <p:cNvPicPr>
            <a:picLocks noChangeAspect="1"/>
          </p:cNvPicPr>
          <p:nvPr/>
        </p:nvPicPr>
        <p:blipFill>
          <a:blip r:embed="rId3"/>
          <a:stretch>
            <a:fillRect/>
          </a:stretch>
        </p:blipFill>
        <p:spPr>
          <a:xfrm>
            <a:off x="8483346" y="1863090"/>
            <a:ext cx="251460" cy="251460"/>
          </a:xfrm>
          <a:prstGeom prst="rect">
            <a:avLst/>
          </a:prstGeom>
        </p:spPr>
      </p:pic>
      <p:sp>
        <p:nvSpPr>
          <p:cNvPr id="17" name="a3u-col2h"/>
          <p:cNvSpPr txBox="1"/>
          <p:nvPr/>
        </p:nvSpPr>
        <p:spPr>
          <a:xfrm>
            <a:off x="8997696" y="1737360"/>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3  Waves</a:t>
            </a:r>
            <a:endParaRPr lang="en-US" sz="1700" dirty="0"/>
          </a:p>
        </p:txBody>
      </p:sp>
      <p:sp>
        <p:nvSpPr>
          <p:cNvPr id="18" name="a3u-col2b"/>
          <p:cNvSpPr txBox="1"/>
          <p:nvPr/>
        </p:nvSpPr>
        <p:spPr>
          <a:xfrm>
            <a:off x="8357616" y="2359152"/>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Dependency graph: zoom, filter</a:t>
            </a:r>
            <a:endParaRPr lang="en-US" sz="1400" dirty="0"/>
          </a:p>
          <a:p>
            <a:pPr marL="177800" indent="-177800">
              <a:spcAft>
                <a:spcPts val="300"/>
              </a:spcAft>
              <a:buSzPct val="100000"/>
              <a:buChar char="•"/>
            </a:pPr>
            <a:r>
              <a:rPr lang="en-US" sz="1400" dirty="0">
                <a:solidFill>
                  <a:schemeClr val="tx1"/>
                </a:solidFill>
              </a:rPr>
              <a:t>Waves: foundations first</a:t>
            </a:r>
            <a:endParaRPr lang="en-US" sz="1400" dirty="0"/>
          </a:p>
          <a:p>
            <a:pPr marL="177800" indent="-177800">
              <a:spcAft>
                <a:spcPts val="300"/>
              </a:spcAft>
              <a:buSzPct val="100000"/>
              <a:buChar char="•"/>
            </a:pPr>
            <a:r>
              <a:rPr lang="en-US" sz="1400" dirty="0">
                <a:solidFill>
                  <a:schemeClr val="tx1"/>
                </a:solidFill>
              </a:rPr>
              <a:t>Needs and needed-by per object</a:t>
            </a:r>
            <a:endParaRPr lang="en-US" sz="1400" dirty="0"/>
          </a:p>
          <a:p>
            <a:pPr marL="177800" indent="-177800">
              <a:spcAft>
                <a:spcPts val="300"/>
              </a:spcAft>
              <a:buSzPct val="100000"/>
              <a:buChar char="•"/>
            </a:pPr>
            <a:r>
              <a:rPr lang="en-US" sz="1400" dirty="0">
                <a:solidFill>
                  <a:schemeClr val="tx1"/>
                </a:solidFill>
              </a:rPr>
              <a:t>Add objects straight to the plan</a:t>
            </a:r>
            <a:endParaRPr lang="en-US" sz="1400" dirty="0"/>
          </a:p>
        </p:txBody>
      </p:sp>
      <p:sp>
        <p:nvSpPr>
          <p:cNvPr id="19" name="a4u-col3"/>
          <p:cNvSpPr/>
          <p:nvPr/>
        </p:nvSpPr>
        <p:spPr>
          <a:xfrm>
            <a:off x="548640" y="3858768"/>
            <a:ext cx="3511296" cy="2212848"/>
          </a:xfrm>
          <a:prstGeom prst="roundRect">
            <a:avLst>
              <a:gd name="adj" fmla="val 4959"/>
            </a:avLst>
          </a:prstGeom>
          <a:solidFill>
            <a:schemeClr val="bg2"/>
          </a:solidFill>
          <a:ln/>
        </p:spPr>
      </p:sp>
      <p:sp>
        <p:nvSpPr>
          <p:cNvPr id="20" name="a4u-col3c"/>
          <p:cNvSpPr/>
          <p:nvPr/>
        </p:nvSpPr>
        <p:spPr>
          <a:xfrm>
            <a:off x="777240" y="4059936"/>
            <a:ext cx="502920" cy="502920"/>
          </a:xfrm>
          <a:prstGeom prst="ellipse">
            <a:avLst/>
          </a:prstGeom>
          <a:solidFill>
            <a:schemeClr val="accent1"/>
          </a:solidFill>
          <a:ln/>
        </p:spPr>
      </p:sp>
      <p:pic>
        <p:nvPicPr>
          <p:cNvPr id="21" name="a4u-col3ci" descr="preencoded.png">    </p:cNvPr>
          <p:cNvPicPr>
            <a:picLocks noChangeAspect="1"/>
          </p:cNvPicPr>
          <p:nvPr/>
        </p:nvPicPr>
        <p:blipFill>
          <a:blip r:embed="rId4"/>
          <a:stretch>
            <a:fillRect/>
          </a:stretch>
        </p:blipFill>
        <p:spPr>
          <a:xfrm>
            <a:off x="902970" y="4185666"/>
            <a:ext cx="251460" cy="251460"/>
          </a:xfrm>
          <a:prstGeom prst="rect">
            <a:avLst/>
          </a:prstGeom>
        </p:spPr>
      </p:pic>
      <p:sp>
        <p:nvSpPr>
          <p:cNvPr id="22" name="a4u-col3h"/>
          <p:cNvSpPr txBox="1"/>
          <p:nvPr/>
        </p:nvSpPr>
        <p:spPr>
          <a:xfrm>
            <a:off x="1417320" y="4059936"/>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4  Plan</a:t>
            </a:r>
            <a:endParaRPr lang="en-US" sz="1700" dirty="0"/>
          </a:p>
        </p:txBody>
      </p:sp>
      <p:sp>
        <p:nvSpPr>
          <p:cNvPr id="23" name="a4u-col3b"/>
          <p:cNvSpPr txBox="1"/>
          <p:nvPr/>
        </p:nvSpPr>
        <p:spPr>
          <a:xfrm>
            <a:off x="777240" y="4681728"/>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Readiness score and risks</a:t>
            </a:r>
            <a:endParaRPr lang="en-US" sz="1400" dirty="0"/>
          </a:p>
          <a:p>
            <a:pPr marL="177800" indent="-177800">
              <a:spcAft>
                <a:spcPts val="300"/>
              </a:spcAft>
              <a:buSzPct val="100000"/>
              <a:buChar char="•"/>
            </a:pPr>
            <a:r>
              <a:rPr lang="en-US" sz="1400" dirty="0">
                <a:solidFill>
                  <a:schemeClr val="tx1"/>
                </a:solidFill>
              </a:rPr>
              <a:t>Effort in working days</a:t>
            </a:r>
            <a:endParaRPr lang="en-US" sz="1400" dirty="0"/>
          </a:p>
          <a:p>
            <a:pPr marL="177800" indent="-177800">
              <a:spcAft>
                <a:spcPts val="300"/>
              </a:spcAft>
              <a:buSzPct val="100000"/>
              <a:buChar char="•"/>
            </a:pPr>
            <a:r>
              <a:rPr lang="en-US" sz="1400" dirty="0">
                <a:solidFill>
                  <a:schemeClr val="tx1"/>
                </a:solidFill>
              </a:rPr>
              <a:t>11 stages, each switchable</a:t>
            </a:r>
            <a:endParaRPr lang="en-US" sz="1400" dirty="0"/>
          </a:p>
          <a:p>
            <a:pPr marL="177800" indent="-177800">
              <a:spcAft>
                <a:spcPts val="300"/>
              </a:spcAft>
              <a:buSzPct val="100000"/>
              <a:buChar char="•"/>
            </a:pPr>
            <a:r>
              <a:rPr lang="en-US" sz="1400" dirty="0">
                <a:solidFill>
                  <a:schemeClr val="tx1"/>
                </a:solidFill>
              </a:rPr>
              <a:t>Credentials, date filters, routes</a:t>
            </a:r>
            <a:endParaRPr lang="en-US" sz="1400" dirty="0"/>
          </a:p>
        </p:txBody>
      </p:sp>
      <p:sp>
        <p:nvSpPr>
          <p:cNvPr id="24" name="a5u-col4"/>
          <p:cNvSpPr/>
          <p:nvPr/>
        </p:nvSpPr>
        <p:spPr>
          <a:xfrm>
            <a:off x="4338828" y="3858768"/>
            <a:ext cx="3511296" cy="2212848"/>
          </a:xfrm>
          <a:prstGeom prst="roundRect">
            <a:avLst>
              <a:gd name="adj" fmla="val 4959"/>
            </a:avLst>
          </a:prstGeom>
          <a:solidFill>
            <a:schemeClr val="bg2"/>
          </a:solidFill>
          <a:ln/>
        </p:spPr>
      </p:sp>
      <p:sp>
        <p:nvSpPr>
          <p:cNvPr id="25" name="a5u-col4c"/>
          <p:cNvSpPr/>
          <p:nvPr/>
        </p:nvSpPr>
        <p:spPr>
          <a:xfrm>
            <a:off x="4567428" y="4059936"/>
            <a:ext cx="502920" cy="502920"/>
          </a:xfrm>
          <a:prstGeom prst="ellipse">
            <a:avLst/>
          </a:prstGeom>
          <a:solidFill>
            <a:schemeClr val="accent1"/>
          </a:solidFill>
          <a:ln/>
        </p:spPr>
      </p:sp>
      <p:pic>
        <p:nvPicPr>
          <p:cNvPr id="26" name="a5u-col4ci" descr="preencoded.png">    </p:cNvPr>
          <p:cNvPicPr>
            <a:picLocks noChangeAspect="1"/>
          </p:cNvPicPr>
          <p:nvPr/>
        </p:nvPicPr>
        <p:blipFill>
          <a:blip r:embed="rId5"/>
          <a:stretch>
            <a:fillRect/>
          </a:stretch>
        </p:blipFill>
        <p:spPr>
          <a:xfrm>
            <a:off x="4693158" y="4185666"/>
            <a:ext cx="251460" cy="251460"/>
          </a:xfrm>
          <a:prstGeom prst="rect">
            <a:avLst/>
          </a:prstGeom>
        </p:spPr>
      </p:pic>
      <p:sp>
        <p:nvSpPr>
          <p:cNvPr id="27" name="a5u-col4h"/>
          <p:cNvSpPr txBox="1"/>
          <p:nvPr/>
        </p:nvSpPr>
        <p:spPr>
          <a:xfrm>
            <a:off x="5207508" y="4059936"/>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5  Migrate</a:t>
            </a:r>
            <a:endParaRPr lang="en-US" sz="1700" dirty="0"/>
          </a:p>
        </p:txBody>
      </p:sp>
      <p:sp>
        <p:nvSpPr>
          <p:cNvPr id="28" name="a5u-col4b"/>
          <p:cNvSpPr txBox="1"/>
          <p:nvPr/>
        </p:nvSpPr>
        <p:spPr>
          <a:xfrm>
            <a:off x="4567428" y="4681728"/>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Pre-run checks</a:t>
            </a:r>
            <a:endParaRPr lang="en-US" sz="1400" dirty="0"/>
          </a:p>
          <a:p>
            <a:pPr marL="177800" indent="-177800">
              <a:spcAft>
                <a:spcPts val="300"/>
              </a:spcAft>
              <a:buSzPct val="100000"/>
              <a:buChar char="•"/>
            </a:pPr>
            <a:r>
              <a:rPr lang="en-US" sz="1400" dirty="0">
                <a:solidFill>
                  <a:schemeClr val="tx1"/>
                </a:solidFill>
              </a:rPr>
              <a:t>Pause, resume, retry failed</a:t>
            </a:r>
            <a:endParaRPr lang="en-US" sz="1400" dirty="0"/>
          </a:p>
          <a:p>
            <a:pPr marL="177800" indent="-177800">
              <a:spcAft>
                <a:spcPts val="300"/>
              </a:spcAft>
              <a:buSzPct val="100000"/>
              <a:buChar char="•"/>
            </a:pPr>
            <a:r>
              <a:rPr lang="en-US" sz="1400" dirty="0">
                <a:solidFill>
                  <a:schemeClr val="tx1"/>
                </a:solidFill>
              </a:rPr>
              <a:t>Update in place (opt-in)</a:t>
            </a:r>
            <a:endParaRPr lang="en-US" sz="1400" dirty="0"/>
          </a:p>
          <a:p>
            <a:pPr marL="177800" indent="-177800">
              <a:spcAft>
                <a:spcPts val="300"/>
              </a:spcAft>
              <a:buSzPct val="100000"/>
              <a:buChar char="•"/>
            </a:pPr>
            <a:r>
              <a:rPr lang="en-US" sz="1400" dirty="0">
                <a:solidFill>
                  <a:schemeClr val="tx1"/>
                </a:solidFill>
              </a:rPr>
              <a:t>Commit to Fabric Git</a:t>
            </a:r>
            <a:endParaRPr lang="en-US" sz="1400" dirty="0"/>
          </a:p>
        </p:txBody>
      </p:sp>
      <p:sp>
        <p:nvSpPr>
          <p:cNvPr id="29" name="a6u-col5"/>
          <p:cNvSpPr/>
          <p:nvPr/>
        </p:nvSpPr>
        <p:spPr>
          <a:xfrm>
            <a:off x="8129016" y="3858768"/>
            <a:ext cx="3511296" cy="2212848"/>
          </a:xfrm>
          <a:prstGeom prst="roundRect">
            <a:avLst>
              <a:gd name="adj" fmla="val 4959"/>
            </a:avLst>
          </a:prstGeom>
          <a:solidFill>
            <a:schemeClr val="bg2"/>
          </a:solidFill>
          <a:ln/>
        </p:spPr>
      </p:sp>
      <p:sp>
        <p:nvSpPr>
          <p:cNvPr id="30" name="a6u-col5c"/>
          <p:cNvSpPr/>
          <p:nvPr/>
        </p:nvSpPr>
        <p:spPr>
          <a:xfrm>
            <a:off x="8357616" y="4059936"/>
            <a:ext cx="502920" cy="502920"/>
          </a:xfrm>
          <a:prstGeom prst="ellipse">
            <a:avLst/>
          </a:prstGeom>
          <a:solidFill>
            <a:schemeClr val="accent1"/>
          </a:solidFill>
          <a:ln/>
        </p:spPr>
      </p:sp>
      <p:pic>
        <p:nvPicPr>
          <p:cNvPr id="31" name="a6u-col5ci" descr="preencoded.png">    </p:cNvPr>
          <p:cNvPicPr>
            <a:picLocks noChangeAspect="1"/>
          </p:cNvPicPr>
          <p:nvPr/>
        </p:nvPicPr>
        <p:blipFill>
          <a:blip r:embed="rId6"/>
          <a:stretch>
            <a:fillRect/>
          </a:stretch>
        </p:blipFill>
        <p:spPr>
          <a:xfrm>
            <a:off x="8483346" y="4185666"/>
            <a:ext cx="251460" cy="251460"/>
          </a:xfrm>
          <a:prstGeom prst="rect">
            <a:avLst/>
          </a:prstGeom>
        </p:spPr>
      </p:pic>
      <p:sp>
        <p:nvSpPr>
          <p:cNvPr id="32" name="a6u-col5h"/>
          <p:cNvSpPr txBox="1"/>
          <p:nvPr/>
        </p:nvSpPr>
        <p:spPr>
          <a:xfrm>
            <a:off x="8997696" y="4059936"/>
            <a:ext cx="2414016"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6  Validate</a:t>
            </a:r>
            <a:endParaRPr lang="en-US" sz="1700" dirty="0"/>
          </a:p>
        </p:txBody>
      </p:sp>
      <p:sp>
        <p:nvSpPr>
          <p:cNvPr id="33" name="a6u-col5b"/>
          <p:cNvSpPr txBox="1"/>
          <p:nvPr/>
        </p:nvSpPr>
        <p:spPr>
          <a:xfrm>
            <a:off x="8357616" y="4681728"/>
            <a:ext cx="3145536" cy="129844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Object-by-object comparison</a:t>
            </a:r>
            <a:endParaRPr lang="en-US" sz="1400" dirty="0"/>
          </a:p>
          <a:p>
            <a:pPr marL="177800" indent="-177800">
              <a:spcAft>
                <a:spcPts val="300"/>
              </a:spcAft>
              <a:buSzPct val="100000"/>
              <a:buChar char="•"/>
            </a:pPr>
            <a:r>
              <a:rPr lang="en-US" sz="1400" dirty="0">
                <a:solidFill>
                  <a:schemeClr val="tx1"/>
                </a:solidFill>
              </a:rPr>
              <a:t>Does it run in Fabric?</a:t>
            </a:r>
            <a:endParaRPr lang="en-US" sz="1400" dirty="0"/>
          </a:p>
          <a:p>
            <a:pPr marL="177800" indent="-177800">
              <a:spcAft>
                <a:spcPts val="300"/>
              </a:spcAft>
              <a:buSzPct val="100000"/>
              <a:buChar char="•"/>
            </a:pPr>
            <a:r>
              <a:rPr lang="en-US" sz="1400" dirty="0">
                <a:solidFill>
                  <a:schemeClr val="tx1"/>
                </a:solidFill>
              </a:rPr>
              <a:t>Real runs on request</a:t>
            </a:r>
            <a:endParaRPr lang="en-US" sz="1400" dirty="0"/>
          </a:p>
          <a:p>
            <a:pPr marL="177800" indent="-177800">
              <a:spcAft>
                <a:spcPts val="300"/>
              </a:spcAft>
              <a:buSzPct val="100000"/>
              <a:buChar char="•"/>
            </a:pPr>
            <a:r>
              <a:rPr lang="en-US" sz="1400" dirty="0">
                <a:solidFill>
                  <a:schemeClr val="tx1"/>
                </a:solidFill>
              </a:rPr>
              <a:t>CSV report of every result</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childTnLst>
                          </p:cTn>
                        </p:par>
                        <p:par>
                          <p:cTn id="30" fill="hold">
                            <p:stCondLst>
                              <p:cond delay="55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childTnLst>
                          </p:cTn>
                        </p:par>
                        <p:par>
                          <p:cTn id="56" fill="hold">
                            <p:stCondLst>
                              <p:cond delay="1100"/>
                            </p:stCondLst>
                            <p:childTnLst>
                              <p:par>
                                <p:cTn id="57" presetID="42"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1650"/>
                            </p:stCondLst>
                            <p:childTnLst>
                              <p:par>
                                <p:cTn id="83" presetID="42" presetClass="entr" presetSubtype="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50"/>
                                        <p:tgtEl>
                                          <p:spTgt spid="19"/>
                                        </p:tgtEl>
                                      </p:cBhvr>
                                    </p:animEffect>
                                    <p:anim calcmode="lin" valueType="num">
                                      <p:cBhvr>
                                        <p:cTn id="86" dur="550" fill="hold"/>
                                        <p:tgtEl>
                                          <p:spTgt spid="19"/>
                                        </p:tgtEl>
                                        <p:attrNameLst>
                                          <p:attrName>ppt_x</p:attrName>
                                        </p:attrNameLst>
                                      </p:cBhvr>
                                      <p:tavLst>
                                        <p:tav tm="0">
                                          <p:val>
                                            <p:strVal val="#ppt_x"/>
                                          </p:val>
                                        </p:tav>
                                        <p:tav tm="100000">
                                          <p:val>
                                            <p:strVal val="#ppt_x"/>
                                          </p:val>
                                        </p:tav>
                                      </p:tavLst>
                                    </p:anim>
                                    <p:anim calcmode="lin" valueType="num">
                                      <p:cBhvr>
                                        <p:cTn id="87" dur="550" fill="hold"/>
                                        <p:tgtEl>
                                          <p:spTgt spid="19"/>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50"/>
                                        <p:tgtEl>
                                          <p:spTgt spid="20"/>
                                        </p:tgtEl>
                                      </p:cBhvr>
                                    </p:animEffect>
                                    <p:anim calcmode="lin" valueType="num">
                                      <p:cBhvr>
                                        <p:cTn id="91" dur="550" fill="hold"/>
                                        <p:tgtEl>
                                          <p:spTgt spid="20"/>
                                        </p:tgtEl>
                                        <p:attrNameLst>
                                          <p:attrName>ppt_x</p:attrName>
                                        </p:attrNameLst>
                                      </p:cBhvr>
                                      <p:tavLst>
                                        <p:tav tm="0">
                                          <p:val>
                                            <p:strVal val="#ppt_x"/>
                                          </p:val>
                                        </p:tav>
                                        <p:tav tm="100000">
                                          <p:val>
                                            <p:strVal val="#ppt_x"/>
                                          </p:val>
                                        </p:tav>
                                      </p:tavLst>
                                    </p:anim>
                                    <p:anim calcmode="lin" valueType="num">
                                      <p:cBhvr>
                                        <p:cTn id="92" dur="55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50"/>
                                        <p:tgtEl>
                                          <p:spTgt spid="21"/>
                                        </p:tgtEl>
                                      </p:cBhvr>
                                    </p:animEffect>
                                    <p:anim calcmode="lin" valueType="num">
                                      <p:cBhvr>
                                        <p:cTn id="96" dur="550" fill="hold"/>
                                        <p:tgtEl>
                                          <p:spTgt spid="21"/>
                                        </p:tgtEl>
                                        <p:attrNameLst>
                                          <p:attrName>ppt_x</p:attrName>
                                        </p:attrNameLst>
                                      </p:cBhvr>
                                      <p:tavLst>
                                        <p:tav tm="0">
                                          <p:val>
                                            <p:strVal val="#ppt_x"/>
                                          </p:val>
                                        </p:tav>
                                        <p:tav tm="100000">
                                          <p:val>
                                            <p:strVal val="#ppt_x"/>
                                          </p:val>
                                        </p:tav>
                                      </p:tavLst>
                                    </p:anim>
                                    <p:anim calcmode="lin" valueType="num">
                                      <p:cBhvr>
                                        <p:cTn id="97" dur="55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50"/>
                                        <p:tgtEl>
                                          <p:spTgt spid="23"/>
                                        </p:tgtEl>
                                      </p:cBhvr>
                                    </p:animEffect>
                                    <p:anim calcmode="lin" valueType="num">
                                      <p:cBhvr>
                                        <p:cTn id="106" dur="550" fill="hold"/>
                                        <p:tgtEl>
                                          <p:spTgt spid="23"/>
                                        </p:tgtEl>
                                        <p:attrNameLst>
                                          <p:attrName>ppt_x</p:attrName>
                                        </p:attrNameLst>
                                      </p:cBhvr>
                                      <p:tavLst>
                                        <p:tav tm="0">
                                          <p:val>
                                            <p:strVal val="#ppt_x"/>
                                          </p:val>
                                        </p:tav>
                                        <p:tav tm="100000">
                                          <p:val>
                                            <p:strVal val="#ppt_x"/>
                                          </p:val>
                                        </p:tav>
                                      </p:tavLst>
                                    </p:anim>
                                    <p:anim calcmode="lin" valueType="num">
                                      <p:cBhvr>
                                        <p:cTn id="107" dur="550" fill="hold"/>
                                        <p:tgtEl>
                                          <p:spTgt spid="23"/>
                                        </p:tgtEl>
                                        <p:attrNameLst>
                                          <p:attrName>ppt_y</p:attrName>
                                        </p:attrNameLst>
                                      </p:cBhvr>
                                      <p:tavLst>
                                        <p:tav tm="0">
                                          <p:val>
                                            <p:strVal val="#ppt_y+.1"/>
                                          </p:val>
                                        </p:tav>
                                        <p:tav tm="100000">
                                          <p:val>
                                            <p:strVal val="#ppt_y"/>
                                          </p:val>
                                        </p:tav>
                                      </p:tavLst>
                                    </p:anim>
                                  </p:childTnLst>
                                </p:cTn>
                              </p:par>
                            </p:childTnLst>
                          </p:cTn>
                        </p:par>
                        <p:par>
                          <p:cTn id="108" fill="hold">
                            <p:stCondLst>
                              <p:cond delay="2200"/>
                            </p:stCondLst>
                            <p:childTnLst>
                              <p:par>
                                <p:cTn id="109" presetID="42" presetClass="entr" presetSubtype="0" fill="hold" grpId="0" nodeType="after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50"/>
                                        <p:tgtEl>
                                          <p:spTgt spid="24"/>
                                        </p:tgtEl>
                                      </p:cBhvr>
                                    </p:animEffect>
                                    <p:anim calcmode="lin" valueType="num">
                                      <p:cBhvr>
                                        <p:cTn id="112" dur="550" fill="hold"/>
                                        <p:tgtEl>
                                          <p:spTgt spid="24"/>
                                        </p:tgtEl>
                                        <p:attrNameLst>
                                          <p:attrName>ppt_x</p:attrName>
                                        </p:attrNameLst>
                                      </p:cBhvr>
                                      <p:tavLst>
                                        <p:tav tm="0">
                                          <p:val>
                                            <p:strVal val="#ppt_x"/>
                                          </p:val>
                                        </p:tav>
                                        <p:tav tm="100000">
                                          <p:val>
                                            <p:strVal val="#ppt_x"/>
                                          </p:val>
                                        </p:tav>
                                      </p:tavLst>
                                    </p:anim>
                                    <p:anim calcmode="lin" valueType="num">
                                      <p:cBhvr>
                                        <p:cTn id="113" dur="550" fill="hold"/>
                                        <p:tgtEl>
                                          <p:spTgt spid="24"/>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50"/>
                                        <p:tgtEl>
                                          <p:spTgt spid="25"/>
                                        </p:tgtEl>
                                      </p:cBhvr>
                                    </p:animEffect>
                                    <p:anim calcmode="lin" valueType="num">
                                      <p:cBhvr>
                                        <p:cTn id="117" dur="550" fill="hold"/>
                                        <p:tgtEl>
                                          <p:spTgt spid="25"/>
                                        </p:tgtEl>
                                        <p:attrNameLst>
                                          <p:attrName>ppt_x</p:attrName>
                                        </p:attrNameLst>
                                      </p:cBhvr>
                                      <p:tavLst>
                                        <p:tav tm="0">
                                          <p:val>
                                            <p:strVal val="#ppt_x"/>
                                          </p:val>
                                        </p:tav>
                                        <p:tav tm="100000">
                                          <p:val>
                                            <p:strVal val="#ppt_x"/>
                                          </p:val>
                                        </p:tav>
                                      </p:tavLst>
                                    </p:anim>
                                    <p:anim calcmode="lin" valueType="num">
                                      <p:cBhvr>
                                        <p:cTn id="118" dur="550" fill="hold"/>
                                        <p:tgtEl>
                                          <p:spTgt spid="25"/>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550"/>
                                        <p:tgtEl>
                                          <p:spTgt spid="26"/>
                                        </p:tgtEl>
                                      </p:cBhvr>
                                    </p:animEffect>
                                    <p:anim calcmode="lin" valueType="num">
                                      <p:cBhvr>
                                        <p:cTn id="122" dur="550" fill="hold"/>
                                        <p:tgtEl>
                                          <p:spTgt spid="26"/>
                                        </p:tgtEl>
                                        <p:attrNameLst>
                                          <p:attrName>ppt_x</p:attrName>
                                        </p:attrNameLst>
                                      </p:cBhvr>
                                      <p:tavLst>
                                        <p:tav tm="0">
                                          <p:val>
                                            <p:strVal val="#ppt_x"/>
                                          </p:val>
                                        </p:tav>
                                        <p:tav tm="100000">
                                          <p:val>
                                            <p:strVal val="#ppt_x"/>
                                          </p:val>
                                        </p:tav>
                                      </p:tavLst>
                                    </p:anim>
                                    <p:anim calcmode="lin" valueType="num">
                                      <p:cBhvr>
                                        <p:cTn id="123" dur="550" fill="hold"/>
                                        <p:tgtEl>
                                          <p:spTgt spid="26"/>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50"/>
                                        <p:tgtEl>
                                          <p:spTgt spid="27"/>
                                        </p:tgtEl>
                                      </p:cBhvr>
                                    </p:animEffect>
                                    <p:anim calcmode="lin" valueType="num">
                                      <p:cBhvr>
                                        <p:cTn id="127" dur="550" fill="hold"/>
                                        <p:tgtEl>
                                          <p:spTgt spid="27"/>
                                        </p:tgtEl>
                                        <p:attrNameLst>
                                          <p:attrName>ppt_x</p:attrName>
                                        </p:attrNameLst>
                                      </p:cBhvr>
                                      <p:tavLst>
                                        <p:tav tm="0">
                                          <p:val>
                                            <p:strVal val="#ppt_x"/>
                                          </p:val>
                                        </p:tav>
                                        <p:tav tm="100000">
                                          <p:val>
                                            <p:strVal val="#ppt_x"/>
                                          </p:val>
                                        </p:tav>
                                      </p:tavLst>
                                    </p:anim>
                                    <p:anim calcmode="lin" valueType="num">
                                      <p:cBhvr>
                                        <p:cTn id="128" dur="550" fill="hold"/>
                                        <p:tgtEl>
                                          <p:spTgt spid="27"/>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550"/>
                                        <p:tgtEl>
                                          <p:spTgt spid="28"/>
                                        </p:tgtEl>
                                      </p:cBhvr>
                                    </p:animEffect>
                                    <p:anim calcmode="lin" valueType="num">
                                      <p:cBhvr>
                                        <p:cTn id="132" dur="550" fill="hold"/>
                                        <p:tgtEl>
                                          <p:spTgt spid="28"/>
                                        </p:tgtEl>
                                        <p:attrNameLst>
                                          <p:attrName>ppt_x</p:attrName>
                                        </p:attrNameLst>
                                      </p:cBhvr>
                                      <p:tavLst>
                                        <p:tav tm="0">
                                          <p:val>
                                            <p:strVal val="#ppt_x"/>
                                          </p:val>
                                        </p:tav>
                                        <p:tav tm="100000">
                                          <p:val>
                                            <p:strVal val="#ppt_x"/>
                                          </p:val>
                                        </p:tav>
                                      </p:tavLst>
                                    </p:anim>
                                    <p:anim calcmode="lin" valueType="num">
                                      <p:cBhvr>
                                        <p:cTn id="133" dur="550" fill="hold"/>
                                        <p:tgtEl>
                                          <p:spTgt spid="28"/>
                                        </p:tgtEl>
                                        <p:attrNameLst>
                                          <p:attrName>ppt_y</p:attrName>
                                        </p:attrNameLst>
                                      </p:cBhvr>
                                      <p:tavLst>
                                        <p:tav tm="0">
                                          <p:val>
                                            <p:strVal val="#ppt_y+.1"/>
                                          </p:val>
                                        </p:tav>
                                        <p:tav tm="100000">
                                          <p:val>
                                            <p:strVal val="#ppt_y"/>
                                          </p:val>
                                        </p:tav>
                                      </p:tavLst>
                                    </p:anim>
                                  </p:childTnLst>
                                </p:cTn>
                              </p:par>
                            </p:childTnLst>
                          </p:cTn>
                        </p:par>
                        <p:par>
                          <p:cTn id="134" fill="hold">
                            <p:stCondLst>
                              <p:cond delay="2750"/>
                            </p:stCondLst>
                            <p:childTnLst>
                              <p:par>
                                <p:cTn id="135" presetID="42" presetClass="entr" presetSubtype="0" fill="hold" grpId="0" nodeType="afterEffect">
                                  <p:stCondLst>
                                    <p:cond delay="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550"/>
                                        <p:tgtEl>
                                          <p:spTgt spid="29"/>
                                        </p:tgtEl>
                                      </p:cBhvr>
                                    </p:animEffect>
                                    <p:anim calcmode="lin" valueType="num">
                                      <p:cBhvr>
                                        <p:cTn id="138" dur="550" fill="hold"/>
                                        <p:tgtEl>
                                          <p:spTgt spid="29"/>
                                        </p:tgtEl>
                                        <p:attrNameLst>
                                          <p:attrName>ppt_x</p:attrName>
                                        </p:attrNameLst>
                                      </p:cBhvr>
                                      <p:tavLst>
                                        <p:tav tm="0">
                                          <p:val>
                                            <p:strVal val="#ppt_x"/>
                                          </p:val>
                                        </p:tav>
                                        <p:tav tm="100000">
                                          <p:val>
                                            <p:strVal val="#ppt_x"/>
                                          </p:val>
                                        </p:tav>
                                      </p:tavLst>
                                    </p:anim>
                                    <p:anim calcmode="lin" valueType="num">
                                      <p:cBhvr>
                                        <p:cTn id="139" dur="55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550"/>
                                        <p:tgtEl>
                                          <p:spTgt spid="30"/>
                                        </p:tgtEl>
                                      </p:cBhvr>
                                    </p:animEffect>
                                    <p:anim calcmode="lin" valueType="num">
                                      <p:cBhvr>
                                        <p:cTn id="143" dur="550" fill="hold"/>
                                        <p:tgtEl>
                                          <p:spTgt spid="30"/>
                                        </p:tgtEl>
                                        <p:attrNameLst>
                                          <p:attrName>ppt_x</p:attrName>
                                        </p:attrNameLst>
                                      </p:cBhvr>
                                      <p:tavLst>
                                        <p:tav tm="0">
                                          <p:val>
                                            <p:strVal val="#ppt_x"/>
                                          </p:val>
                                        </p:tav>
                                        <p:tav tm="100000">
                                          <p:val>
                                            <p:strVal val="#ppt_x"/>
                                          </p:val>
                                        </p:tav>
                                      </p:tavLst>
                                    </p:anim>
                                    <p:anim calcmode="lin" valueType="num">
                                      <p:cBhvr>
                                        <p:cTn id="144" dur="55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550"/>
                                        <p:tgtEl>
                                          <p:spTgt spid="31"/>
                                        </p:tgtEl>
                                      </p:cBhvr>
                                    </p:animEffect>
                                    <p:anim calcmode="lin" valueType="num">
                                      <p:cBhvr>
                                        <p:cTn id="148" dur="550" fill="hold"/>
                                        <p:tgtEl>
                                          <p:spTgt spid="31"/>
                                        </p:tgtEl>
                                        <p:attrNameLst>
                                          <p:attrName>ppt_x</p:attrName>
                                        </p:attrNameLst>
                                      </p:cBhvr>
                                      <p:tavLst>
                                        <p:tav tm="0">
                                          <p:val>
                                            <p:strVal val="#ppt_x"/>
                                          </p:val>
                                        </p:tav>
                                        <p:tav tm="100000">
                                          <p:val>
                                            <p:strVal val="#ppt_x"/>
                                          </p:val>
                                        </p:tav>
                                      </p:tavLst>
                                    </p:anim>
                                    <p:anim calcmode="lin" valueType="num">
                                      <p:cBhvr>
                                        <p:cTn id="149" dur="55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550"/>
                                        <p:tgtEl>
                                          <p:spTgt spid="32"/>
                                        </p:tgtEl>
                                      </p:cBhvr>
                                    </p:animEffect>
                                    <p:anim calcmode="lin" valueType="num">
                                      <p:cBhvr>
                                        <p:cTn id="153" dur="550" fill="hold"/>
                                        <p:tgtEl>
                                          <p:spTgt spid="32"/>
                                        </p:tgtEl>
                                        <p:attrNameLst>
                                          <p:attrName>ppt_x</p:attrName>
                                        </p:attrNameLst>
                                      </p:cBhvr>
                                      <p:tavLst>
                                        <p:tav tm="0">
                                          <p:val>
                                            <p:strVal val="#ppt_x"/>
                                          </p:val>
                                        </p:tav>
                                        <p:tav tm="100000">
                                          <p:val>
                                            <p:strVal val="#ppt_x"/>
                                          </p:val>
                                        </p:tav>
                                      </p:tavLst>
                                    </p:anim>
                                    <p:anim calcmode="lin" valueType="num">
                                      <p:cBhvr>
                                        <p:cTn id="154" dur="55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550"/>
                                        <p:tgtEl>
                                          <p:spTgt spid="33"/>
                                        </p:tgtEl>
                                      </p:cBhvr>
                                    </p:animEffect>
                                    <p:anim calcmode="lin" valueType="num">
                                      <p:cBhvr>
                                        <p:cTn id="158" dur="550" fill="hold"/>
                                        <p:tgtEl>
                                          <p:spTgt spid="33"/>
                                        </p:tgtEl>
                                        <p:attrNameLst>
                                          <p:attrName>ppt_x</p:attrName>
                                        </p:attrNameLst>
                                      </p:cBhvr>
                                      <p:tavLst>
                                        <p:tav tm="0">
                                          <p:val>
                                            <p:strVal val="#ppt_x"/>
                                          </p:val>
                                        </p:tav>
                                        <p:tav tm="100000">
                                          <p:val>
                                            <p:strVal val="#ppt_x"/>
                                          </p:val>
                                        </p:tav>
                                      </p:tavLst>
                                    </p:anim>
                                    <p:anim calcmode="lin" valueType="num">
                                      <p:cBhvr>
                                        <p:cTn id="159" dur="5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a1z-num"/>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02</a:t>
            </a:r>
            <a:endParaRPr lang="en-US" sz="8800" dirty="0"/>
          </a:p>
        </p:txBody>
      </p:sp>
      <p:sp>
        <p:nvSpPr>
          <p:cNvPr id="3" name="a2z-icon"/>
          <p:cNvSpPr/>
          <p:nvPr/>
        </p:nvSpPr>
        <p:spPr>
          <a:xfrm>
            <a:off x="8549640" y="2011680"/>
            <a:ext cx="2468880" cy="2468880"/>
          </a:xfrm>
          <a:prstGeom prst="ellipse">
            <a:avLst/>
          </a:prstGeom>
          <a:solidFill>
            <a:schemeClr val="accent5">
              <a:alpha val="18000"/>
            </a:schemeClr>
          </a:solidFill>
          <a:ln/>
        </p:spPr>
      </p:sp>
      <p:pic>
        <p:nvPicPr>
          <p:cNvPr id="4" name="a2z-iconi"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Head-to-head</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Coverage, common ground, and where each tool leads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9</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fill="hold"/>
                                        <p:tgtEl>
                                          <p:spTgt spid="2"/>
                                        </p:tgtEl>
                                        <p:attrNameLst>
                                          <p:attrName>ppt_w</p:attrName>
                                        </p:attrNameLst>
                                      </p:cBhvr>
                                      <p:tavLst>
                                        <p:tav tm="0">
                                          <p:val>
                                            <p:fltVal val="0"/>
                                          </p:val>
                                        </p:tav>
                                        <p:tav tm="100000">
                                          <p:val>
                                            <p:strVal val="#ppt_w"/>
                                          </p:val>
                                        </p:tav>
                                      </p:tavLst>
                                    </p:anim>
                                    <p:anim calcmode="lin" valueType="num">
                                      <p:cBhvr>
                                        <p:cTn id="8" dur="45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childTnLst>
                          </p:cTn>
                        </p:par>
                        <p:par>
                          <p:cTn id="10" fill="hold">
                            <p:stCondLst>
                              <p:cond delay="45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450" fill="hold"/>
                                        <p:tgtEl>
                                          <p:spTgt spid="3"/>
                                        </p:tgtEl>
                                        <p:attrNameLst>
                                          <p:attrName>ppt_w</p:attrName>
                                        </p:attrNameLst>
                                      </p:cBhvr>
                                      <p:tavLst>
                                        <p:tav tm="0">
                                          <p:val>
                                            <p:fltVal val="0"/>
                                          </p:val>
                                        </p:tav>
                                        <p:tav tm="100000">
                                          <p:val>
                                            <p:strVal val="#ppt_w"/>
                                          </p:val>
                                        </p:tav>
                                      </p:tavLst>
                                    </p:anim>
                                    <p:anim calcmode="lin" valueType="num">
                                      <p:cBhvr>
                                        <p:cTn id="14" dur="450" fill="hold"/>
                                        <p:tgtEl>
                                          <p:spTgt spid="3"/>
                                        </p:tgtEl>
                                        <p:attrNameLst>
                                          <p:attrName>ppt_h</p:attrName>
                                        </p:attrNameLst>
                                      </p:cBhvr>
                                      <p:tavLst>
                                        <p:tav tm="0">
                                          <p:val>
                                            <p:fltVal val="0"/>
                                          </p:val>
                                        </p:tav>
                                        <p:tav tm="100000">
                                          <p:val>
                                            <p:strVal val="#ppt_h"/>
                                          </p:val>
                                        </p:tav>
                                      </p:tavLst>
                                    </p:anim>
                                    <p:animEffect transition="in" filter="fade">
                                      <p:cBhvr>
                                        <p:cTn id="15" dur="450"/>
                                        <p:tgtEl>
                                          <p:spTgt spid="3"/>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450" fill="hold"/>
                                        <p:tgtEl>
                                          <p:spTgt spid="4"/>
                                        </p:tgtEl>
                                        <p:attrNameLst>
                                          <p:attrName>ppt_w</p:attrName>
                                        </p:attrNameLst>
                                      </p:cBhvr>
                                      <p:tavLst>
                                        <p:tav tm="0">
                                          <p:val>
                                            <p:fltVal val="0"/>
                                          </p:val>
                                        </p:tav>
                                        <p:tav tm="100000">
                                          <p:val>
                                            <p:strVal val="#ppt_w"/>
                                          </p:val>
                                        </p:tav>
                                      </p:tavLst>
                                    </p:anim>
                                    <p:anim calcmode="lin" valueType="num">
                                      <p:cBhvr>
                                        <p:cTn id="19" dur="450" fill="hold"/>
                                        <p:tgtEl>
                                          <p:spTgt spid="4"/>
                                        </p:tgtEl>
                                        <p:attrNameLst>
                                          <p:attrName>ppt_h</p:attrName>
                                        </p:attrNameLst>
                                      </p:cBhvr>
                                      <p:tavLst>
                                        <p:tav tm="0">
                                          <p:val>
                                            <p:fltVal val="0"/>
                                          </p:val>
                                        </p:tav>
                                        <p:tav tm="100000">
                                          <p:val>
                                            <p:strVal val="#ppt_h"/>
                                          </p:val>
                                        </p:tav>
                                      </p:tavLst>
                                    </p:anim>
                                    <p:animEffect transition="in" filter="fade">
                                      <p:cBhvr>
                                        <p:cTn id="2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Coverage: what each tool migrates</a:t>
            </a:r>
            <a:endParaRPr lang="en-US" sz="3200" dirty="0"/>
          </a:p>
        </p:txBody>
      </p:sp>
      <p:graphicFrame>
        <p:nvGraphicFramePr>
          <p:cNvPr id="11" name="a1f-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044952"/>
                <a:gridCol w="2011680"/>
                <a:gridCol w="2011680"/>
                <a:gridCol w="2011680"/>
                <a:gridCol w="2011680"/>
              </a:tblGrid>
              <a:tr h="566928">
                <a:tc>
                  <a:txBody>
                    <a:bodyPr/>
                    <a:lstStyle/>
                    <a:p>
                      <a:pPr indent="0" marL="0">
                        <a:buNone/>
                      </a:pPr>
                      <a:r>
                        <a:rPr lang="en-US" sz="1300" b="1" dirty="0">
                          <a:solidFill>
                            <a:schemeClr val="bg1"/>
                          </a:solidFill>
                        </a:rPr>
                        <a:t>Synapse object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algn="ctr" indent="0" marL="0">
                        <a:buNone/>
                      </a:pPr>
                      <a:r>
                        <a:rPr lang="en-US" sz="1300" b="1" dirty="0">
                          <a:solidFill>
                            <a:schemeClr val="bg1"/>
                          </a:solidFill>
                        </a:rPr>
                        <a:t>Our accelerator</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algn="ctr" indent="0" marL="0">
                        <a:buNone/>
                      </a:pPr>
                      <a:r>
                        <a:rPr lang="en-US" sz="1300" b="1" dirty="0">
                          <a:solidFill>
                            <a:schemeClr val="bg1"/>
                          </a:solidFill>
                        </a:rPr>
                        <a:t>Microsoft Warehouse assistant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algn="ctr" indent="0" marL="0">
                        <a:buNone/>
                      </a:pPr>
                      <a:r>
                        <a:rPr lang="en-US" sz="1300" b="1" dirty="0">
                          <a:solidFill>
                            <a:schemeClr val="bg1"/>
                          </a:solidFill>
                        </a:rPr>
                        <a:t>Microsoft Spark assistant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c>
                  <a:txBody>
                    <a:bodyPr/>
                    <a:lstStyle/>
                    <a:p>
                      <a:pPr algn="ctr" indent="0" marL="0">
                        <a:buNone/>
                      </a:pPr>
                      <a:r>
                        <a:rPr lang="en-US" sz="1300" b="1" dirty="0">
                          <a:solidFill>
                            <a:schemeClr val="bg1"/>
                          </a:solidFill>
                        </a:rPr>
                        <a:t>Microsoft pipeline migration</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r>
              <a:tr h="347472">
                <a:tc>
                  <a:txBody>
                    <a:bodyPr/>
                    <a:lstStyle/>
                    <a:p>
                      <a:pPr indent="0" marL="0">
                        <a:buNone/>
                      </a:pPr>
                      <a:r>
                        <a:rPr lang="en-US" sz="1300" b="1" dirty="0">
                          <a:solidFill>
                            <a:schemeClr val="tx2"/>
                          </a:solidFill>
                        </a:rPr>
                        <a:t>Tables, views, functions, procedures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chemeClr val="tx2"/>
                          </a:solidFill>
                        </a:rPr>
                        <a:t>Roles, permissions, data masks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300" b="1" dirty="0">
                          <a:solidFill>
                            <a:schemeClr val="tx2"/>
                          </a:solidFill>
                        </a:rPr>
                        <a:t>Table data</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Pipelines + counts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3"/>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Copy job step</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chemeClr val="tx2"/>
                          </a:solidFill>
                        </a:rPr>
                        <a:t>External tables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OneLake shortcuts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4"/>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Not supported</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300" b="1" dirty="0">
                          <a:solidFill>
                            <a:schemeClr val="tx2"/>
                          </a:solidFill>
                        </a:rPr>
                        <a:t>Spark pools → Environments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chemeClr val="tx2"/>
                          </a:solidFill>
                        </a:rPr>
                        <a:t>Notebooks and Spark jobs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Code rewritten</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3"/>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Refactor by hand</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300" b="1" dirty="0">
                          <a:solidFill>
                            <a:schemeClr val="tx2"/>
                          </a:solidFill>
                        </a:rPr>
                        <a:t>Lake databases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4"/>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Not yet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Schemas + shortcuts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chemeClr val="tx2"/>
                          </a:solidFill>
                        </a:rPr>
                        <a:t>Pipelines and datasets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Supported activities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300" b="1" dirty="0">
                          <a:solidFill>
                            <a:schemeClr val="tx2"/>
                          </a:solidFill>
                        </a:rPr>
                        <a:t>Linked services → connections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Creates them</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3"/>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Maps to existing</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347472">
                <a:tc>
                  <a:txBody>
                    <a:bodyPr/>
                    <a:lstStyle/>
                    <a:p>
                      <a:pPr indent="0" marL="0">
                        <a:buNone/>
                      </a:pPr>
                      <a:r>
                        <a:rPr lang="en-US" sz="1300" b="1" dirty="0">
                          <a:solidFill>
                            <a:schemeClr val="tx2"/>
                          </a:solidFill>
                        </a:rPr>
                        <a:t>Schedules / triggers</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Created switched off</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Disabled</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r>
              <a:tr h="347472">
                <a:tc>
                  <a:txBody>
                    <a:bodyPr/>
                    <a:lstStyle/>
                    <a:p>
                      <a:pPr indent="0" marL="0">
                        <a:buNone/>
                      </a:pPr>
                      <a:r>
                        <a:rPr lang="en-US" sz="1300" b="1" dirty="0">
                          <a:solidFill>
                            <a:schemeClr val="tx2"/>
                          </a:solidFill>
                        </a:rPr>
                        <a:t>Storage paths in code</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1"/>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Routed via OneLake</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4"/>
                          </a:solidFill>
                          <a:latin typeface="Segoe UI Symbol" pitchFamily="34" charset="0"/>
                          <a:ea typeface="Segoe UI Symbol" pitchFamily="34" charset="-122"/>
                          <a:cs typeface="Segoe UI Symbol" pitchFamily="34" charset="-120"/>
                        </a:rPr>
                        <a:t>○</a:t>
                      </a:r>
                      <a:pPr indent="0" marL="0">
                        <a:buNone/>
                      </a:pPr>
                      <a:r>
                        <a:rPr lang="en-US" sz="1300" dirty="0">
                          <a:solidFill>
                            <a:schemeClr val="tx1"/>
                          </a:solidFill>
                        </a:rPr>
                        <a:t>  Manual</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chemeClr val="accent6"/>
                          </a:solidFill>
                          <a:latin typeface="Segoe UI Symbol" pitchFamily="34" charset="0"/>
                          <a:ea typeface="Segoe UI Symbol" pitchFamily="34" charset="-122"/>
                          <a:cs typeface="Segoe UI Symbol" pitchFamily="34" charset="-120"/>
                        </a:rPr>
                        <a:t>–</a:t>
                      </a:r>
                      <a:endParaRPr lang="en-US" sz="1300" dirty="0"/>
                    </a:p>
                  </a:txBody>
                  <a:tcPr marL="91440" marR="91440" marT="27432" marB="27432"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bl>
          </a:graphicData>
        </a:graphic>
      </p:graphicFrame>
      <p:sp>
        <p:nvSpPr>
          <p:cNvPr id="5" name="a2f-legend"/>
          <p:cNvSpPr txBox="1"/>
          <p:nvPr/>
        </p:nvSpPr>
        <p:spPr>
          <a:xfrm>
            <a:off x="548640" y="5943600"/>
            <a:ext cx="11094415" cy="292608"/>
          </a:xfrm>
          <a:prstGeom prst="rect">
            <a:avLst/>
          </a:prstGeom>
          <a:noFill/>
          <a:ln/>
        </p:spPr>
        <p:txBody>
          <a:bodyPr wrap="square" lIns="0" tIns="0" rIns="0" bIns="0" rtlCol="0" anchor="t"/>
          <a:lstStyle/>
          <a:p>
            <a:pPr indent="0" marL="0">
              <a:buNone/>
            </a:pPr>
            <a:r>
              <a:rPr lang="en-US" sz="1200" dirty="0">
                <a:solidFill>
                  <a:schemeClr val="accent1"/>
                </a:solidFill>
                <a:latin typeface="Segoe UI Symbol" pitchFamily="34" charset="0"/>
                <a:ea typeface="Segoe UI Symbol" pitchFamily="34" charset="-122"/>
                <a:cs typeface="Segoe UI Symbol" pitchFamily="34" charset="-120"/>
              </a:rPr>
              <a:t>●</a:t>
            </a:r>
            <a:pPr indent="0" marL="0">
              <a:buNone/>
            </a:pPr>
            <a:r>
              <a:rPr lang="en-US" sz="1200" dirty="0">
                <a:solidFill>
                  <a:schemeClr val="accent6"/>
                </a:solidFill>
              </a:rPr>
              <a:t> Automated     </a:t>
            </a:r>
            <a:pPr indent="0" marL="0">
              <a:buNone/>
            </a:pPr>
            <a:r>
              <a:rPr lang="en-US" sz="1200" dirty="0">
                <a:solidFill>
                  <a:schemeClr val="accent3"/>
                </a:solidFill>
                <a:latin typeface="Segoe UI Symbol" pitchFamily="34" charset="0"/>
                <a:ea typeface="Segoe UI Symbol" pitchFamily="34" charset="-122"/>
                <a:cs typeface="Segoe UI Symbol" pitchFamily="34" charset="-120"/>
              </a:rPr>
              <a:t>◐</a:t>
            </a:r>
            <a:pPr indent="0" marL="0">
              <a:buNone/>
            </a:pPr>
            <a:r>
              <a:rPr lang="en-US" sz="1200" dirty="0">
                <a:solidFill>
                  <a:schemeClr val="accent6"/>
                </a:solidFill>
              </a:rPr>
              <a:t> Partly, with manual steps     </a:t>
            </a:r>
            <a:pPr indent="0" marL="0">
              <a:buNone/>
            </a:pPr>
            <a:r>
              <a:rPr lang="en-US" sz="1200" dirty="0">
                <a:solidFill>
                  <a:schemeClr val="accent4"/>
                </a:solidFill>
                <a:latin typeface="Segoe UI Symbol" pitchFamily="34" charset="0"/>
                <a:ea typeface="Segoe UI Symbol" pitchFamily="34" charset="-122"/>
                <a:cs typeface="Segoe UI Symbol" pitchFamily="34" charset="-120"/>
              </a:rPr>
              <a:t>○</a:t>
            </a:r>
            <a:pPr indent="0" marL="0">
              <a:buNone/>
            </a:pPr>
            <a:r>
              <a:rPr lang="en-US" sz="1200" dirty="0">
                <a:solidFill>
                  <a:schemeClr val="accent6"/>
                </a:solidFill>
              </a:rPr>
              <a:t> Not covered     </a:t>
            </a:r>
            <a:pPr indent="0" marL="0">
              <a:buNone/>
            </a:pPr>
            <a:r>
              <a:rPr lang="en-US" sz="1200" dirty="0">
                <a:solidFill>
                  <a:schemeClr val="accent6"/>
                </a:solidFill>
              </a:rPr>
              <a:t>–</a:t>
            </a:r>
            <a:pPr indent="0" marL="0">
              <a:buNone/>
            </a:pPr>
            <a:r>
              <a:rPr lang="en-US" sz="1200" dirty="0">
                <a:solidFill>
                  <a:schemeClr val="accent6"/>
                </a:solidFill>
              </a:rPr>
              <a:t> Outside that tool's scope</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Common ground: what both tools do</a:t>
            </a:r>
            <a:endParaRPr lang="en-US" sz="3200" dirty="0"/>
          </a:p>
        </p:txBody>
      </p:sp>
      <p:sp>
        <p:nvSpPr>
          <p:cNvPr id="4" name="a1u-cg0"/>
          <p:cNvSpPr/>
          <p:nvPr/>
        </p:nvSpPr>
        <p:spPr>
          <a:xfrm>
            <a:off x="548640" y="1618488"/>
            <a:ext cx="530352" cy="530352"/>
          </a:xfrm>
          <a:prstGeom prst="ellipse">
            <a:avLst/>
          </a:prstGeom>
          <a:solidFill>
            <a:schemeClr val="tx2"/>
          </a:solidFill>
          <a:ln/>
        </p:spPr>
      </p:sp>
      <p:pic>
        <p:nvPicPr>
          <p:cNvPr id="5" name="a1u-cg0i" descr="preencoded.png">    </p:cNvPr>
          <p:cNvPicPr>
            <a:picLocks noChangeAspect="1"/>
          </p:cNvPicPr>
          <p:nvPr/>
        </p:nvPicPr>
        <p:blipFill>
          <a:blip r:embed="rId1"/>
          <a:stretch>
            <a:fillRect/>
          </a:stretch>
        </p:blipFill>
        <p:spPr>
          <a:xfrm>
            <a:off x="681228" y="1751076"/>
            <a:ext cx="265176" cy="265176"/>
          </a:xfrm>
          <a:prstGeom prst="rect">
            <a:avLst/>
          </a:prstGeom>
        </p:spPr>
      </p:pic>
      <p:sp>
        <p:nvSpPr>
          <p:cNvPr id="6" name="a1u-cg0t"/>
          <p:cNvSpPr txBox="1"/>
          <p:nvPr/>
        </p:nvSpPr>
        <p:spPr>
          <a:xfrm>
            <a:off x="1280160" y="1572768"/>
            <a:ext cx="4709160" cy="685800"/>
          </a:xfrm>
          <a:prstGeom prst="rect">
            <a:avLst/>
          </a:prstGeom>
          <a:noFill/>
          <a:ln/>
        </p:spPr>
        <p:txBody>
          <a:bodyPr wrap="square" lIns="0" tIns="0" rIns="0" bIns="0" rtlCol="0" anchor="ctr"/>
          <a:lstStyle/>
          <a:p>
            <a:pPr indent="0" marL="0">
              <a:buNone/>
            </a:pPr>
            <a:r>
              <a:rPr lang="en-US" sz="1500" dirty="0">
                <a:solidFill>
                  <a:schemeClr val="tx1"/>
                </a:solidFill>
              </a:rPr>
              <a:t>Dedicated SQL pool → Fabric Warehouse: tables, views, functions and stored procedures</a:t>
            </a:r>
            <a:endParaRPr lang="en-US" sz="1500" dirty="0"/>
          </a:p>
        </p:txBody>
      </p:sp>
      <p:sp>
        <p:nvSpPr>
          <p:cNvPr id="7" name="a1u-cg1"/>
          <p:cNvSpPr/>
          <p:nvPr/>
        </p:nvSpPr>
        <p:spPr>
          <a:xfrm>
            <a:off x="6172200" y="1618488"/>
            <a:ext cx="530352" cy="530352"/>
          </a:xfrm>
          <a:prstGeom prst="ellipse">
            <a:avLst/>
          </a:prstGeom>
          <a:solidFill>
            <a:schemeClr val="tx2"/>
          </a:solidFill>
          <a:ln/>
        </p:spPr>
      </p:sp>
      <p:pic>
        <p:nvPicPr>
          <p:cNvPr id="8" name="a1u-cg1i" descr="preencoded.png">    </p:cNvPr>
          <p:cNvPicPr>
            <a:picLocks noChangeAspect="1"/>
          </p:cNvPicPr>
          <p:nvPr/>
        </p:nvPicPr>
        <p:blipFill>
          <a:blip r:embed="rId2"/>
          <a:stretch>
            <a:fillRect/>
          </a:stretch>
        </p:blipFill>
        <p:spPr>
          <a:xfrm>
            <a:off x="6304788" y="1751076"/>
            <a:ext cx="265176" cy="265176"/>
          </a:xfrm>
          <a:prstGeom prst="rect">
            <a:avLst/>
          </a:prstGeom>
        </p:spPr>
      </p:pic>
      <p:sp>
        <p:nvSpPr>
          <p:cNvPr id="9" name="a1u-cg1t"/>
          <p:cNvSpPr txBox="1"/>
          <p:nvPr/>
        </p:nvSpPr>
        <p:spPr>
          <a:xfrm>
            <a:off x="6903720" y="1572768"/>
            <a:ext cx="4709160" cy="685800"/>
          </a:xfrm>
          <a:prstGeom prst="rect">
            <a:avLst/>
          </a:prstGeom>
          <a:noFill/>
          <a:ln/>
        </p:spPr>
        <p:txBody>
          <a:bodyPr wrap="square" lIns="0" tIns="0" rIns="0" bIns="0" rtlCol="0" anchor="ctr"/>
          <a:lstStyle/>
          <a:p>
            <a:pPr indent="0" marL="0">
              <a:buNone/>
            </a:pPr>
            <a:r>
              <a:rPr lang="en-US" sz="1500" dirty="0">
                <a:solidFill>
                  <a:schemeClr val="tx1"/>
                </a:solidFill>
              </a:rPr>
              <a:t>Roles, GRANT / DENY permissions and dynamic data masks carried over</a:t>
            </a:r>
            <a:endParaRPr lang="en-US" sz="1500" dirty="0"/>
          </a:p>
        </p:txBody>
      </p:sp>
      <p:sp>
        <p:nvSpPr>
          <p:cNvPr id="10" name="a2u-cg2"/>
          <p:cNvSpPr/>
          <p:nvPr/>
        </p:nvSpPr>
        <p:spPr>
          <a:xfrm>
            <a:off x="548640" y="2532888"/>
            <a:ext cx="530352" cy="530352"/>
          </a:xfrm>
          <a:prstGeom prst="ellipse">
            <a:avLst/>
          </a:prstGeom>
          <a:solidFill>
            <a:schemeClr val="tx2"/>
          </a:solidFill>
          <a:ln/>
        </p:spPr>
      </p:sp>
      <p:pic>
        <p:nvPicPr>
          <p:cNvPr id="11" name="a2u-cg2i" descr="preencoded.png">    </p:cNvPr>
          <p:cNvPicPr>
            <a:picLocks noChangeAspect="1"/>
          </p:cNvPicPr>
          <p:nvPr/>
        </p:nvPicPr>
        <p:blipFill>
          <a:blip r:embed="rId3"/>
          <a:stretch>
            <a:fillRect/>
          </a:stretch>
        </p:blipFill>
        <p:spPr>
          <a:xfrm>
            <a:off x="681228" y="2665476"/>
            <a:ext cx="265176" cy="265176"/>
          </a:xfrm>
          <a:prstGeom prst="rect">
            <a:avLst/>
          </a:prstGeom>
        </p:spPr>
      </p:pic>
      <p:sp>
        <p:nvSpPr>
          <p:cNvPr id="12" name="a2u-cg2t"/>
          <p:cNvSpPr txBox="1"/>
          <p:nvPr/>
        </p:nvSpPr>
        <p:spPr>
          <a:xfrm>
            <a:off x="1280160" y="2487168"/>
            <a:ext cx="4709160" cy="685800"/>
          </a:xfrm>
          <a:prstGeom prst="rect">
            <a:avLst/>
          </a:prstGeom>
          <a:noFill/>
          <a:ln/>
        </p:spPr>
        <p:txBody>
          <a:bodyPr wrap="square" lIns="0" tIns="0" rIns="0" bIns="0" rtlCol="0" anchor="ctr"/>
          <a:lstStyle/>
          <a:p>
            <a:pPr indent="0" marL="0">
              <a:buNone/>
            </a:pPr>
            <a:r>
              <a:rPr lang="en-US" sz="1500" dirty="0">
                <a:solidFill>
                  <a:schemeClr val="tx1"/>
                </a:solidFill>
              </a:rPr>
              <a:t>Synapse-only T-SQL converted automatically, with each change noted</a:t>
            </a:r>
            <a:endParaRPr lang="en-US" sz="1500" dirty="0"/>
          </a:p>
        </p:txBody>
      </p:sp>
      <p:sp>
        <p:nvSpPr>
          <p:cNvPr id="13" name="a2u-cg3"/>
          <p:cNvSpPr/>
          <p:nvPr/>
        </p:nvSpPr>
        <p:spPr>
          <a:xfrm>
            <a:off x="6172200" y="2532888"/>
            <a:ext cx="530352" cy="530352"/>
          </a:xfrm>
          <a:prstGeom prst="ellipse">
            <a:avLst/>
          </a:prstGeom>
          <a:solidFill>
            <a:schemeClr val="tx2"/>
          </a:solidFill>
          <a:ln/>
        </p:spPr>
      </p:sp>
      <p:pic>
        <p:nvPicPr>
          <p:cNvPr id="14" name="a2u-cg3i" descr="preencoded.png">    </p:cNvPr>
          <p:cNvPicPr>
            <a:picLocks noChangeAspect="1"/>
          </p:cNvPicPr>
          <p:nvPr/>
        </p:nvPicPr>
        <p:blipFill>
          <a:blip r:embed="rId4"/>
          <a:stretch>
            <a:fillRect/>
          </a:stretch>
        </p:blipFill>
        <p:spPr>
          <a:xfrm>
            <a:off x="6304788" y="2665476"/>
            <a:ext cx="265176" cy="265176"/>
          </a:xfrm>
          <a:prstGeom prst="rect">
            <a:avLst/>
          </a:prstGeom>
        </p:spPr>
      </p:pic>
      <p:sp>
        <p:nvSpPr>
          <p:cNvPr id="15" name="a2u-cg3t"/>
          <p:cNvSpPr txBox="1"/>
          <p:nvPr/>
        </p:nvSpPr>
        <p:spPr>
          <a:xfrm>
            <a:off x="6903720" y="2487168"/>
            <a:ext cx="4709160" cy="685800"/>
          </a:xfrm>
          <a:prstGeom prst="rect">
            <a:avLst/>
          </a:prstGeom>
          <a:noFill/>
          <a:ln/>
        </p:spPr>
        <p:txBody>
          <a:bodyPr wrap="square" lIns="0" tIns="0" rIns="0" bIns="0" rtlCol="0" anchor="ctr"/>
          <a:lstStyle/>
          <a:p>
            <a:pPr indent="0" marL="0">
              <a:buNone/>
            </a:pPr>
            <a:r>
              <a:rPr lang="en-US" sz="1500" dirty="0">
                <a:solidFill>
                  <a:schemeClr val="tx1"/>
                </a:solidFill>
              </a:rPr>
              <a:t>Dependencies created before the objects that need them</a:t>
            </a:r>
            <a:endParaRPr lang="en-US" sz="1500" dirty="0"/>
          </a:p>
        </p:txBody>
      </p:sp>
      <p:sp>
        <p:nvSpPr>
          <p:cNvPr id="16" name="a3u-cg4"/>
          <p:cNvSpPr/>
          <p:nvPr/>
        </p:nvSpPr>
        <p:spPr>
          <a:xfrm>
            <a:off x="548640" y="3447288"/>
            <a:ext cx="530352" cy="530352"/>
          </a:xfrm>
          <a:prstGeom prst="ellipse">
            <a:avLst/>
          </a:prstGeom>
          <a:solidFill>
            <a:schemeClr val="tx2"/>
          </a:solidFill>
          <a:ln/>
        </p:spPr>
      </p:sp>
      <p:pic>
        <p:nvPicPr>
          <p:cNvPr id="17" name="a3u-cg4i" descr="preencoded.png">    </p:cNvPr>
          <p:cNvPicPr>
            <a:picLocks noChangeAspect="1"/>
          </p:cNvPicPr>
          <p:nvPr/>
        </p:nvPicPr>
        <p:blipFill>
          <a:blip r:embed="rId5"/>
          <a:stretch>
            <a:fillRect/>
          </a:stretch>
        </p:blipFill>
        <p:spPr>
          <a:xfrm>
            <a:off x="681228" y="3579876"/>
            <a:ext cx="265176" cy="265176"/>
          </a:xfrm>
          <a:prstGeom prst="rect">
            <a:avLst/>
          </a:prstGeom>
        </p:spPr>
      </p:pic>
      <p:sp>
        <p:nvSpPr>
          <p:cNvPr id="18" name="a3u-cg4t"/>
          <p:cNvSpPr txBox="1"/>
          <p:nvPr/>
        </p:nvSpPr>
        <p:spPr>
          <a:xfrm>
            <a:off x="1280160" y="3401568"/>
            <a:ext cx="4709160" cy="685800"/>
          </a:xfrm>
          <a:prstGeom prst="rect">
            <a:avLst/>
          </a:prstGeom>
          <a:noFill/>
          <a:ln/>
        </p:spPr>
        <p:txBody>
          <a:bodyPr wrap="square" lIns="0" tIns="0" rIns="0" bIns="0" rtlCol="0" anchor="ctr"/>
          <a:lstStyle/>
          <a:p>
            <a:pPr indent="0" marL="0">
              <a:buNone/>
            </a:pPr>
            <a:r>
              <a:rPr lang="en-US" sz="1500" dirty="0">
                <a:solidFill>
                  <a:schemeClr val="tx1"/>
                </a:solidFill>
              </a:rPr>
              <a:t>AI suggests fixes; a person reviews them before they are used</a:t>
            </a:r>
            <a:endParaRPr lang="en-US" sz="1500" dirty="0"/>
          </a:p>
        </p:txBody>
      </p:sp>
      <p:sp>
        <p:nvSpPr>
          <p:cNvPr id="19" name="a3u-cg5"/>
          <p:cNvSpPr/>
          <p:nvPr/>
        </p:nvSpPr>
        <p:spPr>
          <a:xfrm>
            <a:off x="6172200" y="3447288"/>
            <a:ext cx="530352" cy="530352"/>
          </a:xfrm>
          <a:prstGeom prst="ellipse">
            <a:avLst/>
          </a:prstGeom>
          <a:solidFill>
            <a:schemeClr val="tx2"/>
          </a:solidFill>
          <a:ln/>
        </p:spPr>
      </p:sp>
      <p:pic>
        <p:nvPicPr>
          <p:cNvPr id="20" name="a3u-cg5i" descr="preencoded.png">    </p:cNvPr>
          <p:cNvPicPr>
            <a:picLocks noChangeAspect="1"/>
          </p:cNvPicPr>
          <p:nvPr/>
        </p:nvPicPr>
        <p:blipFill>
          <a:blip r:embed="rId6"/>
          <a:stretch>
            <a:fillRect/>
          </a:stretch>
        </p:blipFill>
        <p:spPr>
          <a:xfrm>
            <a:off x="6304788" y="3579876"/>
            <a:ext cx="265176" cy="265176"/>
          </a:xfrm>
          <a:prstGeom prst="rect">
            <a:avLst/>
          </a:prstGeom>
        </p:spPr>
      </p:pic>
      <p:sp>
        <p:nvSpPr>
          <p:cNvPr id="21" name="a3u-cg5t"/>
          <p:cNvSpPr txBox="1"/>
          <p:nvPr/>
        </p:nvSpPr>
        <p:spPr>
          <a:xfrm>
            <a:off x="6903720" y="3401568"/>
            <a:ext cx="4709160" cy="685800"/>
          </a:xfrm>
          <a:prstGeom prst="rect">
            <a:avLst/>
          </a:prstGeom>
          <a:noFill/>
          <a:ln/>
        </p:spPr>
        <p:txBody>
          <a:bodyPr wrap="square" lIns="0" tIns="0" rIns="0" bIns="0" rtlCol="0" anchor="ctr"/>
          <a:lstStyle/>
          <a:p>
            <a:pPr indent="0" marL="0">
              <a:buNone/>
            </a:pPr>
            <a:r>
              <a:rPr lang="en-US" sz="1500" dirty="0">
                <a:solidFill>
                  <a:schemeClr val="tx1"/>
                </a:solidFill>
              </a:rPr>
              <a:t>Rows moved by Fabric's own engines, never through a laptop</a:t>
            </a:r>
            <a:endParaRPr lang="en-US" sz="1500" dirty="0"/>
          </a:p>
        </p:txBody>
      </p:sp>
      <p:sp>
        <p:nvSpPr>
          <p:cNvPr id="22" name="a4u-cg6"/>
          <p:cNvSpPr/>
          <p:nvPr/>
        </p:nvSpPr>
        <p:spPr>
          <a:xfrm>
            <a:off x="548640" y="4361688"/>
            <a:ext cx="530352" cy="530352"/>
          </a:xfrm>
          <a:prstGeom prst="ellipse">
            <a:avLst/>
          </a:prstGeom>
          <a:solidFill>
            <a:schemeClr val="tx2"/>
          </a:solidFill>
          <a:ln/>
        </p:spPr>
      </p:sp>
      <p:pic>
        <p:nvPicPr>
          <p:cNvPr id="23" name="a4u-cg6i" descr="preencoded.png">    </p:cNvPr>
          <p:cNvPicPr>
            <a:picLocks noChangeAspect="1"/>
          </p:cNvPicPr>
          <p:nvPr/>
        </p:nvPicPr>
        <p:blipFill>
          <a:blip r:embed="rId7"/>
          <a:stretch>
            <a:fillRect/>
          </a:stretch>
        </p:blipFill>
        <p:spPr>
          <a:xfrm>
            <a:off x="681228" y="4494276"/>
            <a:ext cx="265176" cy="265176"/>
          </a:xfrm>
          <a:prstGeom prst="rect">
            <a:avLst/>
          </a:prstGeom>
        </p:spPr>
      </p:pic>
      <p:sp>
        <p:nvSpPr>
          <p:cNvPr id="24" name="a4u-cg6t"/>
          <p:cNvSpPr txBox="1"/>
          <p:nvPr/>
        </p:nvSpPr>
        <p:spPr>
          <a:xfrm>
            <a:off x="1280160" y="4315968"/>
            <a:ext cx="4709160" cy="685800"/>
          </a:xfrm>
          <a:prstGeom prst="rect">
            <a:avLst/>
          </a:prstGeom>
          <a:noFill/>
          <a:ln/>
        </p:spPr>
        <p:txBody>
          <a:bodyPr wrap="square" lIns="0" tIns="0" rIns="0" bIns="0" rtlCol="0" anchor="ctr"/>
          <a:lstStyle/>
          <a:p>
            <a:pPr indent="0" marL="0">
              <a:buNone/>
            </a:pPr>
            <a:r>
              <a:rPr lang="en-US" sz="1500" dirty="0">
                <a:solidFill>
                  <a:schemeClr val="tx1"/>
                </a:solidFill>
              </a:rPr>
              <a:t>Spark pools become Fabric pools and Environments; notebooks and Spark jobs move</a:t>
            </a:r>
            <a:endParaRPr lang="en-US" sz="1500" dirty="0"/>
          </a:p>
        </p:txBody>
      </p:sp>
      <p:sp>
        <p:nvSpPr>
          <p:cNvPr id="25" name="a4u-cg7"/>
          <p:cNvSpPr/>
          <p:nvPr/>
        </p:nvSpPr>
        <p:spPr>
          <a:xfrm>
            <a:off x="6172200" y="4361688"/>
            <a:ext cx="530352" cy="530352"/>
          </a:xfrm>
          <a:prstGeom prst="ellipse">
            <a:avLst/>
          </a:prstGeom>
          <a:solidFill>
            <a:schemeClr val="tx2"/>
          </a:solidFill>
          <a:ln/>
        </p:spPr>
      </p:sp>
      <p:pic>
        <p:nvPicPr>
          <p:cNvPr id="26" name="a4u-cg7i" descr="preencoded.png">    </p:cNvPr>
          <p:cNvPicPr>
            <a:picLocks noChangeAspect="1"/>
          </p:cNvPicPr>
          <p:nvPr/>
        </p:nvPicPr>
        <p:blipFill>
          <a:blip r:embed="rId8"/>
          <a:stretch>
            <a:fillRect/>
          </a:stretch>
        </p:blipFill>
        <p:spPr>
          <a:xfrm>
            <a:off x="6304788" y="4494276"/>
            <a:ext cx="265176" cy="265176"/>
          </a:xfrm>
          <a:prstGeom prst="rect">
            <a:avLst/>
          </a:prstGeom>
        </p:spPr>
      </p:pic>
      <p:sp>
        <p:nvSpPr>
          <p:cNvPr id="27" name="a4u-cg7t"/>
          <p:cNvSpPr txBox="1"/>
          <p:nvPr/>
        </p:nvSpPr>
        <p:spPr>
          <a:xfrm>
            <a:off x="6903720" y="4315968"/>
            <a:ext cx="4709160" cy="685800"/>
          </a:xfrm>
          <a:prstGeom prst="rect">
            <a:avLst/>
          </a:prstGeom>
          <a:noFill/>
          <a:ln/>
        </p:spPr>
        <p:txBody>
          <a:bodyPr wrap="square" lIns="0" tIns="0" rIns="0" bIns="0" rtlCol="0" anchor="ctr"/>
          <a:lstStyle/>
          <a:p>
            <a:pPr indent="0" marL="0">
              <a:buNone/>
            </a:pPr>
            <a:r>
              <a:rPr lang="en-US" sz="1500" dirty="0">
                <a:solidFill>
                  <a:schemeClr val="tx1"/>
                </a:solidFill>
              </a:rPr>
              <a:t>Pipelines: datasets folded into activities; triggers arrive switched off</a:t>
            </a:r>
            <a:endParaRPr lang="en-US" sz="1500" dirty="0"/>
          </a:p>
        </p:txBody>
      </p:sp>
      <p:sp>
        <p:nvSpPr>
          <p:cNvPr id="28" name="a5w-limits"/>
          <p:cNvSpPr/>
          <p:nvPr/>
        </p:nvSpPr>
        <p:spPr>
          <a:xfrm>
            <a:off x="548640" y="5321808"/>
            <a:ext cx="11094415" cy="777240"/>
          </a:xfrm>
          <a:prstGeom prst="roundRect">
            <a:avLst>
              <a:gd name="adj" fmla="val 14118"/>
            </a:avLst>
          </a:prstGeom>
          <a:solidFill>
            <a:schemeClr val="accent3">
              <a:alpha val="14000"/>
            </a:schemeClr>
          </a:solidFill>
          <a:ln/>
        </p:spPr>
      </p:sp>
      <p:sp>
        <p:nvSpPr>
          <p:cNvPr id="29" name="a5w-limitsc"/>
          <p:cNvSpPr/>
          <p:nvPr/>
        </p:nvSpPr>
        <p:spPr>
          <a:xfrm>
            <a:off x="731520" y="5468112"/>
            <a:ext cx="475488" cy="475488"/>
          </a:xfrm>
          <a:prstGeom prst="ellipse">
            <a:avLst/>
          </a:prstGeom>
          <a:solidFill>
            <a:schemeClr val="accent3"/>
          </a:solidFill>
          <a:ln/>
        </p:spPr>
      </p:sp>
      <p:pic>
        <p:nvPicPr>
          <p:cNvPr id="30" name="a5w-limitsci" descr="preencoded.png">    </p:cNvPr>
          <p:cNvPicPr>
            <a:picLocks noChangeAspect="1"/>
          </p:cNvPicPr>
          <p:nvPr/>
        </p:nvPicPr>
        <p:blipFill>
          <a:blip r:embed="rId9"/>
          <a:stretch>
            <a:fillRect/>
          </a:stretch>
        </p:blipFill>
        <p:spPr>
          <a:xfrm>
            <a:off x="850392" y="5586984"/>
            <a:ext cx="237744" cy="237744"/>
          </a:xfrm>
          <a:prstGeom prst="rect">
            <a:avLst/>
          </a:prstGeom>
        </p:spPr>
      </p:pic>
      <p:sp>
        <p:nvSpPr>
          <p:cNvPr id="31" name="a5w-limitst"/>
          <p:cNvSpPr txBox="1"/>
          <p:nvPr/>
        </p:nvSpPr>
        <p:spPr>
          <a:xfrm>
            <a:off x="1417320" y="5321808"/>
            <a:ext cx="10042855" cy="777240"/>
          </a:xfrm>
          <a:prstGeom prst="rect">
            <a:avLst/>
          </a:prstGeom>
          <a:noFill/>
          <a:ln/>
        </p:spPr>
        <p:txBody>
          <a:bodyPr wrap="square" lIns="0" tIns="0" rIns="0" bIns="0" rtlCol="0" anchor="ctr"/>
          <a:lstStyle/>
          <a:p>
            <a:pPr indent="0" marL="0">
              <a:buNone/>
            </a:pPr>
            <a:r>
              <a:rPr lang="en-US" sz="1450" b="1" dirty="0">
                <a:solidFill>
                  <a:schemeClr val="tx2"/>
                </a:solidFill>
              </a:rPr>
              <a:t>Same hard limits:  </a:t>
            </a:r>
            <a:pPr indent="0" marL="0">
              <a:buNone/>
            </a:pPr>
            <a:r>
              <a:rPr lang="en-US" sz="1450" dirty="0">
                <a:solidFill>
                  <a:schemeClr val="tx1"/>
                </a:solidFill>
              </a:rPr>
              <a:t>SQL logins must become Microsoft Entra identities; no multi-statement table functions; no .NET for Spark; Spark libraries are re-added by hand.</a:t>
            </a:r>
            <a:endParaRPr lang="en-US" sz="14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fill="hold"/>
                                        <p:tgtEl>
                                          <p:spTgt spid="9"/>
                                        </p:tgtEl>
                                        <p:attrNameLst>
                                          <p:attrName>ppt_x</p:attrName>
                                        </p:attrNameLst>
                                      </p:cBhvr>
                                      <p:tavLst>
                                        <p:tav tm="0">
                                          <p:val>
                                            <p:strVal val="#ppt_x"/>
                                          </p:val>
                                        </p:tav>
                                        <p:tav tm="100000">
                                          <p:val>
                                            <p:strVal val="#ppt_x"/>
                                          </p:val>
                                        </p:tav>
                                      </p:tavLst>
                                    </p:anim>
                                    <p:anim calcmode="lin" valueType="num">
                                      <p:cBhvr>
                                        <p:cTn id="34" dur="550" fill="hold"/>
                                        <p:tgtEl>
                                          <p:spTgt spid="9"/>
                                        </p:tgtEl>
                                        <p:attrNameLst>
                                          <p:attrName>ppt_y</p:attrName>
                                        </p:attrNameLst>
                                      </p:cBhvr>
                                      <p:tavLst>
                                        <p:tav tm="0">
                                          <p:val>
                                            <p:strVal val="#ppt_y+.1"/>
                                          </p:val>
                                        </p:tav>
                                        <p:tav tm="100000">
                                          <p:val>
                                            <p:strVal val="#ppt_y"/>
                                          </p:val>
                                        </p:tav>
                                      </p:tavLst>
                                    </p:anim>
                                  </p:childTnLst>
                                </p:cTn>
                              </p:par>
                            </p:childTnLst>
                          </p:cTn>
                        </p:par>
                        <p:par>
                          <p:cTn id="35" fill="hold">
                            <p:stCondLst>
                              <p:cond delay="550"/>
                            </p:stCondLst>
                            <p:childTnLst>
                              <p:par>
                                <p:cTn id="36" presetID="42" presetClass="entr" presetSubtype="0" fill="hold" grpId="0" nodeType="after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550"/>
                                        <p:tgtEl>
                                          <p:spTgt spid="14"/>
                                        </p:tgtEl>
                                      </p:cBhvr>
                                    </p:animEffect>
                                    <p:anim calcmode="lin" valueType="num">
                                      <p:cBhvr>
                                        <p:cTn id="59" dur="550" fill="hold"/>
                                        <p:tgtEl>
                                          <p:spTgt spid="14"/>
                                        </p:tgtEl>
                                        <p:attrNameLst>
                                          <p:attrName>ppt_x</p:attrName>
                                        </p:attrNameLst>
                                      </p:cBhvr>
                                      <p:tavLst>
                                        <p:tav tm="0">
                                          <p:val>
                                            <p:strVal val="#ppt_x"/>
                                          </p:val>
                                        </p:tav>
                                        <p:tav tm="100000">
                                          <p:val>
                                            <p:strVal val="#ppt_x"/>
                                          </p:val>
                                        </p:tav>
                                      </p:tavLst>
                                    </p:anim>
                                    <p:anim calcmode="lin" valueType="num">
                                      <p:cBhvr>
                                        <p:cTn id="60" dur="550" fill="hold"/>
                                        <p:tgtEl>
                                          <p:spTgt spid="1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50"/>
                                        <p:tgtEl>
                                          <p:spTgt spid="15"/>
                                        </p:tgtEl>
                                      </p:cBhvr>
                                    </p:animEffect>
                                    <p:anim calcmode="lin" valueType="num">
                                      <p:cBhvr>
                                        <p:cTn id="64" dur="550" fill="hold"/>
                                        <p:tgtEl>
                                          <p:spTgt spid="15"/>
                                        </p:tgtEl>
                                        <p:attrNameLst>
                                          <p:attrName>ppt_x</p:attrName>
                                        </p:attrNameLst>
                                      </p:cBhvr>
                                      <p:tavLst>
                                        <p:tav tm="0">
                                          <p:val>
                                            <p:strVal val="#ppt_x"/>
                                          </p:val>
                                        </p:tav>
                                        <p:tav tm="100000">
                                          <p:val>
                                            <p:strVal val="#ppt_x"/>
                                          </p:val>
                                        </p:tav>
                                      </p:tavLst>
                                    </p:anim>
                                    <p:anim calcmode="lin" valueType="num">
                                      <p:cBhvr>
                                        <p:cTn id="65" dur="550" fill="hold"/>
                                        <p:tgtEl>
                                          <p:spTgt spid="15"/>
                                        </p:tgtEl>
                                        <p:attrNameLst>
                                          <p:attrName>ppt_y</p:attrName>
                                        </p:attrNameLst>
                                      </p:cBhvr>
                                      <p:tavLst>
                                        <p:tav tm="0">
                                          <p:val>
                                            <p:strVal val="#ppt_y+.1"/>
                                          </p:val>
                                        </p:tav>
                                        <p:tav tm="100000">
                                          <p:val>
                                            <p:strVal val="#ppt_y"/>
                                          </p:val>
                                        </p:tav>
                                      </p:tavLst>
                                    </p:anim>
                                  </p:childTnLst>
                                </p:cTn>
                              </p:par>
                            </p:childTnLst>
                          </p:cTn>
                        </p:par>
                        <p:par>
                          <p:cTn id="66" fill="hold">
                            <p:stCondLst>
                              <p:cond delay="1100"/>
                            </p:stCondLst>
                            <p:childTnLst>
                              <p:par>
                                <p:cTn id="67" presetID="42" presetClass="entr" presetSubtype="0"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50"/>
                                        <p:tgtEl>
                                          <p:spTgt spid="19"/>
                                        </p:tgtEl>
                                      </p:cBhvr>
                                    </p:animEffect>
                                    <p:anim calcmode="lin" valueType="num">
                                      <p:cBhvr>
                                        <p:cTn id="85" dur="550" fill="hold"/>
                                        <p:tgtEl>
                                          <p:spTgt spid="19"/>
                                        </p:tgtEl>
                                        <p:attrNameLst>
                                          <p:attrName>ppt_x</p:attrName>
                                        </p:attrNameLst>
                                      </p:cBhvr>
                                      <p:tavLst>
                                        <p:tav tm="0">
                                          <p:val>
                                            <p:strVal val="#ppt_x"/>
                                          </p:val>
                                        </p:tav>
                                        <p:tav tm="100000">
                                          <p:val>
                                            <p:strVal val="#ppt_x"/>
                                          </p:val>
                                        </p:tav>
                                      </p:tavLst>
                                    </p:anim>
                                    <p:anim calcmode="lin" valueType="num">
                                      <p:cBhvr>
                                        <p:cTn id="86" dur="55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50"/>
                                        <p:tgtEl>
                                          <p:spTgt spid="20"/>
                                        </p:tgtEl>
                                      </p:cBhvr>
                                    </p:animEffect>
                                    <p:anim calcmode="lin" valueType="num">
                                      <p:cBhvr>
                                        <p:cTn id="90" dur="550" fill="hold"/>
                                        <p:tgtEl>
                                          <p:spTgt spid="20"/>
                                        </p:tgtEl>
                                        <p:attrNameLst>
                                          <p:attrName>ppt_x</p:attrName>
                                        </p:attrNameLst>
                                      </p:cBhvr>
                                      <p:tavLst>
                                        <p:tav tm="0">
                                          <p:val>
                                            <p:strVal val="#ppt_x"/>
                                          </p:val>
                                        </p:tav>
                                        <p:tav tm="100000">
                                          <p:val>
                                            <p:strVal val="#ppt_x"/>
                                          </p:val>
                                        </p:tav>
                                      </p:tavLst>
                                    </p:anim>
                                    <p:anim calcmode="lin" valueType="num">
                                      <p:cBhvr>
                                        <p:cTn id="91" dur="55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50"/>
                                        <p:tgtEl>
                                          <p:spTgt spid="21"/>
                                        </p:tgtEl>
                                      </p:cBhvr>
                                    </p:animEffect>
                                    <p:anim calcmode="lin" valueType="num">
                                      <p:cBhvr>
                                        <p:cTn id="95" dur="550" fill="hold"/>
                                        <p:tgtEl>
                                          <p:spTgt spid="21"/>
                                        </p:tgtEl>
                                        <p:attrNameLst>
                                          <p:attrName>ppt_x</p:attrName>
                                        </p:attrNameLst>
                                      </p:cBhvr>
                                      <p:tavLst>
                                        <p:tav tm="0">
                                          <p:val>
                                            <p:strVal val="#ppt_x"/>
                                          </p:val>
                                        </p:tav>
                                        <p:tav tm="100000">
                                          <p:val>
                                            <p:strVal val="#ppt_x"/>
                                          </p:val>
                                        </p:tav>
                                      </p:tavLst>
                                    </p:anim>
                                    <p:anim calcmode="lin" valueType="num">
                                      <p:cBhvr>
                                        <p:cTn id="96" dur="550" fill="hold"/>
                                        <p:tgtEl>
                                          <p:spTgt spid="21"/>
                                        </p:tgtEl>
                                        <p:attrNameLst>
                                          <p:attrName>ppt_y</p:attrName>
                                        </p:attrNameLst>
                                      </p:cBhvr>
                                      <p:tavLst>
                                        <p:tav tm="0">
                                          <p:val>
                                            <p:strVal val="#ppt_y+.1"/>
                                          </p:val>
                                        </p:tav>
                                        <p:tav tm="100000">
                                          <p:val>
                                            <p:strVal val="#ppt_y"/>
                                          </p:val>
                                        </p:tav>
                                      </p:tavLst>
                                    </p:anim>
                                  </p:childTnLst>
                                </p:cTn>
                              </p:par>
                            </p:childTnLst>
                          </p:cTn>
                        </p:par>
                        <p:par>
                          <p:cTn id="97" fill="hold">
                            <p:stCondLst>
                              <p:cond delay="1650"/>
                            </p:stCondLst>
                            <p:childTnLst>
                              <p:par>
                                <p:cTn id="98" presetID="42" presetClass="entr" presetSubtype="0" fill="hold" grpId="0" nodeType="after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50"/>
                                        <p:tgtEl>
                                          <p:spTgt spid="23"/>
                                        </p:tgtEl>
                                      </p:cBhvr>
                                    </p:animEffect>
                                    <p:anim calcmode="lin" valueType="num">
                                      <p:cBhvr>
                                        <p:cTn id="106" dur="550" fill="hold"/>
                                        <p:tgtEl>
                                          <p:spTgt spid="23"/>
                                        </p:tgtEl>
                                        <p:attrNameLst>
                                          <p:attrName>ppt_x</p:attrName>
                                        </p:attrNameLst>
                                      </p:cBhvr>
                                      <p:tavLst>
                                        <p:tav tm="0">
                                          <p:val>
                                            <p:strVal val="#ppt_x"/>
                                          </p:val>
                                        </p:tav>
                                        <p:tav tm="100000">
                                          <p:val>
                                            <p:strVal val="#ppt_x"/>
                                          </p:val>
                                        </p:tav>
                                      </p:tavLst>
                                    </p:anim>
                                    <p:anim calcmode="lin" valueType="num">
                                      <p:cBhvr>
                                        <p:cTn id="107" dur="550" fill="hold"/>
                                        <p:tgtEl>
                                          <p:spTgt spid="23"/>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550"/>
                                        <p:tgtEl>
                                          <p:spTgt spid="24"/>
                                        </p:tgtEl>
                                      </p:cBhvr>
                                    </p:animEffect>
                                    <p:anim calcmode="lin" valueType="num">
                                      <p:cBhvr>
                                        <p:cTn id="111" dur="550" fill="hold"/>
                                        <p:tgtEl>
                                          <p:spTgt spid="24"/>
                                        </p:tgtEl>
                                        <p:attrNameLst>
                                          <p:attrName>ppt_x</p:attrName>
                                        </p:attrNameLst>
                                      </p:cBhvr>
                                      <p:tavLst>
                                        <p:tav tm="0">
                                          <p:val>
                                            <p:strVal val="#ppt_x"/>
                                          </p:val>
                                        </p:tav>
                                        <p:tav tm="100000">
                                          <p:val>
                                            <p:strVal val="#ppt_x"/>
                                          </p:val>
                                        </p:tav>
                                      </p:tavLst>
                                    </p:anim>
                                    <p:anim calcmode="lin" valueType="num">
                                      <p:cBhvr>
                                        <p:cTn id="112" dur="550" fill="hold"/>
                                        <p:tgtEl>
                                          <p:spTgt spid="24"/>
                                        </p:tgtEl>
                                        <p:attrNameLst>
                                          <p:attrName>ppt_y</p:attrName>
                                        </p:attrNameLst>
                                      </p:cBhvr>
                                      <p:tavLst>
                                        <p:tav tm="0">
                                          <p:val>
                                            <p:strVal val="#ppt_y+.1"/>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550"/>
                                        <p:tgtEl>
                                          <p:spTgt spid="25"/>
                                        </p:tgtEl>
                                      </p:cBhvr>
                                    </p:animEffect>
                                    <p:anim calcmode="lin" valueType="num">
                                      <p:cBhvr>
                                        <p:cTn id="116" dur="550" fill="hold"/>
                                        <p:tgtEl>
                                          <p:spTgt spid="25"/>
                                        </p:tgtEl>
                                        <p:attrNameLst>
                                          <p:attrName>ppt_x</p:attrName>
                                        </p:attrNameLst>
                                      </p:cBhvr>
                                      <p:tavLst>
                                        <p:tav tm="0">
                                          <p:val>
                                            <p:strVal val="#ppt_x"/>
                                          </p:val>
                                        </p:tav>
                                        <p:tav tm="100000">
                                          <p:val>
                                            <p:strVal val="#ppt_x"/>
                                          </p:val>
                                        </p:tav>
                                      </p:tavLst>
                                    </p:anim>
                                    <p:anim calcmode="lin" valueType="num">
                                      <p:cBhvr>
                                        <p:cTn id="117" dur="550" fill="hold"/>
                                        <p:tgtEl>
                                          <p:spTgt spid="25"/>
                                        </p:tgtEl>
                                        <p:attrNameLst>
                                          <p:attrName>ppt_y</p:attrName>
                                        </p:attrNameLst>
                                      </p:cBhvr>
                                      <p:tavLst>
                                        <p:tav tm="0">
                                          <p:val>
                                            <p:strVal val="#ppt_y+.1"/>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6"/>
                                        </p:tgtEl>
                                        <p:attrNameLst>
                                          <p:attrName>style.visibility</p:attrName>
                                        </p:attrNameLst>
                                      </p:cBhvr>
                                      <p:to>
                                        <p:strVal val="visible"/>
                                      </p:to>
                                    </p:set>
                                    <p:animEffect transition="in" filter="fade">
                                      <p:cBhvr>
                                        <p:cTn id="120" dur="550"/>
                                        <p:tgtEl>
                                          <p:spTgt spid="26"/>
                                        </p:tgtEl>
                                      </p:cBhvr>
                                    </p:animEffect>
                                    <p:anim calcmode="lin" valueType="num">
                                      <p:cBhvr>
                                        <p:cTn id="121" dur="550" fill="hold"/>
                                        <p:tgtEl>
                                          <p:spTgt spid="26"/>
                                        </p:tgtEl>
                                        <p:attrNameLst>
                                          <p:attrName>ppt_x</p:attrName>
                                        </p:attrNameLst>
                                      </p:cBhvr>
                                      <p:tavLst>
                                        <p:tav tm="0">
                                          <p:val>
                                            <p:strVal val="#ppt_x"/>
                                          </p:val>
                                        </p:tav>
                                        <p:tav tm="100000">
                                          <p:val>
                                            <p:strVal val="#ppt_x"/>
                                          </p:val>
                                        </p:tav>
                                      </p:tavLst>
                                    </p:anim>
                                    <p:anim calcmode="lin" valueType="num">
                                      <p:cBhvr>
                                        <p:cTn id="122" dur="550" fill="hold"/>
                                        <p:tgtEl>
                                          <p:spTgt spid="26"/>
                                        </p:tgtEl>
                                        <p:attrNameLst>
                                          <p:attrName>ppt_y</p:attrName>
                                        </p:attrNameLst>
                                      </p:cBhvr>
                                      <p:tavLst>
                                        <p:tav tm="0">
                                          <p:val>
                                            <p:strVal val="#ppt_y+.1"/>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7"/>
                                        </p:tgtEl>
                                        <p:attrNameLst>
                                          <p:attrName>style.visibility</p:attrName>
                                        </p:attrNameLst>
                                      </p:cBhvr>
                                      <p:to>
                                        <p:strVal val="visible"/>
                                      </p:to>
                                    </p:set>
                                    <p:animEffect transition="in" filter="fade">
                                      <p:cBhvr>
                                        <p:cTn id="125" dur="550"/>
                                        <p:tgtEl>
                                          <p:spTgt spid="27"/>
                                        </p:tgtEl>
                                      </p:cBhvr>
                                    </p:animEffect>
                                    <p:anim calcmode="lin" valueType="num">
                                      <p:cBhvr>
                                        <p:cTn id="126" dur="550" fill="hold"/>
                                        <p:tgtEl>
                                          <p:spTgt spid="27"/>
                                        </p:tgtEl>
                                        <p:attrNameLst>
                                          <p:attrName>ppt_x</p:attrName>
                                        </p:attrNameLst>
                                      </p:cBhvr>
                                      <p:tavLst>
                                        <p:tav tm="0">
                                          <p:val>
                                            <p:strVal val="#ppt_x"/>
                                          </p:val>
                                        </p:tav>
                                        <p:tav tm="100000">
                                          <p:val>
                                            <p:strVal val="#ppt_x"/>
                                          </p:val>
                                        </p:tav>
                                      </p:tavLst>
                                    </p:anim>
                                    <p:anim calcmode="lin" valueType="num">
                                      <p:cBhvr>
                                        <p:cTn id="127" dur="550" fill="hold"/>
                                        <p:tgtEl>
                                          <p:spTgt spid="27"/>
                                        </p:tgtEl>
                                        <p:attrNameLst>
                                          <p:attrName>ppt_y</p:attrName>
                                        </p:attrNameLst>
                                      </p:cBhvr>
                                      <p:tavLst>
                                        <p:tav tm="0">
                                          <p:val>
                                            <p:strVal val="#ppt_y+.1"/>
                                          </p:val>
                                        </p:tav>
                                        <p:tav tm="100000">
                                          <p:val>
                                            <p:strVal val="#ppt_y"/>
                                          </p:val>
                                        </p:tav>
                                      </p:tavLst>
                                    </p:anim>
                                  </p:childTnLst>
                                </p:cTn>
                              </p:par>
                            </p:childTnLst>
                          </p:cTn>
                        </p:par>
                        <p:par>
                          <p:cTn id="128" fill="hold">
                            <p:stCondLst>
                              <p:cond delay="2200"/>
                            </p:stCondLst>
                            <p:childTnLst>
                              <p:par>
                                <p:cTn id="129" presetID="22" presetClass="entr" presetSubtype="8" fill="hold" grpId="0" nodeType="after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wipe(left)">
                                      <p:cBhvr>
                                        <p:cTn id="131" dur="500"/>
                                        <p:tgtEl>
                                          <p:spTgt spid="28"/>
                                        </p:tgtEl>
                                      </p:cBhvr>
                                    </p:animEffect>
                                  </p:childTnLst>
                                </p:cTn>
                              </p:par>
                              <p:par>
                                <p:cTn id="132" presetID="22" presetClass="entr" presetSubtype="8" fill="hold" grpId="0" nodeType="with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left)">
                                      <p:cBhvr>
                                        <p:cTn id="134" dur="500"/>
                                        <p:tgtEl>
                                          <p:spTgt spid="29"/>
                                        </p:tgtEl>
                                      </p:cBhvr>
                                    </p:animEffect>
                                  </p:childTnLst>
                                </p:cTn>
                              </p:par>
                              <p:par>
                                <p:cTn id="135" presetID="22" presetClass="entr" presetSubtype="8"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wipe(left)">
                                      <p:cBhvr>
                                        <p:cTn id="137" dur="500"/>
                                        <p:tgtEl>
                                          <p:spTgt spid="30"/>
                                        </p:tgtEl>
                                      </p:cBhvr>
                                    </p:animEffect>
                                  </p:childTnLst>
                                </p:cTn>
                              </p:par>
                              <p:par>
                                <p:cTn id="138" presetID="22" presetClass="entr" presetSubtype="8" fill="hold" grpId="0" nodeType="withEffect">
                                  <p:stCondLst>
                                    <p:cond delay="0"/>
                                  </p:stCondLst>
                                  <p:childTnLst>
                                    <p:set>
                                      <p:cBhvr>
                                        <p:cTn id="139" dur="1" fill="hold">
                                          <p:stCondLst>
                                            <p:cond delay="0"/>
                                          </p:stCondLst>
                                        </p:cTn>
                                        <p:tgtEl>
                                          <p:spTgt spid="31"/>
                                        </p:tgtEl>
                                        <p:attrNameLst>
                                          <p:attrName>style.visibility</p:attrName>
                                        </p:attrNameLst>
                                      </p:cBhvr>
                                      <p:to>
                                        <p:strVal val="visible"/>
                                      </p:to>
                                    </p:set>
                                    <p:animEffect transition="in" filter="wipe(left)">
                                      <p:cBhvr>
                                        <p:cTn id="14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29"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Where our accelerator is stronger</a:t>
            </a:r>
            <a:endParaRPr lang="en-US" sz="3200" dirty="0"/>
          </a:p>
        </p:txBody>
      </p:sp>
      <p:sp>
        <p:nvSpPr>
          <p:cNvPr id="4" name="a1u-our0"/>
          <p:cNvSpPr/>
          <p:nvPr/>
        </p:nvSpPr>
        <p:spPr>
          <a:xfrm>
            <a:off x="548640" y="1554480"/>
            <a:ext cx="3511296" cy="2103120"/>
          </a:xfrm>
          <a:prstGeom prst="roundRect">
            <a:avLst>
              <a:gd name="adj" fmla="val 5217"/>
            </a:avLst>
          </a:prstGeom>
          <a:solidFill>
            <a:schemeClr val="accent1">
              <a:alpha val="10000"/>
            </a:schemeClr>
          </a:solidFill>
          <a:ln/>
        </p:spPr>
      </p:sp>
      <p:sp>
        <p:nvSpPr>
          <p:cNvPr id="5" name="a1u-our0c"/>
          <p:cNvSpPr/>
          <p:nvPr/>
        </p:nvSpPr>
        <p:spPr>
          <a:xfrm>
            <a:off x="822960" y="1828800"/>
            <a:ext cx="548640" cy="548640"/>
          </a:xfrm>
          <a:prstGeom prst="ellipse">
            <a:avLst/>
          </a:prstGeom>
          <a:solidFill>
            <a:schemeClr val="accent1"/>
          </a:solidFill>
          <a:ln/>
        </p:spPr>
      </p:sp>
      <p:pic>
        <p:nvPicPr>
          <p:cNvPr id="6" name="a1u-our0ci" descr="preencoded.png">    </p:cNvPr>
          <p:cNvPicPr>
            <a:picLocks noChangeAspect="1"/>
          </p:cNvPicPr>
          <p:nvPr/>
        </p:nvPicPr>
        <p:blipFill>
          <a:blip r:embed="rId1"/>
          <a:stretch>
            <a:fillRect/>
          </a:stretch>
        </p:blipFill>
        <p:spPr>
          <a:xfrm>
            <a:off x="960120" y="1965960"/>
            <a:ext cx="274320" cy="274320"/>
          </a:xfrm>
          <a:prstGeom prst="rect">
            <a:avLst/>
          </a:prstGeom>
        </p:spPr>
      </p:pic>
      <p:sp>
        <p:nvSpPr>
          <p:cNvPr id="7" name="a1u-our0h"/>
          <p:cNvSpPr txBox="1"/>
          <p:nvPr/>
        </p:nvSpPr>
        <p:spPr>
          <a:xfrm>
            <a:off x="1536192"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One end-to-end journey</a:t>
            </a:r>
            <a:endParaRPr lang="en-US" sz="1700" dirty="0"/>
          </a:p>
        </p:txBody>
      </p:sp>
      <p:sp>
        <p:nvSpPr>
          <p:cNvPr id="8" name="a1u-our0b"/>
          <p:cNvSpPr txBox="1"/>
          <p:nvPr/>
        </p:nvSpPr>
        <p:spPr>
          <a:xfrm>
            <a:off x="822960"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SQL, data, Spark, notebooks, pipelines, connections, schedules and shortcuts in one dependency-ordered run.</a:t>
            </a:r>
            <a:endParaRPr lang="en-US" sz="1400" dirty="0"/>
          </a:p>
        </p:txBody>
      </p:sp>
      <p:sp>
        <p:nvSpPr>
          <p:cNvPr id="9" name="a2u-our1"/>
          <p:cNvSpPr/>
          <p:nvPr/>
        </p:nvSpPr>
        <p:spPr>
          <a:xfrm>
            <a:off x="4338828" y="1554480"/>
            <a:ext cx="3511296" cy="2103120"/>
          </a:xfrm>
          <a:prstGeom prst="roundRect">
            <a:avLst>
              <a:gd name="adj" fmla="val 5217"/>
            </a:avLst>
          </a:prstGeom>
          <a:solidFill>
            <a:schemeClr val="accent1">
              <a:alpha val="10000"/>
            </a:schemeClr>
          </a:solidFill>
          <a:ln/>
        </p:spPr>
      </p:sp>
      <p:sp>
        <p:nvSpPr>
          <p:cNvPr id="10" name="a2u-our1c"/>
          <p:cNvSpPr/>
          <p:nvPr/>
        </p:nvSpPr>
        <p:spPr>
          <a:xfrm>
            <a:off x="4613148" y="1828800"/>
            <a:ext cx="548640" cy="548640"/>
          </a:xfrm>
          <a:prstGeom prst="ellipse">
            <a:avLst/>
          </a:prstGeom>
          <a:solidFill>
            <a:schemeClr val="accent1"/>
          </a:solidFill>
          <a:ln/>
        </p:spPr>
      </p:sp>
      <p:pic>
        <p:nvPicPr>
          <p:cNvPr id="11" name="a2u-our1ci" descr="preencoded.png">    </p:cNvPr>
          <p:cNvPicPr>
            <a:picLocks noChangeAspect="1"/>
          </p:cNvPicPr>
          <p:nvPr/>
        </p:nvPicPr>
        <p:blipFill>
          <a:blip r:embed="rId2"/>
          <a:stretch>
            <a:fillRect/>
          </a:stretch>
        </p:blipFill>
        <p:spPr>
          <a:xfrm>
            <a:off x="4750308" y="1965960"/>
            <a:ext cx="274320" cy="274320"/>
          </a:xfrm>
          <a:prstGeom prst="rect">
            <a:avLst/>
          </a:prstGeom>
        </p:spPr>
      </p:pic>
      <p:sp>
        <p:nvSpPr>
          <p:cNvPr id="12" name="a2u-our1h"/>
          <p:cNvSpPr txBox="1"/>
          <p:nvPr/>
        </p:nvSpPr>
        <p:spPr>
          <a:xfrm>
            <a:off x="5326380"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Reads Synapse the way teams work</a:t>
            </a:r>
            <a:endParaRPr lang="en-US" sz="1700" dirty="0"/>
          </a:p>
        </p:txBody>
      </p:sp>
      <p:sp>
        <p:nvSpPr>
          <p:cNvPr id="13" name="a2u-our1b"/>
          <p:cNvSpPr txBox="1"/>
          <p:nvPr/>
        </p:nvSpPr>
        <p:spPr>
          <a:xfrm>
            <a:off x="4613148"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Git collaboration branch (with unpublished work), live workspace or ZIP, with per-environment parameters.</a:t>
            </a:r>
            <a:endParaRPr lang="en-US" sz="1400" dirty="0"/>
          </a:p>
        </p:txBody>
      </p:sp>
      <p:sp>
        <p:nvSpPr>
          <p:cNvPr id="14" name="a3u-our2"/>
          <p:cNvSpPr/>
          <p:nvPr/>
        </p:nvSpPr>
        <p:spPr>
          <a:xfrm>
            <a:off x="8129016" y="1554480"/>
            <a:ext cx="3511296" cy="2103120"/>
          </a:xfrm>
          <a:prstGeom prst="roundRect">
            <a:avLst>
              <a:gd name="adj" fmla="val 5217"/>
            </a:avLst>
          </a:prstGeom>
          <a:solidFill>
            <a:schemeClr val="accent1">
              <a:alpha val="10000"/>
            </a:schemeClr>
          </a:solidFill>
          <a:ln/>
        </p:spPr>
      </p:sp>
      <p:sp>
        <p:nvSpPr>
          <p:cNvPr id="15" name="a3u-our2c"/>
          <p:cNvSpPr/>
          <p:nvPr/>
        </p:nvSpPr>
        <p:spPr>
          <a:xfrm>
            <a:off x="8403336" y="1828800"/>
            <a:ext cx="548640" cy="548640"/>
          </a:xfrm>
          <a:prstGeom prst="ellipse">
            <a:avLst/>
          </a:prstGeom>
          <a:solidFill>
            <a:schemeClr val="accent1"/>
          </a:solidFill>
          <a:ln/>
        </p:spPr>
      </p:sp>
      <p:pic>
        <p:nvPicPr>
          <p:cNvPr id="16" name="a3u-our2ci" descr="preencoded.png">    </p:cNvPr>
          <p:cNvPicPr>
            <a:picLocks noChangeAspect="1"/>
          </p:cNvPicPr>
          <p:nvPr/>
        </p:nvPicPr>
        <p:blipFill>
          <a:blip r:embed="rId3"/>
          <a:stretch>
            <a:fillRect/>
          </a:stretch>
        </p:blipFill>
        <p:spPr>
          <a:xfrm>
            <a:off x="8540496" y="1965960"/>
            <a:ext cx="274320" cy="274320"/>
          </a:xfrm>
          <a:prstGeom prst="rect">
            <a:avLst/>
          </a:prstGeom>
        </p:spPr>
      </p:pic>
      <p:sp>
        <p:nvSpPr>
          <p:cNvPr id="17" name="a3u-our2h"/>
          <p:cNvSpPr txBox="1"/>
          <p:nvPr/>
        </p:nvSpPr>
        <p:spPr>
          <a:xfrm>
            <a:off x="9116568"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Plans before it writes</a:t>
            </a:r>
            <a:endParaRPr lang="en-US" sz="1700" dirty="0"/>
          </a:p>
        </p:txBody>
      </p:sp>
      <p:sp>
        <p:nvSpPr>
          <p:cNvPr id="18" name="a3u-our2b"/>
          <p:cNvSpPr txBox="1"/>
          <p:nvPr/>
        </p:nvSpPr>
        <p:spPr>
          <a:xfrm>
            <a:off x="8403336"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Readiness score, risks by severity and effort in days. A blocking risk stops the run.</a:t>
            </a:r>
            <a:endParaRPr lang="en-US" sz="1400" dirty="0"/>
          </a:p>
        </p:txBody>
      </p:sp>
      <p:sp>
        <p:nvSpPr>
          <p:cNvPr id="19" name="a4u-our3"/>
          <p:cNvSpPr/>
          <p:nvPr/>
        </p:nvSpPr>
        <p:spPr>
          <a:xfrm>
            <a:off x="548640" y="3840480"/>
            <a:ext cx="3511296" cy="2103120"/>
          </a:xfrm>
          <a:prstGeom prst="roundRect">
            <a:avLst>
              <a:gd name="adj" fmla="val 5217"/>
            </a:avLst>
          </a:prstGeom>
          <a:solidFill>
            <a:schemeClr val="accent1">
              <a:alpha val="10000"/>
            </a:schemeClr>
          </a:solidFill>
          <a:ln/>
        </p:spPr>
      </p:sp>
      <p:sp>
        <p:nvSpPr>
          <p:cNvPr id="20" name="a4u-our3c"/>
          <p:cNvSpPr/>
          <p:nvPr/>
        </p:nvSpPr>
        <p:spPr>
          <a:xfrm>
            <a:off x="822960" y="4114800"/>
            <a:ext cx="548640" cy="548640"/>
          </a:xfrm>
          <a:prstGeom prst="ellipse">
            <a:avLst/>
          </a:prstGeom>
          <a:solidFill>
            <a:schemeClr val="accent1"/>
          </a:solidFill>
          <a:ln/>
        </p:spPr>
      </p:sp>
      <p:pic>
        <p:nvPicPr>
          <p:cNvPr id="21" name="a4u-our3ci" descr="preencoded.png">    </p:cNvPr>
          <p:cNvPicPr>
            <a:picLocks noChangeAspect="1"/>
          </p:cNvPicPr>
          <p:nvPr/>
        </p:nvPicPr>
        <p:blipFill>
          <a:blip r:embed="rId4"/>
          <a:stretch>
            <a:fillRect/>
          </a:stretch>
        </p:blipFill>
        <p:spPr>
          <a:xfrm>
            <a:off x="960120" y="4251960"/>
            <a:ext cx="274320" cy="274320"/>
          </a:xfrm>
          <a:prstGeom prst="rect">
            <a:avLst/>
          </a:prstGeom>
        </p:spPr>
      </p:pic>
      <p:sp>
        <p:nvSpPr>
          <p:cNvPr id="22" name="a4u-our3h"/>
          <p:cNvSpPr txBox="1"/>
          <p:nvPr/>
        </p:nvSpPr>
        <p:spPr>
          <a:xfrm>
            <a:off x="1536192"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Data arrives intact</a:t>
            </a:r>
            <a:endParaRPr lang="en-US" sz="1700" dirty="0"/>
          </a:p>
        </p:txBody>
      </p:sp>
      <p:sp>
        <p:nvSpPr>
          <p:cNvPr id="23" name="a4u-our3b"/>
          <p:cNvSpPr txBox="1"/>
          <p:nvPr/>
        </p:nvSpPr>
        <p:spPr>
          <a:xfrm>
            <a:off x="822960"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IDENTITY values kept, masks applied before rows land, date filters, keep-in-sync and row counts compared.</a:t>
            </a:r>
            <a:endParaRPr lang="en-US" sz="1400" dirty="0"/>
          </a:p>
        </p:txBody>
      </p:sp>
      <p:sp>
        <p:nvSpPr>
          <p:cNvPr id="24" name="a5u-our4"/>
          <p:cNvSpPr/>
          <p:nvPr/>
        </p:nvSpPr>
        <p:spPr>
          <a:xfrm>
            <a:off x="4338828" y="3840480"/>
            <a:ext cx="3511296" cy="2103120"/>
          </a:xfrm>
          <a:prstGeom prst="roundRect">
            <a:avLst>
              <a:gd name="adj" fmla="val 5217"/>
            </a:avLst>
          </a:prstGeom>
          <a:solidFill>
            <a:schemeClr val="accent1">
              <a:alpha val="10000"/>
            </a:schemeClr>
          </a:solidFill>
          <a:ln/>
        </p:spPr>
      </p:sp>
      <p:sp>
        <p:nvSpPr>
          <p:cNvPr id="25" name="a5u-our4c"/>
          <p:cNvSpPr/>
          <p:nvPr/>
        </p:nvSpPr>
        <p:spPr>
          <a:xfrm>
            <a:off x="4613148" y="4114800"/>
            <a:ext cx="548640" cy="548640"/>
          </a:xfrm>
          <a:prstGeom prst="ellipse">
            <a:avLst/>
          </a:prstGeom>
          <a:solidFill>
            <a:schemeClr val="accent1"/>
          </a:solidFill>
          <a:ln/>
        </p:spPr>
      </p:sp>
      <p:pic>
        <p:nvPicPr>
          <p:cNvPr id="26" name="a5u-our4ci" descr="preencoded.png">    </p:cNvPr>
          <p:cNvPicPr>
            <a:picLocks noChangeAspect="1"/>
          </p:cNvPicPr>
          <p:nvPr/>
        </p:nvPicPr>
        <p:blipFill>
          <a:blip r:embed="rId5"/>
          <a:stretch>
            <a:fillRect/>
          </a:stretch>
        </p:blipFill>
        <p:spPr>
          <a:xfrm>
            <a:off x="4750308" y="4251960"/>
            <a:ext cx="274320" cy="274320"/>
          </a:xfrm>
          <a:prstGeom prst="rect">
            <a:avLst/>
          </a:prstGeom>
        </p:spPr>
      </p:pic>
      <p:sp>
        <p:nvSpPr>
          <p:cNvPr id="27" name="a5u-our4h"/>
          <p:cNvSpPr txBox="1"/>
          <p:nvPr/>
        </p:nvSpPr>
        <p:spPr>
          <a:xfrm>
            <a:off x="5326380"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Proves it runs</a:t>
            </a:r>
            <a:endParaRPr lang="en-US" sz="1700" dirty="0"/>
          </a:p>
        </p:txBody>
      </p:sp>
      <p:sp>
        <p:nvSpPr>
          <p:cNvPr id="28" name="a5u-our4b"/>
          <p:cNvSpPr txBox="1"/>
          <p:nvPr/>
        </p:nvSpPr>
        <p:spPr>
          <a:xfrm>
            <a:off x="4613148"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Object-by-object comparison plus live checks: queries, compiled procedures and real pipeline runs.</a:t>
            </a:r>
            <a:endParaRPr lang="en-US" sz="1400" dirty="0"/>
          </a:p>
        </p:txBody>
      </p:sp>
      <p:sp>
        <p:nvSpPr>
          <p:cNvPr id="29" name="a6u-our5"/>
          <p:cNvSpPr/>
          <p:nvPr/>
        </p:nvSpPr>
        <p:spPr>
          <a:xfrm>
            <a:off x="8129016" y="3840480"/>
            <a:ext cx="3511296" cy="2103120"/>
          </a:xfrm>
          <a:prstGeom prst="roundRect">
            <a:avLst>
              <a:gd name="adj" fmla="val 5217"/>
            </a:avLst>
          </a:prstGeom>
          <a:solidFill>
            <a:schemeClr val="accent1">
              <a:alpha val="10000"/>
            </a:schemeClr>
          </a:solidFill>
          <a:ln/>
        </p:spPr>
      </p:sp>
      <p:sp>
        <p:nvSpPr>
          <p:cNvPr id="30" name="a6u-our5c"/>
          <p:cNvSpPr/>
          <p:nvPr/>
        </p:nvSpPr>
        <p:spPr>
          <a:xfrm>
            <a:off x="8403336" y="4114800"/>
            <a:ext cx="548640" cy="548640"/>
          </a:xfrm>
          <a:prstGeom prst="ellipse">
            <a:avLst/>
          </a:prstGeom>
          <a:solidFill>
            <a:schemeClr val="accent1"/>
          </a:solidFill>
          <a:ln/>
        </p:spPr>
      </p:sp>
      <p:pic>
        <p:nvPicPr>
          <p:cNvPr id="31" name="a6u-our5ci" descr="preencoded.png">    </p:cNvPr>
          <p:cNvPicPr>
            <a:picLocks noChangeAspect="1"/>
          </p:cNvPicPr>
          <p:nvPr/>
        </p:nvPicPr>
        <p:blipFill>
          <a:blip r:embed="rId6"/>
          <a:stretch>
            <a:fillRect/>
          </a:stretch>
        </p:blipFill>
        <p:spPr>
          <a:xfrm>
            <a:off x="8540496" y="4251960"/>
            <a:ext cx="274320" cy="274320"/>
          </a:xfrm>
          <a:prstGeom prst="rect">
            <a:avLst/>
          </a:prstGeom>
        </p:spPr>
      </p:pic>
      <p:sp>
        <p:nvSpPr>
          <p:cNvPr id="32" name="a6u-our5h"/>
          <p:cNvSpPr txBox="1"/>
          <p:nvPr/>
        </p:nvSpPr>
        <p:spPr>
          <a:xfrm>
            <a:off x="9116568"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Ready for DevOps</a:t>
            </a:r>
            <a:endParaRPr lang="en-US" sz="1700" dirty="0"/>
          </a:p>
        </p:txBody>
      </p:sp>
      <p:sp>
        <p:nvSpPr>
          <p:cNvPr id="33" name="a6u-our5b"/>
          <p:cNvSpPr txBox="1"/>
          <p:nvPr/>
        </p:nvSpPr>
        <p:spPr>
          <a:xfrm>
            <a:off x="8403336"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Each run committed to Fabric Git with a pull-request link. Read-only on Synapse; no secrets stored.</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childTnLst>
                          </p:cTn>
                        </p:par>
                        <p:par>
                          <p:cTn id="30" fill="hold">
                            <p:stCondLst>
                              <p:cond delay="55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childTnLst>
                          </p:cTn>
                        </p:par>
                        <p:par>
                          <p:cTn id="56" fill="hold">
                            <p:stCondLst>
                              <p:cond delay="1100"/>
                            </p:stCondLst>
                            <p:childTnLst>
                              <p:par>
                                <p:cTn id="57" presetID="42"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1650"/>
                            </p:stCondLst>
                            <p:childTnLst>
                              <p:par>
                                <p:cTn id="83" presetID="42" presetClass="entr" presetSubtype="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50"/>
                                        <p:tgtEl>
                                          <p:spTgt spid="19"/>
                                        </p:tgtEl>
                                      </p:cBhvr>
                                    </p:animEffect>
                                    <p:anim calcmode="lin" valueType="num">
                                      <p:cBhvr>
                                        <p:cTn id="86" dur="550" fill="hold"/>
                                        <p:tgtEl>
                                          <p:spTgt spid="19"/>
                                        </p:tgtEl>
                                        <p:attrNameLst>
                                          <p:attrName>ppt_x</p:attrName>
                                        </p:attrNameLst>
                                      </p:cBhvr>
                                      <p:tavLst>
                                        <p:tav tm="0">
                                          <p:val>
                                            <p:strVal val="#ppt_x"/>
                                          </p:val>
                                        </p:tav>
                                        <p:tav tm="100000">
                                          <p:val>
                                            <p:strVal val="#ppt_x"/>
                                          </p:val>
                                        </p:tav>
                                      </p:tavLst>
                                    </p:anim>
                                    <p:anim calcmode="lin" valueType="num">
                                      <p:cBhvr>
                                        <p:cTn id="87" dur="550" fill="hold"/>
                                        <p:tgtEl>
                                          <p:spTgt spid="19"/>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50"/>
                                        <p:tgtEl>
                                          <p:spTgt spid="20"/>
                                        </p:tgtEl>
                                      </p:cBhvr>
                                    </p:animEffect>
                                    <p:anim calcmode="lin" valueType="num">
                                      <p:cBhvr>
                                        <p:cTn id="91" dur="550" fill="hold"/>
                                        <p:tgtEl>
                                          <p:spTgt spid="20"/>
                                        </p:tgtEl>
                                        <p:attrNameLst>
                                          <p:attrName>ppt_x</p:attrName>
                                        </p:attrNameLst>
                                      </p:cBhvr>
                                      <p:tavLst>
                                        <p:tav tm="0">
                                          <p:val>
                                            <p:strVal val="#ppt_x"/>
                                          </p:val>
                                        </p:tav>
                                        <p:tav tm="100000">
                                          <p:val>
                                            <p:strVal val="#ppt_x"/>
                                          </p:val>
                                        </p:tav>
                                      </p:tavLst>
                                    </p:anim>
                                    <p:anim calcmode="lin" valueType="num">
                                      <p:cBhvr>
                                        <p:cTn id="92" dur="55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50"/>
                                        <p:tgtEl>
                                          <p:spTgt spid="21"/>
                                        </p:tgtEl>
                                      </p:cBhvr>
                                    </p:animEffect>
                                    <p:anim calcmode="lin" valueType="num">
                                      <p:cBhvr>
                                        <p:cTn id="96" dur="550" fill="hold"/>
                                        <p:tgtEl>
                                          <p:spTgt spid="21"/>
                                        </p:tgtEl>
                                        <p:attrNameLst>
                                          <p:attrName>ppt_x</p:attrName>
                                        </p:attrNameLst>
                                      </p:cBhvr>
                                      <p:tavLst>
                                        <p:tav tm="0">
                                          <p:val>
                                            <p:strVal val="#ppt_x"/>
                                          </p:val>
                                        </p:tav>
                                        <p:tav tm="100000">
                                          <p:val>
                                            <p:strVal val="#ppt_x"/>
                                          </p:val>
                                        </p:tav>
                                      </p:tavLst>
                                    </p:anim>
                                    <p:anim calcmode="lin" valueType="num">
                                      <p:cBhvr>
                                        <p:cTn id="97" dur="55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50"/>
                                        <p:tgtEl>
                                          <p:spTgt spid="23"/>
                                        </p:tgtEl>
                                      </p:cBhvr>
                                    </p:animEffect>
                                    <p:anim calcmode="lin" valueType="num">
                                      <p:cBhvr>
                                        <p:cTn id="106" dur="550" fill="hold"/>
                                        <p:tgtEl>
                                          <p:spTgt spid="23"/>
                                        </p:tgtEl>
                                        <p:attrNameLst>
                                          <p:attrName>ppt_x</p:attrName>
                                        </p:attrNameLst>
                                      </p:cBhvr>
                                      <p:tavLst>
                                        <p:tav tm="0">
                                          <p:val>
                                            <p:strVal val="#ppt_x"/>
                                          </p:val>
                                        </p:tav>
                                        <p:tav tm="100000">
                                          <p:val>
                                            <p:strVal val="#ppt_x"/>
                                          </p:val>
                                        </p:tav>
                                      </p:tavLst>
                                    </p:anim>
                                    <p:anim calcmode="lin" valueType="num">
                                      <p:cBhvr>
                                        <p:cTn id="107" dur="550" fill="hold"/>
                                        <p:tgtEl>
                                          <p:spTgt spid="23"/>
                                        </p:tgtEl>
                                        <p:attrNameLst>
                                          <p:attrName>ppt_y</p:attrName>
                                        </p:attrNameLst>
                                      </p:cBhvr>
                                      <p:tavLst>
                                        <p:tav tm="0">
                                          <p:val>
                                            <p:strVal val="#ppt_y+.1"/>
                                          </p:val>
                                        </p:tav>
                                        <p:tav tm="100000">
                                          <p:val>
                                            <p:strVal val="#ppt_y"/>
                                          </p:val>
                                        </p:tav>
                                      </p:tavLst>
                                    </p:anim>
                                  </p:childTnLst>
                                </p:cTn>
                              </p:par>
                            </p:childTnLst>
                          </p:cTn>
                        </p:par>
                        <p:par>
                          <p:cTn id="108" fill="hold">
                            <p:stCondLst>
                              <p:cond delay="2200"/>
                            </p:stCondLst>
                            <p:childTnLst>
                              <p:par>
                                <p:cTn id="109" presetID="42" presetClass="entr" presetSubtype="0" fill="hold" grpId="0" nodeType="after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50"/>
                                        <p:tgtEl>
                                          <p:spTgt spid="24"/>
                                        </p:tgtEl>
                                      </p:cBhvr>
                                    </p:animEffect>
                                    <p:anim calcmode="lin" valueType="num">
                                      <p:cBhvr>
                                        <p:cTn id="112" dur="550" fill="hold"/>
                                        <p:tgtEl>
                                          <p:spTgt spid="24"/>
                                        </p:tgtEl>
                                        <p:attrNameLst>
                                          <p:attrName>ppt_x</p:attrName>
                                        </p:attrNameLst>
                                      </p:cBhvr>
                                      <p:tavLst>
                                        <p:tav tm="0">
                                          <p:val>
                                            <p:strVal val="#ppt_x"/>
                                          </p:val>
                                        </p:tav>
                                        <p:tav tm="100000">
                                          <p:val>
                                            <p:strVal val="#ppt_x"/>
                                          </p:val>
                                        </p:tav>
                                      </p:tavLst>
                                    </p:anim>
                                    <p:anim calcmode="lin" valueType="num">
                                      <p:cBhvr>
                                        <p:cTn id="113" dur="550" fill="hold"/>
                                        <p:tgtEl>
                                          <p:spTgt spid="24"/>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50"/>
                                        <p:tgtEl>
                                          <p:spTgt spid="25"/>
                                        </p:tgtEl>
                                      </p:cBhvr>
                                    </p:animEffect>
                                    <p:anim calcmode="lin" valueType="num">
                                      <p:cBhvr>
                                        <p:cTn id="117" dur="550" fill="hold"/>
                                        <p:tgtEl>
                                          <p:spTgt spid="25"/>
                                        </p:tgtEl>
                                        <p:attrNameLst>
                                          <p:attrName>ppt_x</p:attrName>
                                        </p:attrNameLst>
                                      </p:cBhvr>
                                      <p:tavLst>
                                        <p:tav tm="0">
                                          <p:val>
                                            <p:strVal val="#ppt_x"/>
                                          </p:val>
                                        </p:tav>
                                        <p:tav tm="100000">
                                          <p:val>
                                            <p:strVal val="#ppt_x"/>
                                          </p:val>
                                        </p:tav>
                                      </p:tavLst>
                                    </p:anim>
                                    <p:anim calcmode="lin" valueType="num">
                                      <p:cBhvr>
                                        <p:cTn id="118" dur="550" fill="hold"/>
                                        <p:tgtEl>
                                          <p:spTgt spid="25"/>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550"/>
                                        <p:tgtEl>
                                          <p:spTgt spid="26"/>
                                        </p:tgtEl>
                                      </p:cBhvr>
                                    </p:animEffect>
                                    <p:anim calcmode="lin" valueType="num">
                                      <p:cBhvr>
                                        <p:cTn id="122" dur="550" fill="hold"/>
                                        <p:tgtEl>
                                          <p:spTgt spid="26"/>
                                        </p:tgtEl>
                                        <p:attrNameLst>
                                          <p:attrName>ppt_x</p:attrName>
                                        </p:attrNameLst>
                                      </p:cBhvr>
                                      <p:tavLst>
                                        <p:tav tm="0">
                                          <p:val>
                                            <p:strVal val="#ppt_x"/>
                                          </p:val>
                                        </p:tav>
                                        <p:tav tm="100000">
                                          <p:val>
                                            <p:strVal val="#ppt_x"/>
                                          </p:val>
                                        </p:tav>
                                      </p:tavLst>
                                    </p:anim>
                                    <p:anim calcmode="lin" valueType="num">
                                      <p:cBhvr>
                                        <p:cTn id="123" dur="550" fill="hold"/>
                                        <p:tgtEl>
                                          <p:spTgt spid="26"/>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50"/>
                                        <p:tgtEl>
                                          <p:spTgt spid="27"/>
                                        </p:tgtEl>
                                      </p:cBhvr>
                                    </p:animEffect>
                                    <p:anim calcmode="lin" valueType="num">
                                      <p:cBhvr>
                                        <p:cTn id="127" dur="550" fill="hold"/>
                                        <p:tgtEl>
                                          <p:spTgt spid="27"/>
                                        </p:tgtEl>
                                        <p:attrNameLst>
                                          <p:attrName>ppt_x</p:attrName>
                                        </p:attrNameLst>
                                      </p:cBhvr>
                                      <p:tavLst>
                                        <p:tav tm="0">
                                          <p:val>
                                            <p:strVal val="#ppt_x"/>
                                          </p:val>
                                        </p:tav>
                                        <p:tav tm="100000">
                                          <p:val>
                                            <p:strVal val="#ppt_x"/>
                                          </p:val>
                                        </p:tav>
                                      </p:tavLst>
                                    </p:anim>
                                    <p:anim calcmode="lin" valueType="num">
                                      <p:cBhvr>
                                        <p:cTn id="128" dur="550" fill="hold"/>
                                        <p:tgtEl>
                                          <p:spTgt spid="27"/>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550"/>
                                        <p:tgtEl>
                                          <p:spTgt spid="28"/>
                                        </p:tgtEl>
                                      </p:cBhvr>
                                    </p:animEffect>
                                    <p:anim calcmode="lin" valueType="num">
                                      <p:cBhvr>
                                        <p:cTn id="132" dur="550" fill="hold"/>
                                        <p:tgtEl>
                                          <p:spTgt spid="28"/>
                                        </p:tgtEl>
                                        <p:attrNameLst>
                                          <p:attrName>ppt_x</p:attrName>
                                        </p:attrNameLst>
                                      </p:cBhvr>
                                      <p:tavLst>
                                        <p:tav tm="0">
                                          <p:val>
                                            <p:strVal val="#ppt_x"/>
                                          </p:val>
                                        </p:tav>
                                        <p:tav tm="100000">
                                          <p:val>
                                            <p:strVal val="#ppt_x"/>
                                          </p:val>
                                        </p:tav>
                                      </p:tavLst>
                                    </p:anim>
                                    <p:anim calcmode="lin" valueType="num">
                                      <p:cBhvr>
                                        <p:cTn id="133" dur="550" fill="hold"/>
                                        <p:tgtEl>
                                          <p:spTgt spid="28"/>
                                        </p:tgtEl>
                                        <p:attrNameLst>
                                          <p:attrName>ppt_y</p:attrName>
                                        </p:attrNameLst>
                                      </p:cBhvr>
                                      <p:tavLst>
                                        <p:tav tm="0">
                                          <p:val>
                                            <p:strVal val="#ppt_y+.1"/>
                                          </p:val>
                                        </p:tav>
                                        <p:tav tm="100000">
                                          <p:val>
                                            <p:strVal val="#ppt_y"/>
                                          </p:val>
                                        </p:tav>
                                      </p:tavLst>
                                    </p:anim>
                                  </p:childTnLst>
                                </p:cTn>
                              </p:par>
                            </p:childTnLst>
                          </p:cTn>
                        </p:par>
                        <p:par>
                          <p:cTn id="134" fill="hold">
                            <p:stCondLst>
                              <p:cond delay="2750"/>
                            </p:stCondLst>
                            <p:childTnLst>
                              <p:par>
                                <p:cTn id="135" presetID="42" presetClass="entr" presetSubtype="0" fill="hold" grpId="0" nodeType="afterEffect">
                                  <p:stCondLst>
                                    <p:cond delay="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550"/>
                                        <p:tgtEl>
                                          <p:spTgt spid="29"/>
                                        </p:tgtEl>
                                      </p:cBhvr>
                                    </p:animEffect>
                                    <p:anim calcmode="lin" valueType="num">
                                      <p:cBhvr>
                                        <p:cTn id="138" dur="550" fill="hold"/>
                                        <p:tgtEl>
                                          <p:spTgt spid="29"/>
                                        </p:tgtEl>
                                        <p:attrNameLst>
                                          <p:attrName>ppt_x</p:attrName>
                                        </p:attrNameLst>
                                      </p:cBhvr>
                                      <p:tavLst>
                                        <p:tav tm="0">
                                          <p:val>
                                            <p:strVal val="#ppt_x"/>
                                          </p:val>
                                        </p:tav>
                                        <p:tav tm="100000">
                                          <p:val>
                                            <p:strVal val="#ppt_x"/>
                                          </p:val>
                                        </p:tav>
                                      </p:tavLst>
                                    </p:anim>
                                    <p:anim calcmode="lin" valueType="num">
                                      <p:cBhvr>
                                        <p:cTn id="139" dur="55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550"/>
                                        <p:tgtEl>
                                          <p:spTgt spid="30"/>
                                        </p:tgtEl>
                                      </p:cBhvr>
                                    </p:animEffect>
                                    <p:anim calcmode="lin" valueType="num">
                                      <p:cBhvr>
                                        <p:cTn id="143" dur="550" fill="hold"/>
                                        <p:tgtEl>
                                          <p:spTgt spid="30"/>
                                        </p:tgtEl>
                                        <p:attrNameLst>
                                          <p:attrName>ppt_x</p:attrName>
                                        </p:attrNameLst>
                                      </p:cBhvr>
                                      <p:tavLst>
                                        <p:tav tm="0">
                                          <p:val>
                                            <p:strVal val="#ppt_x"/>
                                          </p:val>
                                        </p:tav>
                                        <p:tav tm="100000">
                                          <p:val>
                                            <p:strVal val="#ppt_x"/>
                                          </p:val>
                                        </p:tav>
                                      </p:tavLst>
                                    </p:anim>
                                    <p:anim calcmode="lin" valueType="num">
                                      <p:cBhvr>
                                        <p:cTn id="144" dur="55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550"/>
                                        <p:tgtEl>
                                          <p:spTgt spid="31"/>
                                        </p:tgtEl>
                                      </p:cBhvr>
                                    </p:animEffect>
                                    <p:anim calcmode="lin" valueType="num">
                                      <p:cBhvr>
                                        <p:cTn id="148" dur="550" fill="hold"/>
                                        <p:tgtEl>
                                          <p:spTgt spid="31"/>
                                        </p:tgtEl>
                                        <p:attrNameLst>
                                          <p:attrName>ppt_x</p:attrName>
                                        </p:attrNameLst>
                                      </p:cBhvr>
                                      <p:tavLst>
                                        <p:tav tm="0">
                                          <p:val>
                                            <p:strVal val="#ppt_x"/>
                                          </p:val>
                                        </p:tav>
                                        <p:tav tm="100000">
                                          <p:val>
                                            <p:strVal val="#ppt_x"/>
                                          </p:val>
                                        </p:tav>
                                      </p:tavLst>
                                    </p:anim>
                                    <p:anim calcmode="lin" valueType="num">
                                      <p:cBhvr>
                                        <p:cTn id="149" dur="55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550"/>
                                        <p:tgtEl>
                                          <p:spTgt spid="32"/>
                                        </p:tgtEl>
                                      </p:cBhvr>
                                    </p:animEffect>
                                    <p:anim calcmode="lin" valueType="num">
                                      <p:cBhvr>
                                        <p:cTn id="153" dur="550" fill="hold"/>
                                        <p:tgtEl>
                                          <p:spTgt spid="32"/>
                                        </p:tgtEl>
                                        <p:attrNameLst>
                                          <p:attrName>ppt_x</p:attrName>
                                        </p:attrNameLst>
                                      </p:cBhvr>
                                      <p:tavLst>
                                        <p:tav tm="0">
                                          <p:val>
                                            <p:strVal val="#ppt_x"/>
                                          </p:val>
                                        </p:tav>
                                        <p:tav tm="100000">
                                          <p:val>
                                            <p:strVal val="#ppt_x"/>
                                          </p:val>
                                        </p:tav>
                                      </p:tavLst>
                                    </p:anim>
                                    <p:anim calcmode="lin" valueType="num">
                                      <p:cBhvr>
                                        <p:cTn id="154" dur="55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550"/>
                                        <p:tgtEl>
                                          <p:spTgt spid="33"/>
                                        </p:tgtEl>
                                      </p:cBhvr>
                                    </p:animEffect>
                                    <p:anim calcmode="lin" valueType="num">
                                      <p:cBhvr>
                                        <p:cTn id="158" dur="550" fill="hold"/>
                                        <p:tgtEl>
                                          <p:spTgt spid="33"/>
                                        </p:tgtEl>
                                        <p:attrNameLst>
                                          <p:attrName>ppt_x</p:attrName>
                                        </p:attrNameLst>
                                      </p:cBhvr>
                                      <p:tavLst>
                                        <p:tav tm="0">
                                          <p:val>
                                            <p:strVal val="#ppt_x"/>
                                          </p:val>
                                        </p:tav>
                                        <p:tav tm="100000">
                                          <p:val>
                                            <p:strVal val="#ppt_x"/>
                                          </p:val>
                                        </p:tav>
                                      </p:tavLst>
                                    </p:anim>
                                    <p:anim calcmode="lin" valueType="num">
                                      <p:cBhvr>
                                        <p:cTn id="159" dur="5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 · DEEP DIVE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Plan before you write</a:t>
            </a:r>
            <a:endParaRPr lang="en-US" sz="3200" dirty="0"/>
          </a:p>
        </p:txBody>
      </p:sp>
      <p:sp>
        <p:nvSpPr>
          <p:cNvPr id="4" name="a1u-ps0"/>
          <p:cNvSpPr/>
          <p:nvPr/>
        </p:nvSpPr>
        <p:spPr>
          <a:xfrm>
            <a:off x="548640" y="1572768"/>
            <a:ext cx="566928" cy="566928"/>
          </a:xfrm>
          <a:prstGeom prst="ellipse">
            <a:avLst/>
          </a:prstGeom>
          <a:solidFill>
            <a:schemeClr val="accent1"/>
          </a:solidFill>
          <a:ln/>
        </p:spPr>
      </p:sp>
      <p:pic>
        <p:nvPicPr>
          <p:cNvPr id="5" name="a1u-ps0i" descr="preencoded.png">    </p:cNvPr>
          <p:cNvPicPr>
            <a:picLocks noChangeAspect="1"/>
          </p:cNvPicPr>
          <p:nvPr/>
        </p:nvPicPr>
        <p:blipFill>
          <a:blip r:embed="rId1"/>
          <a:stretch>
            <a:fillRect/>
          </a:stretch>
        </p:blipFill>
        <p:spPr>
          <a:xfrm>
            <a:off x="690372" y="1714500"/>
            <a:ext cx="283464" cy="283464"/>
          </a:xfrm>
          <a:prstGeom prst="rect">
            <a:avLst/>
          </a:prstGeom>
        </p:spPr>
      </p:pic>
      <p:sp>
        <p:nvSpPr>
          <p:cNvPr id="6" name="a1u-ps0h"/>
          <p:cNvSpPr txBox="1"/>
          <p:nvPr/>
        </p:nvSpPr>
        <p:spPr>
          <a:xfrm>
            <a:off x="1325880" y="1545336"/>
            <a:ext cx="5120640" cy="329184"/>
          </a:xfrm>
          <a:prstGeom prst="rect">
            <a:avLst/>
          </a:prstGeom>
          <a:noFill/>
          <a:ln/>
        </p:spPr>
        <p:txBody>
          <a:bodyPr wrap="square" lIns="0" tIns="0" rIns="0" bIns="0" rtlCol="0" anchor="t"/>
          <a:lstStyle/>
          <a:p>
            <a:pPr indent="0" marL="0">
              <a:buNone/>
            </a:pPr>
            <a:r>
              <a:rPr lang="en-US" sz="1650" dirty="0">
                <a:solidFill>
                  <a:schemeClr val="tx2"/>
                </a:solidFill>
                <a:latin typeface="+mj-lt" pitchFamily="34" charset="0"/>
                <a:ea typeface="+mj-lt" pitchFamily="34" charset="-122"/>
                <a:cs typeface="+mj-lt" pitchFamily="34" charset="-120"/>
              </a:rPr>
              <a:t>Discover from three sources</a:t>
            </a:r>
            <a:endParaRPr lang="en-US" sz="1650" dirty="0"/>
          </a:p>
        </p:txBody>
      </p:sp>
      <p:sp>
        <p:nvSpPr>
          <p:cNvPr id="7" name="a1u-ps0b"/>
          <p:cNvSpPr txBox="1"/>
          <p:nvPr/>
        </p:nvSpPr>
        <p:spPr>
          <a:xfrm>
            <a:off x="1325880" y="1883664"/>
            <a:ext cx="5120640" cy="640080"/>
          </a:xfrm>
          <a:prstGeom prst="rect">
            <a:avLst/>
          </a:prstGeom>
          <a:noFill/>
          <a:ln/>
        </p:spPr>
        <p:txBody>
          <a:bodyPr wrap="square" lIns="0" tIns="0" rIns="0" bIns="0" rtlCol="0" anchor="t"/>
          <a:lstStyle/>
          <a:p>
            <a:pPr indent="0" marL="0">
              <a:buNone/>
            </a:pPr>
            <a:r>
              <a:rPr lang="en-US" sz="1400" dirty="0">
                <a:solidFill>
                  <a:schemeClr val="tx1"/>
                </a:solidFill>
              </a:rPr>
              <a:t>Git repository, live workspace and SQL pool. Drift between Git and what is published is flagged.</a:t>
            </a:r>
            <a:endParaRPr lang="en-US" sz="1400" dirty="0"/>
          </a:p>
        </p:txBody>
      </p:sp>
      <p:sp>
        <p:nvSpPr>
          <p:cNvPr id="8" name="a2u-ps1l"/>
          <p:cNvSpPr/>
          <p:nvPr/>
        </p:nvSpPr>
        <p:spPr>
          <a:xfrm>
            <a:off x="832104" y="2139696"/>
            <a:ext cx="0" cy="438912"/>
          </a:xfrm>
          <a:prstGeom prst="line">
            <a:avLst/>
          </a:prstGeom>
          <a:noFill/>
          <a:ln w="19050">
            <a:solidFill>
              <a:srgbClr val="C5CFDA"/>
            </a:solidFill>
            <a:prstDash val="solid"/>
          </a:ln>
        </p:spPr>
      </p:sp>
      <p:sp>
        <p:nvSpPr>
          <p:cNvPr id="9" name="a2u-ps1"/>
          <p:cNvSpPr/>
          <p:nvPr/>
        </p:nvSpPr>
        <p:spPr>
          <a:xfrm>
            <a:off x="548640" y="2596896"/>
            <a:ext cx="566928" cy="566928"/>
          </a:xfrm>
          <a:prstGeom prst="ellipse">
            <a:avLst/>
          </a:prstGeom>
          <a:solidFill>
            <a:schemeClr val="accent1"/>
          </a:solidFill>
          <a:ln/>
        </p:spPr>
      </p:sp>
      <p:pic>
        <p:nvPicPr>
          <p:cNvPr id="10" name="a2u-ps1i" descr="preencoded.png">    </p:cNvPr>
          <p:cNvPicPr>
            <a:picLocks noChangeAspect="1"/>
          </p:cNvPicPr>
          <p:nvPr/>
        </p:nvPicPr>
        <p:blipFill>
          <a:blip r:embed="rId2"/>
          <a:stretch>
            <a:fillRect/>
          </a:stretch>
        </p:blipFill>
        <p:spPr>
          <a:xfrm>
            <a:off x="690372" y="2738628"/>
            <a:ext cx="283464" cy="283464"/>
          </a:xfrm>
          <a:prstGeom prst="rect">
            <a:avLst/>
          </a:prstGeom>
        </p:spPr>
      </p:pic>
      <p:sp>
        <p:nvSpPr>
          <p:cNvPr id="11" name="a2u-ps1h"/>
          <p:cNvSpPr txBox="1"/>
          <p:nvPr/>
        </p:nvSpPr>
        <p:spPr>
          <a:xfrm>
            <a:off x="1325880" y="2569464"/>
            <a:ext cx="5120640" cy="329184"/>
          </a:xfrm>
          <a:prstGeom prst="rect">
            <a:avLst/>
          </a:prstGeom>
          <a:noFill/>
          <a:ln/>
        </p:spPr>
        <p:txBody>
          <a:bodyPr wrap="square" lIns="0" tIns="0" rIns="0" bIns="0" rtlCol="0" anchor="t"/>
          <a:lstStyle/>
          <a:p>
            <a:pPr indent="0" marL="0">
              <a:buNone/>
            </a:pPr>
            <a:r>
              <a:rPr lang="en-US" sz="1650" dirty="0">
                <a:solidFill>
                  <a:schemeClr val="tx2"/>
                </a:solidFill>
                <a:latin typeface="+mj-lt" pitchFamily="34" charset="0"/>
                <a:ea typeface="+mj-lt" pitchFamily="34" charset="-122"/>
                <a:cs typeface="+mj-lt" pitchFamily="34" charset="-120"/>
              </a:rPr>
              <a:t>Classify every object</a:t>
            </a:r>
            <a:endParaRPr lang="en-US" sz="1650" dirty="0"/>
          </a:p>
        </p:txBody>
      </p:sp>
      <p:sp>
        <p:nvSpPr>
          <p:cNvPr id="12" name="a2u-ps1b"/>
          <p:cNvSpPr txBox="1"/>
          <p:nvPr/>
        </p:nvSpPr>
        <p:spPr>
          <a:xfrm>
            <a:off x="1325880" y="2907792"/>
            <a:ext cx="5120640" cy="640080"/>
          </a:xfrm>
          <a:prstGeom prst="rect">
            <a:avLst/>
          </a:prstGeom>
          <a:noFill/>
          <a:ln/>
        </p:spPr>
        <p:txBody>
          <a:bodyPr wrap="square" lIns="0" tIns="0" rIns="0" bIns="0" rtlCol="0" anchor="t"/>
          <a:lstStyle/>
          <a:p>
            <a:pPr indent="0" marL="0">
              <a:buNone/>
            </a:pPr>
            <a:r>
              <a:rPr lang="en-US" sz="1400" dirty="0">
                <a:solidFill>
                  <a:schemeClr val="tx1"/>
                </a:solidFill>
              </a:rPr>
              <a:t>Direct, Reconfigure, Transform, Manual or Review, grouped by workstream.</a:t>
            </a:r>
            <a:endParaRPr lang="en-US" sz="1400" dirty="0"/>
          </a:p>
        </p:txBody>
      </p:sp>
      <p:sp>
        <p:nvSpPr>
          <p:cNvPr id="13" name="a3u-ps2l"/>
          <p:cNvSpPr/>
          <p:nvPr/>
        </p:nvSpPr>
        <p:spPr>
          <a:xfrm>
            <a:off x="832104" y="3163824"/>
            <a:ext cx="0" cy="438912"/>
          </a:xfrm>
          <a:prstGeom prst="line">
            <a:avLst/>
          </a:prstGeom>
          <a:noFill/>
          <a:ln w="19050">
            <a:solidFill>
              <a:srgbClr val="C5CFDA"/>
            </a:solidFill>
            <a:prstDash val="solid"/>
          </a:ln>
        </p:spPr>
      </p:sp>
      <p:sp>
        <p:nvSpPr>
          <p:cNvPr id="14" name="a3u-ps2"/>
          <p:cNvSpPr/>
          <p:nvPr/>
        </p:nvSpPr>
        <p:spPr>
          <a:xfrm>
            <a:off x="548640" y="3621024"/>
            <a:ext cx="566928" cy="566928"/>
          </a:xfrm>
          <a:prstGeom prst="ellipse">
            <a:avLst/>
          </a:prstGeom>
          <a:solidFill>
            <a:schemeClr val="accent1"/>
          </a:solidFill>
          <a:ln/>
        </p:spPr>
      </p:sp>
      <p:pic>
        <p:nvPicPr>
          <p:cNvPr id="15" name="a3u-ps2i" descr="preencoded.png">    </p:cNvPr>
          <p:cNvPicPr>
            <a:picLocks noChangeAspect="1"/>
          </p:cNvPicPr>
          <p:nvPr/>
        </p:nvPicPr>
        <p:blipFill>
          <a:blip r:embed="rId3"/>
          <a:stretch>
            <a:fillRect/>
          </a:stretch>
        </p:blipFill>
        <p:spPr>
          <a:xfrm>
            <a:off x="690372" y="3762756"/>
            <a:ext cx="283464" cy="283464"/>
          </a:xfrm>
          <a:prstGeom prst="rect">
            <a:avLst/>
          </a:prstGeom>
        </p:spPr>
      </p:pic>
      <p:sp>
        <p:nvSpPr>
          <p:cNvPr id="16" name="a3u-ps2h"/>
          <p:cNvSpPr txBox="1"/>
          <p:nvPr/>
        </p:nvSpPr>
        <p:spPr>
          <a:xfrm>
            <a:off x="1325880" y="3593592"/>
            <a:ext cx="5120640" cy="329184"/>
          </a:xfrm>
          <a:prstGeom prst="rect">
            <a:avLst/>
          </a:prstGeom>
          <a:noFill/>
          <a:ln/>
        </p:spPr>
        <p:txBody>
          <a:bodyPr wrap="square" lIns="0" tIns="0" rIns="0" bIns="0" rtlCol="0" anchor="t"/>
          <a:lstStyle/>
          <a:p>
            <a:pPr indent="0" marL="0">
              <a:buNone/>
            </a:pPr>
            <a:r>
              <a:rPr lang="en-US" sz="1650" dirty="0">
                <a:solidFill>
                  <a:schemeClr val="tx2"/>
                </a:solidFill>
                <a:latin typeface="+mj-lt" pitchFamily="34" charset="0"/>
                <a:ea typeface="+mj-lt" pitchFamily="34" charset="-122"/>
                <a:cs typeface="+mj-lt" pitchFamily="34" charset="-120"/>
              </a:rPr>
              <a:t>Order into waves</a:t>
            </a:r>
            <a:endParaRPr lang="en-US" sz="1650" dirty="0"/>
          </a:p>
        </p:txBody>
      </p:sp>
      <p:sp>
        <p:nvSpPr>
          <p:cNvPr id="17" name="a3u-ps2b"/>
          <p:cNvSpPr txBox="1"/>
          <p:nvPr/>
        </p:nvSpPr>
        <p:spPr>
          <a:xfrm>
            <a:off x="1325880" y="3931920"/>
            <a:ext cx="5120640" cy="640080"/>
          </a:xfrm>
          <a:prstGeom prst="rect">
            <a:avLst/>
          </a:prstGeom>
          <a:noFill/>
          <a:ln/>
        </p:spPr>
        <p:txBody>
          <a:bodyPr wrap="square" lIns="0" tIns="0" rIns="0" bIns="0" rtlCol="0" anchor="t"/>
          <a:lstStyle/>
          <a:p>
            <a:pPr indent="0" marL="0">
              <a:buNone/>
            </a:pPr>
            <a:r>
              <a:rPr lang="en-US" sz="1400" dirty="0">
                <a:solidFill>
                  <a:schemeClr val="tx1"/>
                </a:solidFill>
              </a:rPr>
              <a:t>A dependency graph puts foundations first and orchestration last.</a:t>
            </a:r>
            <a:endParaRPr lang="en-US" sz="1400" dirty="0"/>
          </a:p>
        </p:txBody>
      </p:sp>
      <p:sp>
        <p:nvSpPr>
          <p:cNvPr id="18" name="a4u-ps3l"/>
          <p:cNvSpPr/>
          <p:nvPr/>
        </p:nvSpPr>
        <p:spPr>
          <a:xfrm>
            <a:off x="832104" y="4187952"/>
            <a:ext cx="0" cy="438912"/>
          </a:xfrm>
          <a:prstGeom prst="line">
            <a:avLst/>
          </a:prstGeom>
          <a:noFill/>
          <a:ln w="19050">
            <a:solidFill>
              <a:srgbClr val="C5CFDA"/>
            </a:solidFill>
            <a:prstDash val="solid"/>
          </a:ln>
        </p:spPr>
      </p:sp>
      <p:sp>
        <p:nvSpPr>
          <p:cNvPr id="19" name="a4u-ps3"/>
          <p:cNvSpPr/>
          <p:nvPr/>
        </p:nvSpPr>
        <p:spPr>
          <a:xfrm>
            <a:off x="548640" y="4645152"/>
            <a:ext cx="566928" cy="566928"/>
          </a:xfrm>
          <a:prstGeom prst="ellipse">
            <a:avLst/>
          </a:prstGeom>
          <a:solidFill>
            <a:schemeClr val="accent1"/>
          </a:solidFill>
          <a:ln/>
        </p:spPr>
      </p:sp>
      <p:pic>
        <p:nvPicPr>
          <p:cNvPr id="20" name="a4u-ps3i" descr="preencoded.png">    </p:cNvPr>
          <p:cNvPicPr>
            <a:picLocks noChangeAspect="1"/>
          </p:cNvPicPr>
          <p:nvPr/>
        </p:nvPicPr>
        <p:blipFill>
          <a:blip r:embed="rId4"/>
          <a:stretch>
            <a:fillRect/>
          </a:stretch>
        </p:blipFill>
        <p:spPr>
          <a:xfrm>
            <a:off x="690372" y="4786884"/>
            <a:ext cx="283464" cy="283464"/>
          </a:xfrm>
          <a:prstGeom prst="rect">
            <a:avLst/>
          </a:prstGeom>
        </p:spPr>
      </p:pic>
      <p:sp>
        <p:nvSpPr>
          <p:cNvPr id="21" name="a4u-ps3h"/>
          <p:cNvSpPr txBox="1"/>
          <p:nvPr/>
        </p:nvSpPr>
        <p:spPr>
          <a:xfrm>
            <a:off x="1325880" y="4617720"/>
            <a:ext cx="5120640" cy="329184"/>
          </a:xfrm>
          <a:prstGeom prst="rect">
            <a:avLst/>
          </a:prstGeom>
          <a:noFill/>
          <a:ln/>
        </p:spPr>
        <p:txBody>
          <a:bodyPr wrap="square" lIns="0" tIns="0" rIns="0" bIns="0" rtlCol="0" anchor="t"/>
          <a:lstStyle/>
          <a:p>
            <a:pPr indent="0" marL="0">
              <a:buNone/>
            </a:pPr>
            <a:r>
              <a:rPr lang="en-US" sz="1650" dirty="0">
                <a:solidFill>
                  <a:schemeClr val="tx2"/>
                </a:solidFill>
                <a:latin typeface="+mj-lt" pitchFamily="34" charset="0"/>
                <a:ea typeface="+mj-lt" pitchFamily="34" charset="-122"/>
                <a:cs typeface="+mj-lt" pitchFamily="34" charset="-120"/>
              </a:rPr>
              <a:t>Score the plan</a:t>
            </a:r>
            <a:endParaRPr lang="en-US" sz="1650" dirty="0"/>
          </a:p>
        </p:txBody>
      </p:sp>
      <p:sp>
        <p:nvSpPr>
          <p:cNvPr id="22" name="a4u-ps3b"/>
          <p:cNvSpPr txBox="1"/>
          <p:nvPr/>
        </p:nvSpPr>
        <p:spPr>
          <a:xfrm>
            <a:off x="1325880" y="4956048"/>
            <a:ext cx="5120640" cy="640080"/>
          </a:xfrm>
          <a:prstGeom prst="rect">
            <a:avLst/>
          </a:prstGeom>
          <a:noFill/>
          <a:ln/>
        </p:spPr>
        <p:txBody>
          <a:bodyPr wrap="square" lIns="0" tIns="0" rIns="0" bIns="0" rtlCol="0" anchor="t"/>
          <a:lstStyle/>
          <a:p>
            <a:pPr indent="0" marL="0">
              <a:buNone/>
            </a:pPr>
            <a:r>
              <a:rPr lang="en-US" sz="1400" dirty="0">
                <a:solidFill>
                  <a:schemeClr val="tx1"/>
                </a:solidFill>
              </a:rPr>
              <a:t>Strategy per object, risks by severity, effort in working days and pre-run checks.</a:t>
            </a:r>
            <a:endParaRPr lang="en-US" sz="1400" dirty="0"/>
          </a:p>
        </p:txBody>
      </p:sp>
      <p:sp>
        <p:nvSpPr>
          <p:cNvPr id="23" name="a5f-chartbox"/>
          <p:cNvSpPr/>
          <p:nvPr/>
        </p:nvSpPr>
        <p:spPr>
          <a:xfrm>
            <a:off x="6675120" y="1572768"/>
            <a:ext cx="4965192" cy="3291840"/>
          </a:xfrm>
          <a:prstGeom prst="roundRect">
            <a:avLst>
              <a:gd name="adj" fmla="val 3333"/>
            </a:avLst>
          </a:prstGeom>
          <a:solidFill>
            <a:schemeClr val="bg2"/>
          </a:solidFill>
          <a:ln/>
        </p:spPr>
      </p:sp>
      <p:graphicFrame>
        <p:nvGraphicFramePr>
          <p:cNvPr id="24" name="a5f-chart" descr=""/>
          <p:cNvGraphicFramePr/>
          <p:nvPr/>
        </p:nvGraphicFramePr>
        <p:xfrm>
          <a:off x="6812280" y="1664208"/>
          <a:ext cx="4690872" cy="2606040"/>
        </p:xfrm>
        <a:graphic xmlns:a="http://schemas.openxmlformats.org/drawingml/2006/main">
          <a:graphicData uri="http://schemas.openxmlformats.org/drawingml/2006/chart">
            <c:chart xmlns:c="http://schemas.openxmlformats.org/drawingml/2006/chart" r:id="rId5"/>
          </a:graphicData>
        </a:graphic>
      </p:graphicFrame>
      <p:sp>
        <p:nvSpPr>
          <p:cNvPr id="25" name="a5f-chartcap"/>
          <p:cNvSpPr txBox="1"/>
          <p:nvPr/>
        </p:nvSpPr>
        <p:spPr>
          <a:xfrm>
            <a:off x="6949440" y="4251960"/>
            <a:ext cx="4434840" cy="502920"/>
          </a:xfrm>
          <a:prstGeom prst="rect">
            <a:avLst/>
          </a:prstGeom>
          <a:noFill/>
          <a:ln/>
        </p:spPr>
        <p:txBody>
          <a:bodyPr wrap="square" lIns="0" tIns="0" rIns="0" bIns="0" rtlCol="0" anchor="t"/>
          <a:lstStyle/>
          <a:p>
            <a:pPr indent="0" marL="0">
              <a:buNone/>
            </a:pPr>
            <a:r>
              <a:rPr lang="en-US" sz="1300" dirty="0">
                <a:solidFill>
                  <a:schemeClr val="accent6"/>
                </a:solidFill>
              </a:rPr>
              <a:t>Readiness starts at 100 and falls with every risk. Any blocking risk keeps Plan and Migrate locked.</a:t>
            </a:r>
            <a:endParaRPr lang="en-US" sz="1300" dirty="0"/>
          </a:p>
        </p:txBody>
      </p:sp>
      <p:sp>
        <p:nvSpPr>
          <p:cNvPr id="26" name="a6w-msbox"/>
          <p:cNvSpPr/>
          <p:nvPr/>
        </p:nvSpPr>
        <p:spPr>
          <a:xfrm>
            <a:off x="6675120" y="5029200"/>
            <a:ext cx="4965192" cy="1051560"/>
          </a:xfrm>
          <a:prstGeom prst="roundRect">
            <a:avLst>
              <a:gd name="adj" fmla="val 10435"/>
            </a:avLst>
          </a:prstGeom>
          <a:solidFill>
            <a:schemeClr val="accent2">
              <a:alpha val="10000"/>
            </a:schemeClr>
          </a:solidFill>
          <a:ln/>
        </p:spPr>
      </p:sp>
      <p:sp>
        <p:nvSpPr>
          <p:cNvPr id="27" name="a6w-msboxt"/>
          <p:cNvSpPr txBox="1"/>
          <p:nvPr/>
        </p:nvSpPr>
        <p:spPr>
          <a:xfrm>
            <a:off x="6858000" y="5029200"/>
            <a:ext cx="4617720" cy="1051560"/>
          </a:xfrm>
          <a:prstGeom prst="rect">
            <a:avLst/>
          </a:prstGeom>
          <a:noFill/>
          <a:ln/>
        </p:spPr>
        <p:txBody>
          <a:bodyPr wrap="square" lIns="0" tIns="0" rIns="0" bIns="0" rtlCol="0" anchor="ctr"/>
          <a:lstStyle/>
          <a:p>
            <a:pPr indent="0" marL="0">
              <a:buNone/>
            </a:pPr>
            <a:r>
              <a:rPr lang="en-US" sz="1400" b="1" dirty="0">
                <a:solidFill>
                  <a:schemeClr val="accent2"/>
                </a:solidFill>
              </a:rPr>
              <a:t>Microsoft:  </a:t>
            </a:r>
            <a:pPr indent="0" marL="0">
              <a:buNone/>
            </a:pPr>
            <a:r>
              <a:rPr lang="en-US" sz="1400" dirty="0">
                <a:solidFill>
                  <a:schemeClr val="tx1"/>
                </a:solidFill>
              </a:rPr>
              <a:t>the warehouse assistant reports problems after the metadata is migrated; its pipeline tool runs a readiness assessment first.</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childTnLst>
                          </p:cTn>
                        </p:par>
                        <p:par>
                          <p:cTn id="25" fill="hold">
                            <p:stCondLst>
                              <p:cond delay="550"/>
                            </p:stCondLst>
                            <p:childTnLst>
                              <p:par>
                                <p:cTn id="26" presetID="42"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50"/>
                                        <p:tgtEl>
                                          <p:spTgt spid="8"/>
                                        </p:tgtEl>
                                      </p:cBhvr>
                                    </p:animEffect>
                                    <p:anim calcmode="lin" valueType="num">
                                      <p:cBhvr>
                                        <p:cTn id="29" dur="550" fill="hold"/>
                                        <p:tgtEl>
                                          <p:spTgt spid="8"/>
                                        </p:tgtEl>
                                        <p:attrNameLst>
                                          <p:attrName>ppt_x</p:attrName>
                                        </p:attrNameLst>
                                      </p:cBhvr>
                                      <p:tavLst>
                                        <p:tav tm="0">
                                          <p:val>
                                            <p:strVal val="#ppt_x"/>
                                          </p:val>
                                        </p:tav>
                                        <p:tav tm="100000">
                                          <p:val>
                                            <p:strVal val="#ppt_x"/>
                                          </p:val>
                                        </p:tav>
                                      </p:tavLst>
                                    </p:anim>
                                    <p:anim calcmode="lin" valueType="num">
                                      <p:cBhvr>
                                        <p:cTn id="30" dur="550" fill="hold"/>
                                        <p:tgtEl>
                                          <p:spTgt spid="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childTnLst>
                          </p:cTn>
                        </p:par>
                        <p:par>
                          <p:cTn id="51" fill="hold">
                            <p:stCondLst>
                              <p:cond delay="1100"/>
                            </p:stCondLst>
                            <p:childTnLst>
                              <p:par>
                                <p:cTn id="52" presetID="42"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50"/>
                                        <p:tgtEl>
                                          <p:spTgt spid="13"/>
                                        </p:tgtEl>
                                      </p:cBhvr>
                                    </p:animEffect>
                                    <p:anim calcmode="lin" valueType="num">
                                      <p:cBhvr>
                                        <p:cTn id="55" dur="550" fill="hold"/>
                                        <p:tgtEl>
                                          <p:spTgt spid="13"/>
                                        </p:tgtEl>
                                        <p:attrNameLst>
                                          <p:attrName>ppt_x</p:attrName>
                                        </p:attrNameLst>
                                      </p:cBhvr>
                                      <p:tavLst>
                                        <p:tav tm="0">
                                          <p:val>
                                            <p:strVal val="#ppt_x"/>
                                          </p:val>
                                        </p:tav>
                                        <p:tav tm="100000">
                                          <p:val>
                                            <p:strVal val="#ppt_x"/>
                                          </p:val>
                                        </p:tav>
                                      </p:tavLst>
                                    </p:anim>
                                    <p:anim calcmode="lin" valueType="num">
                                      <p:cBhvr>
                                        <p:cTn id="56" dur="550" fill="hold"/>
                                        <p:tgtEl>
                                          <p:spTgt spid="13"/>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childTnLst>
                          </p:cTn>
                        </p:par>
                        <p:par>
                          <p:cTn id="77" fill="hold">
                            <p:stCondLst>
                              <p:cond delay="1650"/>
                            </p:stCondLst>
                            <p:childTnLst>
                              <p:par>
                                <p:cTn id="78" presetID="42" presetClass="entr" presetSubtype="0"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550"/>
                                        <p:tgtEl>
                                          <p:spTgt spid="18"/>
                                        </p:tgtEl>
                                      </p:cBhvr>
                                    </p:animEffect>
                                    <p:anim calcmode="lin" valueType="num">
                                      <p:cBhvr>
                                        <p:cTn id="81" dur="550" fill="hold"/>
                                        <p:tgtEl>
                                          <p:spTgt spid="18"/>
                                        </p:tgtEl>
                                        <p:attrNameLst>
                                          <p:attrName>ppt_x</p:attrName>
                                        </p:attrNameLst>
                                      </p:cBhvr>
                                      <p:tavLst>
                                        <p:tav tm="0">
                                          <p:val>
                                            <p:strVal val="#ppt_x"/>
                                          </p:val>
                                        </p:tav>
                                        <p:tav tm="100000">
                                          <p:val>
                                            <p:strVal val="#ppt_x"/>
                                          </p:val>
                                        </p:tav>
                                      </p:tavLst>
                                    </p:anim>
                                    <p:anim calcmode="lin" valueType="num">
                                      <p:cBhvr>
                                        <p:cTn id="82" dur="550" fill="hold"/>
                                        <p:tgtEl>
                                          <p:spTgt spid="18"/>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50"/>
                                        <p:tgtEl>
                                          <p:spTgt spid="19"/>
                                        </p:tgtEl>
                                      </p:cBhvr>
                                    </p:animEffect>
                                    <p:anim calcmode="lin" valueType="num">
                                      <p:cBhvr>
                                        <p:cTn id="86" dur="550" fill="hold"/>
                                        <p:tgtEl>
                                          <p:spTgt spid="19"/>
                                        </p:tgtEl>
                                        <p:attrNameLst>
                                          <p:attrName>ppt_x</p:attrName>
                                        </p:attrNameLst>
                                      </p:cBhvr>
                                      <p:tavLst>
                                        <p:tav tm="0">
                                          <p:val>
                                            <p:strVal val="#ppt_x"/>
                                          </p:val>
                                        </p:tav>
                                        <p:tav tm="100000">
                                          <p:val>
                                            <p:strVal val="#ppt_x"/>
                                          </p:val>
                                        </p:tav>
                                      </p:tavLst>
                                    </p:anim>
                                    <p:anim calcmode="lin" valueType="num">
                                      <p:cBhvr>
                                        <p:cTn id="87" dur="550" fill="hold"/>
                                        <p:tgtEl>
                                          <p:spTgt spid="19"/>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50"/>
                                        <p:tgtEl>
                                          <p:spTgt spid="20"/>
                                        </p:tgtEl>
                                      </p:cBhvr>
                                    </p:animEffect>
                                    <p:anim calcmode="lin" valueType="num">
                                      <p:cBhvr>
                                        <p:cTn id="91" dur="550" fill="hold"/>
                                        <p:tgtEl>
                                          <p:spTgt spid="20"/>
                                        </p:tgtEl>
                                        <p:attrNameLst>
                                          <p:attrName>ppt_x</p:attrName>
                                        </p:attrNameLst>
                                      </p:cBhvr>
                                      <p:tavLst>
                                        <p:tav tm="0">
                                          <p:val>
                                            <p:strVal val="#ppt_x"/>
                                          </p:val>
                                        </p:tav>
                                        <p:tav tm="100000">
                                          <p:val>
                                            <p:strVal val="#ppt_x"/>
                                          </p:val>
                                        </p:tav>
                                      </p:tavLst>
                                    </p:anim>
                                    <p:anim calcmode="lin" valueType="num">
                                      <p:cBhvr>
                                        <p:cTn id="92" dur="55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50"/>
                                        <p:tgtEl>
                                          <p:spTgt spid="21"/>
                                        </p:tgtEl>
                                      </p:cBhvr>
                                    </p:animEffect>
                                    <p:anim calcmode="lin" valueType="num">
                                      <p:cBhvr>
                                        <p:cTn id="96" dur="550" fill="hold"/>
                                        <p:tgtEl>
                                          <p:spTgt spid="21"/>
                                        </p:tgtEl>
                                        <p:attrNameLst>
                                          <p:attrName>ppt_x</p:attrName>
                                        </p:attrNameLst>
                                      </p:cBhvr>
                                      <p:tavLst>
                                        <p:tav tm="0">
                                          <p:val>
                                            <p:strVal val="#ppt_x"/>
                                          </p:val>
                                        </p:tav>
                                        <p:tav tm="100000">
                                          <p:val>
                                            <p:strVal val="#ppt_x"/>
                                          </p:val>
                                        </p:tav>
                                      </p:tavLst>
                                    </p:anim>
                                    <p:anim calcmode="lin" valueType="num">
                                      <p:cBhvr>
                                        <p:cTn id="97" dur="55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childTnLst>
                          </p:cTn>
                        </p:par>
                        <p:par>
                          <p:cTn id="103" fill="hold">
                            <p:stCondLst>
                              <p:cond delay="2200"/>
                            </p:stCondLst>
                            <p:childTnLst>
                              <p:par>
                                <p:cTn id="104" presetID="10" presetClass="entr" presetSubtype="0" fill="hold" grpId="0" nodeType="after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450"/>
                                        <p:tgtEl>
                                          <p:spTgt spid="2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450"/>
                                        <p:tgtEl>
                                          <p:spTgt spid="2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450"/>
                                        <p:tgtEl>
                                          <p:spTgt spid="25"/>
                                        </p:tgtEl>
                                      </p:cBhvr>
                                    </p:animEffect>
                                  </p:childTnLst>
                                </p:cTn>
                              </p:par>
                            </p:childTnLst>
                          </p:cTn>
                        </p:par>
                        <p:par>
                          <p:cTn id="113" fill="hold">
                            <p:stCondLst>
                              <p:cond delay="2650"/>
                            </p:stCondLst>
                            <p:childTnLst>
                              <p:par>
                                <p:cTn id="114" presetID="22" presetClass="entr" presetSubtype="8" fill="hold" grpId="0" nodeType="after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wipe(left)">
                                      <p:cBhvr>
                                        <p:cTn id="116" dur="500"/>
                                        <p:tgtEl>
                                          <p:spTgt spid="26"/>
                                        </p:tgtEl>
                                      </p:cBhvr>
                                    </p:animEffect>
                                  </p:childTnLst>
                                </p:cTn>
                              </p:par>
                              <p:par>
                                <p:cTn id="117" presetID="22" presetClass="entr" presetSubtype="8" fill="hold" grpId="0" nodeType="withEffect">
                                  <p:stCondLst>
                                    <p:cond delay="0"/>
                                  </p:stCondLst>
                                  <p:childTnLst>
                                    <p:set>
                                      <p:cBhvr>
                                        <p:cTn id="118" dur="1" fill="hold">
                                          <p:stCondLst>
                                            <p:cond delay="0"/>
                                          </p:stCondLst>
                                        </p:cTn>
                                        <p:tgtEl>
                                          <p:spTgt spid="27"/>
                                        </p:tgtEl>
                                        <p:attrNameLst>
                                          <p:attrName>style.visibility</p:attrName>
                                        </p:attrNameLst>
                                      </p:cBhvr>
                                      <p:to>
                                        <p:strVal val="visible"/>
                                      </p:to>
                                    </p:set>
                                    <p:animEffect transition="in" filter="wipe(left)">
                                      <p:cBhvr>
                                        <p:cTn id="1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Graphic spid="24" grpId="0">
        <p:bldAsOne/>
      </p:bldGraphic>
      <p:bldP spid="25" grpId="0" animBg="1"/>
      <p:bldP spid="26" grpId="0" animBg="1"/>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 · DEEP DIVE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Data that arrives intact</a:t>
            </a:r>
            <a:endParaRPr lang="en-US" sz="3200" dirty="0"/>
          </a:p>
        </p:txBody>
      </p:sp>
      <p:sp>
        <p:nvSpPr>
          <p:cNvPr id="4" name="a1w-fl0"/>
          <p:cNvSpPr/>
          <p:nvPr/>
        </p:nvSpPr>
        <p:spPr>
          <a:xfrm>
            <a:off x="548640" y="1572768"/>
            <a:ext cx="2514600" cy="1143000"/>
          </a:xfrm>
          <a:prstGeom prst="roundRect">
            <a:avLst>
              <a:gd name="adj" fmla="val 9600"/>
            </a:avLst>
          </a:prstGeom>
          <a:solidFill>
            <a:schemeClr val="bg2"/>
          </a:solidFill>
          <a:ln/>
        </p:spPr>
      </p:sp>
      <p:sp>
        <p:nvSpPr>
          <p:cNvPr id="5" name="a1w-fl0c"/>
          <p:cNvSpPr/>
          <p:nvPr/>
        </p:nvSpPr>
        <p:spPr>
          <a:xfrm>
            <a:off x="731520" y="1755648"/>
            <a:ext cx="457200" cy="457200"/>
          </a:xfrm>
          <a:prstGeom prst="ellipse">
            <a:avLst/>
          </a:prstGeom>
          <a:solidFill>
            <a:schemeClr val="tx2"/>
          </a:solidFill>
          <a:ln/>
        </p:spPr>
      </p:sp>
      <p:pic>
        <p:nvPicPr>
          <p:cNvPr id="6" name="a1w-fl0ci" descr="preencoded.png">    </p:cNvPr>
          <p:cNvPicPr>
            <a:picLocks noChangeAspect="1"/>
          </p:cNvPicPr>
          <p:nvPr/>
        </p:nvPicPr>
        <p:blipFill>
          <a:blip r:embed="rId1"/>
          <a:stretch>
            <a:fillRect/>
          </a:stretch>
        </p:blipFill>
        <p:spPr>
          <a:xfrm>
            <a:off x="845820" y="1869948"/>
            <a:ext cx="228600" cy="228600"/>
          </a:xfrm>
          <a:prstGeom prst="rect">
            <a:avLst/>
          </a:prstGeom>
        </p:spPr>
      </p:pic>
      <p:sp>
        <p:nvSpPr>
          <p:cNvPr id="7" name="a1w-fl0h"/>
          <p:cNvSpPr txBox="1"/>
          <p:nvPr/>
        </p:nvSpPr>
        <p:spPr>
          <a:xfrm>
            <a:off x="1325880" y="1755648"/>
            <a:ext cx="1664208"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Synapse SQL pool</a:t>
            </a:r>
            <a:endParaRPr lang="en-US" sz="1450" dirty="0"/>
          </a:p>
        </p:txBody>
      </p:sp>
      <p:sp>
        <p:nvSpPr>
          <p:cNvPr id="8" name="a1w-fl0b"/>
          <p:cNvSpPr txBox="1"/>
          <p:nvPr/>
        </p:nvSpPr>
        <p:spPr>
          <a:xfrm>
            <a:off x="731520" y="2304288"/>
            <a:ext cx="2240280" cy="347472"/>
          </a:xfrm>
          <a:prstGeom prst="rect">
            <a:avLst/>
          </a:prstGeom>
          <a:noFill/>
          <a:ln/>
        </p:spPr>
        <p:txBody>
          <a:bodyPr wrap="square" lIns="0" tIns="0" rIns="0" bIns="0" rtlCol="0" anchor="t"/>
          <a:lstStyle/>
          <a:p>
            <a:pPr indent="0" marL="0">
              <a:buNone/>
            </a:pPr>
            <a:r>
              <a:rPr lang="en-US" sz="1250" dirty="0">
                <a:solidFill>
                  <a:schemeClr val="accent6"/>
                </a:solidFill>
              </a:rPr>
              <a:t>Read with a typed SELECT</a:t>
            </a:r>
            <a:endParaRPr lang="en-US" sz="1250" dirty="0"/>
          </a:p>
        </p:txBody>
      </p:sp>
      <p:sp>
        <p:nvSpPr>
          <p:cNvPr id="9" name="a2w-fl1a"/>
          <p:cNvSpPr/>
          <p:nvPr/>
        </p:nvSpPr>
        <p:spPr>
          <a:xfrm>
            <a:off x="3097073" y="1984248"/>
            <a:ext cx="274320" cy="91"/>
          </a:xfrm>
          <a:prstGeom prst="line">
            <a:avLst/>
          </a:prstGeom>
          <a:noFill/>
          <a:ln w="22225">
            <a:solidFill>
              <a:srgbClr val="5D6B82"/>
            </a:solidFill>
            <a:prstDash val="solid"/>
            <a:tailEnd type="triangle"/>
          </a:ln>
        </p:spPr>
      </p:sp>
      <p:sp>
        <p:nvSpPr>
          <p:cNvPr id="10" name="a2w-fl1"/>
          <p:cNvSpPr/>
          <p:nvPr/>
        </p:nvSpPr>
        <p:spPr>
          <a:xfrm>
            <a:off x="3407969" y="1572768"/>
            <a:ext cx="2514600" cy="1143000"/>
          </a:xfrm>
          <a:prstGeom prst="roundRect">
            <a:avLst>
              <a:gd name="adj" fmla="val 9600"/>
            </a:avLst>
          </a:prstGeom>
          <a:solidFill>
            <a:schemeClr val="bg2"/>
          </a:solidFill>
          <a:ln/>
        </p:spPr>
      </p:sp>
      <p:sp>
        <p:nvSpPr>
          <p:cNvPr id="11" name="a2w-fl1c"/>
          <p:cNvSpPr/>
          <p:nvPr/>
        </p:nvSpPr>
        <p:spPr>
          <a:xfrm>
            <a:off x="3590849" y="1755648"/>
            <a:ext cx="457200" cy="457200"/>
          </a:xfrm>
          <a:prstGeom prst="ellipse">
            <a:avLst/>
          </a:prstGeom>
          <a:solidFill>
            <a:schemeClr val="tx2"/>
          </a:solidFill>
          <a:ln/>
        </p:spPr>
      </p:sp>
      <p:pic>
        <p:nvPicPr>
          <p:cNvPr id="12" name="a2w-fl1ci" descr="preencoded.png">    </p:cNvPr>
          <p:cNvPicPr>
            <a:picLocks noChangeAspect="1"/>
          </p:cNvPicPr>
          <p:nvPr/>
        </p:nvPicPr>
        <p:blipFill>
          <a:blip r:embed="rId2"/>
          <a:stretch>
            <a:fillRect/>
          </a:stretch>
        </p:blipFill>
        <p:spPr>
          <a:xfrm>
            <a:off x="3705149" y="1869948"/>
            <a:ext cx="228600" cy="228600"/>
          </a:xfrm>
          <a:prstGeom prst="rect">
            <a:avLst/>
          </a:prstGeom>
        </p:spPr>
      </p:pic>
      <p:sp>
        <p:nvSpPr>
          <p:cNvPr id="13" name="a2w-fl1h"/>
          <p:cNvSpPr txBox="1"/>
          <p:nvPr/>
        </p:nvSpPr>
        <p:spPr>
          <a:xfrm>
            <a:off x="4185209" y="1755648"/>
            <a:ext cx="1664208"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Fabric connection</a:t>
            </a:r>
            <a:endParaRPr lang="en-US" sz="1450" dirty="0"/>
          </a:p>
        </p:txBody>
      </p:sp>
      <p:sp>
        <p:nvSpPr>
          <p:cNvPr id="14" name="a2w-fl1b"/>
          <p:cNvSpPr txBox="1"/>
          <p:nvPr/>
        </p:nvSpPr>
        <p:spPr>
          <a:xfrm>
            <a:off x="3590849" y="2304288"/>
            <a:ext cx="2240280" cy="347472"/>
          </a:xfrm>
          <a:prstGeom prst="rect">
            <a:avLst/>
          </a:prstGeom>
          <a:noFill/>
          <a:ln/>
        </p:spPr>
        <p:txBody>
          <a:bodyPr wrap="square" lIns="0" tIns="0" rIns="0" bIns="0" rtlCol="0" anchor="t"/>
          <a:lstStyle/>
          <a:p>
            <a:pPr indent="0" marL="0">
              <a:buNone/>
            </a:pPr>
            <a:r>
              <a:rPr lang="en-US" sz="1250" dirty="0">
                <a:solidFill>
                  <a:schemeClr val="accent6"/>
                </a:solidFill>
              </a:rPr>
              <a:t>Identity, Key Vault or login</a:t>
            </a:r>
            <a:endParaRPr lang="en-US" sz="1250" dirty="0"/>
          </a:p>
        </p:txBody>
      </p:sp>
      <p:sp>
        <p:nvSpPr>
          <p:cNvPr id="15" name="a3w-fl2a"/>
          <p:cNvSpPr/>
          <p:nvPr/>
        </p:nvSpPr>
        <p:spPr>
          <a:xfrm>
            <a:off x="5956402" y="1984248"/>
            <a:ext cx="274320" cy="91"/>
          </a:xfrm>
          <a:prstGeom prst="line">
            <a:avLst/>
          </a:prstGeom>
          <a:noFill/>
          <a:ln w="22225">
            <a:solidFill>
              <a:srgbClr val="5D6B82"/>
            </a:solidFill>
            <a:prstDash val="solid"/>
            <a:tailEnd type="triangle"/>
          </a:ln>
        </p:spPr>
      </p:sp>
      <p:sp>
        <p:nvSpPr>
          <p:cNvPr id="16" name="a3w-fl2"/>
          <p:cNvSpPr/>
          <p:nvPr/>
        </p:nvSpPr>
        <p:spPr>
          <a:xfrm>
            <a:off x="6267298" y="1572768"/>
            <a:ext cx="2514600" cy="1143000"/>
          </a:xfrm>
          <a:prstGeom prst="roundRect">
            <a:avLst>
              <a:gd name="adj" fmla="val 9600"/>
            </a:avLst>
          </a:prstGeom>
          <a:solidFill>
            <a:schemeClr val="bg2"/>
          </a:solidFill>
          <a:ln/>
        </p:spPr>
      </p:sp>
      <p:sp>
        <p:nvSpPr>
          <p:cNvPr id="17" name="a3w-fl2c"/>
          <p:cNvSpPr/>
          <p:nvPr/>
        </p:nvSpPr>
        <p:spPr>
          <a:xfrm>
            <a:off x="6450178" y="1755648"/>
            <a:ext cx="457200" cy="457200"/>
          </a:xfrm>
          <a:prstGeom prst="ellipse">
            <a:avLst/>
          </a:prstGeom>
          <a:solidFill>
            <a:schemeClr val="tx2"/>
          </a:solidFill>
          <a:ln/>
        </p:spPr>
      </p:sp>
      <p:pic>
        <p:nvPicPr>
          <p:cNvPr id="18" name="a3w-fl2ci" descr="preencoded.png">    </p:cNvPr>
          <p:cNvPicPr>
            <a:picLocks noChangeAspect="1"/>
          </p:cNvPicPr>
          <p:nvPr/>
        </p:nvPicPr>
        <p:blipFill>
          <a:blip r:embed="rId3"/>
          <a:stretch>
            <a:fillRect/>
          </a:stretch>
        </p:blipFill>
        <p:spPr>
          <a:xfrm>
            <a:off x="6564478" y="1869948"/>
            <a:ext cx="228600" cy="228600"/>
          </a:xfrm>
          <a:prstGeom prst="rect">
            <a:avLst/>
          </a:prstGeom>
        </p:spPr>
      </p:pic>
      <p:sp>
        <p:nvSpPr>
          <p:cNvPr id="19" name="a3w-fl2h"/>
          <p:cNvSpPr txBox="1"/>
          <p:nvPr/>
        </p:nvSpPr>
        <p:spPr>
          <a:xfrm>
            <a:off x="7044538" y="1755648"/>
            <a:ext cx="1664208"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Pipeline per wave</a:t>
            </a:r>
            <a:endParaRPr lang="en-US" sz="1450" dirty="0"/>
          </a:p>
        </p:txBody>
      </p:sp>
      <p:sp>
        <p:nvSpPr>
          <p:cNvPr id="20" name="a3w-fl2b"/>
          <p:cNvSpPr txBox="1"/>
          <p:nvPr/>
        </p:nvSpPr>
        <p:spPr>
          <a:xfrm>
            <a:off x="6450178" y="2304288"/>
            <a:ext cx="2240280" cy="347472"/>
          </a:xfrm>
          <a:prstGeom prst="rect">
            <a:avLst/>
          </a:prstGeom>
          <a:noFill/>
          <a:ln/>
        </p:spPr>
        <p:txBody>
          <a:bodyPr wrap="square" lIns="0" tIns="0" rIns="0" bIns="0" rtlCol="0" anchor="t"/>
          <a:lstStyle/>
          <a:p>
            <a:pPr indent="0" marL="0">
              <a:buNone/>
            </a:pPr>
            <a:r>
              <a:rPr lang="en-US" sz="1250" dirty="0">
                <a:solidFill>
                  <a:schemeClr val="accent6"/>
                </a:solidFill>
              </a:rPr>
              <a:t>Four tables at a time</a:t>
            </a:r>
            <a:endParaRPr lang="en-US" sz="1250" dirty="0"/>
          </a:p>
        </p:txBody>
      </p:sp>
      <p:sp>
        <p:nvSpPr>
          <p:cNvPr id="21" name="a4w-fl3a"/>
          <p:cNvSpPr/>
          <p:nvPr/>
        </p:nvSpPr>
        <p:spPr>
          <a:xfrm>
            <a:off x="8815730" y="1984248"/>
            <a:ext cx="274320" cy="91"/>
          </a:xfrm>
          <a:prstGeom prst="line">
            <a:avLst/>
          </a:prstGeom>
          <a:noFill/>
          <a:ln w="22225">
            <a:solidFill>
              <a:srgbClr val="5D6B82"/>
            </a:solidFill>
            <a:prstDash val="solid"/>
            <a:tailEnd type="triangle"/>
          </a:ln>
        </p:spPr>
      </p:sp>
      <p:sp>
        <p:nvSpPr>
          <p:cNvPr id="22" name="a4w-fl3"/>
          <p:cNvSpPr/>
          <p:nvPr/>
        </p:nvSpPr>
        <p:spPr>
          <a:xfrm>
            <a:off x="9126626" y="1572768"/>
            <a:ext cx="2514600" cy="1143000"/>
          </a:xfrm>
          <a:prstGeom prst="roundRect">
            <a:avLst>
              <a:gd name="adj" fmla="val 9600"/>
            </a:avLst>
          </a:prstGeom>
          <a:solidFill>
            <a:schemeClr val="bg2"/>
          </a:solidFill>
          <a:ln/>
        </p:spPr>
      </p:sp>
      <p:sp>
        <p:nvSpPr>
          <p:cNvPr id="23" name="a4w-fl3c"/>
          <p:cNvSpPr/>
          <p:nvPr/>
        </p:nvSpPr>
        <p:spPr>
          <a:xfrm>
            <a:off x="9309506" y="1755648"/>
            <a:ext cx="457200" cy="457200"/>
          </a:xfrm>
          <a:prstGeom prst="ellipse">
            <a:avLst/>
          </a:prstGeom>
          <a:solidFill>
            <a:schemeClr val="tx2"/>
          </a:solidFill>
          <a:ln/>
        </p:spPr>
      </p:sp>
      <p:pic>
        <p:nvPicPr>
          <p:cNvPr id="24" name="a4w-fl3ci" descr="preencoded.png">    </p:cNvPr>
          <p:cNvPicPr>
            <a:picLocks noChangeAspect="1"/>
          </p:cNvPicPr>
          <p:nvPr/>
        </p:nvPicPr>
        <p:blipFill>
          <a:blip r:embed="rId4"/>
          <a:stretch>
            <a:fillRect/>
          </a:stretch>
        </p:blipFill>
        <p:spPr>
          <a:xfrm>
            <a:off x="9423806" y="1869948"/>
            <a:ext cx="228600" cy="228600"/>
          </a:xfrm>
          <a:prstGeom prst="rect">
            <a:avLst/>
          </a:prstGeom>
        </p:spPr>
      </p:pic>
      <p:sp>
        <p:nvSpPr>
          <p:cNvPr id="25" name="a4w-fl3h"/>
          <p:cNvSpPr txBox="1"/>
          <p:nvPr/>
        </p:nvSpPr>
        <p:spPr>
          <a:xfrm>
            <a:off x="9903866" y="1755648"/>
            <a:ext cx="1664208" cy="45720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Fabric Warehouse</a:t>
            </a:r>
            <a:endParaRPr lang="en-US" sz="1450" dirty="0"/>
          </a:p>
        </p:txBody>
      </p:sp>
      <p:sp>
        <p:nvSpPr>
          <p:cNvPr id="26" name="a4w-fl3b"/>
          <p:cNvSpPr txBox="1"/>
          <p:nvPr/>
        </p:nvSpPr>
        <p:spPr>
          <a:xfrm>
            <a:off x="9309506" y="2304288"/>
            <a:ext cx="2240280" cy="347472"/>
          </a:xfrm>
          <a:prstGeom prst="rect">
            <a:avLst/>
          </a:prstGeom>
          <a:noFill/>
          <a:ln/>
        </p:spPr>
        <p:txBody>
          <a:bodyPr wrap="square" lIns="0" tIns="0" rIns="0" bIns="0" rtlCol="0" anchor="t"/>
          <a:lstStyle/>
          <a:p>
            <a:pPr indent="0" marL="0">
              <a:buNone/>
            </a:pPr>
            <a:r>
              <a:rPr lang="en-US" sz="1250" dirty="0">
                <a:solidFill>
                  <a:schemeClr val="accent6"/>
                </a:solidFill>
              </a:rPr>
              <a:t>Loaded with the COPY command</a:t>
            </a:r>
            <a:endParaRPr lang="en-US" sz="1250" dirty="0"/>
          </a:p>
        </p:txBody>
      </p:sp>
      <p:sp>
        <p:nvSpPr>
          <p:cNvPr id="27" name="a5u-dc0"/>
          <p:cNvSpPr/>
          <p:nvPr/>
        </p:nvSpPr>
        <p:spPr>
          <a:xfrm>
            <a:off x="548640" y="2926080"/>
            <a:ext cx="5449824" cy="1161288"/>
          </a:xfrm>
          <a:prstGeom prst="roundRect">
            <a:avLst>
              <a:gd name="adj" fmla="val 9449"/>
            </a:avLst>
          </a:prstGeom>
          <a:solidFill>
            <a:schemeClr val="accent1">
              <a:alpha val="10000"/>
            </a:schemeClr>
          </a:solidFill>
          <a:ln/>
        </p:spPr>
      </p:sp>
      <p:sp>
        <p:nvSpPr>
          <p:cNvPr id="28" name="a5u-dc0c"/>
          <p:cNvSpPr/>
          <p:nvPr/>
        </p:nvSpPr>
        <p:spPr>
          <a:xfrm>
            <a:off x="822960" y="3227832"/>
            <a:ext cx="548640" cy="548640"/>
          </a:xfrm>
          <a:prstGeom prst="ellipse">
            <a:avLst/>
          </a:prstGeom>
          <a:solidFill>
            <a:schemeClr val="accent1"/>
          </a:solidFill>
          <a:ln/>
        </p:spPr>
      </p:sp>
      <p:pic>
        <p:nvPicPr>
          <p:cNvPr id="29" name="a5u-dc0ci" descr="preencoded.png">    </p:cNvPr>
          <p:cNvPicPr>
            <a:picLocks noChangeAspect="1"/>
          </p:cNvPicPr>
          <p:nvPr/>
        </p:nvPicPr>
        <p:blipFill>
          <a:blip r:embed="rId5"/>
          <a:stretch>
            <a:fillRect/>
          </a:stretch>
        </p:blipFill>
        <p:spPr>
          <a:xfrm>
            <a:off x="960120" y="3364992"/>
            <a:ext cx="274320" cy="274320"/>
          </a:xfrm>
          <a:prstGeom prst="rect">
            <a:avLst/>
          </a:prstGeom>
        </p:spPr>
      </p:pic>
      <p:sp>
        <p:nvSpPr>
          <p:cNvPr id="30" name="a5u-dc0h"/>
          <p:cNvSpPr txBox="1"/>
          <p:nvPr/>
        </p:nvSpPr>
        <p:spPr>
          <a:xfrm>
            <a:off x="1554480" y="3090672"/>
            <a:ext cx="4251960" cy="365760"/>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IDENTITY values kept</a:t>
            </a:r>
            <a:endParaRPr lang="en-US" sz="1600" dirty="0"/>
          </a:p>
        </p:txBody>
      </p:sp>
      <p:sp>
        <p:nvSpPr>
          <p:cNvPr id="31" name="a5u-dc0b"/>
          <p:cNvSpPr txBox="1"/>
          <p:nvPr/>
        </p:nvSpPr>
        <p:spPr>
          <a:xfrm>
            <a:off x="1554480" y="3474720"/>
            <a:ext cx="4251960" cy="548640"/>
          </a:xfrm>
          <a:prstGeom prst="rect">
            <a:avLst/>
          </a:prstGeom>
          <a:noFill/>
          <a:ln/>
        </p:spPr>
        <p:txBody>
          <a:bodyPr wrap="square" lIns="0" tIns="0" rIns="0" bIns="0" rtlCol="0" anchor="t"/>
          <a:lstStyle/>
          <a:p>
            <a:pPr indent="0" marL="0">
              <a:buNone/>
            </a:pPr>
            <a:r>
              <a:rPr lang="en-US" sz="1350" dirty="0">
                <a:solidFill>
                  <a:schemeClr val="tx1"/>
                </a:solidFill>
              </a:rPr>
              <a:t>Staging table, IDENTITY_INSERT, then a reseed. Microsoft lists IDENTITY as a limitation.</a:t>
            </a:r>
            <a:endParaRPr lang="en-US" sz="1350" dirty="0"/>
          </a:p>
        </p:txBody>
      </p:sp>
      <p:sp>
        <p:nvSpPr>
          <p:cNvPr id="32" name="a6u-dc1"/>
          <p:cNvSpPr/>
          <p:nvPr/>
        </p:nvSpPr>
        <p:spPr>
          <a:xfrm>
            <a:off x="6190488" y="2926080"/>
            <a:ext cx="5449824" cy="1161288"/>
          </a:xfrm>
          <a:prstGeom prst="roundRect">
            <a:avLst>
              <a:gd name="adj" fmla="val 9449"/>
            </a:avLst>
          </a:prstGeom>
          <a:solidFill>
            <a:schemeClr val="accent1">
              <a:alpha val="10000"/>
            </a:schemeClr>
          </a:solidFill>
          <a:ln/>
        </p:spPr>
      </p:sp>
      <p:sp>
        <p:nvSpPr>
          <p:cNvPr id="33" name="a6u-dc1c"/>
          <p:cNvSpPr/>
          <p:nvPr/>
        </p:nvSpPr>
        <p:spPr>
          <a:xfrm>
            <a:off x="6464808" y="3227832"/>
            <a:ext cx="548640" cy="548640"/>
          </a:xfrm>
          <a:prstGeom prst="ellipse">
            <a:avLst/>
          </a:prstGeom>
          <a:solidFill>
            <a:schemeClr val="accent1"/>
          </a:solidFill>
          <a:ln/>
        </p:spPr>
      </p:sp>
      <p:pic>
        <p:nvPicPr>
          <p:cNvPr id="34" name="a6u-dc1ci" descr="preencoded.png">    </p:cNvPr>
          <p:cNvPicPr>
            <a:picLocks noChangeAspect="1"/>
          </p:cNvPicPr>
          <p:nvPr/>
        </p:nvPicPr>
        <p:blipFill>
          <a:blip r:embed="rId6"/>
          <a:stretch>
            <a:fillRect/>
          </a:stretch>
        </p:blipFill>
        <p:spPr>
          <a:xfrm>
            <a:off x="6601968" y="3364992"/>
            <a:ext cx="274320" cy="274320"/>
          </a:xfrm>
          <a:prstGeom prst="rect">
            <a:avLst/>
          </a:prstGeom>
        </p:spPr>
      </p:pic>
      <p:sp>
        <p:nvSpPr>
          <p:cNvPr id="35" name="a6u-dc1h"/>
          <p:cNvSpPr txBox="1"/>
          <p:nvPr/>
        </p:nvSpPr>
        <p:spPr>
          <a:xfrm>
            <a:off x="7196328" y="3090672"/>
            <a:ext cx="4251960" cy="365760"/>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Masked before the first row</a:t>
            </a:r>
            <a:endParaRPr lang="en-US" sz="1600" dirty="0"/>
          </a:p>
        </p:txBody>
      </p:sp>
      <p:sp>
        <p:nvSpPr>
          <p:cNvPr id="36" name="a6u-dc1b"/>
          <p:cNvSpPr txBox="1"/>
          <p:nvPr/>
        </p:nvSpPr>
        <p:spPr>
          <a:xfrm>
            <a:off x="7196328" y="3474720"/>
            <a:ext cx="4251960" cy="548640"/>
          </a:xfrm>
          <a:prstGeom prst="rect">
            <a:avLst/>
          </a:prstGeom>
          <a:noFill/>
          <a:ln/>
        </p:spPr>
        <p:txBody>
          <a:bodyPr wrap="square" lIns="0" tIns="0" rIns="0" bIns="0" rtlCol="0" anchor="t"/>
          <a:lstStyle/>
          <a:p>
            <a:pPr indent="0" marL="0">
              <a:buNone/>
            </a:pPr>
            <a:r>
              <a:rPr lang="en-US" sz="1350" dirty="0">
                <a:solidFill>
                  <a:schemeClr val="tx1"/>
                </a:solidFill>
              </a:rPr>
              <a:t>Masks are part of CREATE TABLE, so no row ever lands unmasked.</a:t>
            </a:r>
            <a:endParaRPr lang="en-US" sz="1350" dirty="0"/>
          </a:p>
        </p:txBody>
      </p:sp>
      <p:sp>
        <p:nvSpPr>
          <p:cNvPr id="37" name="a7u-dc2"/>
          <p:cNvSpPr/>
          <p:nvPr/>
        </p:nvSpPr>
        <p:spPr>
          <a:xfrm>
            <a:off x="548640" y="4224528"/>
            <a:ext cx="5449824" cy="1161288"/>
          </a:xfrm>
          <a:prstGeom prst="roundRect">
            <a:avLst>
              <a:gd name="adj" fmla="val 9449"/>
            </a:avLst>
          </a:prstGeom>
          <a:solidFill>
            <a:schemeClr val="accent1">
              <a:alpha val="10000"/>
            </a:schemeClr>
          </a:solidFill>
          <a:ln/>
        </p:spPr>
      </p:sp>
      <p:sp>
        <p:nvSpPr>
          <p:cNvPr id="38" name="a7u-dc2c"/>
          <p:cNvSpPr/>
          <p:nvPr/>
        </p:nvSpPr>
        <p:spPr>
          <a:xfrm>
            <a:off x="822960" y="4526280"/>
            <a:ext cx="548640" cy="548640"/>
          </a:xfrm>
          <a:prstGeom prst="ellipse">
            <a:avLst/>
          </a:prstGeom>
          <a:solidFill>
            <a:schemeClr val="accent1"/>
          </a:solidFill>
          <a:ln/>
        </p:spPr>
      </p:sp>
      <p:pic>
        <p:nvPicPr>
          <p:cNvPr id="39" name="a7u-dc2ci" descr="preencoded.png">    </p:cNvPr>
          <p:cNvPicPr>
            <a:picLocks noChangeAspect="1"/>
          </p:cNvPicPr>
          <p:nvPr/>
        </p:nvPicPr>
        <p:blipFill>
          <a:blip r:embed="rId7"/>
          <a:stretch>
            <a:fillRect/>
          </a:stretch>
        </p:blipFill>
        <p:spPr>
          <a:xfrm>
            <a:off x="960120" y="4663440"/>
            <a:ext cx="274320" cy="274320"/>
          </a:xfrm>
          <a:prstGeom prst="rect">
            <a:avLst/>
          </a:prstGeom>
        </p:spPr>
      </p:pic>
      <p:sp>
        <p:nvSpPr>
          <p:cNvPr id="40" name="a7u-dc2h"/>
          <p:cNvSpPr txBox="1"/>
          <p:nvPr/>
        </p:nvSpPr>
        <p:spPr>
          <a:xfrm>
            <a:off x="1554480" y="4389120"/>
            <a:ext cx="4251960" cy="365760"/>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Date filters and keep-in-sync</a:t>
            </a:r>
            <a:endParaRPr lang="en-US" sz="1600" dirty="0"/>
          </a:p>
        </p:txBody>
      </p:sp>
      <p:sp>
        <p:nvSpPr>
          <p:cNvPr id="41" name="a7u-dc2b"/>
          <p:cNvSpPr txBox="1"/>
          <p:nvPr/>
        </p:nvSpPr>
        <p:spPr>
          <a:xfrm>
            <a:off x="1554480" y="4773168"/>
            <a:ext cx="4251960" cy="548640"/>
          </a:xfrm>
          <a:prstGeom prst="rect">
            <a:avLst/>
          </a:prstGeom>
          <a:noFill/>
          <a:ln/>
        </p:spPr>
        <p:txBody>
          <a:bodyPr wrap="square" lIns="0" tIns="0" rIns="0" bIns="0" rtlCol="0" anchor="t"/>
          <a:lstStyle/>
          <a:p>
            <a:pPr indent="0" marL="0">
              <a:buNone/>
            </a:pPr>
            <a:r>
              <a:rPr lang="en-US" sz="1350" dirty="0">
                <a:solidFill>
                  <a:schemeClr val="tx1"/>
                </a:solidFill>
              </a:rPr>
              <a:t>Load a date range, then sync new and changed rows from a watermark, by key.</a:t>
            </a:r>
            <a:endParaRPr lang="en-US" sz="1350" dirty="0"/>
          </a:p>
        </p:txBody>
      </p:sp>
      <p:sp>
        <p:nvSpPr>
          <p:cNvPr id="42" name="a8u-dc3"/>
          <p:cNvSpPr/>
          <p:nvPr/>
        </p:nvSpPr>
        <p:spPr>
          <a:xfrm>
            <a:off x="6190488" y="4224528"/>
            <a:ext cx="5449824" cy="1161288"/>
          </a:xfrm>
          <a:prstGeom prst="roundRect">
            <a:avLst>
              <a:gd name="adj" fmla="val 9449"/>
            </a:avLst>
          </a:prstGeom>
          <a:solidFill>
            <a:schemeClr val="accent1">
              <a:alpha val="10000"/>
            </a:schemeClr>
          </a:solidFill>
          <a:ln/>
        </p:spPr>
      </p:sp>
      <p:sp>
        <p:nvSpPr>
          <p:cNvPr id="43" name="a8u-dc3c"/>
          <p:cNvSpPr/>
          <p:nvPr/>
        </p:nvSpPr>
        <p:spPr>
          <a:xfrm>
            <a:off x="6464808" y="4526280"/>
            <a:ext cx="548640" cy="548640"/>
          </a:xfrm>
          <a:prstGeom prst="ellipse">
            <a:avLst/>
          </a:prstGeom>
          <a:solidFill>
            <a:schemeClr val="accent1"/>
          </a:solidFill>
          <a:ln/>
        </p:spPr>
      </p:sp>
      <p:pic>
        <p:nvPicPr>
          <p:cNvPr id="44" name="a8u-dc3ci" descr="preencoded.png">    </p:cNvPr>
          <p:cNvPicPr>
            <a:picLocks noChangeAspect="1"/>
          </p:cNvPicPr>
          <p:nvPr/>
        </p:nvPicPr>
        <p:blipFill>
          <a:blip r:embed="rId8"/>
          <a:stretch>
            <a:fillRect/>
          </a:stretch>
        </p:blipFill>
        <p:spPr>
          <a:xfrm>
            <a:off x="6601968" y="4663440"/>
            <a:ext cx="274320" cy="274320"/>
          </a:xfrm>
          <a:prstGeom prst="rect">
            <a:avLst/>
          </a:prstGeom>
        </p:spPr>
      </p:pic>
      <p:sp>
        <p:nvSpPr>
          <p:cNvPr id="45" name="a8u-dc3h"/>
          <p:cNvSpPr txBox="1"/>
          <p:nvPr/>
        </p:nvSpPr>
        <p:spPr>
          <a:xfrm>
            <a:off x="7196328" y="4389120"/>
            <a:ext cx="4251960" cy="365760"/>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Counts compared</a:t>
            </a:r>
            <a:endParaRPr lang="en-US" sz="1600" dirty="0"/>
          </a:p>
        </p:txBody>
      </p:sp>
      <p:sp>
        <p:nvSpPr>
          <p:cNvPr id="46" name="a8u-dc3b"/>
          <p:cNvSpPr txBox="1"/>
          <p:nvPr/>
        </p:nvSpPr>
        <p:spPr>
          <a:xfrm>
            <a:off x="7196328" y="4773168"/>
            <a:ext cx="4251960" cy="548640"/>
          </a:xfrm>
          <a:prstGeom prst="rect">
            <a:avLst/>
          </a:prstGeom>
          <a:noFill/>
          <a:ln/>
        </p:spPr>
        <p:txBody>
          <a:bodyPr wrap="square" lIns="0" tIns="0" rIns="0" bIns="0" rtlCol="0" anchor="t"/>
          <a:lstStyle/>
          <a:p>
            <a:pPr indent="0" marL="0">
              <a:buNone/>
            </a:pPr>
            <a:r>
              <a:rPr lang="en-US" sz="1350" dirty="0">
                <a:solidFill>
                  <a:schemeClr val="tx1"/>
                </a:solidFill>
              </a:rPr>
              <a:t>Synapse and Warehouse row counts compared table by table, same filter.</a:t>
            </a:r>
            <a:endParaRPr lang="en-US" sz="1350" dirty="0"/>
          </a:p>
        </p:txBody>
      </p:sp>
      <p:sp>
        <p:nvSpPr>
          <p:cNvPr id="47" name="a9f-contrast"/>
          <p:cNvSpPr txBox="1"/>
          <p:nvPr/>
        </p:nvSpPr>
        <p:spPr>
          <a:xfrm>
            <a:off x="548640" y="5532120"/>
            <a:ext cx="11094415" cy="502920"/>
          </a:xfrm>
          <a:prstGeom prst="rect">
            <a:avLst/>
          </a:prstGeom>
          <a:noFill/>
          <a:ln/>
        </p:spPr>
        <p:txBody>
          <a:bodyPr wrap="square" lIns="0" tIns="0" rIns="0" bIns="0" rtlCol="0" anchor="ctr"/>
          <a:lstStyle/>
          <a:p>
            <a:pPr indent="0" marL="0">
              <a:buNone/>
            </a:pPr>
            <a:r>
              <a:rPr lang="en-US" sz="1400" b="1" dirty="0">
                <a:solidFill>
                  <a:schemeClr val="accent2"/>
                </a:solidFill>
              </a:rPr>
              <a:t>Microsoft:  </a:t>
            </a:r>
            <a:pPr indent="0" marL="0">
              <a:buNone/>
            </a:pPr>
            <a:r>
              <a:rPr lang="en-US" sz="1400" dirty="0">
                <a:solidFill>
                  <a:schemeClr val="accent6"/>
                </a:solidFill>
              </a:rPr>
              <a:t>a Copy job set up in its own wizard step (full, or continuous incremental). Comparing the results is left to you.</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left)">
                                      <p:cBhvr>
                                        <p:cTn id="57" dur="500"/>
                                        <p:tgtEl>
                                          <p:spTgt spid="20"/>
                                        </p:tgtEl>
                                      </p:cBhvr>
                                    </p:animEffect>
                                  </p:childTnLst>
                                </p:cTn>
                              </p:par>
                            </p:childTnLst>
                          </p:cTn>
                        </p:par>
                        <p:par>
                          <p:cTn id="58" fill="hold">
                            <p:stCondLst>
                              <p:cond delay="1500"/>
                            </p:stCondLst>
                            <p:childTnLst>
                              <p:par>
                                <p:cTn id="59" presetID="22" presetClass="entr" presetSubtype="8" fill="hold" grpId="0" nodeType="after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left)">
                                      <p:cBhvr>
                                        <p:cTn id="61" dur="500"/>
                                        <p:tgtEl>
                                          <p:spTgt spid="21"/>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wipe(left)">
                                      <p:cBhvr>
                                        <p:cTn id="64" dur="500"/>
                                        <p:tgtEl>
                                          <p:spTgt spid="22"/>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left)">
                                      <p:cBhvr>
                                        <p:cTn id="67" dur="500"/>
                                        <p:tgtEl>
                                          <p:spTgt spid="23"/>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wipe(left)">
                                      <p:cBhvr>
                                        <p:cTn id="70" dur="500"/>
                                        <p:tgtEl>
                                          <p:spTgt spid="24"/>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ipe(left)">
                                      <p:cBhvr>
                                        <p:cTn id="73" dur="500"/>
                                        <p:tgtEl>
                                          <p:spTgt spid="25"/>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wipe(left)">
                                      <p:cBhvr>
                                        <p:cTn id="76" dur="500"/>
                                        <p:tgtEl>
                                          <p:spTgt spid="26"/>
                                        </p:tgtEl>
                                      </p:cBhvr>
                                    </p:animEffect>
                                  </p:childTnLst>
                                </p:cTn>
                              </p:par>
                            </p:childTnLst>
                          </p:cTn>
                        </p:par>
                        <p:par>
                          <p:cTn id="77" fill="hold">
                            <p:stCondLst>
                              <p:cond delay="2000"/>
                            </p:stCondLst>
                            <p:childTnLst>
                              <p:par>
                                <p:cTn id="78" presetID="42" presetClass="entr" presetSubtype="0" fill="hold" grpId="0" nodeType="after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50"/>
                                        <p:tgtEl>
                                          <p:spTgt spid="27"/>
                                        </p:tgtEl>
                                      </p:cBhvr>
                                    </p:animEffect>
                                    <p:anim calcmode="lin" valueType="num">
                                      <p:cBhvr>
                                        <p:cTn id="81" dur="550" fill="hold"/>
                                        <p:tgtEl>
                                          <p:spTgt spid="27"/>
                                        </p:tgtEl>
                                        <p:attrNameLst>
                                          <p:attrName>ppt_x</p:attrName>
                                        </p:attrNameLst>
                                      </p:cBhvr>
                                      <p:tavLst>
                                        <p:tav tm="0">
                                          <p:val>
                                            <p:strVal val="#ppt_x"/>
                                          </p:val>
                                        </p:tav>
                                        <p:tav tm="100000">
                                          <p:val>
                                            <p:strVal val="#ppt_x"/>
                                          </p:val>
                                        </p:tav>
                                      </p:tavLst>
                                    </p:anim>
                                    <p:anim calcmode="lin" valueType="num">
                                      <p:cBhvr>
                                        <p:cTn id="82" dur="550" fill="hold"/>
                                        <p:tgtEl>
                                          <p:spTgt spid="2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50"/>
                                        <p:tgtEl>
                                          <p:spTgt spid="28"/>
                                        </p:tgtEl>
                                      </p:cBhvr>
                                    </p:animEffect>
                                    <p:anim calcmode="lin" valueType="num">
                                      <p:cBhvr>
                                        <p:cTn id="86" dur="550" fill="hold"/>
                                        <p:tgtEl>
                                          <p:spTgt spid="28"/>
                                        </p:tgtEl>
                                        <p:attrNameLst>
                                          <p:attrName>ppt_x</p:attrName>
                                        </p:attrNameLst>
                                      </p:cBhvr>
                                      <p:tavLst>
                                        <p:tav tm="0">
                                          <p:val>
                                            <p:strVal val="#ppt_x"/>
                                          </p:val>
                                        </p:tav>
                                        <p:tav tm="100000">
                                          <p:val>
                                            <p:strVal val="#ppt_x"/>
                                          </p:val>
                                        </p:tav>
                                      </p:tavLst>
                                    </p:anim>
                                    <p:anim calcmode="lin" valueType="num">
                                      <p:cBhvr>
                                        <p:cTn id="87" dur="550" fill="hold"/>
                                        <p:tgtEl>
                                          <p:spTgt spid="28"/>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550"/>
                                        <p:tgtEl>
                                          <p:spTgt spid="29"/>
                                        </p:tgtEl>
                                      </p:cBhvr>
                                    </p:animEffect>
                                    <p:anim calcmode="lin" valueType="num">
                                      <p:cBhvr>
                                        <p:cTn id="91" dur="550" fill="hold"/>
                                        <p:tgtEl>
                                          <p:spTgt spid="29"/>
                                        </p:tgtEl>
                                        <p:attrNameLst>
                                          <p:attrName>ppt_x</p:attrName>
                                        </p:attrNameLst>
                                      </p:cBhvr>
                                      <p:tavLst>
                                        <p:tav tm="0">
                                          <p:val>
                                            <p:strVal val="#ppt_x"/>
                                          </p:val>
                                        </p:tav>
                                        <p:tav tm="100000">
                                          <p:val>
                                            <p:strVal val="#ppt_x"/>
                                          </p:val>
                                        </p:tav>
                                      </p:tavLst>
                                    </p:anim>
                                    <p:anim calcmode="lin" valueType="num">
                                      <p:cBhvr>
                                        <p:cTn id="92" dur="550" fill="hold"/>
                                        <p:tgtEl>
                                          <p:spTgt spid="2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50"/>
                                        <p:tgtEl>
                                          <p:spTgt spid="30"/>
                                        </p:tgtEl>
                                      </p:cBhvr>
                                    </p:animEffect>
                                    <p:anim calcmode="lin" valueType="num">
                                      <p:cBhvr>
                                        <p:cTn id="96" dur="550" fill="hold"/>
                                        <p:tgtEl>
                                          <p:spTgt spid="30"/>
                                        </p:tgtEl>
                                        <p:attrNameLst>
                                          <p:attrName>ppt_x</p:attrName>
                                        </p:attrNameLst>
                                      </p:cBhvr>
                                      <p:tavLst>
                                        <p:tav tm="0">
                                          <p:val>
                                            <p:strVal val="#ppt_x"/>
                                          </p:val>
                                        </p:tav>
                                        <p:tav tm="100000">
                                          <p:val>
                                            <p:strVal val="#ppt_x"/>
                                          </p:val>
                                        </p:tav>
                                      </p:tavLst>
                                    </p:anim>
                                    <p:anim calcmode="lin" valueType="num">
                                      <p:cBhvr>
                                        <p:cTn id="97" dur="550" fill="hold"/>
                                        <p:tgtEl>
                                          <p:spTgt spid="30"/>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1"/>
                                        </p:tgtEl>
                                        <p:attrNameLst>
                                          <p:attrName>style.visibility</p:attrName>
                                        </p:attrNameLst>
                                      </p:cBhvr>
                                      <p:to>
                                        <p:strVal val="visible"/>
                                      </p:to>
                                    </p:set>
                                    <p:animEffect transition="in" filter="fade">
                                      <p:cBhvr>
                                        <p:cTn id="100" dur="550"/>
                                        <p:tgtEl>
                                          <p:spTgt spid="31"/>
                                        </p:tgtEl>
                                      </p:cBhvr>
                                    </p:animEffect>
                                    <p:anim calcmode="lin" valueType="num">
                                      <p:cBhvr>
                                        <p:cTn id="101" dur="550" fill="hold"/>
                                        <p:tgtEl>
                                          <p:spTgt spid="31"/>
                                        </p:tgtEl>
                                        <p:attrNameLst>
                                          <p:attrName>ppt_x</p:attrName>
                                        </p:attrNameLst>
                                      </p:cBhvr>
                                      <p:tavLst>
                                        <p:tav tm="0">
                                          <p:val>
                                            <p:strVal val="#ppt_x"/>
                                          </p:val>
                                        </p:tav>
                                        <p:tav tm="100000">
                                          <p:val>
                                            <p:strVal val="#ppt_x"/>
                                          </p:val>
                                        </p:tav>
                                      </p:tavLst>
                                    </p:anim>
                                    <p:anim calcmode="lin" valueType="num">
                                      <p:cBhvr>
                                        <p:cTn id="102" dur="550" fill="hold"/>
                                        <p:tgtEl>
                                          <p:spTgt spid="31"/>
                                        </p:tgtEl>
                                        <p:attrNameLst>
                                          <p:attrName>ppt_y</p:attrName>
                                        </p:attrNameLst>
                                      </p:cBhvr>
                                      <p:tavLst>
                                        <p:tav tm="0">
                                          <p:val>
                                            <p:strVal val="#ppt_y+.1"/>
                                          </p:val>
                                        </p:tav>
                                        <p:tav tm="100000">
                                          <p:val>
                                            <p:strVal val="#ppt_y"/>
                                          </p:val>
                                        </p:tav>
                                      </p:tavLst>
                                    </p:anim>
                                  </p:childTnLst>
                                </p:cTn>
                              </p:par>
                            </p:childTnLst>
                          </p:cTn>
                        </p:par>
                        <p:par>
                          <p:cTn id="103" fill="hold">
                            <p:stCondLst>
                              <p:cond delay="2550"/>
                            </p:stCondLst>
                            <p:childTnLst>
                              <p:par>
                                <p:cTn id="104" presetID="42" presetClass="entr" presetSubtype="0" fill="hold" grpId="0" nodeType="after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50"/>
                                        <p:tgtEl>
                                          <p:spTgt spid="32"/>
                                        </p:tgtEl>
                                      </p:cBhvr>
                                    </p:animEffect>
                                    <p:anim calcmode="lin" valueType="num">
                                      <p:cBhvr>
                                        <p:cTn id="107" dur="550" fill="hold"/>
                                        <p:tgtEl>
                                          <p:spTgt spid="32"/>
                                        </p:tgtEl>
                                        <p:attrNameLst>
                                          <p:attrName>ppt_x</p:attrName>
                                        </p:attrNameLst>
                                      </p:cBhvr>
                                      <p:tavLst>
                                        <p:tav tm="0">
                                          <p:val>
                                            <p:strVal val="#ppt_x"/>
                                          </p:val>
                                        </p:tav>
                                        <p:tav tm="100000">
                                          <p:val>
                                            <p:strVal val="#ppt_x"/>
                                          </p:val>
                                        </p:tav>
                                      </p:tavLst>
                                    </p:anim>
                                    <p:anim calcmode="lin" valueType="num">
                                      <p:cBhvr>
                                        <p:cTn id="108" dur="550" fill="hold"/>
                                        <p:tgtEl>
                                          <p:spTgt spid="32"/>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550"/>
                                        <p:tgtEl>
                                          <p:spTgt spid="33"/>
                                        </p:tgtEl>
                                      </p:cBhvr>
                                    </p:animEffect>
                                    <p:anim calcmode="lin" valueType="num">
                                      <p:cBhvr>
                                        <p:cTn id="112" dur="550" fill="hold"/>
                                        <p:tgtEl>
                                          <p:spTgt spid="33"/>
                                        </p:tgtEl>
                                        <p:attrNameLst>
                                          <p:attrName>ppt_x</p:attrName>
                                        </p:attrNameLst>
                                      </p:cBhvr>
                                      <p:tavLst>
                                        <p:tav tm="0">
                                          <p:val>
                                            <p:strVal val="#ppt_x"/>
                                          </p:val>
                                        </p:tav>
                                        <p:tav tm="100000">
                                          <p:val>
                                            <p:strVal val="#ppt_x"/>
                                          </p:val>
                                        </p:tav>
                                      </p:tavLst>
                                    </p:anim>
                                    <p:anim calcmode="lin" valueType="num">
                                      <p:cBhvr>
                                        <p:cTn id="113" dur="550" fill="hold"/>
                                        <p:tgtEl>
                                          <p:spTgt spid="33"/>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34"/>
                                        </p:tgtEl>
                                        <p:attrNameLst>
                                          <p:attrName>style.visibility</p:attrName>
                                        </p:attrNameLst>
                                      </p:cBhvr>
                                      <p:to>
                                        <p:strVal val="visible"/>
                                      </p:to>
                                    </p:set>
                                    <p:animEffect transition="in" filter="fade">
                                      <p:cBhvr>
                                        <p:cTn id="116" dur="550"/>
                                        <p:tgtEl>
                                          <p:spTgt spid="34"/>
                                        </p:tgtEl>
                                      </p:cBhvr>
                                    </p:animEffect>
                                    <p:anim calcmode="lin" valueType="num">
                                      <p:cBhvr>
                                        <p:cTn id="117" dur="550" fill="hold"/>
                                        <p:tgtEl>
                                          <p:spTgt spid="34"/>
                                        </p:tgtEl>
                                        <p:attrNameLst>
                                          <p:attrName>ppt_x</p:attrName>
                                        </p:attrNameLst>
                                      </p:cBhvr>
                                      <p:tavLst>
                                        <p:tav tm="0">
                                          <p:val>
                                            <p:strVal val="#ppt_x"/>
                                          </p:val>
                                        </p:tav>
                                        <p:tav tm="100000">
                                          <p:val>
                                            <p:strVal val="#ppt_x"/>
                                          </p:val>
                                        </p:tav>
                                      </p:tavLst>
                                    </p:anim>
                                    <p:anim calcmode="lin" valueType="num">
                                      <p:cBhvr>
                                        <p:cTn id="118" dur="550" fill="hold"/>
                                        <p:tgtEl>
                                          <p:spTgt spid="34"/>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fade">
                                      <p:cBhvr>
                                        <p:cTn id="121" dur="550"/>
                                        <p:tgtEl>
                                          <p:spTgt spid="35"/>
                                        </p:tgtEl>
                                      </p:cBhvr>
                                    </p:animEffect>
                                    <p:anim calcmode="lin" valueType="num">
                                      <p:cBhvr>
                                        <p:cTn id="122" dur="550" fill="hold"/>
                                        <p:tgtEl>
                                          <p:spTgt spid="35"/>
                                        </p:tgtEl>
                                        <p:attrNameLst>
                                          <p:attrName>ppt_x</p:attrName>
                                        </p:attrNameLst>
                                      </p:cBhvr>
                                      <p:tavLst>
                                        <p:tav tm="0">
                                          <p:val>
                                            <p:strVal val="#ppt_x"/>
                                          </p:val>
                                        </p:tav>
                                        <p:tav tm="100000">
                                          <p:val>
                                            <p:strVal val="#ppt_x"/>
                                          </p:val>
                                        </p:tav>
                                      </p:tavLst>
                                    </p:anim>
                                    <p:anim calcmode="lin" valueType="num">
                                      <p:cBhvr>
                                        <p:cTn id="123" dur="550" fill="hold"/>
                                        <p:tgtEl>
                                          <p:spTgt spid="35"/>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fade">
                                      <p:cBhvr>
                                        <p:cTn id="126" dur="550"/>
                                        <p:tgtEl>
                                          <p:spTgt spid="36"/>
                                        </p:tgtEl>
                                      </p:cBhvr>
                                    </p:animEffect>
                                    <p:anim calcmode="lin" valueType="num">
                                      <p:cBhvr>
                                        <p:cTn id="127" dur="550" fill="hold"/>
                                        <p:tgtEl>
                                          <p:spTgt spid="36"/>
                                        </p:tgtEl>
                                        <p:attrNameLst>
                                          <p:attrName>ppt_x</p:attrName>
                                        </p:attrNameLst>
                                      </p:cBhvr>
                                      <p:tavLst>
                                        <p:tav tm="0">
                                          <p:val>
                                            <p:strVal val="#ppt_x"/>
                                          </p:val>
                                        </p:tav>
                                        <p:tav tm="100000">
                                          <p:val>
                                            <p:strVal val="#ppt_x"/>
                                          </p:val>
                                        </p:tav>
                                      </p:tavLst>
                                    </p:anim>
                                    <p:anim calcmode="lin" valueType="num">
                                      <p:cBhvr>
                                        <p:cTn id="128" dur="550" fill="hold"/>
                                        <p:tgtEl>
                                          <p:spTgt spid="36"/>
                                        </p:tgtEl>
                                        <p:attrNameLst>
                                          <p:attrName>ppt_y</p:attrName>
                                        </p:attrNameLst>
                                      </p:cBhvr>
                                      <p:tavLst>
                                        <p:tav tm="0">
                                          <p:val>
                                            <p:strVal val="#ppt_y+.1"/>
                                          </p:val>
                                        </p:tav>
                                        <p:tav tm="100000">
                                          <p:val>
                                            <p:strVal val="#ppt_y"/>
                                          </p:val>
                                        </p:tav>
                                      </p:tavLst>
                                    </p:anim>
                                  </p:childTnLst>
                                </p:cTn>
                              </p:par>
                            </p:childTnLst>
                          </p:cTn>
                        </p:par>
                        <p:par>
                          <p:cTn id="129" fill="hold">
                            <p:stCondLst>
                              <p:cond delay="3100"/>
                            </p:stCondLst>
                            <p:childTnLst>
                              <p:par>
                                <p:cTn id="130" presetID="42" presetClass="entr" presetSubtype="0" fill="hold" grpId="0" nodeType="afterEffect">
                                  <p:stCondLst>
                                    <p:cond delay="0"/>
                                  </p:stCondLst>
                                  <p:childTnLst>
                                    <p:set>
                                      <p:cBhvr>
                                        <p:cTn id="131" dur="1" fill="hold">
                                          <p:stCondLst>
                                            <p:cond delay="0"/>
                                          </p:stCondLst>
                                        </p:cTn>
                                        <p:tgtEl>
                                          <p:spTgt spid="37"/>
                                        </p:tgtEl>
                                        <p:attrNameLst>
                                          <p:attrName>style.visibility</p:attrName>
                                        </p:attrNameLst>
                                      </p:cBhvr>
                                      <p:to>
                                        <p:strVal val="visible"/>
                                      </p:to>
                                    </p:set>
                                    <p:animEffect transition="in" filter="fade">
                                      <p:cBhvr>
                                        <p:cTn id="132" dur="550"/>
                                        <p:tgtEl>
                                          <p:spTgt spid="37"/>
                                        </p:tgtEl>
                                      </p:cBhvr>
                                    </p:animEffect>
                                    <p:anim calcmode="lin" valueType="num">
                                      <p:cBhvr>
                                        <p:cTn id="133" dur="550" fill="hold"/>
                                        <p:tgtEl>
                                          <p:spTgt spid="37"/>
                                        </p:tgtEl>
                                        <p:attrNameLst>
                                          <p:attrName>ppt_x</p:attrName>
                                        </p:attrNameLst>
                                      </p:cBhvr>
                                      <p:tavLst>
                                        <p:tav tm="0">
                                          <p:val>
                                            <p:strVal val="#ppt_x"/>
                                          </p:val>
                                        </p:tav>
                                        <p:tav tm="100000">
                                          <p:val>
                                            <p:strVal val="#ppt_x"/>
                                          </p:val>
                                        </p:tav>
                                      </p:tavLst>
                                    </p:anim>
                                    <p:anim calcmode="lin" valueType="num">
                                      <p:cBhvr>
                                        <p:cTn id="134" dur="550" fill="hold"/>
                                        <p:tgtEl>
                                          <p:spTgt spid="37"/>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38"/>
                                        </p:tgtEl>
                                        <p:attrNameLst>
                                          <p:attrName>style.visibility</p:attrName>
                                        </p:attrNameLst>
                                      </p:cBhvr>
                                      <p:to>
                                        <p:strVal val="visible"/>
                                      </p:to>
                                    </p:set>
                                    <p:animEffect transition="in" filter="fade">
                                      <p:cBhvr>
                                        <p:cTn id="137" dur="550"/>
                                        <p:tgtEl>
                                          <p:spTgt spid="38"/>
                                        </p:tgtEl>
                                      </p:cBhvr>
                                    </p:animEffect>
                                    <p:anim calcmode="lin" valueType="num">
                                      <p:cBhvr>
                                        <p:cTn id="138" dur="550" fill="hold"/>
                                        <p:tgtEl>
                                          <p:spTgt spid="38"/>
                                        </p:tgtEl>
                                        <p:attrNameLst>
                                          <p:attrName>ppt_x</p:attrName>
                                        </p:attrNameLst>
                                      </p:cBhvr>
                                      <p:tavLst>
                                        <p:tav tm="0">
                                          <p:val>
                                            <p:strVal val="#ppt_x"/>
                                          </p:val>
                                        </p:tav>
                                        <p:tav tm="100000">
                                          <p:val>
                                            <p:strVal val="#ppt_x"/>
                                          </p:val>
                                        </p:tav>
                                      </p:tavLst>
                                    </p:anim>
                                    <p:anim calcmode="lin" valueType="num">
                                      <p:cBhvr>
                                        <p:cTn id="139" dur="550" fill="hold"/>
                                        <p:tgtEl>
                                          <p:spTgt spid="38"/>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50"/>
                                        <p:tgtEl>
                                          <p:spTgt spid="39"/>
                                        </p:tgtEl>
                                      </p:cBhvr>
                                    </p:animEffect>
                                    <p:anim calcmode="lin" valueType="num">
                                      <p:cBhvr>
                                        <p:cTn id="143" dur="550" fill="hold"/>
                                        <p:tgtEl>
                                          <p:spTgt spid="39"/>
                                        </p:tgtEl>
                                        <p:attrNameLst>
                                          <p:attrName>ppt_x</p:attrName>
                                        </p:attrNameLst>
                                      </p:cBhvr>
                                      <p:tavLst>
                                        <p:tav tm="0">
                                          <p:val>
                                            <p:strVal val="#ppt_x"/>
                                          </p:val>
                                        </p:tav>
                                        <p:tav tm="100000">
                                          <p:val>
                                            <p:strVal val="#ppt_x"/>
                                          </p:val>
                                        </p:tav>
                                      </p:tavLst>
                                    </p:anim>
                                    <p:anim calcmode="lin" valueType="num">
                                      <p:cBhvr>
                                        <p:cTn id="144" dur="550" fill="hold"/>
                                        <p:tgtEl>
                                          <p:spTgt spid="39"/>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40"/>
                                        </p:tgtEl>
                                        <p:attrNameLst>
                                          <p:attrName>style.visibility</p:attrName>
                                        </p:attrNameLst>
                                      </p:cBhvr>
                                      <p:to>
                                        <p:strVal val="visible"/>
                                      </p:to>
                                    </p:set>
                                    <p:animEffect transition="in" filter="fade">
                                      <p:cBhvr>
                                        <p:cTn id="147" dur="550"/>
                                        <p:tgtEl>
                                          <p:spTgt spid="40"/>
                                        </p:tgtEl>
                                      </p:cBhvr>
                                    </p:animEffect>
                                    <p:anim calcmode="lin" valueType="num">
                                      <p:cBhvr>
                                        <p:cTn id="148" dur="550" fill="hold"/>
                                        <p:tgtEl>
                                          <p:spTgt spid="40"/>
                                        </p:tgtEl>
                                        <p:attrNameLst>
                                          <p:attrName>ppt_x</p:attrName>
                                        </p:attrNameLst>
                                      </p:cBhvr>
                                      <p:tavLst>
                                        <p:tav tm="0">
                                          <p:val>
                                            <p:strVal val="#ppt_x"/>
                                          </p:val>
                                        </p:tav>
                                        <p:tav tm="100000">
                                          <p:val>
                                            <p:strVal val="#ppt_x"/>
                                          </p:val>
                                        </p:tav>
                                      </p:tavLst>
                                    </p:anim>
                                    <p:anim calcmode="lin" valueType="num">
                                      <p:cBhvr>
                                        <p:cTn id="149" dur="550" fill="hold"/>
                                        <p:tgtEl>
                                          <p:spTgt spid="40"/>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41"/>
                                        </p:tgtEl>
                                        <p:attrNameLst>
                                          <p:attrName>style.visibility</p:attrName>
                                        </p:attrNameLst>
                                      </p:cBhvr>
                                      <p:to>
                                        <p:strVal val="visible"/>
                                      </p:to>
                                    </p:set>
                                    <p:animEffect transition="in" filter="fade">
                                      <p:cBhvr>
                                        <p:cTn id="152" dur="550"/>
                                        <p:tgtEl>
                                          <p:spTgt spid="41"/>
                                        </p:tgtEl>
                                      </p:cBhvr>
                                    </p:animEffect>
                                    <p:anim calcmode="lin" valueType="num">
                                      <p:cBhvr>
                                        <p:cTn id="153" dur="550" fill="hold"/>
                                        <p:tgtEl>
                                          <p:spTgt spid="41"/>
                                        </p:tgtEl>
                                        <p:attrNameLst>
                                          <p:attrName>ppt_x</p:attrName>
                                        </p:attrNameLst>
                                      </p:cBhvr>
                                      <p:tavLst>
                                        <p:tav tm="0">
                                          <p:val>
                                            <p:strVal val="#ppt_x"/>
                                          </p:val>
                                        </p:tav>
                                        <p:tav tm="100000">
                                          <p:val>
                                            <p:strVal val="#ppt_x"/>
                                          </p:val>
                                        </p:tav>
                                      </p:tavLst>
                                    </p:anim>
                                    <p:anim calcmode="lin" valueType="num">
                                      <p:cBhvr>
                                        <p:cTn id="154" dur="550" fill="hold"/>
                                        <p:tgtEl>
                                          <p:spTgt spid="41"/>
                                        </p:tgtEl>
                                        <p:attrNameLst>
                                          <p:attrName>ppt_y</p:attrName>
                                        </p:attrNameLst>
                                      </p:cBhvr>
                                      <p:tavLst>
                                        <p:tav tm="0">
                                          <p:val>
                                            <p:strVal val="#ppt_y+.1"/>
                                          </p:val>
                                        </p:tav>
                                        <p:tav tm="100000">
                                          <p:val>
                                            <p:strVal val="#ppt_y"/>
                                          </p:val>
                                        </p:tav>
                                      </p:tavLst>
                                    </p:anim>
                                  </p:childTnLst>
                                </p:cTn>
                              </p:par>
                            </p:childTnLst>
                          </p:cTn>
                        </p:par>
                        <p:par>
                          <p:cTn id="155" fill="hold">
                            <p:stCondLst>
                              <p:cond delay="3650"/>
                            </p:stCondLst>
                            <p:childTnLst>
                              <p:par>
                                <p:cTn id="156" presetID="42" presetClass="entr" presetSubtype="0" fill="hold" grpId="0" nodeType="afterEffect">
                                  <p:stCondLst>
                                    <p:cond delay="0"/>
                                  </p:stCondLst>
                                  <p:childTnLst>
                                    <p:set>
                                      <p:cBhvr>
                                        <p:cTn id="157" dur="1" fill="hold">
                                          <p:stCondLst>
                                            <p:cond delay="0"/>
                                          </p:stCondLst>
                                        </p:cTn>
                                        <p:tgtEl>
                                          <p:spTgt spid="42"/>
                                        </p:tgtEl>
                                        <p:attrNameLst>
                                          <p:attrName>style.visibility</p:attrName>
                                        </p:attrNameLst>
                                      </p:cBhvr>
                                      <p:to>
                                        <p:strVal val="visible"/>
                                      </p:to>
                                    </p:set>
                                    <p:animEffect transition="in" filter="fade">
                                      <p:cBhvr>
                                        <p:cTn id="158" dur="550"/>
                                        <p:tgtEl>
                                          <p:spTgt spid="42"/>
                                        </p:tgtEl>
                                      </p:cBhvr>
                                    </p:animEffect>
                                    <p:anim calcmode="lin" valueType="num">
                                      <p:cBhvr>
                                        <p:cTn id="159" dur="550" fill="hold"/>
                                        <p:tgtEl>
                                          <p:spTgt spid="42"/>
                                        </p:tgtEl>
                                        <p:attrNameLst>
                                          <p:attrName>ppt_x</p:attrName>
                                        </p:attrNameLst>
                                      </p:cBhvr>
                                      <p:tavLst>
                                        <p:tav tm="0">
                                          <p:val>
                                            <p:strVal val="#ppt_x"/>
                                          </p:val>
                                        </p:tav>
                                        <p:tav tm="100000">
                                          <p:val>
                                            <p:strVal val="#ppt_x"/>
                                          </p:val>
                                        </p:tav>
                                      </p:tavLst>
                                    </p:anim>
                                    <p:anim calcmode="lin" valueType="num">
                                      <p:cBhvr>
                                        <p:cTn id="160" dur="550" fill="hold"/>
                                        <p:tgtEl>
                                          <p:spTgt spid="42"/>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550"/>
                                        <p:tgtEl>
                                          <p:spTgt spid="43"/>
                                        </p:tgtEl>
                                      </p:cBhvr>
                                    </p:animEffect>
                                    <p:anim calcmode="lin" valueType="num">
                                      <p:cBhvr>
                                        <p:cTn id="164" dur="550" fill="hold"/>
                                        <p:tgtEl>
                                          <p:spTgt spid="43"/>
                                        </p:tgtEl>
                                        <p:attrNameLst>
                                          <p:attrName>ppt_x</p:attrName>
                                        </p:attrNameLst>
                                      </p:cBhvr>
                                      <p:tavLst>
                                        <p:tav tm="0">
                                          <p:val>
                                            <p:strVal val="#ppt_x"/>
                                          </p:val>
                                        </p:tav>
                                        <p:tav tm="100000">
                                          <p:val>
                                            <p:strVal val="#ppt_x"/>
                                          </p:val>
                                        </p:tav>
                                      </p:tavLst>
                                    </p:anim>
                                    <p:anim calcmode="lin" valueType="num">
                                      <p:cBhvr>
                                        <p:cTn id="165" dur="550" fill="hold"/>
                                        <p:tgtEl>
                                          <p:spTgt spid="43"/>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44"/>
                                        </p:tgtEl>
                                        <p:attrNameLst>
                                          <p:attrName>style.visibility</p:attrName>
                                        </p:attrNameLst>
                                      </p:cBhvr>
                                      <p:to>
                                        <p:strVal val="visible"/>
                                      </p:to>
                                    </p:set>
                                    <p:animEffect transition="in" filter="fade">
                                      <p:cBhvr>
                                        <p:cTn id="168" dur="550"/>
                                        <p:tgtEl>
                                          <p:spTgt spid="44"/>
                                        </p:tgtEl>
                                      </p:cBhvr>
                                    </p:animEffect>
                                    <p:anim calcmode="lin" valueType="num">
                                      <p:cBhvr>
                                        <p:cTn id="169" dur="550" fill="hold"/>
                                        <p:tgtEl>
                                          <p:spTgt spid="44"/>
                                        </p:tgtEl>
                                        <p:attrNameLst>
                                          <p:attrName>ppt_x</p:attrName>
                                        </p:attrNameLst>
                                      </p:cBhvr>
                                      <p:tavLst>
                                        <p:tav tm="0">
                                          <p:val>
                                            <p:strVal val="#ppt_x"/>
                                          </p:val>
                                        </p:tav>
                                        <p:tav tm="100000">
                                          <p:val>
                                            <p:strVal val="#ppt_x"/>
                                          </p:val>
                                        </p:tav>
                                      </p:tavLst>
                                    </p:anim>
                                    <p:anim calcmode="lin" valueType="num">
                                      <p:cBhvr>
                                        <p:cTn id="170" dur="550" fill="hold"/>
                                        <p:tgtEl>
                                          <p:spTgt spid="44"/>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0"/>
                                  </p:stCondLst>
                                  <p:childTnLst>
                                    <p:set>
                                      <p:cBhvr>
                                        <p:cTn id="172" dur="1" fill="hold">
                                          <p:stCondLst>
                                            <p:cond delay="0"/>
                                          </p:stCondLst>
                                        </p:cTn>
                                        <p:tgtEl>
                                          <p:spTgt spid="45"/>
                                        </p:tgtEl>
                                        <p:attrNameLst>
                                          <p:attrName>style.visibility</p:attrName>
                                        </p:attrNameLst>
                                      </p:cBhvr>
                                      <p:to>
                                        <p:strVal val="visible"/>
                                      </p:to>
                                    </p:set>
                                    <p:animEffect transition="in" filter="fade">
                                      <p:cBhvr>
                                        <p:cTn id="173" dur="550"/>
                                        <p:tgtEl>
                                          <p:spTgt spid="45"/>
                                        </p:tgtEl>
                                      </p:cBhvr>
                                    </p:animEffect>
                                    <p:anim calcmode="lin" valueType="num">
                                      <p:cBhvr>
                                        <p:cTn id="174" dur="550" fill="hold"/>
                                        <p:tgtEl>
                                          <p:spTgt spid="45"/>
                                        </p:tgtEl>
                                        <p:attrNameLst>
                                          <p:attrName>ppt_x</p:attrName>
                                        </p:attrNameLst>
                                      </p:cBhvr>
                                      <p:tavLst>
                                        <p:tav tm="0">
                                          <p:val>
                                            <p:strVal val="#ppt_x"/>
                                          </p:val>
                                        </p:tav>
                                        <p:tav tm="100000">
                                          <p:val>
                                            <p:strVal val="#ppt_x"/>
                                          </p:val>
                                        </p:tav>
                                      </p:tavLst>
                                    </p:anim>
                                    <p:anim calcmode="lin" valueType="num">
                                      <p:cBhvr>
                                        <p:cTn id="175" dur="550" fill="hold"/>
                                        <p:tgtEl>
                                          <p:spTgt spid="45"/>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anim calcmode="lin" valueType="num">
                                      <p:cBhvr>
                                        <p:cTn id="179" dur="550" fill="hold"/>
                                        <p:tgtEl>
                                          <p:spTgt spid="46"/>
                                        </p:tgtEl>
                                        <p:attrNameLst>
                                          <p:attrName>ppt_x</p:attrName>
                                        </p:attrNameLst>
                                      </p:cBhvr>
                                      <p:tavLst>
                                        <p:tav tm="0">
                                          <p:val>
                                            <p:strVal val="#ppt_x"/>
                                          </p:val>
                                        </p:tav>
                                        <p:tav tm="100000">
                                          <p:val>
                                            <p:strVal val="#ppt_x"/>
                                          </p:val>
                                        </p:tav>
                                      </p:tavLst>
                                    </p:anim>
                                    <p:anim calcmode="lin" valueType="num">
                                      <p:cBhvr>
                                        <p:cTn id="180" dur="550" fill="hold"/>
                                        <p:tgtEl>
                                          <p:spTgt spid="46"/>
                                        </p:tgtEl>
                                        <p:attrNameLst>
                                          <p:attrName>ppt_y</p:attrName>
                                        </p:attrNameLst>
                                      </p:cBhvr>
                                      <p:tavLst>
                                        <p:tav tm="0">
                                          <p:val>
                                            <p:strVal val="#ppt_y+.1"/>
                                          </p:val>
                                        </p:tav>
                                        <p:tav tm="100000">
                                          <p:val>
                                            <p:strVal val="#ppt_y"/>
                                          </p:val>
                                        </p:tav>
                                      </p:tavLst>
                                    </p:anim>
                                  </p:childTnLst>
                                </p:cTn>
                              </p:par>
                            </p:childTnLst>
                          </p:cTn>
                        </p:par>
                        <p:par>
                          <p:cTn id="181" fill="hold">
                            <p:stCondLst>
                              <p:cond delay="4200"/>
                            </p:stCondLst>
                            <p:childTnLst>
                              <p:par>
                                <p:cTn id="182" presetID="10" presetClass="entr" presetSubtype="0" fill="hold" grpId="0" nodeType="afterEffect">
                                  <p:stCondLst>
                                    <p:cond delay="0"/>
                                  </p:stCondLst>
                                  <p:childTnLst>
                                    <p:set>
                                      <p:cBhvr>
                                        <p:cTn id="183" dur="1" fill="hold">
                                          <p:stCondLst>
                                            <p:cond delay="0"/>
                                          </p:stCondLst>
                                        </p:cTn>
                                        <p:tgtEl>
                                          <p:spTgt spid="47"/>
                                        </p:tgtEl>
                                        <p:attrNameLst>
                                          <p:attrName>style.visibility</p:attrName>
                                        </p:attrNameLst>
                                      </p:cBhvr>
                                      <p:to>
                                        <p:strVal val="visible"/>
                                      </p:to>
                                    </p:set>
                                    <p:animEffect transition="in" filter="fade">
                                      <p:cBhvr>
                                        <p:cTn id="184"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P spid="32" grpId="0" animBg="1"/>
      <p:bldP spid="33" grpId="0" animBg="1"/>
      <p:bldP spid="35" grpId="0" animBg="1"/>
      <p:bldP spid="36" grpId="0" animBg="1"/>
      <p:bldP spid="37" grpId="0" animBg="1"/>
      <p:bldP spid="38" grpId="0" animBg="1"/>
      <p:bldP spid="40" grpId="0" animBg="1"/>
      <p:bldP spid="41" grpId="0" animBg="1"/>
      <p:bldP spid="42" grpId="0" animBg="1"/>
      <p:bldP spid="43" grpId="0" animBg="1"/>
      <p:bldP spid="45" grpId="0" animBg="1"/>
      <p:bldP spid="46" grpId="0" animBg="1"/>
      <p:bldP spid="4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 · DEEP DIVE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Validation: arriving is not the same as working</a:t>
            </a:r>
            <a:endParaRPr lang="en-US" sz="3200" dirty="0"/>
          </a:p>
        </p:txBody>
      </p:sp>
      <p:sp>
        <p:nvSpPr>
          <p:cNvPr id="4" name="a1u-v1"/>
          <p:cNvSpPr/>
          <p:nvPr/>
        </p:nvSpPr>
        <p:spPr>
          <a:xfrm>
            <a:off x="548640" y="1554480"/>
            <a:ext cx="3575304" cy="4023360"/>
          </a:xfrm>
          <a:prstGeom prst="roundRect">
            <a:avLst>
              <a:gd name="adj" fmla="val 3069"/>
            </a:avLst>
          </a:prstGeom>
          <a:solidFill>
            <a:schemeClr val="bg2"/>
          </a:solidFill>
          <a:ln/>
        </p:spPr>
      </p:sp>
      <p:sp>
        <p:nvSpPr>
          <p:cNvPr id="5" name="a1u-v1h"/>
          <p:cNvSpPr txBox="1"/>
          <p:nvPr/>
        </p:nvSpPr>
        <p:spPr>
          <a:xfrm>
            <a:off x="822960" y="1755648"/>
            <a:ext cx="3017520" cy="36576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Three verdicts</a:t>
            </a:r>
            <a:endParaRPr lang="en-US" sz="1700" dirty="0"/>
          </a:p>
        </p:txBody>
      </p:sp>
      <p:sp>
        <p:nvSpPr>
          <p:cNvPr id="6" name="a1u-vc0"/>
          <p:cNvSpPr/>
          <p:nvPr/>
        </p:nvSpPr>
        <p:spPr>
          <a:xfrm>
            <a:off x="822960" y="2331720"/>
            <a:ext cx="1234440" cy="329184"/>
          </a:xfrm>
          <a:prstGeom prst="roundRect">
            <a:avLst>
              <a:gd name="adj" fmla="val 50000"/>
            </a:avLst>
          </a:prstGeom>
          <a:solidFill>
            <a:schemeClr val="accent1"/>
          </a:solidFill>
          <a:ln/>
        </p:spPr>
      </p:sp>
      <p:sp>
        <p:nvSpPr>
          <p:cNvPr id="7" name="a1u-vc0t"/>
          <p:cNvSpPr txBox="1"/>
          <p:nvPr/>
        </p:nvSpPr>
        <p:spPr>
          <a:xfrm>
            <a:off x="822960" y="2331720"/>
            <a:ext cx="1234440" cy="329184"/>
          </a:xfrm>
          <a:prstGeom prst="rect">
            <a:avLst/>
          </a:prstGeom>
          <a:noFill/>
          <a:ln/>
        </p:spPr>
        <p:txBody>
          <a:bodyPr wrap="square" lIns="0" tIns="0" rIns="0" bIns="0" rtlCol="0" anchor="ctr"/>
          <a:lstStyle/>
          <a:p>
            <a:pPr algn="ctr" indent="0" marL="0">
              <a:buNone/>
            </a:pPr>
            <a:r>
              <a:rPr lang="en-US" sz="1150" b="1" dirty="0">
                <a:solidFill>
                  <a:schemeClr val="bg1"/>
                </a:solidFill>
              </a:rPr>
              <a:t>MATCH</a:t>
            </a:r>
            <a:endParaRPr lang="en-US" sz="1150" dirty="0"/>
          </a:p>
        </p:txBody>
      </p:sp>
      <p:sp>
        <p:nvSpPr>
          <p:cNvPr id="8" name="a1u-vt0"/>
          <p:cNvSpPr txBox="1"/>
          <p:nvPr/>
        </p:nvSpPr>
        <p:spPr>
          <a:xfrm>
            <a:off x="822960" y="2743200"/>
            <a:ext cx="3063240" cy="548640"/>
          </a:xfrm>
          <a:prstGeom prst="rect">
            <a:avLst/>
          </a:prstGeom>
          <a:noFill/>
          <a:ln/>
        </p:spPr>
        <p:txBody>
          <a:bodyPr wrap="square" lIns="0" tIns="0" rIns="0" bIns="0" rtlCol="0" anchor="t"/>
          <a:lstStyle/>
          <a:p>
            <a:pPr indent="0" marL="0">
              <a:buNone/>
            </a:pPr>
            <a:r>
              <a:rPr lang="en-US" sz="1400" dirty="0">
                <a:solidFill>
                  <a:schemeClr val="tx1"/>
                </a:solidFill>
              </a:rPr>
              <a:t>Both sides agree on what was checked</a:t>
            </a:r>
            <a:endParaRPr lang="en-US" sz="1400" dirty="0"/>
          </a:p>
        </p:txBody>
      </p:sp>
      <p:sp>
        <p:nvSpPr>
          <p:cNvPr id="9" name="a1u-vc1"/>
          <p:cNvSpPr/>
          <p:nvPr/>
        </p:nvSpPr>
        <p:spPr>
          <a:xfrm>
            <a:off x="822960" y="3383280"/>
            <a:ext cx="1234440" cy="329184"/>
          </a:xfrm>
          <a:prstGeom prst="roundRect">
            <a:avLst>
              <a:gd name="adj" fmla="val 50000"/>
            </a:avLst>
          </a:prstGeom>
          <a:solidFill>
            <a:schemeClr val="accent3"/>
          </a:solidFill>
          <a:ln/>
        </p:spPr>
      </p:sp>
      <p:sp>
        <p:nvSpPr>
          <p:cNvPr id="10" name="a1u-vc1t"/>
          <p:cNvSpPr txBox="1"/>
          <p:nvPr/>
        </p:nvSpPr>
        <p:spPr>
          <a:xfrm>
            <a:off x="822960" y="3383280"/>
            <a:ext cx="1234440" cy="329184"/>
          </a:xfrm>
          <a:prstGeom prst="rect">
            <a:avLst/>
          </a:prstGeom>
          <a:noFill/>
          <a:ln/>
        </p:spPr>
        <p:txBody>
          <a:bodyPr wrap="square" lIns="0" tIns="0" rIns="0" bIns="0" rtlCol="0" anchor="ctr"/>
          <a:lstStyle/>
          <a:p>
            <a:pPr algn="ctr" indent="0" marL="0">
              <a:buNone/>
            </a:pPr>
            <a:r>
              <a:rPr lang="en-US" sz="1150" b="1" dirty="0">
                <a:solidFill>
                  <a:schemeClr val="bg1"/>
                </a:solidFill>
              </a:rPr>
              <a:t>REVIEW</a:t>
            </a:r>
            <a:endParaRPr lang="en-US" sz="1150" dirty="0"/>
          </a:p>
        </p:txBody>
      </p:sp>
      <p:sp>
        <p:nvSpPr>
          <p:cNvPr id="11" name="a1u-vt1"/>
          <p:cNvSpPr txBox="1"/>
          <p:nvPr/>
        </p:nvSpPr>
        <p:spPr>
          <a:xfrm>
            <a:off x="822960" y="3794760"/>
            <a:ext cx="3063240" cy="548640"/>
          </a:xfrm>
          <a:prstGeom prst="rect">
            <a:avLst/>
          </a:prstGeom>
          <a:noFill/>
          <a:ln/>
        </p:spPr>
        <p:txBody>
          <a:bodyPr wrap="square" lIns="0" tIns="0" rIns="0" bIns="0" rtlCol="0" anchor="t"/>
          <a:lstStyle/>
          <a:p>
            <a:pPr indent="0" marL="0">
              <a:buNone/>
            </a:pPr>
            <a:r>
              <a:rPr lang="en-US" sz="1400" dirty="0">
                <a:solidFill>
                  <a:schemeClr val="tx1"/>
                </a:solidFill>
              </a:rPr>
              <a:t>Differs by design, or not yet proven to run</a:t>
            </a:r>
            <a:endParaRPr lang="en-US" sz="1400" dirty="0"/>
          </a:p>
        </p:txBody>
      </p:sp>
      <p:sp>
        <p:nvSpPr>
          <p:cNvPr id="12" name="a1u-vc2"/>
          <p:cNvSpPr/>
          <p:nvPr/>
        </p:nvSpPr>
        <p:spPr>
          <a:xfrm>
            <a:off x="822960" y="4434840"/>
            <a:ext cx="1234440" cy="329184"/>
          </a:xfrm>
          <a:prstGeom prst="roundRect">
            <a:avLst>
              <a:gd name="adj" fmla="val 50000"/>
            </a:avLst>
          </a:prstGeom>
          <a:solidFill>
            <a:schemeClr val="accent4"/>
          </a:solidFill>
          <a:ln/>
        </p:spPr>
      </p:sp>
      <p:sp>
        <p:nvSpPr>
          <p:cNvPr id="13" name="a1u-vc2t"/>
          <p:cNvSpPr txBox="1"/>
          <p:nvPr/>
        </p:nvSpPr>
        <p:spPr>
          <a:xfrm>
            <a:off x="822960" y="4434840"/>
            <a:ext cx="1234440" cy="329184"/>
          </a:xfrm>
          <a:prstGeom prst="rect">
            <a:avLst/>
          </a:prstGeom>
          <a:noFill/>
          <a:ln/>
        </p:spPr>
        <p:txBody>
          <a:bodyPr wrap="square" lIns="0" tIns="0" rIns="0" bIns="0" rtlCol="0" anchor="ctr"/>
          <a:lstStyle/>
          <a:p>
            <a:pPr algn="ctr" indent="0" marL="0">
              <a:buNone/>
            </a:pPr>
            <a:r>
              <a:rPr lang="en-US" sz="1150" b="1" dirty="0">
                <a:solidFill>
                  <a:schemeClr val="bg1"/>
                </a:solidFill>
              </a:rPr>
              <a:t>MISMATCH</a:t>
            </a:r>
            <a:endParaRPr lang="en-US" sz="1150" dirty="0"/>
          </a:p>
        </p:txBody>
      </p:sp>
      <p:sp>
        <p:nvSpPr>
          <p:cNvPr id="14" name="a1u-vt2"/>
          <p:cNvSpPr txBox="1"/>
          <p:nvPr/>
        </p:nvSpPr>
        <p:spPr>
          <a:xfrm>
            <a:off x="822960" y="4846320"/>
            <a:ext cx="3063240" cy="548640"/>
          </a:xfrm>
          <a:prstGeom prst="rect">
            <a:avLst/>
          </a:prstGeom>
          <a:noFill/>
          <a:ln/>
        </p:spPr>
        <p:txBody>
          <a:bodyPr wrap="square" lIns="0" tIns="0" rIns="0" bIns="0" rtlCol="0" anchor="t"/>
          <a:lstStyle/>
          <a:p>
            <a:pPr indent="0" marL="0">
              <a:buNone/>
            </a:pPr>
            <a:r>
              <a:rPr lang="en-US" sz="1400" dirty="0">
                <a:solidFill>
                  <a:schemeClr val="tx1"/>
                </a:solidFill>
              </a:rPr>
              <a:t>Missing in Fabric, or the two sides disagree</a:t>
            </a:r>
            <a:endParaRPr lang="en-US" sz="1400" dirty="0"/>
          </a:p>
        </p:txBody>
      </p:sp>
      <p:sp>
        <p:nvSpPr>
          <p:cNvPr id="15" name="a2u-v2"/>
          <p:cNvSpPr/>
          <p:nvPr/>
        </p:nvSpPr>
        <p:spPr>
          <a:xfrm>
            <a:off x="4306824" y="1554480"/>
            <a:ext cx="3575304" cy="4023360"/>
          </a:xfrm>
          <a:prstGeom prst="roundRect">
            <a:avLst>
              <a:gd name="adj" fmla="val 3069"/>
            </a:avLst>
          </a:prstGeom>
          <a:solidFill>
            <a:schemeClr val="bg2"/>
          </a:solidFill>
          <a:ln/>
        </p:spPr>
      </p:sp>
      <p:sp>
        <p:nvSpPr>
          <p:cNvPr id="16" name="a2u-v2h"/>
          <p:cNvSpPr txBox="1"/>
          <p:nvPr/>
        </p:nvSpPr>
        <p:spPr>
          <a:xfrm>
            <a:off x="4581144" y="1755648"/>
            <a:ext cx="3017520" cy="36576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What is compared</a:t>
            </a:r>
            <a:endParaRPr lang="en-US" sz="1700" dirty="0"/>
          </a:p>
        </p:txBody>
      </p:sp>
      <p:sp>
        <p:nvSpPr>
          <p:cNvPr id="17" name="a2u-v2b"/>
          <p:cNvSpPr txBox="1"/>
          <p:nvPr/>
        </p:nvSpPr>
        <p:spPr>
          <a:xfrm>
            <a:off x="4535424" y="2286000"/>
            <a:ext cx="3154680" cy="32004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Columns, types and data masks</a:t>
            </a:r>
            <a:endParaRPr lang="en-US" sz="1400" dirty="0"/>
          </a:p>
          <a:p>
            <a:pPr marL="177800" indent="-177800">
              <a:spcAft>
                <a:spcPts val="900"/>
              </a:spcAft>
              <a:buSzPct val="100000"/>
              <a:buChar char="•"/>
            </a:pPr>
            <a:r>
              <a:rPr lang="en-US" sz="1400" dirty="0">
                <a:solidFill>
                  <a:schemeClr val="tx1"/>
                </a:solidFill>
              </a:rPr>
              <a:t>Row counts, with the same filter</a:t>
            </a:r>
            <a:endParaRPr lang="en-US" sz="1400" dirty="0"/>
          </a:p>
          <a:p>
            <a:pPr marL="177800" indent="-177800">
              <a:spcAft>
                <a:spcPts val="900"/>
              </a:spcAft>
              <a:buSzPct val="100000"/>
              <a:buChar char="•"/>
            </a:pPr>
            <a:r>
              <a:rPr lang="en-US" sz="1400" dirty="0">
                <a:solidFill>
                  <a:schemeClr val="tx1"/>
                </a:solidFill>
              </a:rPr>
              <a:t>Function, view and procedure text</a:t>
            </a:r>
            <a:endParaRPr lang="en-US" sz="1400" dirty="0"/>
          </a:p>
          <a:p>
            <a:pPr marL="177800" indent="-177800">
              <a:spcAft>
                <a:spcPts val="900"/>
              </a:spcAft>
              <a:buSzPct val="100000"/>
              <a:buChar char="•"/>
            </a:pPr>
            <a:r>
              <a:rPr lang="en-US" sz="1400" dirty="0">
                <a:solidFill>
                  <a:schemeClr val="tx1"/>
                </a:solidFill>
              </a:rPr>
              <a:t>Roles, members and permissions</a:t>
            </a:r>
            <a:endParaRPr lang="en-US" sz="1400" dirty="0"/>
          </a:p>
          <a:p>
            <a:pPr marL="177800" indent="-177800">
              <a:spcAft>
                <a:spcPts val="900"/>
              </a:spcAft>
              <a:buSzPct val="100000"/>
              <a:buChar char="•"/>
            </a:pPr>
            <a:r>
              <a:rPr lang="en-US" sz="1400" dirty="0">
                <a:solidFill>
                  <a:schemeClr val="tx1"/>
                </a:solidFill>
              </a:rPr>
              <a:t>Notebook cells and pipeline activities</a:t>
            </a:r>
            <a:endParaRPr lang="en-US" sz="1400" dirty="0"/>
          </a:p>
          <a:p>
            <a:pPr marL="177800" indent="-177800">
              <a:spcAft>
                <a:spcPts val="900"/>
              </a:spcAft>
              <a:buSzPct val="100000"/>
              <a:buChar char="•"/>
            </a:pPr>
            <a:r>
              <a:rPr lang="en-US" sz="1400" dirty="0">
                <a:solidFill>
                  <a:schemeClr val="tx1"/>
                </a:solidFill>
              </a:rPr>
              <a:t>Spark pool size; connections, schedules and shortcuts</a:t>
            </a:r>
            <a:endParaRPr lang="en-US" sz="1400" dirty="0"/>
          </a:p>
        </p:txBody>
      </p:sp>
      <p:sp>
        <p:nvSpPr>
          <p:cNvPr id="18" name="a3u-v3"/>
          <p:cNvSpPr/>
          <p:nvPr/>
        </p:nvSpPr>
        <p:spPr>
          <a:xfrm>
            <a:off x="8065008" y="1554480"/>
            <a:ext cx="3575304" cy="4023360"/>
          </a:xfrm>
          <a:prstGeom prst="roundRect">
            <a:avLst>
              <a:gd name="adj" fmla="val 3069"/>
            </a:avLst>
          </a:prstGeom>
          <a:solidFill>
            <a:schemeClr val="accent1">
              <a:alpha val="10000"/>
            </a:schemeClr>
          </a:solidFill>
          <a:ln/>
        </p:spPr>
      </p:sp>
      <p:sp>
        <p:nvSpPr>
          <p:cNvPr id="19" name="a3u-v3h"/>
          <p:cNvSpPr txBox="1"/>
          <p:nvPr/>
        </p:nvSpPr>
        <p:spPr>
          <a:xfrm>
            <a:off x="8339328" y="1755648"/>
            <a:ext cx="3108960" cy="365760"/>
          </a:xfrm>
          <a:prstGeom prst="rect">
            <a:avLst/>
          </a:prstGeom>
          <a:noFill/>
          <a:ln/>
        </p:spPr>
        <p:txBody>
          <a:bodyPr wrap="square" lIns="0" tIns="0" rIns="0" bIns="0" rtlCol="0" anchor="t"/>
          <a:lstStyle/>
          <a:p>
            <a:pPr indent="0" marL="0">
              <a:buNone/>
            </a:pPr>
            <a:r>
              <a:rPr lang="en-US" sz="1700" dirty="0">
                <a:solidFill>
                  <a:schemeClr val="tx2"/>
                </a:solidFill>
                <a:latin typeface="+mj-lt" pitchFamily="34" charset="0"/>
                <a:ea typeface="+mj-lt" pitchFamily="34" charset="-122"/>
                <a:cs typeface="+mj-lt" pitchFamily="34" charset="-120"/>
              </a:rPr>
              <a:t>Does it run in Fabric?</a:t>
            </a:r>
            <a:endParaRPr lang="en-US" sz="1700" dirty="0"/>
          </a:p>
        </p:txBody>
      </p:sp>
      <p:sp>
        <p:nvSpPr>
          <p:cNvPr id="20" name="a3u-vr0"/>
          <p:cNvSpPr/>
          <p:nvPr/>
        </p:nvSpPr>
        <p:spPr>
          <a:xfrm>
            <a:off x="8339328" y="2331720"/>
            <a:ext cx="457200" cy="457200"/>
          </a:xfrm>
          <a:prstGeom prst="ellipse">
            <a:avLst/>
          </a:prstGeom>
          <a:solidFill>
            <a:schemeClr val="accent1"/>
          </a:solidFill>
          <a:ln/>
        </p:spPr>
      </p:sp>
      <p:pic>
        <p:nvPicPr>
          <p:cNvPr id="21" name="a3u-vr0i" descr="preencoded.png">    </p:cNvPr>
          <p:cNvPicPr>
            <a:picLocks noChangeAspect="1"/>
          </p:cNvPicPr>
          <p:nvPr/>
        </p:nvPicPr>
        <p:blipFill>
          <a:blip r:embed="rId1"/>
          <a:stretch>
            <a:fillRect/>
          </a:stretch>
        </p:blipFill>
        <p:spPr>
          <a:xfrm>
            <a:off x="8453628" y="2446020"/>
            <a:ext cx="228600" cy="228600"/>
          </a:xfrm>
          <a:prstGeom prst="rect">
            <a:avLst/>
          </a:prstGeom>
        </p:spPr>
      </p:pic>
      <p:sp>
        <p:nvSpPr>
          <p:cNvPr id="22" name="a3u-vrh0"/>
          <p:cNvSpPr txBox="1"/>
          <p:nvPr/>
        </p:nvSpPr>
        <p:spPr>
          <a:xfrm>
            <a:off x="8933688" y="2295144"/>
            <a:ext cx="2606040" cy="329184"/>
          </a:xfrm>
          <a:prstGeom prst="rect">
            <a:avLst/>
          </a:prstGeom>
          <a:noFill/>
          <a:ln/>
        </p:spPr>
        <p:txBody>
          <a:bodyPr wrap="square" lIns="0" tIns="0" rIns="0" bIns="0" rtlCol="0" anchor="t"/>
          <a:lstStyle/>
          <a:p>
            <a:pPr indent="0" marL="0">
              <a:buNone/>
            </a:pPr>
            <a:r>
              <a:rPr lang="en-US" sz="1400" b="1" dirty="0">
                <a:solidFill>
                  <a:schemeClr val="tx2"/>
                </a:solidFill>
              </a:rPr>
              <a:t>Tables and views</a:t>
            </a:r>
            <a:endParaRPr lang="en-US" sz="1400" dirty="0"/>
          </a:p>
        </p:txBody>
      </p:sp>
      <p:sp>
        <p:nvSpPr>
          <p:cNvPr id="23" name="a3u-vrb0"/>
          <p:cNvSpPr txBox="1"/>
          <p:nvPr/>
        </p:nvSpPr>
        <p:spPr>
          <a:xfrm>
            <a:off x="8933688" y="2624328"/>
            <a:ext cx="2606040" cy="548640"/>
          </a:xfrm>
          <a:prstGeom prst="rect">
            <a:avLst/>
          </a:prstGeom>
          <a:noFill/>
          <a:ln/>
        </p:spPr>
        <p:txBody>
          <a:bodyPr wrap="square" lIns="0" tIns="0" rIns="0" bIns="0" rtlCol="0" anchor="t"/>
          <a:lstStyle/>
          <a:p>
            <a:pPr indent="0" marL="0">
              <a:buNone/>
            </a:pPr>
            <a:r>
              <a:rPr lang="en-US" sz="1350" dirty="0">
                <a:solidFill>
                  <a:schemeClr val="tx1"/>
                </a:solidFill>
              </a:rPr>
              <a:t>Queried with SELECT TOP (1)</a:t>
            </a:r>
            <a:endParaRPr lang="en-US" sz="1350" dirty="0"/>
          </a:p>
        </p:txBody>
      </p:sp>
      <p:sp>
        <p:nvSpPr>
          <p:cNvPr id="24" name="a3u-vr1"/>
          <p:cNvSpPr/>
          <p:nvPr/>
        </p:nvSpPr>
        <p:spPr>
          <a:xfrm>
            <a:off x="8339328" y="3383280"/>
            <a:ext cx="457200" cy="457200"/>
          </a:xfrm>
          <a:prstGeom prst="ellipse">
            <a:avLst/>
          </a:prstGeom>
          <a:solidFill>
            <a:schemeClr val="accent1"/>
          </a:solidFill>
          <a:ln/>
        </p:spPr>
      </p:sp>
      <p:pic>
        <p:nvPicPr>
          <p:cNvPr id="25" name="a3u-vr1i" descr="preencoded.png">    </p:cNvPr>
          <p:cNvPicPr>
            <a:picLocks noChangeAspect="1"/>
          </p:cNvPicPr>
          <p:nvPr/>
        </p:nvPicPr>
        <p:blipFill>
          <a:blip r:embed="rId2"/>
          <a:stretch>
            <a:fillRect/>
          </a:stretch>
        </p:blipFill>
        <p:spPr>
          <a:xfrm>
            <a:off x="8453628" y="3497580"/>
            <a:ext cx="228600" cy="228600"/>
          </a:xfrm>
          <a:prstGeom prst="rect">
            <a:avLst/>
          </a:prstGeom>
        </p:spPr>
      </p:pic>
      <p:sp>
        <p:nvSpPr>
          <p:cNvPr id="26" name="a3u-vrh1"/>
          <p:cNvSpPr txBox="1"/>
          <p:nvPr/>
        </p:nvSpPr>
        <p:spPr>
          <a:xfrm>
            <a:off x="8933688" y="3346704"/>
            <a:ext cx="2606040" cy="329184"/>
          </a:xfrm>
          <a:prstGeom prst="rect">
            <a:avLst/>
          </a:prstGeom>
          <a:noFill/>
          <a:ln/>
        </p:spPr>
        <p:txBody>
          <a:bodyPr wrap="square" lIns="0" tIns="0" rIns="0" bIns="0" rtlCol="0" anchor="t"/>
          <a:lstStyle/>
          <a:p>
            <a:pPr indent="0" marL="0">
              <a:buNone/>
            </a:pPr>
            <a:r>
              <a:rPr lang="en-US" sz="1400" b="1" dirty="0">
                <a:solidFill>
                  <a:schemeClr val="tx2"/>
                </a:solidFill>
              </a:rPr>
              <a:t>Stored procedures</a:t>
            </a:r>
            <a:endParaRPr lang="en-US" sz="1400" dirty="0"/>
          </a:p>
        </p:txBody>
      </p:sp>
      <p:sp>
        <p:nvSpPr>
          <p:cNvPr id="27" name="a3u-vrb1"/>
          <p:cNvSpPr txBox="1"/>
          <p:nvPr/>
        </p:nvSpPr>
        <p:spPr>
          <a:xfrm>
            <a:off x="8933688" y="3675888"/>
            <a:ext cx="2606040" cy="548640"/>
          </a:xfrm>
          <a:prstGeom prst="rect">
            <a:avLst/>
          </a:prstGeom>
          <a:noFill/>
          <a:ln/>
        </p:spPr>
        <p:txBody>
          <a:bodyPr wrap="square" lIns="0" tIns="0" rIns="0" bIns="0" rtlCol="0" anchor="t"/>
          <a:lstStyle/>
          <a:p>
            <a:pPr indent="0" marL="0">
              <a:buNone/>
            </a:pPr>
            <a:r>
              <a:rPr lang="en-US" sz="1350" dirty="0">
                <a:solidFill>
                  <a:schemeClr val="tx1"/>
                </a:solidFill>
              </a:rPr>
              <a:t>Compiled; or run, then rolled back</a:t>
            </a:r>
            <a:endParaRPr lang="en-US" sz="1350" dirty="0"/>
          </a:p>
        </p:txBody>
      </p:sp>
      <p:sp>
        <p:nvSpPr>
          <p:cNvPr id="28" name="a3u-vr2"/>
          <p:cNvSpPr/>
          <p:nvPr/>
        </p:nvSpPr>
        <p:spPr>
          <a:xfrm>
            <a:off x="8339328" y="4434840"/>
            <a:ext cx="457200" cy="457200"/>
          </a:xfrm>
          <a:prstGeom prst="ellipse">
            <a:avLst/>
          </a:prstGeom>
          <a:solidFill>
            <a:schemeClr val="accent1"/>
          </a:solidFill>
          <a:ln/>
        </p:spPr>
      </p:sp>
      <p:pic>
        <p:nvPicPr>
          <p:cNvPr id="29" name="a3u-vr2i" descr="preencoded.png">    </p:cNvPr>
          <p:cNvPicPr>
            <a:picLocks noChangeAspect="1"/>
          </p:cNvPicPr>
          <p:nvPr/>
        </p:nvPicPr>
        <p:blipFill>
          <a:blip r:embed="rId3"/>
          <a:stretch>
            <a:fillRect/>
          </a:stretch>
        </p:blipFill>
        <p:spPr>
          <a:xfrm>
            <a:off x="8453628" y="4549140"/>
            <a:ext cx="228600" cy="228600"/>
          </a:xfrm>
          <a:prstGeom prst="rect">
            <a:avLst/>
          </a:prstGeom>
        </p:spPr>
      </p:pic>
      <p:sp>
        <p:nvSpPr>
          <p:cNvPr id="30" name="a3u-vrh2"/>
          <p:cNvSpPr txBox="1"/>
          <p:nvPr/>
        </p:nvSpPr>
        <p:spPr>
          <a:xfrm>
            <a:off x="8933688" y="4398264"/>
            <a:ext cx="2606040" cy="329184"/>
          </a:xfrm>
          <a:prstGeom prst="rect">
            <a:avLst/>
          </a:prstGeom>
          <a:noFill/>
          <a:ln/>
        </p:spPr>
        <p:txBody>
          <a:bodyPr wrap="square" lIns="0" tIns="0" rIns="0" bIns="0" rtlCol="0" anchor="t"/>
          <a:lstStyle/>
          <a:p>
            <a:pPr indent="0" marL="0">
              <a:buNone/>
            </a:pPr>
            <a:r>
              <a:rPr lang="en-US" sz="1400" b="1" dirty="0">
                <a:solidFill>
                  <a:schemeClr val="tx2"/>
                </a:solidFill>
              </a:rPr>
              <a:t>Pipelines, notebooks, jobs</a:t>
            </a:r>
            <a:endParaRPr lang="en-US" sz="1400" dirty="0"/>
          </a:p>
        </p:txBody>
      </p:sp>
      <p:sp>
        <p:nvSpPr>
          <p:cNvPr id="31" name="a3u-vrb2"/>
          <p:cNvSpPr txBox="1"/>
          <p:nvPr/>
        </p:nvSpPr>
        <p:spPr>
          <a:xfrm>
            <a:off x="8933688" y="4727448"/>
            <a:ext cx="2606040" cy="548640"/>
          </a:xfrm>
          <a:prstGeom prst="rect">
            <a:avLst/>
          </a:prstGeom>
          <a:noFill/>
          <a:ln/>
        </p:spPr>
        <p:txBody>
          <a:bodyPr wrap="square" lIns="0" tIns="0" rIns="0" bIns="0" rtlCol="0" anchor="t"/>
          <a:lstStyle/>
          <a:p>
            <a:pPr indent="0" marL="0">
              <a:buNone/>
            </a:pPr>
            <a:r>
              <a:rPr lang="en-US" sz="1350" dirty="0">
                <a:solidFill>
                  <a:schemeClr val="tx1"/>
                </a:solidFill>
              </a:rPr>
              <a:t>Last run, or run now (3 at a time)</a:t>
            </a:r>
            <a:endParaRPr lang="en-US" sz="1350" dirty="0"/>
          </a:p>
        </p:txBody>
      </p:sp>
      <p:sp>
        <p:nvSpPr>
          <p:cNvPr id="32" name="a4f-contrast"/>
          <p:cNvSpPr txBox="1"/>
          <p:nvPr/>
        </p:nvSpPr>
        <p:spPr>
          <a:xfrm>
            <a:off x="548640" y="5687568"/>
            <a:ext cx="5486400" cy="411480"/>
          </a:xfrm>
          <a:prstGeom prst="rect">
            <a:avLst/>
          </a:prstGeom>
          <a:noFill/>
          <a:ln/>
        </p:spPr>
        <p:txBody>
          <a:bodyPr wrap="square" lIns="0" tIns="0" rIns="0" bIns="0" rtlCol="0" anchor="ctr"/>
          <a:lstStyle/>
          <a:p>
            <a:pPr indent="0" marL="0">
              <a:buNone/>
            </a:pPr>
            <a:r>
              <a:rPr lang="en-US" sz="1400" b="1" dirty="0">
                <a:solidFill>
                  <a:schemeClr val="accent1"/>
                </a:solidFill>
              </a:rPr>
              <a:t>Report:  </a:t>
            </a:r>
            <a:pPr indent="0" marL="0">
              <a:buNone/>
            </a:pPr>
            <a:r>
              <a:rPr lang="en-US" sz="1400" dirty="0">
                <a:solidFill>
                  <a:schemeClr val="accent6"/>
                </a:solidFill>
              </a:rPr>
              <a:t>every result and check, downloadable as CSV.</a:t>
            </a:r>
            <a:endParaRPr lang="en-US" sz="1400" dirty="0"/>
          </a:p>
        </p:txBody>
      </p:sp>
      <p:sp>
        <p:nvSpPr>
          <p:cNvPr id="33" name="a5f-contrast"/>
          <p:cNvSpPr txBox="1"/>
          <p:nvPr/>
        </p:nvSpPr>
        <p:spPr>
          <a:xfrm>
            <a:off x="6172200" y="5687568"/>
            <a:ext cx="5468112" cy="411480"/>
          </a:xfrm>
          <a:prstGeom prst="rect">
            <a:avLst/>
          </a:prstGeom>
          <a:noFill/>
          <a:ln/>
        </p:spPr>
        <p:txBody>
          <a:bodyPr wrap="square" lIns="0" tIns="0" rIns="0" bIns="0" rtlCol="0" anchor="ctr"/>
          <a:lstStyle/>
          <a:p>
            <a:pPr indent="0" marL="0">
              <a:buNone/>
            </a:pPr>
            <a:r>
              <a:rPr lang="en-US" sz="1400" b="1" dirty="0">
                <a:solidFill>
                  <a:schemeClr val="accent2"/>
                </a:solidFill>
              </a:rPr>
              <a:t>Microsoft:  </a:t>
            </a:r>
            <a:pPr indent="0" marL="0">
              <a:buNone/>
            </a:pPr>
            <a:r>
              <a:rPr lang="en-US" sz="1400" dirty="0">
                <a:solidFill>
                  <a:schemeClr val="accent6"/>
                </a:solidFill>
              </a:rPr>
              <a:t>testing and comparing are manual steps.</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fill="hold"/>
                                        <p:tgtEl>
                                          <p:spTgt spid="9"/>
                                        </p:tgtEl>
                                        <p:attrNameLst>
                                          <p:attrName>ppt_x</p:attrName>
                                        </p:attrNameLst>
                                      </p:cBhvr>
                                      <p:tavLst>
                                        <p:tav tm="0">
                                          <p:val>
                                            <p:strVal val="#ppt_x"/>
                                          </p:val>
                                        </p:tav>
                                        <p:tav tm="100000">
                                          <p:val>
                                            <p:strVal val="#ppt_x"/>
                                          </p:val>
                                        </p:tav>
                                      </p:tavLst>
                                    </p:anim>
                                    <p:anim calcmode="lin" valueType="num">
                                      <p:cBhvr>
                                        <p:cTn id="34" dur="55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fill="hold"/>
                                        <p:tgtEl>
                                          <p:spTgt spid="10"/>
                                        </p:tgtEl>
                                        <p:attrNameLst>
                                          <p:attrName>ppt_x</p:attrName>
                                        </p:attrNameLst>
                                      </p:cBhvr>
                                      <p:tavLst>
                                        <p:tav tm="0">
                                          <p:val>
                                            <p:strVal val="#ppt_x"/>
                                          </p:val>
                                        </p:tav>
                                        <p:tav tm="100000">
                                          <p:val>
                                            <p:strVal val="#ppt_x"/>
                                          </p:val>
                                        </p:tav>
                                      </p:tavLst>
                                    </p:anim>
                                    <p:anim calcmode="lin" valueType="num">
                                      <p:cBhvr>
                                        <p:cTn id="39" dur="55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fill="hold"/>
                                        <p:tgtEl>
                                          <p:spTgt spid="11"/>
                                        </p:tgtEl>
                                        <p:attrNameLst>
                                          <p:attrName>ppt_x</p:attrName>
                                        </p:attrNameLst>
                                      </p:cBhvr>
                                      <p:tavLst>
                                        <p:tav tm="0">
                                          <p:val>
                                            <p:strVal val="#ppt_x"/>
                                          </p:val>
                                        </p:tav>
                                        <p:tav tm="100000">
                                          <p:val>
                                            <p:strVal val="#ppt_x"/>
                                          </p:val>
                                        </p:tav>
                                      </p:tavLst>
                                    </p:anim>
                                    <p:anim calcmode="lin" valueType="num">
                                      <p:cBhvr>
                                        <p:cTn id="44" dur="55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fill="hold"/>
                                        <p:tgtEl>
                                          <p:spTgt spid="12"/>
                                        </p:tgtEl>
                                        <p:attrNameLst>
                                          <p:attrName>ppt_x</p:attrName>
                                        </p:attrNameLst>
                                      </p:cBhvr>
                                      <p:tavLst>
                                        <p:tav tm="0">
                                          <p:val>
                                            <p:strVal val="#ppt_x"/>
                                          </p:val>
                                        </p:tav>
                                        <p:tav tm="100000">
                                          <p:val>
                                            <p:strVal val="#ppt_x"/>
                                          </p:val>
                                        </p:tav>
                                      </p:tavLst>
                                    </p:anim>
                                    <p:anim calcmode="lin" valueType="num">
                                      <p:cBhvr>
                                        <p:cTn id="49" dur="55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fill="hold"/>
                                        <p:tgtEl>
                                          <p:spTgt spid="13"/>
                                        </p:tgtEl>
                                        <p:attrNameLst>
                                          <p:attrName>ppt_x</p:attrName>
                                        </p:attrNameLst>
                                      </p:cBhvr>
                                      <p:tavLst>
                                        <p:tav tm="0">
                                          <p:val>
                                            <p:strVal val="#ppt_x"/>
                                          </p:val>
                                        </p:tav>
                                        <p:tav tm="100000">
                                          <p:val>
                                            <p:strVal val="#ppt_x"/>
                                          </p:val>
                                        </p:tav>
                                      </p:tavLst>
                                    </p:anim>
                                    <p:anim calcmode="lin" valueType="num">
                                      <p:cBhvr>
                                        <p:cTn id="54" dur="55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fill="hold"/>
                                        <p:tgtEl>
                                          <p:spTgt spid="14"/>
                                        </p:tgtEl>
                                        <p:attrNameLst>
                                          <p:attrName>ppt_x</p:attrName>
                                        </p:attrNameLst>
                                      </p:cBhvr>
                                      <p:tavLst>
                                        <p:tav tm="0">
                                          <p:val>
                                            <p:strVal val="#ppt_x"/>
                                          </p:val>
                                        </p:tav>
                                        <p:tav tm="100000">
                                          <p:val>
                                            <p:strVal val="#ppt_x"/>
                                          </p:val>
                                        </p:tav>
                                      </p:tavLst>
                                    </p:anim>
                                    <p:anim calcmode="lin" valueType="num">
                                      <p:cBhvr>
                                        <p:cTn id="59" dur="550" fill="hold"/>
                                        <p:tgtEl>
                                          <p:spTgt spid="14"/>
                                        </p:tgtEl>
                                        <p:attrNameLst>
                                          <p:attrName>ppt_y</p:attrName>
                                        </p:attrNameLst>
                                      </p:cBhvr>
                                      <p:tavLst>
                                        <p:tav tm="0">
                                          <p:val>
                                            <p:strVal val="#ppt_y+.1"/>
                                          </p:val>
                                        </p:tav>
                                        <p:tav tm="100000">
                                          <p:val>
                                            <p:strVal val="#ppt_y"/>
                                          </p:val>
                                        </p:tav>
                                      </p:tavLst>
                                    </p:anim>
                                  </p:childTnLst>
                                </p:cTn>
                              </p:par>
                            </p:childTnLst>
                          </p:cTn>
                        </p:par>
                        <p:par>
                          <p:cTn id="60" fill="hold">
                            <p:stCondLst>
                              <p:cond delay="550"/>
                            </p:stCondLst>
                            <p:childTnLst>
                              <p:par>
                                <p:cTn id="61" presetID="42" presetClass="entr" presetSubtype="0"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50"/>
                                        <p:tgtEl>
                                          <p:spTgt spid="15"/>
                                        </p:tgtEl>
                                      </p:cBhvr>
                                    </p:animEffect>
                                    <p:anim calcmode="lin" valueType="num">
                                      <p:cBhvr>
                                        <p:cTn id="64" dur="550" fill="hold"/>
                                        <p:tgtEl>
                                          <p:spTgt spid="15"/>
                                        </p:tgtEl>
                                        <p:attrNameLst>
                                          <p:attrName>ppt_x</p:attrName>
                                        </p:attrNameLst>
                                      </p:cBhvr>
                                      <p:tavLst>
                                        <p:tav tm="0">
                                          <p:val>
                                            <p:strVal val="#ppt_x"/>
                                          </p:val>
                                        </p:tav>
                                        <p:tav tm="100000">
                                          <p:val>
                                            <p:strVal val="#ppt_x"/>
                                          </p:val>
                                        </p:tav>
                                      </p:tavLst>
                                    </p:anim>
                                    <p:anim calcmode="lin" valueType="num">
                                      <p:cBhvr>
                                        <p:cTn id="65" dur="550" fill="hold"/>
                                        <p:tgtEl>
                                          <p:spTgt spid="15"/>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50"/>
                                        <p:tgtEl>
                                          <p:spTgt spid="16"/>
                                        </p:tgtEl>
                                      </p:cBhvr>
                                    </p:animEffect>
                                    <p:anim calcmode="lin" valueType="num">
                                      <p:cBhvr>
                                        <p:cTn id="69" dur="550" fill="hold"/>
                                        <p:tgtEl>
                                          <p:spTgt spid="16"/>
                                        </p:tgtEl>
                                        <p:attrNameLst>
                                          <p:attrName>ppt_x</p:attrName>
                                        </p:attrNameLst>
                                      </p:cBhvr>
                                      <p:tavLst>
                                        <p:tav tm="0">
                                          <p:val>
                                            <p:strVal val="#ppt_x"/>
                                          </p:val>
                                        </p:tav>
                                        <p:tav tm="100000">
                                          <p:val>
                                            <p:strVal val="#ppt_x"/>
                                          </p:val>
                                        </p:tav>
                                      </p:tavLst>
                                    </p:anim>
                                    <p:anim calcmode="lin" valueType="num">
                                      <p:cBhvr>
                                        <p:cTn id="70" dur="550" fill="hold"/>
                                        <p:tgtEl>
                                          <p:spTgt spid="1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550"/>
                                        <p:tgtEl>
                                          <p:spTgt spid="17"/>
                                        </p:tgtEl>
                                      </p:cBhvr>
                                    </p:animEffect>
                                    <p:anim calcmode="lin" valueType="num">
                                      <p:cBhvr>
                                        <p:cTn id="74" dur="550" fill="hold"/>
                                        <p:tgtEl>
                                          <p:spTgt spid="17"/>
                                        </p:tgtEl>
                                        <p:attrNameLst>
                                          <p:attrName>ppt_x</p:attrName>
                                        </p:attrNameLst>
                                      </p:cBhvr>
                                      <p:tavLst>
                                        <p:tav tm="0">
                                          <p:val>
                                            <p:strVal val="#ppt_x"/>
                                          </p:val>
                                        </p:tav>
                                        <p:tav tm="100000">
                                          <p:val>
                                            <p:strVal val="#ppt_x"/>
                                          </p:val>
                                        </p:tav>
                                      </p:tavLst>
                                    </p:anim>
                                    <p:anim calcmode="lin" valueType="num">
                                      <p:cBhvr>
                                        <p:cTn id="75" dur="550" fill="hold"/>
                                        <p:tgtEl>
                                          <p:spTgt spid="17"/>
                                        </p:tgtEl>
                                        <p:attrNameLst>
                                          <p:attrName>ppt_y</p:attrName>
                                        </p:attrNameLst>
                                      </p:cBhvr>
                                      <p:tavLst>
                                        <p:tav tm="0">
                                          <p:val>
                                            <p:strVal val="#ppt_y+.1"/>
                                          </p:val>
                                        </p:tav>
                                        <p:tav tm="100000">
                                          <p:val>
                                            <p:strVal val="#ppt_y"/>
                                          </p:val>
                                        </p:tav>
                                      </p:tavLst>
                                    </p:anim>
                                  </p:childTnLst>
                                </p:cTn>
                              </p:par>
                            </p:childTnLst>
                          </p:cTn>
                        </p:par>
                        <p:par>
                          <p:cTn id="76" fill="hold">
                            <p:stCondLst>
                              <p:cond delay="1100"/>
                            </p:stCondLst>
                            <p:childTnLst>
                              <p:par>
                                <p:cTn id="77" presetID="42" presetClass="entr" presetSubtype="0" fill="hold" grpId="0"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550"/>
                                        <p:tgtEl>
                                          <p:spTgt spid="19"/>
                                        </p:tgtEl>
                                      </p:cBhvr>
                                    </p:animEffect>
                                    <p:anim calcmode="lin" valueType="num">
                                      <p:cBhvr>
                                        <p:cTn id="85" dur="550" fill="hold"/>
                                        <p:tgtEl>
                                          <p:spTgt spid="19"/>
                                        </p:tgtEl>
                                        <p:attrNameLst>
                                          <p:attrName>ppt_x</p:attrName>
                                        </p:attrNameLst>
                                      </p:cBhvr>
                                      <p:tavLst>
                                        <p:tav tm="0">
                                          <p:val>
                                            <p:strVal val="#ppt_x"/>
                                          </p:val>
                                        </p:tav>
                                        <p:tav tm="100000">
                                          <p:val>
                                            <p:strVal val="#ppt_x"/>
                                          </p:val>
                                        </p:tav>
                                      </p:tavLst>
                                    </p:anim>
                                    <p:anim calcmode="lin" valueType="num">
                                      <p:cBhvr>
                                        <p:cTn id="86" dur="55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550"/>
                                        <p:tgtEl>
                                          <p:spTgt spid="20"/>
                                        </p:tgtEl>
                                      </p:cBhvr>
                                    </p:animEffect>
                                    <p:anim calcmode="lin" valueType="num">
                                      <p:cBhvr>
                                        <p:cTn id="90" dur="550" fill="hold"/>
                                        <p:tgtEl>
                                          <p:spTgt spid="20"/>
                                        </p:tgtEl>
                                        <p:attrNameLst>
                                          <p:attrName>ppt_x</p:attrName>
                                        </p:attrNameLst>
                                      </p:cBhvr>
                                      <p:tavLst>
                                        <p:tav tm="0">
                                          <p:val>
                                            <p:strVal val="#ppt_x"/>
                                          </p:val>
                                        </p:tav>
                                        <p:tav tm="100000">
                                          <p:val>
                                            <p:strVal val="#ppt_x"/>
                                          </p:val>
                                        </p:tav>
                                      </p:tavLst>
                                    </p:anim>
                                    <p:anim calcmode="lin" valueType="num">
                                      <p:cBhvr>
                                        <p:cTn id="91" dur="55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550"/>
                                        <p:tgtEl>
                                          <p:spTgt spid="21"/>
                                        </p:tgtEl>
                                      </p:cBhvr>
                                    </p:animEffect>
                                    <p:anim calcmode="lin" valueType="num">
                                      <p:cBhvr>
                                        <p:cTn id="95" dur="550" fill="hold"/>
                                        <p:tgtEl>
                                          <p:spTgt spid="21"/>
                                        </p:tgtEl>
                                        <p:attrNameLst>
                                          <p:attrName>ppt_x</p:attrName>
                                        </p:attrNameLst>
                                      </p:cBhvr>
                                      <p:tavLst>
                                        <p:tav tm="0">
                                          <p:val>
                                            <p:strVal val="#ppt_x"/>
                                          </p:val>
                                        </p:tav>
                                        <p:tav tm="100000">
                                          <p:val>
                                            <p:strVal val="#ppt_x"/>
                                          </p:val>
                                        </p:tav>
                                      </p:tavLst>
                                    </p:anim>
                                    <p:anim calcmode="lin" valueType="num">
                                      <p:cBhvr>
                                        <p:cTn id="96" dur="55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550"/>
                                        <p:tgtEl>
                                          <p:spTgt spid="22"/>
                                        </p:tgtEl>
                                      </p:cBhvr>
                                    </p:animEffect>
                                    <p:anim calcmode="lin" valueType="num">
                                      <p:cBhvr>
                                        <p:cTn id="100" dur="550" fill="hold"/>
                                        <p:tgtEl>
                                          <p:spTgt spid="22"/>
                                        </p:tgtEl>
                                        <p:attrNameLst>
                                          <p:attrName>ppt_x</p:attrName>
                                        </p:attrNameLst>
                                      </p:cBhvr>
                                      <p:tavLst>
                                        <p:tav tm="0">
                                          <p:val>
                                            <p:strVal val="#ppt_x"/>
                                          </p:val>
                                        </p:tav>
                                        <p:tav tm="100000">
                                          <p:val>
                                            <p:strVal val="#ppt_x"/>
                                          </p:val>
                                        </p:tav>
                                      </p:tavLst>
                                    </p:anim>
                                    <p:anim calcmode="lin" valueType="num">
                                      <p:cBhvr>
                                        <p:cTn id="101" dur="550" fill="hold"/>
                                        <p:tgtEl>
                                          <p:spTgt spid="22"/>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3"/>
                                        </p:tgtEl>
                                        <p:attrNameLst>
                                          <p:attrName>style.visibility</p:attrName>
                                        </p:attrNameLst>
                                      </p:cBhvr>
                                      <p:to>
                                        <p:strVal val="visible"/>
                                      </p:to>
                                    </p:set>
                                    <p:animEffect transition="in" filter="fade">
                                      <p:cBhvr>
                                        <p:cTn id="104" dur="550"/>
                                        <p:tgtEl>
                                          <p:spTgt spid="23"/>
                                        </p:tgtEl>
                                      </p:cBhvr>
                                    </p:animEffect>
                                    <p:anim calcmode="lin" valueType="num">
                                      <p:cBhvr>
                                        <p:cTn id="105" dur="550" fill="hold"/>
                                        <p:tgtEl>
                                          <p:spTgt spid="23"/>
                                        </p:tgtEl>
                                        <p:attrNameLst>
                                          <p:attrName>ppt_x</p:attrName>
                                        </p:attrNameLst>
                                      </p:cBhvr>
                                      <p:tavLst>
                                        <p:tav tm="0">
                                          <p:val>
                                            <p:strVal val="#ppt_x"/>
                                          </p:val>
                                        </p:tav>
                                        <p:tav tm="100000">
                                          <p:val>
                                            <p:strVal val="#ppt_x"/>
                                          </p:val>
                                        </p:tav>
                                      </p:tavLst>
                                    </p:anim>
                                    <p:anim calcmode="lin" valueType="num">
                                      <p:cBhvr>
                                        <p:cTn id="106" dur="550" fill="hold"/>
                                        <p:tgtEl>
                                          <p:spTgt spid="23"/>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550"/>
                                        <p:tgtEl>
                                          <p:spTgt spid="24"/>
                                        </p:tgtEl>
                                      </p:cBhvr>
                                    </p:animEffect>
                                    <p:anim calcmode="lin" valueType="num">
                                      <p:cBhvr>
                                        <p:cTn id="110" dur="550" fill="hold"/>
                                        <p:tgtEl>
                                          <p:spTgt spid="24"/>
                                        </p:tgtEl>
                                        <p:attrNameLst>
                                          <p:attrName>ppt_x</p:attrName>
                                        </p:attrNameLst>
                                      </p:cBhvr>
                                      <p:tavLst>
                                        <p:tav tm="0">
                                          <p:val>
                                            <p:strVal val="#ppt_x"/>
                                          </p:val>
                                        </p:tav>
                                        <p:tav tm="100000">
                                          <p:val>
                                            <p:strVal val="#ppt_x"/>
                                          </p:val>
                                        </p:tav>
                                      </p:tavLst>
                                    </p:anim>
                                    <p:anim calcmode="lin" valueType="num">
                                      <p:cBhvr>
                                        <p:cTn id="111" dur="550" fill="hold"/>
                                        <p:tgtEl>
                                          <p:spTgt spid="24"/>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550"/>
                                        <p:tgtEl>
                                          <p:spTgt spid="25"/>
                                        </p:tgtEl>
                                      </p:cBhvr>
                                    </p:animEffect>
                                    <p:anim calcmode="lin" valueType="num">
                                      <p:cBhvr>
                                        <p:cTn id="115" dur="550" fill="hold"/>
                                        <p:tgtEl>
                                          <p:spTgt spid="25"/>
                                        </p:tgtEl>
                                        <p:attrNameLst>
                                          <p:attrName>ppt_x</p:attrName>
                                        </p:attrNameLst>
                                      </p:cBhvr>
                                      <p:tavLst>
                                        <p:tav tm="0">
                                          <p:val>
                                            <p:strVal val="#ppt_x"/>
                                          </p:val>
                                        </p:tav>
                                        <p:tav tm="100000">
                                          <p:val>
                                            <p:strVal val="#ppt_x"/>
                                          </p:val>
                                        </p:tav>
                                      </p:tavLst>
                                    </p:anim>
                                    <p:anim calcmode="lin" valueType="num">
                                      <p:cBhvr>
                                        <p:cTn id="116" dur="550" fill="hold"/>
                                        <p:tgtEl>
                                          <p:spTgt spid="25"/>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fade">
                                      <p:cBhvr>
                                        <p:cTn id="119" dur="550"/>
                                        <p:tgtEl>
                                          <p:spTgt spid="26"/>
                                        </p:tgtEl>
                                      </p:cBhvr>
                                    </p:animEffect>
                                    <p:anim calcmode="lin" valueType="num">
                                      <p:cBhvr>
                                        <p:cTn id="120" dur="550" fill="hold"/>
                                        <p:tgtEl>
                                          <p:spTgt spid="26"/>
                                        </p:tgtEl>
                                        <p:attrNameLst>
                                          <p:attrName>ppt_x</p:attrName>
                                        </p:attrNameLst>
                                      </p:cBhvr>
                                      <p:tavLst>
                                        <p:tav tm="0">
                                          <p:val>
                                            <p:strVal val="#ppt_x"/>
                                          </p:val>
                                        </p:tav>
                                        <p:tav tm="100000">
                                          <p:val>
                                            <p:strVal val="#ppt_x"/>
                                          </p:val>
                                        </p:tav>
                                      </p:tavLst>
                                    </p:anim>
                                    <p:anim calcmode="lin" valueType="num">
                                      <p:cBhvr>
                                        <p:cTn id="121" dur="550" fill="hold"/>
                                        <p:tgtEl>
                                          <p:spTgt spid="26"/>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550"/>
                                        <p:tgtEl>
                                          <p:spTgt spid="27"/>
                                        </p:tgtEl>
                                      </p:cBhvr>
                                    </p:animEffect>
                                    <p:anim calcmode="lin" valueType="num">
                                      <p:cBhvr>
                                        <p:cTn id="125" dur="550" fill="hold"/>
                                        <p:tgtEl>
                                          <p:spTgt spid="27"/>
                                        </p:tgtEl>
                                        <p:attrNameLst>
                                          <p:attrName>ppt_x</p:attrName>
                                        </p:attrNameLst>
                                      </p:cBhvr>
                                      <p:tavLst>
                                        <p:tav tm="0">
                                          <p:val>
                                            <p:strVal val="#ppt_x"/>
                                          </p:val>
                                        </p:tav>
                                        <p:tav tm="100000">
                                          <p:val>
                                            <p:strVal val="#ppt_x"/>
                                          </p:val>
                                        </p:tav>
                                      </p:tavLst>
                                    </p:anim>
                                    <p:anim calcmode="lin" valueType="num">
                                      <p:cBhvr>
                                        <p:cTn id="126" dur="550" fill="hold"/>
                                        <p:tgtEl>
                                          <p:spTgt spid="27"/>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50"/>
                                        <p:tgtEl>
                                          <p:spTgt spid="28"/>
                                        </p:tgtEl>
                                      </p:cBhvr>
                                    </p:animEffect>
                                    <p:anim calcmode="lin" valueType="num">
                                      <p:cBhvr>
                                        <p:cTn id="130" dur="550" fill="hold"/>
                                        <p:tgtEl>
                                          <p:spTgt spid="28"/>
                                        </p:tgtEl>
                                        <p:attrNameLst>
                                          <p:attrName>ppt_x</p:attrName>
                                        </p:attrNameLst>
                                      </p:cBhvr>
                                      <p:tavLst>
                                        <p:tav tm="0">
                                          <p:val>
                                            <p:strVal val="#ppt_x"/>
                                          </p:val>
                                        </p:tav>
                                        <p:tav tm="100000">
                                          <p:val>
                                            <p:strVal val="#ppt_x"/>
                                          </p:val>
                                        </p:tav>
                                      </p:tavLst>
                                    </p:anim>
                                    <p:anim calcmode="lin" valueType="num">
                                      <p:cBhvr>
                                        <p:cTn id="131" dur="550" fill="hold"/>
                                        <p:tgtEl>
                                          <p:spTgt spid="28"/>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fade">
                                      <p:cBhvr>
                                        <p:cTn id="134" dur="550"/>
                                        <p:tgtEl>
                                          <p:spTgt spid="29"/>
                                        </p:tgtEl>
                                      </p:cBhvr>
                                    </p:animEffect>
                                    <p:anim calcmode="lin" valueType="num">
                                      <p:cBhvr>
                                        <p:cTn id="135" dur="550" fill="hold"/>
                                        <p:tgtEl>
                                          <p:spTgt spid="29"/>
                                        </p:tgtEl>
                                        <p:attrNameLst>
                                          <p:attrName>ppt_x</p:attrName>
                                        </p:attrNameLst>
                                      </p:cBhvr>
                                      <p:tavLst>
                                        <p:tav tm="0">
                                          <p:val>
                                            <p:strVal val="#ppt_x"/>
                                          </p:val>
                                        </p:tav>
                                        <p:tav tm="100000">
                                          <p:val>
                                            <p:strVal val="#ppt_x"/>
                                          </p:val>
                                        </p:tav>
                                      </p:tavLst>
                                    </p:anim>
                                    <p:anim calcmode="lin" valueType="num">
                                      <p:cBhvr>
                                        <p:cTn id="136" dur="550" fill="hold"/>
                                        <p:tgtEl>
                                          <p:spTgt spid="29"/>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550"/>
                                        <p:tgtEl>
                                          <p:spTgt spid="30"/>
                                        </p:tgtEl>
                                      </p:cBhvr>
                                    </p:animEffect>
                                    <p:anim calcmode="lin" valueType="num">
                                      <p:cBhvr>
                                        <p:cTn id="140" dur="550" fill="hold"/>
                                        <p:tgtEl>
                                          <p:spTgt spid="30"/>
                                        </p:tgtEl>
                                        <p:attrNameLst>
                                          <p:attrName>ppt_x</p:attrName>
                                        </p:attrNameLst>
                                      </p:cBhvr>
                                      <p:tavLst>
                                        <p:tav tm="0">
                                          <p:val>
                                            <p:strVal val="#ppt_x"/>
                                          </p:val>
                                        </p:tav>
                                        <p:tav tm="100000">
                                          <p:val>
                                            <p:strVal val="#ppt_x"/>
                                          </p:val>
                                        </p:tav>
                                      </p:tavLst>
                                    </p:anim>
                                    <p:anim calcmode="lin" valueType="num">
                                      <p:cBhvr>
                                        <p:cTn id="141" dur="550" fill="hold"/>
                                        <p:tgtEl>
                                          <p:spTgt spid="30"/>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550"/>
                                        <p:tgtEl>
                                          <p:spTgt spid="31"/>
                                        </p:tgtEl>
                                      </p:cBhvr>
                                    </p:animEffect>
                                    <p:anim calcmode="lin" valueType="num">
                                      <p:cBhvr>
                                        <p:cTn id="145" dur="550" fill="hold"/>
                                        <p:tgtEl>
                                          <p:spTgt spid="31"/>
                                        </p:tgtEl>
                                        <p:attrNameLst>
                                          <p:attrName>ppt_x</p:attrName>
                                        </p:attrNameLst>
                                      </p:cBhvr>
                                      <p:tavLst>
                                        <p:tav tm="0">
                                          <p:val>
                                            <p:strVal val="#ppt_x"/>
                                          </p:val>
                                        </p:tav>
                                        <p:tav tm="100000">
                                          <p:val>
                                            <p:strVal val="#ppt_x"/>
                                          </p:val>
                                        </p:tav>
                                      </p:tavLst>
                                    </p:anim>
                                    <p:anim calcmode="lin" valueType="num">
                                      <p:cBhvr>
                                        <p:cTn id="146" dur="550" fill="hold"/>
                                        <p:tgtEl>
                                          <p:spTgt spid="31"/>
                                        </p:tgtEl>
                                        <p:attrNameLst>
                                          <p:attrName>ppt_y</p:attrName>
                                        </p:attrNameLst>
                                      </p:cBhvr>
                                      <p:tavLst>
                                        <p:tav tm="0">
                                          <p:val>
                                            <p:strVal val="#ppt_y+.1"/>
                                          </p:val>
                                        </p:tav>
                                        <p:tav tm="100000">
                                          <p:val>
                                            <p:strVal val="#ppt_y"/>
                                          </p:val>
                                        </p:tav>
                                      </p:tavLst>
                                    </p:anim>
                                  </p:childTnLst>
                                </p:cTn>
                              </p:par>
                            </p:childTnLst>
                          </p:cTn>
                        </p:par>
                        <p:par>
                          <p:cTn id="147" fill="hold">
                            <p:stCondLst>
                              <p:cond delay="1650"/>
                            </p:stCondLst>
                            <p:childTnLst>
                              <p:par>
                                <p:cTn id="148" presetID="10" presetClass="entr" presetSubtype="0" fill="hold" grpId="0" nodeType="afterEffect">
                                  <p:stCondLst>
                                    <p:cond delay="0"/>
                                  </p:stCondLst>
                                  <p:childTnLst>
                                    <p:set>
                                      <p:cBhvr>
                                        <p:cTn id="149" dur="1" fill="hold">
                                          <p:stCondLst>
                                            <p:cond delay="0"/>
                                          </p:stCondLst>
                                        </p:cTn>
                                        <p:tgtEl>
                                          <p:spTgt spid="32"/>
                                        </p:tgtEl>
                                        <p:attrNameLst>
                                          <p:attrName>style.visibility</p:attrName>
                                        </p:attrNameLst>
                                      </p:cBhvr>
                                      <p:to>
                                        <p:strVal val="visible"/>
                                      </p:to>
                                    </p:set>
                                    <p:animEffect transition="in" filter="fade">
                                      <p:cBhvr>
                                        <p:cTn id="150" dur="450"/>
                                        <p:tgtEl>
                                          <p:spTgt spid="32"/>
                                        </p:tgtEl>
                                      </p:cBhvr>
                                    </p:animEffect>
                                  </p:childTnLst>
                                </p:cTn>
                              </p:par>
                            </p:childTnLst>
                          </p:cTn>
                        </p:par>
                        <p:par>
                          <p:cTn id="151" fill="hold">
                            <p:stCondLst>
                              <p:cond delay="2100"/>
                            </p:stCondLst>
                            <p:childTnLst>
                              <p:par>
                                <p:cTn id="152" presetID="10" presetClass="entr" presetSubtype="0" fill="hold" grpId="0" nodeType="afterEffect">
                                  <p:stCondLst>
                                    <p:cond delay="0"/>
                                  </p:stCondLst>
                                  <p:childTnLst>
                                    <p:set>
                                      <p:cBhvr>
                                        <p:cTn id="153" dur="1" fill="hold">
                                          <p:stCondLst>
                                            <p:cond delay="0"/>
                                          </p:stCondLst>
                                        </p:cTn>
                                        <p:tgtEl>
                                          <p:spTgt spid="33"/>
                                        </p:tgtEl>
                                        <p:attrNameLst>
                                          <p:attrName>style.visibility</p:attrName>
                                        </p:attrNameLst>
                                      </p:cBhvr>
                                      <p:to>
                                        <p:strVal val="visible"/>
                                      </p:to>
                                    </p:set>
                                    <p:animEffect transition="in" filter="fade">
                                      <p:cBhvr>
                                        <p:cTn id="154"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 · DEEP DIVE</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Code that is rewritten, not just copied</a:t>
            </a:r>
            <a:endParaRPr lang="en-US" sz="3200" dirty="0"/>
          </a:p>
        </p:txBody>
      </p:sp>
      <p:sp>
        <p:nvSpPr>
          <p:cNvPr id="4" name="a1u-cc0"/>
          <p:cNvSpPr/>
          <p:nvPr/>
        </p:nvSpPr>
        <p:spPr>
          <a:xfrm>
            <a:off x="548640" y="1554480"/>
            <a:ext cx="3575304" cy="2103120"/>
          </a:xfrm>
          <a:prstGeom prst="roundRect">
            <a:avLst>
              <a:gd name="adj" fmla="val 5217"/>
            </a:avLst>
          </a:prstGeom>
          <a:solidFill>
            <a:schemeClr val="bg2"/>
          </a:solidFill>
          <a:ln/>
        </p:spPr>
      </p:sp>
      <p:sp>
        <p:nvSpPr>
          <p:cNvPr id="5" name="a1u-cc0c"/>
          <p:cNvSpPr/>
          <p:nvPr/>
        </p:nvSpPr>
        <p:spPr>
          <a:xfrm>
            <a:off x="777240" y="1755648"/>
            <a:ext cx="502920" cy="502920"/>
          </a:xfrm>
          <a:prstGeom prst="ellipse">
            <a:avLst/>
          </a:prstGeom>
          <a:solidFill>
            <a:schemeClr val="accent1"/>
          </a:solidFill>
          <a:ln/>
        </p:spPr>
      </p:sp>
      <p:pic>
        <p:nvPicPr>
          <p:cNvPr id="6" name="a1u-cc0ci" descr="preencoded.png">    </p:cNvPr>
          <p:cNvPicPr>
            <a:picLocks noChangeAspect="1"/>
          </p:cNvPicPr>
          <p:nvPr/>
        </p:nvPicPr>
        <p:blipFill>
          <a:blip r:embed="rId1"/>
          <a:stretch>
            <a:fillRect/>
          </a:stretch>
        </p:blipFill>
        <p:spPr>
          <a:xfrm>
            <a:off x="902970" y="1881378"/>
            <a:ext cx="251460" cy="251460"/>
          </a:xfrm>
          <a:prstGeom prst="rect">
            <a:avLst/>
          </a:prstGeom>
        </p:spPr>
      </p:pic>
      <p:sp>
        <p:nvSpPr>
          <p:cNvPr id="7" name="a1u-cc0h"/>
          <p:cNvSpPr txBox="1"/>
          <p:nvPr/>
        </p:nvSpPr>
        <p:spPr>
          <a:xfrm>
            <a:off x="1417320" y="1755648"/>
            <a:ext cx="2468880"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Notebooks</a:t>
            </a:r>
            <a:endParaRPr lang="en-US" sz="1700" dirty="0"/>
          </a:p>
        </p:txBody>
      </p:sp>
      <p:sp>
        <p:nvSpPr>
          <p:cNvPr id="8" name="a1u-cc0b"/>
          <p:cNvSpPr txBox="1"/>
          <p:nvPr/>
        </p:nvSpPr>
        <p:spPr>
          <a:xfrm>
            <a:off x="731520" y="2423160"/>
            <a:ext cx="3209544" cy="1143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mssparkutils → notebookutils</a:t>
            </a:r>
            <a:endParaRPr lang="en-US" sz="1400" dirty="0"/>
          </a:p>
          <a:p>
            <a:pPr marL="177800" indent="-177800">
              <a:spcAft>
                <a:spcPts val="600"/>
              </a:spcAft>
              <a:buSzPct val="100000"/>
              <a:buChar char="•"/>
            </a:pPr>
            <a:r>
              <a:rPr lang="en-US" sz="1400" dirty="0">
                <a:solidFill>
                  <a:schemeClr val="tx1"/>
                </a:solidFill>
              </a:rPr>
              <a:t>SQL connector → Fabric connector</a:t>
            </a:r>
            <a:endParaRPr lang="en-US" sz="1400" dirty="0"/>
          </a:p>
          <a:p>
            <a:pPr marL="177800" indent="-177800">
              <a:spcAft>
                <a:spcPts val="600"/>
              </a:spcAft>
              <a:buSzPct val="100000"/>
              <a:buChar char="•"/>
            </a:pPr>
            <a:r>
              <a:rPr lang="en-US" sz="1400" dirty="0">
                <a:solidFill>
                  <a:schemeClr val="tx1"/>
                </a:solidFill>
              </a:rPr>
              <a:t>Reads of the pool → the Warehouse</a:t>
            </a:r>
            <a:endParaRPr lang="en-US" sz="1400" dirty="0"/>
          </a:p>
          <a:p>
            <a:pPr marL="177800" indent="-177800">
              <a:spcAft>
                <a:spcPts val="600"/>
              </a:spcAft>
              <a:buSzPct val="100000"/>
              <a:buChar char="•"/>
            </a:pPr>
            <a:r>
              <a:rPr lang="en-US" sz="1400" dirty="0">
                <a:solidFill>
                  <a:schemeClr val="tx1"/>
                </a:solidFill>
              </a:rPr>
              <a:t>Risky calls flagged, never guessed</a:t>
            </a:r>
            <a:endParaRPr lang="en-US" sz="1400" dirty="0"/>
          </a:p>
        </p:txBody>
      </p:sp>
      <p:sp>
        <p:nvSpPr>
          <p:cNvPr id="9" name="a2u-cc1"/>
          <p:cNvSpPr/>
          <p:nvPr/>
        </p:nvSpPr>
        <p:spPr>
          <a:xfrm>
            <a:off x="4306824" y="1554480"/>
            <a:ext cx="3575304" cy="2103120"/>
          </a:xfrm>
          <a:prstGeom prst="roundRect">
            <a:avLst>
              <a:gd name="adj" fmla="val 5217"/>
            </a:avLst>
          </a:prstGeom>
          <a:solidFill>
            <a:schemeClr val="bg2"/>
          </a:solidFill>
          <a:ln/>
        </p:spPr>
      </p:sp>
      <p:sp>
        <p:nvSpPr>
          <p:cNvPr id="10" name="a2u-cc1c"/>
          <p:cNvSpPr/>
          <p:nvPr/>
        </p:nvSpPr>
        <p:spPr>
          <a:xfrm>
            <a:off x="4535424" y="1755648"/>
            <a:ext cx="502920" cy="502920"/>
          </a:xfrm>
          <a:prstGeom prst="ellipse">
            <a:avLst/>
          </a:prstGeom>
          <a:solidFill>
            <a:schemeClr val="accent1"/>
          </a:solidFill>
          <a:ln/>
        </p:spPr>
      </p:sp>
      <p:pic>
        <p:nvPicPr>
          <p:cNvPr id="11" name="a2u-cc1ci" descr="preencoded.png">    </p:cNvPr>
          <p:cNvPicPr>
            <a:picLocks noChangeAspect="1"/>
          </p:cNvPicPr>
          <p:nvPr/>
        </p:nvPicPr>
        <p:blipFill>
          <a:blip r:embed="rId2"/>
          <a:stretch>
            <a:fillRect/>
          </a:stretch>
        </p:blipFill>
        <p:spPr>
          <a:xfrm>
            <a:off x="4661154" y="1881378"/>
            <a:ext cx="251460" cy="251460"/>
          </a:xfrm>
          <a:prstGeom prst="rect">
            <a:avLst/>
          </a:prstGeom>
        </p:spPr>
      </p:pic>
      <p:sp>
        <p:nvSpPr>
          <p:cNvPr id="12" name="a2u-cc1h"/>
          <p:cNvSpPr txBox="1"/>
          <p:nvPr/>
        </p:nvSpPr>
        <p:spPr>
          <a:xfrm>
            <a:off x="5175504" y="1755648"/>
            <a:ext cx="2468880"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Pipelines</a:t>
            </a:r>
            <a:endParaRPr lang="en-US" sz="1700" dirty="0"/>
          </a:p>
        </p:txBody>
      </p:sp>
      <p:sp>
        <p:nvSpPr>
          <p:cNvPr id="13" name="a2u-cc1b"/>
          <p:cNvSpPr txBox="1"/>
          <p:nvPr/>
        </p:nvSpPr>
        <p:spPr>
          <a:xfrm>
            <a:off x="4489704" y="2423160"/>
            <a:ext cx="3209544" cy="1143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Datasets embedded in activities</a:t>
            </a:r>
            <a:endParaRPr lang="en-US" sz="1400" dirty="0"/>
          </a:p>
          <a:p>
            <a:pPr marL="177800" indent="-177800">
              <a:spcAft>
                <a:spcPts val="600"/>
              </a:spcAft>
              <a:buSzPct val="100000"/>
              <a:buChar char="•"/>
            </a:pPr>
            <a:r>
              <a:rPr lang="en-US" sz="1400" dirty="0">
                <a:solidFill>
                  <a:schemeClr val="tx1"/>
                </a:solidFill>
              </a:rPr>
              <a:t>References → Fabric item ids</a:t>
            </a:r>
            <a:endParaRPr lang="en-US" sz="1400" dirty="0"/>
          </a:p>
          <a:p>
            <a:pPr marL="177800" indent="-177800">
              <a:spcAft>
                <a:spcPts val="600"/>
              </a:spcAft>
              <a:buSzPct val="100000"/>
              <a:buChar char="•"/>
            </a:pPr>
            <a:r>
              <a:rPr lang="en-US" sz="1400" dirty="0">
                <a:solidFill>
                  <a:schemeClr val="tx1"/>
                </a:solidFill>
              </a:rPr>
              <a:t>Pool activities → the Warehouse</a:t>
            </a:r>
            <a:endParaRPr lang="en-US" sz="1400" dirty="0"/>
          </a:p>
          <a:p>
            <a:pPr marL="177800" indent="-177800">
              <a:spcAft>
                <a:spcPts val="600"/>
              </a:spcAft>
              <a:buSzPct val="100000"/>
              <a:buChar char="•"/>
            </a:pPr>
            <a:r>
              <a:rPr lang="en-US" sz="1400" dirty="0">
                <a:solidFill>
                  <a:schemeClr val="tx1"/>
                </a:solidFill>
              </a:rPr>
              <a:t>33 activity types converted</a:t>
            </a:r>
            <a:endParaRPr lang="en-US" sz="1400" dirty="0"/>
          </a:p>
        </p:txBody>
      </p:sp>
      <p:sp>
        <p:nvSpPr>
          <p:cNvPr id="14" name="a3u-cc2"/>
          <p:cNvSpPr/>
          <p:nvPr/>
        </p:nvSpPr>
        <p:spPr>
          <a:xfrm>
            <a:off x="8065008" y="1554480"/>
            <a:ext cx="3575304" cy="2103120"/>
          </a:xfrm>
          <a:prstGeom prst="roundRect">
            <a:avLst>
              <a:gd name="adj" fmla="val 5217"/>
            </a:avLst>
          </a:prstGeom>
          <a:solidFill>
            <a:schemeClr val="bg2"/>
          </a:solidFill>
          <a:ln/>
        </p:spPr>
      </p:sp>
      <p:sp>
        <p:nvSpPr>
          <p:cNvPr id="15" name="a3u-cc2c"/>
          <p:cNvSpPr/>
          <p:nvPr/>
        </p:nvSpPr>
        <p:spPr>
          <a:xfrm>
            <a:off x="8293608" y="1755648"/>
            <a:ext cx="502920" cy="502920"/>
          </a:xfrm>
          <a:prstGeom prst="ellipse">
            <a:avLst/>
          </a:prstGeom>
          <a:solidFill>
            <a:schemeClr val="accent1"/>
          </a:solidFill>
          <a:ln/>
        </p:spPr>
      </p:sp>
      <p:pic>
        <p:nvPicPr>
          <p:cNvPr id="16" name="a3u-cc2ci" descr="preencoded.png">    </p:cNvPr>
          <p:cNvPicPr>
            <a:picLocks noChangeAspect="1"/>
          </p:cNvPicPr>
          <p:nvPr/>
        </p:nvPicPr>
        <p:blipFill>
          <a:blip r:embed="rId3"/>
          <a:stretch>
            <a:fillRect/>
          </a:stretch>
        </p:blipFill>
        <p:spPr>
          <a:xfrm>
            <a:off x="8419338" y="1881378"/>
            <a:ext cx="251460" cy="251460"/>
          </a:xfrm>
          <a:prstGeom prst="rect">
            <a:avLst/>
          </a:prstGeom>
        </p:spPr>
      </p:pic>
      <p:sp>
        <p:nvSpPr>
          <p:cNvPr id="17" name="a3u-cc2h"/>
          <p:cNvSpPr txBox="1"/>
          <p:nvPr/>
        </p:nvSpPr>
        <p:spPr>
          <a:xfrm>
            <a:off x="8933688" y="1755648"/>
            <a:ext cx="2468880" cy="50292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T-SQL</a:t>
            </a:r>
            <a:endParaRPr lang="en-US" sz="1700" dirty="0"/>
          </a:p>
        </p:txBody>
      </p:sp>
      <p:sp>
        <p:nvSpPr>
          <p:cNvPr id="18" name="a3u-cc2b"/>
          <p:cNvSpPr txBox="1"/>
          <p:nvPr/>
        </p:nvSpPr>
        <p:spPr>
          <a:xfrm>
            <a:off x="8247888" y="2423160"/>
            <a:ext cx="3209544" cy="1143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Distribution, index options removed</a:t>
            </a:r>
            <a:endParaRPr lang="en-US" sz="1400" dirty="0"/>
          </a:p>
          <a:p>
            <a:pPr marL="177800" indent="-177800">
              <a:spcAft>
                <a:spcPts val="600"/>
              </a:spcAft>
              <a:buSzPct val="100000"/>
              <a:buChar char="•"/>
            </a:pPr>
            <a:r>
              <a:rPr lang="en-US" sz="1400" dirty="0">
                <a:solidFill>
                  <a:schemeClr val="tx1"/>
                </a:solidFill>
              </a:rPr>
              <a:t>RENAME OBJECT → sp_rename</a:t>
            </a:r>
            <a:endParaRPr lang="en-US" sz="1400" dirty="0"/>
          </a:p>
          <a:p>
            <a:pPr marL="177800" indent="-177800">
              <a:spcAft>
                <a:spcPts val="600"/>
              </a:spcAft>
              <a:buSzPct val="100000"/>
              <a:buChar char="•"/>
            </a:pPr>
            <a:r>
              <a:rPr lang="en-US" sz="1400" dirty="0">
                <a:solidFill>
                  <a:schemeClr val="tx1"/>
                </a:solidFill>
              </a:rPr>
              <a:t>Isolation, workload settings removed</a:t>
            </a:r>
            <a:endParaRPr lang="en-US" sz="1400" dirty="0"/>
          </a:p>
          <a:p>
            <a:pPr marL="177800" indent="-177800">
              <a:spcAft>
                <a:spcPts val="600"/>
              </a:spcAft>
              <a:buSzPct val="100000"/>
              <a:buChar char="•"/>
            </a:pPr>
            <a:r>
              <a:rPr lang="en-US" sz="1400" dirty="0">
                <a:solidFill>
                  <a:schemeClr val="tx1"/>
                </a:solidFill>
              </a:rPr>
              <a:t>12 unsupported patterns flagged</a:t>
            </a:r>
            <a:endParaRPr lang="en-US" sz="1400" dirty="0"/>
          </a:p>
        </p:txBody>
      </p:sp>
      <p:sp>
        <p:nvSpPr>
          <p:cNvPr id="19" name="a4w-route"/>
          <p:cNvSpPr/>
          <p:nvPr/>
        </p:nvSpPr>
        <p:spPr>
          <a:xfrm>
            <a:off x="548640" y="3858768"/>
            <a:ext cx="11094415" cy="1298448"/>
          </a:xfrm>
          <a:prstGeom prst="roundRect">
            <a:avLst>
              <a:gd name="adj" fmla="val 8451"/>
            </a:avLst>
          </a:prstGeom>
          <a:solidFill>
            <a:schemeClr val="accent1">
              <a:alpha val="10000"/>
            </a:schemeClr>
          </a:solidFill>
          <a:ln/>
        </p:spPr>
      </p:sp>
      <p:sp>
        <p:nvSpPr>
          <p:cNvPr id="20" name="a4w-routec"/>
          <p:cNvSpPr/>
          <p:nvPr/>
        </p:nvSpPr>
        <p:spPr>
          <a:xfrm>
            <a:off x="777240" y="4041648"/>
            <a:ext cx="502920" cy="502920"/>
          </a:xfrm>
          <a:prstGeom prst="ellipse">
            <a:avLst/>
          </a:prstGeom>
          <a:solidFill>
            <a:schemeClr val="accent1"/>
          </a:solidFill>
          <a:ln/>
        </p:spPr>
      </p:sp>
      <p:pic>
        <p:nvPicPr>
          <p:cNvPr id="21" name="a4w-routeci" descr="preencoded.png">    </p:cNvPr>
          <p:cNvPicPr>
            <a:picLocks noChangeAspect="1"/>
          </p:cNvPicPr>
          <p:nvPr/>
        </p:nvPicPr>
        <p:blipFill>
          <a:blip r:embed="rId4"/>
          <a:stretch>
            <a:fillRect/>
          </a:stretch>
        </p:blipFill>
        <p:spPr>
          <a:xfrm>
            <a:off x="902970" y="4167378"/>
            <a:ext cx="251460" cy="251460"/>
          </a:xfrm>
          <a:prstGeom prst="rect">
            <a:avLst/>
          </a:prstGeom>
        </p:spPr>
      </p:pic>
      <p:sp>
        <p:nvSpPr>
          <p:cNvPr id="22" name="a4w-routeh"/>
          <p:cNvSpPr txBox="1"/>
          <p:nvPr/>
        </p:nvSpPr>
        <p:spPr>
          <a:xfrm>
            <a:off x="1417320" y="4005072"/>
            <a:ext cx="3931920" cy="365760"/>
          </a:xfrm>
          <a:prstGeom prst="rect">
            <a:avLst/>
          </a:prstGeom>
          <a:noFill/>
          <a:ln/>
        </p:spPr>
        <p:txBody>
          <a:bodyPr wrap="square" lIns="0" tIns="0" rIns="0" bIns="0" rtlCol="0" anchor="t"/>
          <a:lstStyle/>
          <a:p>
            <a:pPr indent="0" marL="0">
              <a:buNone/>
            </a:pPr>
            <a:r>
              <a:rPr lang="en-US" sz="1600" dirty="0">
                <a:solidFill>
                  <a:schemeClr val="tx2"/>
                </a:solidFill>
                <a:latin typeface="+mj-lt" pitchFamily="34" charset="0"/>
                <a:ea typeface="+mj-lt" pitchFamily="34" charset="-122"/>
                <a:cs typeface="+mj-lt" pitchFamily="34" charset="-120"/>
              </a:rPr>
              <a:t>Storage routed through OneLake</a:t>
            </a:r>
            <a:endParaRPr lang="en-US" sz="1600" dirty="0"/>
          </a:p>
        </p:txBody>
      </p:sp>
      <p:sp>
        <p:nvSpPr>
          <p:cNvPr id="23" name="a4w-routeb"/>
          <p:cNvSpPr txBox="1"/>
          <p:nvPr/>
        </p:nvSpPr>
        <p:spPr>
          <a:xfrm>
            <a:off x="1417320" y="4389120"/>
            <a:ext cx="3931920" cy="731520"/>
          </a:xfrm>
          <a:prstGeom prst="rect">
            <a:avLst/>
          </a:prstGeom>
          <a:noFill/>
          <a:ln/>
        </p:spPr>
        <p:txBody>
          <a:bodyPr wrap="square" lIns="0" tIns="0" rIns="0" bIns="0" rtlCol="0" anchor="t"/>
          <a:lstStyle/>
          <a:p>
            <a:pPr indent="0" marL="0">
              <a:buNone/>
            </a:pPr>
            <a:r>
              <a:rPr lang="en-US" sz="1300" dirty="0">
                <a:solidFill>
                  <a:schemeClr val="tx1"/>
                </a:solidFill>
              </a:rPr>
              <a:t>Notebooks, SQL and Spark jobs read storage through a shortcut and a Fabric connection: no more cross-tenant 401s.</a:t>
            </a:r>
            <a:endParaRPr lang="en-US" sz="1300" dirty="0"/>
          </a:p>
        </p:txBody>
      </p:sp>
      <p:sp>
        <p:nvSpPr>
          <p:cNvPr id="24" name="a4w-routex"/>
          <p:cNvSpPr txBox="1"/>
          <p:nvPr/>
        </p:nvSpPr>
        <p:spPr>
          <a:xfrm>
            <a:off x="5532120" y="3950208"/>
            <a:ext cx="5989320" cy="1143000"/>
          </a:xfrm>
          <a:prstGeom prst="rect">
            <a:avLst/>
          </a:prstGeom>
          <a:noFill/>
          <a:ln/>
        </p:spPr>
        <p:txBody>
          <a:bodyPr wrap="square" lIns="0" tIns="0" rIns="0" bIns="0" rtlCol="0" anchor="ctr"/>
          <a:lstStyle/>
          <a:p>
            <a:pPr indent="0" marL="0">
              <a:buNone/>
            </a:pPr>
            <a:r>
              <a:rPr lang="en-US" sz="1100" b="1" dirty="0">
                <a:solidFill>
                  <a:schemeClr val="accent6"/>
                </a:solidFill>
                <a:latin typeface="Segoe UI" pitchFamily="34" charset="0"/>
                <a:ea typeface="Segoe UI" pitchFamily="34" charset="-122"/>
                <a:cs typeface="Segoe UI" pitchFamily="34" charset="-120"/>
              </a:rPr>
              <a:t>Before</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abfss://raw@contoso.dfs.core.windows.net/sales</a:t>
            </a:r>
            <a:endParaRPr lang="en-US" sz="1100" dirty="0"/>
          </a:p>
          <a:p>
            <a:pPr indent="0" marL="0">
              <a:buNone/>
            </a:pPr>
            <a:r>
              <a:rPr lang="en-US" sz="1100" b="1" dirty="0">
                <a:solidFill>
                  <a:schemeClr val="accent1"/>
                </a:solidFill>
                <a:latin typeface="Segoe UI" pitchFamily="34" charset="0"/>
                <a:ea typeface="Segoe UI" pitchFamily="34" charset="-122"/>
                <a:cs typeface="Segoe UI" pitchFamily="34" charset="-120"/>
              </a:rPr>
              <a:t>After</a:t>
            </a:r>
            <a:endParaRPr lang="en-US" sz="1100" dirty="0"/>
          </a:p>
          <a:p>
            <a:pPr indent="0" marL="0">
              <a:buNone/>
            </a:pPr>
            <a:r>
              <a:rPr lang="en-US" sz="1100" dirty="0">
                <a:solidFill>
                  <a:schemeClr val="tx1"/>
                </a:solidFill>
                <a:latin typeface="Consolas" pitchFamily="34" charset="0"/>
                <a:ea typeface="Consolas" pitchFamily="34" charset="-122"/>
                <a:cs typeface="Consolas" pitchFamily="34" charset="-120"/>
              </a:rPr>
              <a:t>abfss://&lt;ws&gt;@onelake.dfs.fabric.microsoft.com/&lt;lh&gt;/Files/raw/sales</a:t>
            </a:r>
            <a:endParaRPr lang="en-US" sz="1100" dirty="0"/>
          </a:p>
        </p:txBody>
      </p:sp>
      <p:sp>
        <p:nvSpPr>
          <p:cNvPr id="25" name="a5f-contrast"/>
          <p:cNvSpPr txBox="1"/>
          <p:nvPr/>
        </p:nvSpPr>
        <p:spPr>
          <a:xfrm>
            <a:off x="548640" y="5349240"/>
            <a:ext cx="11094415" cy="384048"/>
          </a:xfrm>
          <a:prstGeom prst="rect">
            <a:avLst/>
          </a:prstGeom>
          <a:noFill/>
          <a:ln/>
        </p:spPr>
        <p:txBody>
          <a:bodyPr wrap="square" lIns="0" tIns="0" rIns="0" bIns="0" rtlCol="0" anchor="ctr"/>
          <a:lstStyle/>
          <a:p>
            <a:pPr indent="0" marL="0">
              <a:buNone/>
            </a:pPr>
            <a:r>
              <a:rPr lang="en-US" sz="1400" b="1" dirty="0">
                <a:solidFill>
                  <a:schemeClr val="accent2"/>
                </a:solidFill>
              </a:rPr>
              <a:t>Microsoft:  </a:t>
            </a:r>
            <a:pPr indent="0" marL="0">
              <a:buNone/>
            </a:pPr>
            <a:r>
              <a:rPr lang="en-US" sz="1400" dirty="0">
                <a:solidFill>
                  <a:schemeClr val="accent6"/>
                </a:solidFill>
              </a:rPr>
              <a:t>the Spark assistant copies notebooks; replacing mssparkutils, linked services and file paths is left to you.</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childTnLst>
                          </p:cTn>
                        </p:par>
                        <p:par>
                          <p:cTn id="30" fill="hold">
                            <p:stCondLst>
                              <p:cond delay="55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childTnLst>
                          </p:cTn>
                        </p:par>
                        <p:par>
                          <p:cTn id="56" fill="hold">
                            <p:stCondLst>
                              <p:cond delay="1100"/>
                            </p:stCondLst>
                            <p:childTnLst>
                              <p:par>
                                <p:cTn id="57" presetID="42"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1650"/>
                            </p:stCondLst>
                            <p:childTnLst>
                              <p:par>
                                <p:cTn id="83" presetID="22" presetClass="entr" presetSubtype="8"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left)">
                                      <p:cBhvr>
                                        <p:cTn id="85" dur="500"/>
                                        <p:tgtEl>
                                          <p:spTgt spid="19"/>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500"/>
                                        <p:tgtEl>
                                          <p:spTgt spid="20"/>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wipe(left)">
                                      <p:cBhvr>
                                        <p:cTn id="94" dur="500"/>
                                        <p:tgtEl>
                                          <p:spTgt spid="22"/>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left)">
                                      <p:cBhvr>
                                        <p:cTn id="97" dur="500"/>
                                        <p:tgtEl>
                                          <p:spTgt spid="23"/>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24"/>
                                        </p:tgtEl>
                                        <p:attrNameLst>
                                          <p:attrName>style.visibility</p:attrName>
                                        </p:attrNameLst>
                                      </p:cBhvr>
                                      <p:to>
                                        <p:strVal val="visible"/>
                                      </p:to>
                                    </p:set>
                                    <p:animEffect transition="in" filter="wipe(left)">
                                      <p:cBhvr>
                                        <p:cTn id="100" dur="500"/>
                                        <p:tgtEl>
                                          <p:spTgt spid="24"/>
                                        </p:tgtEl>
                                      </p:cBhvr>
                                    </p:animEffect>
                                  </p:childTnLst>
                                </p:cTn>
                              </p:par>
                            </p:childTnLst>
                          </p:cTn>
                        </p:par>
                        <p:par>
                          <p:cTn id="101" fill="hold">
                            <p:stCondLst>
                              <p:cond delay="2150"/>
                            </p:stCondLst>
                            <p:childTnLst>
                              <p:par>
                                <p:cTn id="102" presetID="10" presetClass="entr" presetSubtype="0" fill="hold" grpId="0" nodeType="afterEffect">
                                  <p:stCondLst>
                                    <p:cond delay="0"/>
                                  </p:stCondLst>
                                  <p:childTnLst>
                                    <p:set>
                                      <p:cBhvr>
                                        <p:cTn id="103" dur="1" fill="hold">
                                          <p:stCondLst>
                                            <p:cond delay="0"/>
                                          </p:stCondLst>
                                        </p:cTn>
                                        <p:tgtEl>
                                          <p:spTgt spid="25"/>
                                        </p:tgtEl>
                                        <p:attrNameLst>
                                          <p:attrName>style.visibility</p:attrName>
                                        </p:attrNameLst>
                                      </p:cBhvr>
                                      <p:to>
                                        <p:strVal val="visible"/>
                                      </p:to>
                                    </p:set>
                                    <p:animEffect transition="in" filter="fade">
                                      <p:cBhvr>
                                        <p:cTn id="104"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Where Microsoft's assistant is stronger</a:t>
            </a:r>
            <a:endParaRPr lang="en-US" sz="3200" dirty="0"/>
          </a:p>
        </p:txBody>
      </p:sp>
      <p:sp>
        <p:nvSpPr>
          <p:cNvPr id="4" name="a1u-ms0"/>
          <p:cNvSpPr/>
          <p:nvPr/>
        </p:nvSpPr>
        <p:spPr>
          <a:xfrm>
            <a:off x="548640" y="1554480"/>
            <a:ext cx="3511296" cy="2103120"/>
          </a:xfrm>
          <a:prstGeom prst="roundRect">
            <a:avLst>
              <a:gd name="adj" fmla="val 5217"/>
            </a:avLst>
          </a:prstGeom>
          <a:solidFill>
            <a:schemeClr val="accent2">
              <a:alpha val="9000"/>
            </a:schemeClr>
          </a:solidFill>
          <a:ln/>
        </p:spPr>
      </p:sp>
      <p:sp>
        <p:nvSpPr>
          <p:cNvPr id="5" name="a1u-ms0c"/>
          <p:cNvSpPr/>
          <p:nvPr/>
        </p:nvSpPr>
        <p:spPr>
          <a:xfrm>
            <a:off x="822960" y="1828800"/>
            <a:ext cx="548640" cy="548640"/>
          </a:xfrm>
          <a:prstGeom prst="ellipse">
            <a:avLst/>
          </a:prstGeom>
          <a:solidFill>
            <a:schemeClr val="accent2"/>
          </a:solidFill>
          <a:ln/>
        </p:spPr>
      </p:sp>
      <p:pic>
        <p:nvPicPr>
          <p:cNvPr id="6" name="a1u-ms0ci" descr="preencoded.png">    </p:cNvPr>
          <p:cNvPicPr>
            <a:picLocks noChangeAspect="1"/>
          </p:cNvPicPr>
          <p:nvPr/>
        </p:nvPicPr>
        <p:blipFill>
          <a:blip r:embed="rId1"/>
          <a:stretch>
            <a:fillRect/>
          </a:stretch>
        </p:blipFill>
        <p:spPr>
          <a:xfrm>
            <a:off x="960120" y="1965960"/>
            <a:ext cx="274320" cy="274320"/>
          </a:xfrm>
          <a:prstGeom prst="rect">
            <a:avLst/>
          </a:prstGeom>
        </p:spPr>
      </p:pic>
      <p:sp>
        <p:nvSpPr>
          <p:cNvPr id="7" name="a1u-ms0h"/>
          <p:cNvSpPr txBox="1"/>
          <p:nvPr/>
        </p:nvSpPr>
        <p:spPr>
          <a:xfrm>
            <a:off x="1536192"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Native and supported</a:t>
            </a:r>
            <a:endParaRPr lang="en-US" sz="1700" dirty="0"/>
          </a:p>
        </p:txBody>
      </p:sp>
      <p:sp>
        <p:nvSpPr>
          <p:cNvPr id="8" name="a1u-ms0b"/>
          <p:cNvSpPr txBox="1"/>
          <p:nvPr/>
        </p:nvSpPr>
        <p:spPr>
          <a:xfrm>
            <a:off x="822960"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Built into Fabric. The warehouse assistant is generally available and backed by Microsoft support.</a:t>
            </a:r>
            <a:endParaRPr lang="en-US" sz="1400" dirty="0"/>
          </a:p>
        </p:txBody>
      </p:sp>
      <p:sp>
        <p:nvSpPr>
          <p:cNvPr id="9" name="a2u-ms1"/>
          <p:cNvSpPr/>
          <p:nvPr/>
        </p:nvSpPr>
        <p:spPr>
          <a:xfrm>
            <a:off x="4338828" y="1554480"/>
            <a:ext cx="3511296" cy="2103120"/>
          </a:xfrm>
          <a:prstGeom prst="roundRect">
            <a:avLst>
              <a:gd name="adj" fmla="val 5217"/>
            </a:avLst>
          </a:prstGeom>
          <a:solidFill>
            <a:schemeClr val="accent2">
              <a:alpha val="9000"/>
            </a:schemeClr>
          </a:solidFill>
          <a:ln/>
        </p:spPr>
      </p:sp>
      <p:sp>
        <p:nvSpPr>
          <p:cNvPr id="10" name="a2u-ms1c"/>
          <p:cNvSpPr/>
          <p:nvPr/>
        </p:nvSpPr>
        <p:spPr>
          <a:xfrm>
            <a:off x="4613148" y="1828800"/>
            <a:ext cx="548640" cy="548640"/>
          </a:xfrm>
          <a:prstGeom prst="ellipse">
            <a:avLst/>
          </a:prstGeom>
          <a:solidFill>
            <a:schemeClr val="accent2"/>
          </a:solidFill>
          <a:ln/>
        </p:spPr>
      </p:sp>
      <p:pic>
        <p:nvPicPr>
          <p:cNvPr id="11" name="a2u-ms1ci" descr="preencoded.png">    </p:cNvPr>
          <p:cNvPicPr>
            <a:picLocks noChangeAspect="1"/>
          </p:cNvPicPr>
          <p:nvPr/>
        </p:nvPicPr>
        <p:blipFill>
          <a:blip r:embed="rId2"/>
          <a:stretch>
            <a:fillRect/>
          </a:stretch>
        </p:blipFill>
        <p:spPr>
          <a:xfrm>
            <a:off x="4750308" y="1965960"/>
            <a:ext cx="274320" cy="274320"/>
          </a:xfrm>
          <a:prstGeom prst="rect">
            <a:avLst/>
          </a:prstGeom>
        </p:spPr>
      </p:pic>
      <p:sp>
        <p:nvSpPr>
          <p:cNvPr id="12" name="a2u-ms1h"/>
          <p:cNvSpPr txBox="1"/>
          <p:nvPr/>
        </p:nvSpPr>
        <p:spPr>
          <a:xfrm>
            <a:off x="5326380"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Nothing to install</a:t>
            </a:r>
            <a:endParaRPr lang="en-US" sz="1700" dirty="0"/>
          </a:p>
        </p:txBody>
      </p:sp>
      <p:sp>
        <p:nvSpPr>
          <p:cNvPr id="13" name="a2u-ms1b"/>
          <p:cNvSpPr txBox="1"/>
          <p:nvPr/>
        </p:nvSpPr>
        <p:spPr>
          <a:xfrm>
            <a:off x="4613148"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Runs in the browser: no local API, Python, ODBC driver or command-line tools to set up.</a:t>
            </a:r>
            <a:endParaRPr lang="en-US" sz="1400" dirty="0"/>
          </a:p>
        </p:txBody>
      </p:sp>
      <p:sp>
        <p:nvSpPr>
          <p:cNvPr id="14" name="a3u-ms2"/>
          <p:cNvSpPr/>
          <p:nvPr/>
        </p:nvSpPr>
        <p:spPr>
          <a:xfrm>
            <a:off x="8129016" y="1554480"/>
            <a:ext cx="3511296" cy="2103120"/>
          </a:xfrm>
          <a:prstGeom prst="roundRect">
            <a:avLst>
              <a:gd name="adj" fmla="val 5217"/>
            </a:avLst>
          </a:prstGeom>
          <a:solidFill>
            <a:schemeClr val="accent2">
              <a:alpha val="9000"/>
            </a:schemeClr>
          </a:solidFill>
          <a:ln/>
        </p:spPr>
      </p:sp>
      <p:sp>
        <p:nvSpPr>
          <p:cNvPr id="15" name="a3u-ms2c"/>
          <p:cNvSpPr/>
          <p:nvPr/>
        </p:nvSpPr>
        <p:spPr>
          <a:xfrm>
            <a:off x="8403336" y="1828800"/>
            <a:ext cx="548640" cy="548640"/>
          </a:xfrm>
          <a:prstGeom prst="ellipse">
            <a:avLst/>
          </a:prstGeom>
          <a:solidFill>
            <a:schemeClr val="accent2"/>
          </a:solidFill>
          <a:ln/>
        </p:spPr>
      </p:sp>
      <p:pic>
        <p:nvPicPr>
          <p:cNvPr id="16" name="a3u-ms2ci" descr="preencoded.png">    </p:cNvPr>
          <p:cNvPicPr>
            <a:picLocks noChangeAspect="1"/>
          </p:cNvPicPr>
          <p:nvPr/>
        </p:nvPicPr>
        <p:blipFill>
          <a:blip r:embed="rId3"/>
          <a:stretch>
            <a:fillRect/>
          </a:stretch>
        </p:blipFill>
        <p:spPr>
          <a:xfrm>
            <a:off x="8540496" y="1965960"/>
            <a:ext cx="274320" cy="274320"/>
          </a:xfrm>
          <a:prstGeom prst="rect">
            <a:avLst/>
          </a:prstGeom>
        </p:spPr>
      </p:pic>
      <p:sp>
        <p:nvSpPr>
          <p:cNvPr id="17" name="a3u-ms2h"/>
          <p:cNvSpPr txBox="1"/>
          <p:nvPr/>
        </p:nvSpPr>
        <p:spPr>
          <a:xfrm>
            <a:off x="9116568" y="1828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More sources</a:t>
            </a:r>
            <a:endParaRPr lang="en-US" sz="1700" dirty="0"/>
          </a:p>
        </p:txBody>
      </p:sp>
      <p:sp>
        <p:nvSpPr>
          <p:cNvPr id="18" name="a3u-ms2b"/>
          <p:cNvSpPr txBox="1"/>
          <p:nvPr/>
        </p:nvSpPr>
        <p:spPr>
          <a:xfrm>
            <a:off x="8403336" y="2514600"/>
            <a:ext cx="2962656" cy="960120"/>
          </a:xfrm>
          <a:prstGeom prst="rect">
            <a:avLst/>
          </a:prstGeom>
          <a:noFill/>
          <a:ln/>
        </p:spPr>
        <p:txBody>
          <a:bodyPr wrap="square" lIns="0" tIns="0" rIns="0" bIns="0" rtlCol="0" anchor="t"/>
          <a:lstStyle/>
          <a:p>
            <a:pPr indent="0" marL="0">
              <a:buNone/>
            </a:pPr>
            <a:r>
              <a:rPr lang="en-US" sz="1400" dirty="0">
                <a:solidFill>
                  <a:schemeClr val="tx1"/>
                </a:solidFill>
              </a:rPr>
              <a:t>SQL Server, Azure SQL and Teradata (preview), as well as Synapse dedicated pools.</a:t>
            </a:r>
            <a:endParaRPr lang="en-US" sz="1400" dirty="0"/>
          </a:p>
        </p:txBody>
      </p:sp>
      <p:sp>
        <p:nvSpPr>
          <p:cNvPr id="19" name="a4u-ms3"/>
          <p:cNvSpPr/>
          <p:nvPr/>
        </p:nvSpPr>
        <p:spPr>
          <a:xfrm>
            <a:off x="548640" y="3840480"/>
            <a:ext cx="3511296" cy="2103120"/>
          </a:xfrm>
          <a:prstGeom prst="roundRect">
            <a:avLst>
              <a:gd name="adj" fmla="val 5217"/>
            </a:avLst>
          </a:prstGeom>
          <a:solidFill>
            <a:schemeClr val="accent2">
              <a:alpha val="9000"/>
            </a:schemeClr>
          </a:solidFill>
          <a:ln/>
        </p:spPr>
      </p:sp>
      <p:sp>
        <p:nvSpPr>
          <p:cNvPr id="20" name="a4u-ms3c"/>
          <p:cNvSpPr/>
          <p:nvPr/>
        </p:nvSpPr>
        <p:spPr>
          <a:xfrm>
            <a:off x="822960" y="4114800"/>
            <a:ext cx="548640" cy="548640"/>
          </a:xfrm>
          <a:prstGeom prst="ellipse">
            <a:avLst/>
          </a:prstGeom>
          <a:solidFill>
            <a:schemeClr val="accent2"/>
          </a:solidFill>
          <a:ln/>
        </p:spPr>
      </p:sp>
      <p:pic>
        <p:nvPicPr>
          <p:cNvPr id="21" name="a4u-ms3ci" descr="preencoded.png">    </p:cNvPr>
          <p:cNvPicPr>
            <a:picLocks noChangeAspect="1"/>
          </p:cNvPicPr>
          <p:nvPr/>
        </p:nvPicPr>
        <p:blipFill>
          <a:blip r:embed="rId4"/>
          <a:stretch>
            <a:fillRect/>
          </a:stretch>
        </p:blipFill>
        <p:spPr>
          <a:xfrm>
            <a:off x="960120" y="4251960"/>
            <a:ext cx="274320" cy="274320"/>
          </a:xfrm>
          <a:prstGeom prst="rect">
            <a:avLst/>
          </a:prstGeom>
        </p:spPr>
      </p:pic>
      <p:sp>
        <p:nvSpPr>
          <p:cNvPr id="22" name="a4u-ms3h"/>
          <p:cNvSpPr txBox="1"/>
          <p:nvPr/>
        </p:nvSpPr>
        <p:spPr>
          <a:xfrm>
            <a:off x="1536192"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Copilot in the editor</a:t>
            </a:r>
            <a:endParaRPr lang="en-US" sz="1700" dirty="0"/>
          </a:p>
        </p:txBody>
      </p:sp>
      <p:sp>
        <p:nvSpPr>
          <p:cNvPr id="23" name="a4u-ms3b"/>
          <p:cNvSpPr txBox="1"/>
          <p:nvPr/>
        </p:nvSpPr>
        <p:spPr>
          <a:xfrm>
            <a:off x="822960"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Fixes query errors inside Fabric's query editor, starting with the objects others depend on.</a:t>
            </a:r>
            <a:endParaRPr lang="en-US" sz="1400" dirty="0"/>
          </a:p>
        </p:txBody>
      </p:sp>
      <p:sp>
        <p:nvSpPr>
          <p:cNvPr id="24" name="a5u-ms4"/>
          <p:cNvSpPr/>
          <p:nvPr/>
        </p:nvSpPr>
        <p:spPr>
          <a:xfrm>
            <a:off x="4338828" y="3840480"/>
            <a:ext cx="3511296" cy="2103120"/>
          </a:xfrm>
          <a:prstGeom prst="roundRect">
            <a:avLst>
              <a:gd name="adj" fmla="val 5217"/>
            </a:avLst>
          </a:prstGeom>
          <a:solidFill>
            <a:schemeClr val="accent2">
              <a:alpha val="9000"/>
            </a:schemeClr>
          </a:solidFill>
          <a:ln/>
        </p:spPr>
      </p:sp>
      <p:sp>
        <p:nvSpPr>
          <p:cNvPr id="25" name="a5u-ms4c"/>
          <p:cNvSpPr/>
          <p:nvPr/>
        </p:nvSpPr>
        <p:spPr>
          <a:xfrm>
            <a:off x="4613148" y="4114800"/>
            <a:ext cx="548640" cy="548640"/>
          </a:xfrm>
          <a:prstGeom prst="ellipse">
            <a:avLst/>
          </a:prstGeom>
          <a:solidFill>
            <a:schemeClr val="accent2"/>
          </a:solidFill>
          <a:ln/>
        </p:spPr>
      </p:sp>
      <p:pic>
        <p:nvPicPr>
          <p:cNvPr id="26" name="a5u-ms4ci" descr="preencoded.png">    </p:cNvPr>
          <p:cNvPicPr>
            <a:picLocks noChangeAspect="1"/>
          </p:cNvPicPr>
          <p:nvPr/>
        </p:nvPicPr>
        <p:blipFill>
          <a:blip r:embed="rId5"/>
          <a:stretch>
            <a:fillRect/>
          </a:stretch>
        </p:blipFill>
        <p:spPr>
          <a:xfrm>
            <a:off x="4750308" y="4251960"/>
            <a:ext cx="274320" cy="274320"/>
          </a:xfrm>
          <a:prstGeom prst="rect">
            <a:avLst/>
          </a:prstGeom>
        </p:spPr>
      </p:pic>
      <p:sp>
        <p:nvSpPr>
          <p:cNvPr id="27" name="a5u-ms4h"/>
          <p:cNvSpPr txBox="1"/>
          <p:nvPr/>
        </p:nvSpPr>
        <p:spPr>
          <a:xfrm>
            <a:off x="5326380"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Managed incremental copy</a:t>
            </a:r>
            <a:endParaRPr lang="en-US" sz="1700" dirty="0"/>
          </a:p>
        </p:txBody>
      </p:sp>
      <p:sp>
        <p:nvSpPr>
          <p:cNvPr id="28" name="a5u-ms4b"/>
          <p:cNvSpPr txBox="1"/>
          <p:nvPr/>
        </p:nvSpPr>
        <p:spPr>
          <a:xfrm>
            <a:off x="4613148"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A Copy job can keep copying changes continuously, as a Fabric-managed item.</a:t>
            </a:r>
            <a:endParaRPr lang="en-US" sz="1400" dirty="0"/>
          </a:p>
        </p:txBody>
      </p:sp>
      <p:sp>
        <p:nvSpPr>
          <p:cNvPr id="29" name="a6u-ms5"/>
          <p:cNvSpPr/>
          <p:nvPr/>
        </p:nvSpPr>
        <p:spPr>
          <a:xfrm>
            <a:off x="8129016" y="3840480"/>
            <a:ext cx="3511296" cy="2103120"/>
          </a:xfrm>
          <a:prstGeom prst="roundRect">
            <a:avLst>
              <a:gd name="adj" fmla="val 5217"/>
            </a:avLst>
          </a:prstGeom>
          <a:solidFill>
            <a:schemeClr val="accent2">
              <a:alpha val="9000"/>
            </a:schemeClr>
          </a:solidFill>
          <a:ln/>
        </p:spPr>
      </p:sp>
      <p:sp>
        <p:nvSpPr>
          <p:cNvPr id="30" name="a6u-ms5c"/>
          <p:cNvSpPr/>
          <p:nvPr/>
        </p:nvSpPr>
        <p:spPr>
          <a:xfrm>
            <a:off x="8403336" y="4114800"/>
            <a:ext cx="548640" cy="548640"/>
          </a:xfrm>
          <a:prstGeom prst="ellipse">
            <a:avLst/>
          </a:prstGeom>
          <a:solidFill>
            <a:schemeClr val="accent2"/>
          </a:solidFill>
          <a:ln/>
        </p:spPr>
      </p:sp>
      <p:pic>
        <p:nvPicPr>
          <p:cNvPr id="31" name="a6u-ms5ci" descr="preencoded.png">    </p:cNvPr>
          <p:cNvPicPr>
            <a:picLocks noChangeAspect="1"/>
          </p:cNvPicPr>
          <p:nvPr/>
        </p:nvPicPr>
        <p:blipFill>
          <a:blip r:embed="rId6"/>
          <a:stretch>
            <a:fillRect/>
          </a:stretch>
        </p:blipFill>
        <p:spPr>
          <a:xfrm>
            <a:off x="8540496" y="4251960"/>
            <a:ext cx="274320" cy="274320"/>
          </a:xfrm>
          <a:prstGeom prst="rect">
            <a:avLst/>
          </a:prstGeom>
        </p:spPr>
      </p:pic>
      <p:sp>
        <p:nvSpPr>
          <p:cNvPr id="32" name="a6u-ms5h"/>
          <p:cNvSpPr txBox="1"/>
          <p:nvPr/>
        </p:nvSpPr>
        <p:spPr>
          <a:xfrm>
            <a:off x="9116568" y="4114800"/>
            <a:ext cx="2322576"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Lake databases and folders</a:t>
            </a:r>
            <a:endParaRPr lang="en-US" sz="1700" dirty="0"/>
          </a:p>
        </p:txBody>
      </p:sp>
      <p:sp>
        <p:nvSpPr>
          <p:cNvPr id="33" name="a6u-ms5b"/>
          <p:cNvSpPr txBox="1"/>
          <p:nvPr/>
        </p:nvSpPr>
        <p:spPr>
          <a:xfrm>
            <a:off x="8403336" y="4800600"/>
            <a:ext cx="2962656" cy="960120"/>
          </a:xfrm>
          <a:prstGeom prst="rect">
            <a:avLst/>
          </a:prstGeom>
          <a:noFill/>
          <a:ln/>
        </p:spPr>
        <p:txBody>
          <a:bodyPr wrap="square" lIns="0" tIns="0" rIns="0" bIns="0" rtlCol="0" anchor="t"/>
          <a:lstStyle/>
          <a:p>
            <a:pPr indent="0" marL="0">
              <a:buNone/>
            </a:pPr>
            <a:r>
              <a:rPr lang="en-US" sz="1400" dirty="0">
                <a:solidFill>
                  <a:schemeClr val="tx1"/>
                </a:solidFill>
              </a:rPr>
              <a:t>Lake databases become Lakehouse schemas with shortcuts; notebook folders are kept.</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childTnLst>
                          </p:cTn>
                        </p:par>
                        <p:par>
                          <p:cTn id="30" fill="hold">
                            <p:stCondLst>
                              <p:cond delay="55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childTnLst>
                          </p:cTn>
                        </p:par>
                        <p:par>
                          <p:cTn id="56" fill="hold">
                            <p:stCondLst>
                              <p:cond delay="1100"/>
                            </p:stCondLst>
                            <p:childTnLst>
                              <p:par>
                                <p:cTn id="57" presetID="42"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1650"/>
                            </p:stCondLst>
                            <p:childTnLst>
                              <p:par>
                                <p:cTn id="83" presetID="42" presetClass="entr" presetSubtype="0"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550"/>
                                        <p:tgtEl>
                                          <p:spTgt spid="19"/>
                                        </p:tgtEl>
                                      </p:cBhvr>
                                    </p:animEffect>
                                    <p:anim calcmode="lin" valueType="num">
                                      <p:cBhvr>
                                        <p:cTn id="86" dur="550" fill="hold"/>
                                        <p:tgtEl>
                                          <p:spTgt spid="19"/>
                                        </p:tgtEl>
                                        <p:attrNameLst>
                                          <p:attrName>ppt_x</p:attrName>
                                        </p:attrNameLst>
                                      </p:cBhvr>
                                      <p:tavLst>
                                        <p:tav tm="0">
                                          <p:val>
                                            <p:strVal val="#ppt_x"/>
                                          </p:val>
                                        </p:tav>
                                        <p:tav tm="100000">
                                          <p:val>
                                            <p:strVal val="#ppt_x"/>
                                          </p:val>
                                        </p:tav>
                                      </p:tavLst>
                                    </p:anim>
                                    <p:anim calcmode="lin" valueType="num">
                                      <p:cBhvr>
                                        <p:cTn id="87" dur="550" fill="hold"/>
                                        <p:tgtEl>
                                          <p:spTgt spid="19"/>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50"/>
                                        <p:tgtEl>
                                          <p:spTgt spid="20"/>
                                        </p:tgtEl>
                                      </p:cBhvr>
                                    </p:animEffect>
                                    <p:anim calcmode="lin" valueType="num">
                                      <p:cBhvr>
                                        <p:cTn id="91" dur="550" fill="hold"/>
                                        <p:tgtEl>
                                          <p:spTgt spid="20"/>
                                        </p:tgtEl>
                                        <p:attrNameLst>
                                          <p:attrName>ppt_x</p:attrName>
                                        </p:attrNameLst>
                                      </p:cBhvr>
                                      <p:tavLst>
                                        <p:tav tm="0">
                                          <p:val>
                                            <p:strVal val="#ppt_x"/>
                                          </p:val>
                                        </p:tav>
                                        <p:tav tm="100000">
                                          <p:val>
                                            <p:strVal val="#ppt_x"/>
                                          </p:val>
                                        </p:tav>
                                      </p:tavLst>
                                    </p:anim>
                                    <p:anim calcmode="lin" valueType="num">
                                      <p:cBhvr>
                                        <p:cTn id="92" dur="550" fill="hold"/>
                                        <p:tgtEl>
                                          <p:spTgt spid="20"/>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50"/>
                                        <p:tgtEl>
                                          <p:spTgt spid="21"/>
                                        </p:tgtEl>
                                      </p:cBhvr>
                                    </p:animEffect>
                                    <p:anim calcmode="lin" valueType="num">
                                      <p:cBhvr>
                                        <p:cTn id="96" dur="550" fill="hold"/>
                                        <p:tgtEl>
                                          <p:spTgt spid="21"/>
                                        </p:tgtEl>
                                        <p:attrNameLst>
                                          <p:attrName>ppt_x</p:attrName>
                                        </p:attrNameLst>
                                      </p:cBhvr>
                                      <p:tavLst>
                                        <p:tav tm="0">
                                          <p:val>
                                            <p:strVal val="#ppt_x"/>
                                          </p:val>
                                        </p:tav>
                                        <p:tav tm="100000">
                                          <p:val>
                                            <p:strVal val="#ppt_x"/>
                                          </p:val>
                                        </p:tav>
                                      </p:tavLst>
                                    </p:anim>
                                    <p:anim calcmode="lin" valueType="num">
                                      <p:cBhvr>
                                        <p:cTn id="97" dur="550" fill="hold"/>
                                        <p:tgtEl>
                                          <p:spTgt spid="21"/>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550"/>
                                        <p:tgtEl>
                                          <p:spTgt spid="22"/>
                                        </p:tgtEl>
                                      </p:cBhvr>
                                    </p:animEffect>
                                    <p:anim calcmode="lin" valueType="num">
                                      <p:cBhvr>
                                        <p:cTn id="101" dur="550" fill="hold"/>
                                        <p:tgtEl>
                                          <p:spTgt spid="22"/>
                                        </p:tgtEl>
                                        <p:attrNameLst>
                                          <p:attrName>ppt_x</p:attrName>
                                        </p:attrNameLst>
                                      </p:cBhvr>
                                      <p:tavLst>
                                        <p:tav tm="0">
                                          <p:val>
                                            <p:strVal val="#ppt_x"/>
                                          </p:val>
                                        </p:tav>
                                        <p:tav tm="100000">
                                          <p:val>
                                            <p:strVal val="#ppt_x"/>
                                          </p:val>
                                        </p:tav>
                                      </p:tavLst>
                                    </p:anim>
                                    <p:anim calcmode="lin" valueType="num">
                                      <p:cBhvr>
                                        <p:cTn id="102" dur="550" fill="hold"/>
                                        <p:tgtEl>
                                          <p:spTgt spid="22"/>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550"/>
                                        <p:tgtEl>
                                          <p:spTgt spid="23"/>
                                        </p:tgtEl>
                                      </p:cBhvr>
                                    </p:animEffect>
                                    <p:anim calcmode="lin" valueType="num">
                                      <p:cBhvr>
                                        <p:cTn id="106" dur="550" fill="hold"/>
                                        <p:tgtEl>
                                          <p:spTgt spid="23"/>
                                        </p:tgtEl>
                                        <p:attrNameLst>
                                          <p:attrName>ppt_x</p:attrName>
                                        </p:attrNameLst>
                                      </p:cBhvr>
                                      <p:tavLst>
                                        <p:tav tm="0">
                                          <p:val>
                                            <p:strVal val="#ppt_x"/>
                                          </p:val>
                                        </p:tav>
                                        <p:tav tm="100000">
                                          <p:val>
                                            <p:strVal val="#ppt_x"/>
                                          </p:val>
                                        </p:tav>
                                      </p:tavLst>
                                    </p:anim>
                                    <p:anim calcmode="lin" valueType="num">
                                      <p:cBhvr>
                                        <p:cTn id="107" dur="550" fill="hold"/>
                                        <p:tgtEl>
                                          <p:spTgt spid="23"/>
                                        </p:tgtEl>
                                        <p:attrNameLst>
                                          <p:attrName>ppt_y</p:attrName>
                                        </p:attrNameLst>
                                      </p:cBhvr>
                                      <p:tavLst>
                                        <p:tav tm="0">
                                          <p:val>
                                            <p:strVal val="#ppt_y+.1"/>
                                          </p:val>
                                        </p:tav>
                                        <p:tav tm="100000">
                                          <p:val>
                                            <p:strVal val="#ppt_y"/>
                                          </p:val>
                                        </p:tav>
                                      </p:tavLst>
                                    </p:anim>
                                  </p:childTnLst>
                                </p:cTn>
                              </p:par>
                            </p:childTnLst>
                          </p:cTn>
                        </p:par>
                        <p:par>
                          <p:cTn id="108" fill="hold">
                            <p:stCondLst>
                              <p:cond delay="2200"/>
                            </p:stCondLst>
                            <p:childTnLst>
                              <p:par>
                                <p:cTn id="109" presetID="42" presetClass="entr" presetSubtype="0" fill="hold" grpId="0" nodeType="afterEffect">
                                  <p:stCondLst>
                                    <p:cond delay="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550"/>
                                        <p:tgtEl>
                                          <p:spTgt spid="24"/>
                                        </p:tgtEl>
                                      </p:cBhvr>
                                    </p:animEffect>
                                    <p:anim calcmode="lin" valueType="num">
                                      <p:cBhvr>
                                        <p:cTn id="112" dur="550" fill="hold"/>
                                        <p:tgtEl>
                                          <p:spTgt spid="24"/>
                                        </p:tgtEl>
                                        <p:attrNameLst>
                                          <p:attrName>ppt_x</p:attrName>
                                        </p:attrNameLst>
                                      </p:cBhvr>
                                      <p:tavLst>
                                        <p:tav tm="0">
                                          <p:val>
                                            <p:strVal val="#ppt_x"/>
                                          </p:val>
                                        </p:tav>
                                        <p:tav tm="100000">
                                          <p:val>
                                            <p:strVal val="#ppt_x"/>
                                          </p:val>
                                        </p:tav>
                                      </p:tavLst>
                                    </p:anim>
                                    <p:anim calcmode="lin" valueType="num">
                                      <p:cBhvr>
                                        <p:cTn id="113" dur="550" fill="hold"/>
                                        <p:tgtEl>
                                          <p:spTgt spid="24"/>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550"/>
                                        <p:tgtEl>
                                          <p:spTgt spid="25"/>
                                        </p:tgtEl>
                                      </p:cBhvr>
                                    </p:animEffect>
                                    <p:anim calcmode="lin" valueType="num">
                                      <p:cBhvr>
                                        <p:cTn id="117" dur="550" fill="hold"/>
                                        <p:tgtEl>
                                          <p:spTgt spid="25"/>
                                        </p:tgtEl>
                                        <p:attrNameLst>
                                          <p:attrName>ppt_x</p:attrName>
                                        </p:attrNameLst>
                                      </p:cBhvr>
                                      <p:tavLst>
                                        <p:tav tm="0">
                                          <p:val>
                                            <p:strVal val="#ppt_x"/>
                                          </p:val>
                                        </p:tav>
                                        <p:tav tm="100000">
                                          <p:val>
                                            <p:strVal val="#ppt_x"/>
                                          </p:val>
                                        </p:tav>
                                      </p:tavLst>
                                    </p:anim>
                                    <p:anim calcmode="lin" valueType="num">
                                      <p:cBhvr>
                                        <p:cTn id="118" dur="550" fill="hold"/>
                                        <p:tgtEl>
                                          <p:spTgt spid="25"/>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550"/>
                                        <p:tgtEl>
                                          <p:spTgt spid="26"/>
                                        </p:tgtEl>
                                      </p:cBhvr>
                                    </p:animEffect>
                                    <p:anim calcmode="lin" valueType="num">
                                      <p:cBhvr>
                                        <p:cTn id="122" dur="550" fill="hold"/>
                                        <p:tgtEl>
                                          <p:spTgt spid="26"/>
                                        </p:tgtEl>
                                        <p:attrNameLst>
                                          <p:attrName>ppt_x</p:attrName>
                                        </p:attrNameLst>
                                      </p:cBhvr>
                                      <p:tavLst>
                                        <p:tav tm="0">
                                          <p:val>
                                            <p:strVal val="#ppt_x"/>
                                          </p:val>
                                        </p:tav>
                                        <p:tav tm="100000">
                                          <p:val>
                                            <p:strVal val="#ppt_x"/>
                                          </p:val>
                                        </p:tav>
                                      </p:tavLst>
                                    </p:anim>
                                    <p:anim calcmode="lin" valueType="num">
                                      <p:cBhvr>
                                        <p:cTn id="123" dur="550" fill="hold"/>
                                        <p:tgtEl>
                                          <p:spTgt spid="26"/>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550"/>
                                        <p:tgtEl>
                                          <p:spTgt spid="27"/>
                                        </p:tgtEl>
                                      </p:cBhvr>
                                    </p:animEffect>
                                    <p:anim calcmode="lin" valueType="num">
                                      <p:cBhvr>
                                        <p:cTn id="127" dur="550" fill="hold"/>
                                        <p:tgtEl>
                                          <p:spTgt spid="27"/>
                                        </p:tgtEl>
                                        <p:attrNameLst>
                                          <p:attrName>ppt_x</p:attrName>
                                        </p:attrNameLst>
                                      </p:cBhvr>
                                      <p:tavLst>
                                        <p:tav tm="0">
                                          <p:val>
                                            <p:strVal val="#ppt_x"/>
                                          </p:val>
                                        </p:tav>
                                        <p:tav tm="100000">
                                          <p:val>
                                            <p:strVal val="#ppt_x"/>
                                          </p:val>
                                        </p:tav>
                                      </p:tavLst>
                                    </p:anim>
                                    <p:anim calcmode="lin" valueType="num">
                                      <p:cBhvr>
                                        <p:cTn id="128" dur="550" fill="hold"/>
                                        <p:tgtEl>
                                          <p:spTgt spid="27"/>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550"/>
                                        <p:tgtEl>
                                          <p:spTgt spid="28"/>
                                        </p:tgtEl>
                                      </p:cBhvr>
                                    </p:animEffect>
                                    <p:anim calcmode="lin" valueType="num">
                                      <p:cBhvr>
                                        <p:cTn id="132" dur="550" fill="hold"/>
                                        <p:tgtEl>
                                          <p:spTgt spid="28"/>
                                        </p:tgtEl>
                                        <p:attrNameLst>
                                          <p:attrName>ppt_x</p:attrName>
                                        </p:attrNameLst>
                                      </p:cBhvr>
                                      <p:tavLst>
                                        <p:tav tm="0">
                                          <p:val>
                                            <p:strVal val="#ppt_x"/>
                                          </p:val>
                                        </p:tav>
                                        <p:tav tm="100000">
                                          <p:val>
                                            <p:strVal val="#ppt_x"/>
                                          </p:val>
                                        </p:tav>
                                      </p:tavLst>
                                    </p:anim>
                                    <p:anim calcmode="lin" valueType="num">
                                      <p:cBhvr>
                                        <p:cTn id="133" dur="550" fill="hold"/>
                                        <p:tgtEl>
                                          <p:spTgt spid="28"/>
                                        </p:tgtEl>
                                        <p:attrNameLst>
                                          <p:attrName>ppt_y</p:attrName>
                                        </p:attrNameLst>
                                      </p:cBhvr>
                                      <p:tavLst>
                                        <p:tav tm="0">
                                          <p:val>
                                            <p:strVal val="#ppt_y+.1"/>
                                          </p:val>
                                        </p:tav>
                                        <p:tav tm="100000">
                                          <p:val>
                                            <p:strVal val="#ppt_y"/>
                                          </p:val>
                                        </p:tav>
                                      </p:tavLst>
                                    </p:anim>
                                  </p:childTnLst>
                                </p:cTn>
                              </p:par>
                            </p:childTnLst>
                          </p:cTn>
                        </p:par>
                        <p:par>
                          <p:cTn id="134" fill="hold">
                            <p:stCondLst>
                              <p:cond delay="2750"/>
                            </p:stCondLst>
                            <p:childTnLst>
                              <p:par>
                                <p:cTn id="135" presetID="42" presetClass="entr" presetSubtype="0" fill="hold" grpId="0" nodeType="afterEffect">
                                  <p:stCondLst>
                                    <p:cond delay="0"/>
                                  </p:stCondLst>
                                  <p:childTnLst>
                                    <p:set>
                                      <p:cBhvr>
                                        <p:cTn id="136" dur="1" fill="hold">
                                          <p:stCondLst>
                                            <p:cond delay="0"/>
                                          </p:stCondLst>
                                        </p:cTn>
                                        <p:tgtEl>
                                          <p:spTgt spid="29"/>
                                        </p:tgtEl>
                                        <p:attrNameLst>
                                          <p:attrName>style.visibility</p:attrName>
                                        </p:attrNameLst>
                                      </p:cBhvr>
                                      <p:to>
                                        <p:strVal val="visible"/>
                                      </p:to>
                                    </p:set>
                                    <p:animEffect transition="in" filter="fade">
                                      <p:cBhvr>
                                        <p:cTn id="137" dur="550"/>
                                        <p:tgtEl>
                                          <p:spTgt spid="29"/>
                                        </p:tgtEl>
                                      </p:cBhvr>
                                    </p:animEffect>
                                    <p:anim calcmode="lin" valueType="num">
                                      <p:cBhvr>
                                        <p:cTn id="138" dur="550" fill="hold"/>
                                        <p:tgtEl>
                                          <p:spTgt spid="29"/>
                                        </p:tgtEl>
                                        <p:attrNameLst>
                                          <p:attrName>ppt_x</p:attrName>
                                        </p:attrNameLst>
                                      </p:cBhvr>
                                      <p:tavLst>
                                        <p:tav tm="0">
                                          <p:val>
                                            <p:strVal val="#ppt_x"/>
                                          </p:val>
                                        </p:tav>
                                        <p:tav tm="100000">
                                          <p:val>
                                            <p:strVal val="#ppt_x"/>
                                          </p:val>
                                        </p:tav>
                                      </p:tavLst>
                                    </p:anim>
                                    <p:anim calcmode="lin" valueType="num">
                                      <p:cBhvr>
                                        <p:cTn id="139" dur="550" fill="hold"/>
                                        <p:tgtEl>
                                          <p:spTgt spid="29"/>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550"/>
                                        <p:tgtEl>
                                          <p:spTgt spid="30"/>
                                        </p:tgtEl>
                                      </p:cBhvr>
                                    </p:animEffect>
                                    <p:anim calcmode="lin" valueType="num">
                                      <p:cBhvr>
                                        <p:cTn id="143" dur="550" fill="hold"/>
                                        <p:tgtEl>
                                          <p:spTgt spid="30"/>
                                        </p:tgtEl>
                                        <p:attrNameLst>
                                          <p:attrName>ppt_x</p:attrName>
                                        </p:attrNameLst>
                                      </p:cBhvr>
                                      <p:tavLst>
                                        <p:tav tm="0">
                                          <p:val>
                                            <p:strVal val="#ppt_x"/>
                                          </p:val>
                                        </p:tav>
                                        <p:tav tm="100000">
                                          <p:val>
                                            <p:strVal val="#ppt_x"/>
                                          </p:val>
                                        </p:tav>
                                      </p:tavLst>
                                    </p:anim>
                                    <p:anim calcmode="lin" valueType="num">
                                      <p:cBhvr>
                                        <p:cTn id="144" dur="550" fill="hold"/>
                                        <p:tgtEl>
                                          <p:spTgt spid="30"/>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550"/>
                                        <p:tgtEl>
                                          <p:spTgt spid="31"/>
                                        </p:tgtEl>
                                      </p:cBhvr>
                                    </p:animEffect>
                                    <p:anim calcmode="lin" valueType="num">
                                      <p:cBhvr>
                                        <p:cTn id="148" dur="550" fill="hold"/>
                                        <p:tgtEl>
                                          <p:spTgt spid="31"/>
                                        </p:tgtEl>
                                        <p:attrNameLst>
                                          <p:attrName>ppt_x</p:attrName>
                                        </p:attrNameLst>
                                      </p:cBhvr>
                                      <p:tavLst>
                                        <p:tav tm="0">
                                          <p:val>
                                            <p:strVal val="#ppt_x"/>
                                          </p:val>
                                        </p:tav>
                                        <p:tav tm="100000">
                                          <p:val>
                                            <p:strVal val="#ppt_x"/>
                                          </p:val>
                                        </p:tav>
                                      </p:tavLst>
                                    </p:anim>
                                    <p:anim calcmode="lin" valueType="num">
                                      <p:cBhvr>
                                        <p:cTn id="149" dur="550" fill="hold"/>
                                        <p:tgtEl>
                                          <p:spTgt spid="31"/>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2"/>
                                        </p:tgtEl>
                                        <p:attrNameLst>
                                          <p:attrName>style.visibility</p:attrName>
                                        </p:attrNameLst>
                                      </p:cBhvr>
                                      <p:to>
                                        <p:strVal val="visible"/>
                                      </p:to>
                                    </p:set>
                                    <p:animEffect transition="in" filter="fade">
                                      <p:cBhvr>
                                        <p:cTn id="152" dur="550"/>
                                        <p:tgtEl>
                                          <p:spTgt spid="32"/>
                                        </p:tgtEl>
                                      </p:cBhvr>
                                    </p:animEffect>
                                    <p:anim calcmode="lin" valueType="num">
                                      <p:cBhvr>
                                        <p:cTn id="153" dur="550" fill="hold"/>
                                        <p:tgtEl>
                                          <p:spTgt spid="32"/>
                                        </p:tgtEl>
                                        <p:attrNameLst>
                                          <p:attrName>ppt_x</p:attrName>
                                        </p:attrNameLst>
                                      </p:cBhvr>
                                      <p:tavLst>
                                        <p:tav tm="0">
                                          <p:val>
                                            <p:strVal val="#ppt_x"/>
                                          </p:val>
                                        </p:tav>
                                        <p:tav tm="100000">
                                          <p:val>
                                            <p:strVal val="#ppt_x"/>
                                          </p:val>
                                        </p:tav>
                                      </p:tavLst>
                                    </p:anim>
                                    <p:anim calcmode="lin" valueType="num">
                                      <p:cBhvr>
                                        <p:cTn id="154" dur="550" fill="hold"/>
                                        <p:tgtEl>
                                          <p:spTgt spid="32"/>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3"/>
                                        </p:tgtEl>
                                        <p:attrNameLst>
                                          <p:attrName>style.visibility</p:attrName>
                                        </p:attrNameLst>
                                      </p:cBhvr>
                                      <p:to>
                                        <p:strVal val="visible"/>
                                      </p:to>
                                    </p:set>
                                    <p:animEffect transition="in" filter="fade">
                                      <p:cBhvr>
                                        <p:cTn id="157" dur="550"/>
                                        <p:tgtEl>
                                          <p:spTgt spid="33"/>
                                        </p:tgtEl>
                                      </p:cBhvr>
                                    </p:animEffect>
                                    <p:anim calcmode="lin" valueType="num">
                                      <p:cBhvr>
                                        <p:cTn id="158" dur="550" fill="hold"/>
                                        <p:tgtEl>
                                          <p:spTgt spid="33"/>
                                        </p:tgtEl>
                                        <p:attrNameLst>
                                          <p:attrName>ppt_x</p:attrName>
                                        </p:attrNameLst>
                                      </p:cBhvr>
                                      <p:tavLst>
                                        <p:tav tm="0">
                                          <p:val>
                                            <p:strVal val="#ppt_x"/>
                                          </p:val>
                                        </p:tav>
                                        <p:tav tm="100000">
                                          <p:val>
                                            <p:strVal val="#ppt_x"/>
                                          </p:val>
                                        </p:tav>
                                      </p:tavLst>
                                    </p:anim>
                                    <p:anim calcmode="lin" valueType="num">
                                      <p:cBhvr>
                                        <p:cTn id="159" dur="55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Warehouse migration, side by side</a:t>
            </a:r>
            <a:endParaRPr lang="en-US" sz="3200" dirty="0"/>
          </a:p>
        </p:txBody>
      </p:sp>
      <p:graphicFrame>
        <p:nvGraphicFramePr>
          <p:cNvPr id="19" name="a1f-table"/>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331720"/>
                <a:gridCol w="4379976"/>
                <a:gridCol w="4379976"/>
              </a:tblGrid>
              <a:tr h="457200">
                <a:tc>
                  <a:txBody>
                    <a:bodyPr/>
                    <a:lstStyle/>
                    <a:p>
                      <a:pPr indent="0" marL="0">
                        <a:buNone/>
                      </a:pP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2545"/>
                    </a:solidFill>
                  </a:tcPr>
                </a:tc>
                <a:tc>
                  <a:txBody>
                    <a:bodyPr/>
                    <a:lstStyle/>
                    <a:p>
                      <a:pPr indent="0" marL="0">
                        <a:buNone/>
                      </a:pPr>
                      <a:r>
                        <a:rPr lang="en-US" sz="1400" b="1" dirty="0">
                          <a:solidFill>
                            <a:schemeClr val="bg1"/>
                          </a:solidFill>
                        </a:rPr>
                        <a:t>Our accelerator</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0B7F70"/>
                    </a:solidFill>
                  </a:tcPr>
                </a:tc>
                <a:tc>
                  <a:txBody>
                    <a:bodyPr/>
                    <a:lstStyle/>
                    <a:p>
                      <a:pPr indent="0" marL="0">
                        <a:buNone/>
                      </a:pPr>
                      <a:r>
                        <a:rPr lang="en-US" sz="1400" b="1" dirty="0">
                          <a:solidFill>
                            <a:schemeClr val="bg1"/>
                          </a:solidFill>
                        </a:rPr>
                        <a:t>Microsoft Warehouse assistant</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4157D6"/>
                    </a:solidFill>
                  </a:tcPr>
                </a:tc>
              </a:tr>
              <a:tr h="411480">
                <a:tc>
                  <a:txBody>
                    <a:bodyPr/>
                    <a:lstStyle/>
                    <a:p>
                      <a:pPr indent="0" marL="0">
                        <a:buNone/>
                      </a:pPr>
                      <a:r>
                        <a:rPr lang="en-US" sz="1400" b="1" dirty="0">
                          <a:solidFill>
                            <a:schemeClr val="tx2"/>
                          </a:solidFill>
                        </a:rPr>
                        <a:t>Reading the source</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Live pool catalog, 16 fixed read-only queries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Upload a DACPAC, or connect live</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Collation</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As Synapse, case-insensitive or case-sensitive</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Always case-insensitive</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IDENTITY columns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Kept; existing key values loaded, then reseeded</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Listed as a limitation</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External tables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Become OneLake shortcuts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Not supported</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Fixing failures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Rules first; LLM drafts reviewed per object</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Fix problems list, with Copilot</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Copying data</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Part of the run, row counts compared</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A separate Copy job step</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Proving it works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Automatic comparison, plus runs in Fabric</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Manual testing in your own tools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Re-pointing consumers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Pipelines already point at the Warehouse</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2F1EE"/>
                    </a:solidFill>
                  </a:tcPr>
                </a:tc>
                <a:tc>
                  <a:txBody>
                    <a:bodyPr/>
                    <a:lstStyle/>
                    <a:p>
                      <a:pPr indent="0" marL="0">
                        <a:buNone/>
                      </a:pPr>
                      <a:r>
                        <a:rPr lang="en-US" sz="1400" dirty="0">
                          <a:solidFill>
                            <a:schemeClr val="tx1"/>
                          </a:solidFill>
                        </a:rPr>
                        <a:t>Manual: find sessions, update connections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chemeClr val="tx2"/>
                          </a:solidFill>
                        </a:rPr>
                        <a:t>Sources</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EF3F7"/>
                    </a:solidFill>
                  </a:tcPr>
                </a:tc>
                <a:tc>
                  <a:txBody>
                    <a:bodyPr/>
                    <a:lstStyle/>
                    <a:p>
                      <a:pPr indent="0" marL="0">
                        <a:buNone/>
                      </a:pPr>
                      <a:r>
                        <a:rPr lang="en-US" sz="1400" dirty="0">
                          <a:solidFill>
                            <a:schemeClr val="tx1"/>
                          </a:solidFill>
                        </a:rPr>
                        <a:t>Synapse only; others on the roadmap</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Also SQL Server, Azure SQL, Teradata (preview)</a:t>
                      </a:r>
                      <a:endParaRPr lang="en-US" sz="1400" dirty="0"/>
                    </a:p>
                  </a:txBody>
                  <a:tcPr marL="109728" marR="109728" marT="36576" marB="36576" anchor="ctr">
                    <a:lnL w="9525" cap="flat" cmpd="sng" algn="ctr">
                      <a:solidFill>
                        <a:srgbClr val="D5DCE4"/>
                      </a:solidFill>
                      <a:prstDash val="solid"/>
                      <a:round/>
                      <a:headEnd type="none" w="med" len="med"/>
                      <a:tailEnd type="none" w="med" len="med"/>
                    </a:lnL>
                    <a:lnR w="9525" cap="flat" cmpd="sng" algn="ctr">
                      <a:solidFill>
                        <a:srgbClr val="D5DCE4"/>
                      </a:solidFill>
                      <a:prstDash val="solid"/>
                      <a:round/>
                      <a:headEnd type="none" w="med" len="med"/>
                      <a:tailEnd type="none" w="med" len="med"/>
                    </a:lnR>
                    <a:lnT w="9525" cap="flat" cmpd="sng" algn="ctr">
                      <a:solidFill>
                        <a:srgbClr val="D5DCE4"/>
                      </a:solidFill>
                      <a:prstDash val="solid"/>
                      <a:round/>
                      <a:headEnd type="none" w="med" len="med"/>
                      <a:tailEnd type="none" w="med" len="med"/>
                    </a:lnT>
                    <a:lnB w="9525" cap="flat" cmpd="sng" algn="ctr">
                      <a:solidFill>
                        <a:srgbClr val="D5DCE4"/>
                      </a:solidFill>
                      <a:prstDash val="solid"/>
                      <a:round/>
                      <a:headEnd type="none" w="med" len="med"/>
                      <a:tailEnd type="none" w="med" len="med"/>
                    </a:lnB>
                    <a:solidFill>
                      <a:srgbClr val="E6EAFB"/>
                    </a:solidFill>
                  </a:tcPr>
                </a:tc>
              </a:tr>
            </a:tbl>
          </a:graphicData>
        </a:graphic>
      </p:graphicFrame>
      <p:sp>
        <p:nvSpPr>
          <p:cNvPr id="5" name="a2f-legend"/>
          <p:cNvSpPr txBox="1"/>
          <p:nvPr/>
        </p:nvSpPr>
        <p:spPr>
          <a:xfrm>
            <a:off x="548640" y="5833872"/>
            <a:ext cx="11094415" cy="274320"/>
          </a:xfrm>
          <a:prstGeom prst="rect">
            <a:avLst/>
          </a:prstGeom>
          <a:noFill/>
          <a:ln/>
        </p:spPr>
        <p:txBody>
          <a:bodyPr wrap="square" lIns="0" tIns="0" rIns="0" bIns="0" rtlCol="0" anchor="t"/>
          <a:lstStyle/>
          <a:p>
            <a:pPr indent="0" marL="0">
              <a:buNone/>
            </a:pPr>
            <a:r>
              <a:rPr lang="en-US" sz="1200" dirty="0">
                <a:solidFill>
                  <a:schemeClr val="accent6"/>
                </a:solidFill>
              </a:rPr>
              <a:t>Shaded cells mark the stronger side for that row.</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50"/>
                                        <p:tgtEl>
                                          <p:spTgt spid="19"/>
                                        </p:tgtEl>
                                      </p:cBhvr>
                                    </p:animEffect>
                                  </p:childTnLst>
                                </p:cTn>
                              </p:par>
                            </p:childTnLst>
                          </p:cTn>
                        </p:par>
                        <p:par>
                          <p:cTn id="8" fill="hold">
                            <p:stCondLst>
                              <p:cond delay="45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9" grpId="0">
        <p:bldAsOne/>
      </p:bldGraphic>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02 · HEAD-TO-HEAD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Two approaches to AI assistance</a:t>
            </a:r>
            <a:endParaRPr lang="en-US" sz="3200" dirty="0"/>
          </a:p>
        </p:txBody>
      </p:sp>
      <p:sp>
        <p:nvSpPr>
          <p:cNvPr id="4" name="a1f-ai0"/>
          <p:cNvSpPr/>
          <p:nvPr/>
        </p:nvSpPr>
        <p:spPr>
          <a:xfrm>
            <a:off x="548640" y="1554480"/>
            <a:ext cx="5449824" cy="3886200"/>
          </a:xfrm>
          <a:prstGeom prst="roundRect">
            <a:avLst>
              <a:gd name="adj" fmla="val 2824"/>
            </a:avLst>
          </a:prstGeom>
          <a:solidFill>
            <a:schemeClr val="accent2">
              <a:alpha val="9000"/>
            </a:schemeClr>
          </a:solidFill>
          <a:ln/>
        </p:spPr>
      </p:sp>
      <p:sp>
        <p:nvSpPr>
          <p:cNvPr id="5" name="a1f-ai0c"/>
          <p:cNvSpPr/>
          <p:nvPr/>
        </p:nvSpPr>
        <p:spPr>
          <a:xfrm>
            <a:off x="822960" y="1755648"/>
            <a:ext cx="548640" cy="548640"/>
          </a:xfrm>
          <a:prstGeom prst="ellipse">
            <a:avLst/>
          </a:prstGeom>
          <a:solidFill>
            <a:schemeClr val="accent2"/>
          </a:solidFill>
          <a:ln/>
        </p:spPr>
      </p:sp>
      <p:pic>
        <p:nvPicPr>
          <p:cNvPr id="6" name="a1f-ai0ci" descr="preencoded.png">    </p:cNvPr>
          <p:cNvPicPr>
            <a:picLocks noChangeAspect="1"/>
          </p:cNvPicPr>
          <p:nvPr/>
        </p:nvPicPr>
        <p:blipFill>
          <a:blip r:embed="rId1"/>
          <a:stretch>
            <a:fillRect/>
          </a:stretch>
        </p:blipFill>
        <p:spPr>
          <a:xfrm>
            <a:off x="960120" y="1892808"/>
            <a:ext cx="274320" cy="274320"/>
          </a:xfrm>
          <a:prstGeom prst="rect">
            <a:avLst/>
          </a:prstGeom>
        </p:spPr>
      </p:pic>
      <p:sp>
        <p:nvSpPr>
          <p:cNvPr id="7" name="a1f-ai0h"/>
          <p:cNvSpPr txBox="1"/>
          <p:nvPr/>
        </p:nvSpPr>
        <p:spPr>
          <a:xfrm>
            <a:off x="1508760" y="1755648"/>
            <a:ext cx="4297680"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Microsoft: Copilot “Fix query errors”</a:t>
            </a:r>
            <a:endParaRPr lang="en-US" sz="1700" dirty="0"/>
          </a:p>
        </p:txBody>
      </p:sp>
      <p:sp>
        <p:nvSpPr>
          <p:cNvPr id="8" name="a1f-ai0l0"/>
          <p:cNvSpPr txBox="1"/>
          <p:nvPr/>
        </p:nvSpPr>
        <p:spPr>
          <a:xfrm>
            <a:off x="822960" y="2514600"/>
            <a:ext cx="1143000" cy="640080"/>
          </a:xfrm>
          <a:prstGeom prst="rect">
            <a:avLst/>
          </a:prstGeom>
          <a:noFill/>
          <a:ln/>
        </p:spPr>
        <p:txBody>
          <a:bodyPr wrap="square" lIns="0" tIns="0" rIns="0" bIns="0" rtlCol="0" anchor="t"/>
          <a:lstStyle/>
          <a:p>
            <a:pPr indent="0" marL="0">
              <a:buNone/>
            </a:pPr>
            <a:r>
              <a:rPr lang="en-US" sz="1300" b="1" dirty="0">
                <a:solidFill>
                  <a:schemeClr val="accent2"/>
                </a:solidFill>
              </a:rPr>
              <a:t>Scope</a:t>
            </a:r>
            <a:endParaRPr lang="en-US" sz="1300" dirty="0"/>
          </a:p>
        </p:txBody>
      </p:sp>
      <p:sp>
        <p:nvSpPr>
          <p:cNvPr id="9" name="a1f-ai0r0"/>
          <p:cNvSpPr txBox="1"/>
          <p:nvPr/>
        </p:nvSpPr>
        <p:spPr>
          <a:xfrm>
            <a:off x="2011680" y="2514600"/>
            <a:ext cx="3794760" cy="685800"/>
          </a:xfrm>
          <a:prstGeom prst="rect">
            <a:avLst/>
          </a:prstGeom>
          <a:noFill/>
          <a:ln/>
        </p:spPr>
        <p:txBody>
          <a:bodyPr wrap="square" lIns="0" tIns="0" rIns="0" bIns="0" rtlCol="0" anchor="t"/>
          <a:lstStyle/>
          <a:p>
            <a:pPr indent="0" marL="0">
              <a:buNone/>
            </a:pPr>
            <a:r>
              <a:rPr lang="en-US" sz="1350" dirty="0">
                <a:solidFill>
                  <a:schemeClr val="tx1"/>
                </a:solidFill>
              </a:rPr>
              <a:t>T-SQL that failed to migrate into the warehouse</a:t>
            </a:r>
            <a:endParaRPr lang="en-US" sz="1350" dirty="0"/>
          </a:p>
        </p:txBody>
      </p:sp>
      <p:sp>
        <p:nvSpPr>
          <p:cNvPr id="10" name="a1f-ai0l1"/>
          <p:cNvSpPr txBox="1"/>
          <p:nvPr/>
        </p:nvSpPr>
        <p:spPr>
          <a:xfrm>
            <a:off x="822960" y="3246120"/>
            <a:ext cx="1143000" cy="640080"/>
          </a:xfrm>
          <a:prstGeom prst="rect">
            <a:avLst/>
          </a:prstGeom>
          <a:noFill/>
          <a:ln/>
        </p:spPr>
        <p:txBody>
          <a:bodyPr wrap="square" lIns="0" tIns="0" rIns="0" bIns="0" rtlCol="0" anchor="t"/>
          <a:lstStyle/>
          <a:p>
            <a:pPr indent="0" marL="0">
              <a:buNone/>
            </a:pPr>
            <a:r>
              <a:rPr lang="en-US" sz="1300" b="1" dirty="0">
                <a:solidFill>
                  <a:schemeClr val="accent2"/>
                </a:solidFill>
              </a:rPr>
              <a:t>Where</a:t>
            </a:r>
            <a:endParaRPr lang="en-US" sz="1300" dirty="0"/>
          </a:p>
        </p:txBody>
      </p:sp>
      <p:sp>
        <p:nvSpPr>
          <p:cNvPr id="11" name="a1f-ai0r1"/>
          <p:cNvSpPr txBox="1"/>
          <p:nvPr/>
        </p:nvSpPr>
        <p:spPr>
          <a:xfrm>
            <a:off x="2011680" y="3246120"/>
            <a:ext cx="3794760" cy="685800"/>
          </a:xfrm>
          <a:prstGeom prst="rect">
            <a:avLst/>
          </a:prstGeom>
          <a:noFill/>
          <a:ln/>
        </p:spPr>
        <p:txBody>
          <a:bodyPr wrap="square" lIns="0" tIns="0" rIns="0" bIns="0" rtlCol="0" anchor="t"/>
          <a:lstStyle/>
          <a:p>
            <a:pPr indent="0" marL="0">
              <a:buNone/>
            </a:pPr>
            <a:r>
              <a:rPr lang="en-US" sz="1350" dirty="0">
                <a:solidFill>
                  <a:schemeClr val="tx1"/>
                </a:solidFill>
              </a:rPr>
              <a:t>Fabric's query editor, one object at a time</a:t>
            </a:r>
            <a:endParaRPr lang="en-US" sz="1350" dirty="0"/>
          </a:p>
        </p:txBody>
      </p:sp>
      <p:sp>
        <p:nvSpPr>
          <p:cNvPr id="12" name="a1f-ai0l2"/>
          <p:cNvSpPr txBox="1"/>
          <p:nvPr/>
        </p:nvSpPr>
        <p:spPr>
          <a:xfrm>
            <a:off x="822960" y="3977640"/>
            <a:ext cx="1143000" cy="640080"/>
          </a:xfrm>
          <a:prstGeom prst="rect">
            <a:avLst/>
          </a:prstGeom>
          <a:noFill/>
          <a:ln/>
        </p:spPr>
        <p:txBody>
          <a:bodyPr wrap="square" lIns="0" tIns="0" rIns="0" bIns="0" rtlCol="0" anchor="t"/>
          <a:lstStyle/>
          <a:p>
            <a:pPr indent="0" marL="0">
              <a:buNone/>
            </a:pPr>
            <a:r>
              <a:rPr lang="en-US" sz="1300" b="1" dirty="0">
                <a:solidFill>
                  <a:schemeClr val="accent2"/>
                </a:solidFill>
              </a:rPr>
              <a:t>Needs</a:t>
            </a:r>
            <a:endParaRPr lang="en-US" sz="1300" dirty="0"/>
          </a:p>
        </p:txBody>
      </p:sp>
      <p:sp>
        <p:nvSpPr>
          <p:cNvPr id="13" name="a1f-ai0r2"/>
          <p:cNvSpPr txBox="1"/>
          <p:nvPr/>
        </p:nvSpPr>
        <p:spPr>
          <a:xfrm>
            <a:off x="2011680" y="3977640"/>
            <a:ext cx="3794760" cy="685800"/>
          </a:xfrm>
          <a:prstGeom prst="rect">
            <a:avLst/>
          </a:prstGeom>
          <a:noFill/>
          <a:ln/>
        </p:spPr>
        <p:txBody>
          <a:bodyPr wrap="square" lIns="0" tIns="0" rIns="0" bIns="0" rtlCol="0" anchor="t"/>
          <a:lstStyle/>
          <a:p>
            <a:pPr indent="0" marL="0">
              <a:buNone/>
            </a:pPr>
            <a:r>
              <a:rPr lang="en-US" sz="1350" dirty="0">
                <a:solidFill>
                  <a:schemeClr val="tx1"/>
                </a:solidFill>
              </a:rPr>
              <a:t>Copilot switched on for the tenant, and a paid F2 or P1 capacity or larger (not a trial)</a:t>
            </a:r>
            <a:endParaRPr lang="en-US" sz="1350" dirty="0"/>
          </a:p>
        </p:txBody>
      </p:sp>
      <p:sp>
        <p:nvSpPr>
          <p:cNvPr id="14" name="a1f-ai0l3"/>
          <p:cNvSpPr txBox="1"/>
          <p:nvPr/>
        </p:nvSpPr>
        <p:spPr>
          <a:xfrm>
            <a:off x="822960" y="4709160"/>
            <a:ext cx="1143000" cy="640080"/>
          </a:xfrm>
          <a:prstGeom prst="rect">
            <a:avLst/>
          </a:prstGeom>
          <a:noFill/>
          <a:ln/>
        </p:spPr>
        <p:txBody>
          <a:bodyPr wrap="square" lIns="0" tIns="0" rIns="0" bIns="0" rtlCol="0" anchor="t"/>
          <a:lstStyle/>
          <a:p>
            <a:pPr indent="0" marL="0">
              <a:buNone/>
            </a:pPr>
            <a:r>
              <a:rPr lang="en-US" sz="1300" b="1" dirty="0">
                <a:solidFill>
                  <a:schemeClr val="accent2"/>
                </a:solidFill>
              </a:rPr>
              <a:t>Review</a:t>
            </a:r>
            <a:endParaRPr lang="en-US" sz="1300" dirty="0"/>
          </a:p>
        </p:txBody>
      </p:sp>
      <p:sp>
        <p:nvSpPr>
          <p:cNvPr id="15" name="a1f-ai0r3"/>
          <p:cNvSpPr txBox="1"/>
          <p:nvPr/>
        </p:nvSpPr>
        <p:spPr>
          <a:xfrm>
            <a:off x="2011680" y="4709160"/>
            <a:ext cx="3794760" cy="685800"/>
          </a:xfrm>
          <a:prstGeom prst="rect">
            <a:avLst/>
          </a:prstGeom>
          <a:noFill/>
          <a:ln/>
        </p:spPr>
        <p:txBody>
          <a:bodyPr wrap="square" lIns="0" tIns="0" rIns="0" bIns="0" rtlCol="0" anchor="t"/>
          <a:lstStyle/>
          <a:p>
            <a:pPr indent="0" marL="0">
              <a:buNone/>
            </a:pPr>
            <a:r>
              <a:rPr lang="en-US" sz="1350" dirty="0">
                <a:solidFill>
                  <a:schemeClr val="tx1"/>
                </a:solidFill>
              </a:rPr>
              <a:t>Copilot comments its changes; you run the script to validate it</a:t>
            </a:r>
            <a:endParaRPr lang="en-US" sz="1350" dirty="0"/>
          </a:p>
        </p:txBody>
      </p:sp>
      <p:sp>
        <p:nvSpPr>
          <p:cNvPr id="16" name="a2f-ai1"/>
          <p:cNvSpPr/>
          <p:nvPr/>
        </p:nvSpPr>
        <p:spPr>
          <a:xfrm>
            <a:off x="6190488" y="1554480"/>
            <a:ext cx="5449824" cy="3886200"/>
          </a:xfrm>
          <a:prstGeom prst="roundRect">
            <a:avLst>
              <a:gd name="adj" fmla="val 2824"/>
            </a:avLst>
          </a:prstGeom>
          <a:solidFill>
            <a:schemeClr val="accent1">
              <a:alpha val="9000"/>
            </a:schemeClr>
          </a:solidFill>
          <a:ln/>
        </p:spPr>
      </p:sp>
      <p:sp>
        <p:nvSpPr>
          <p:cNvPr id="17" name="a2f-ai1c"/>
          <p:cNvSpPr/>
          <p:nvPr/>
        </p:nvSpPr>
        <p:spPr>
          <a:xfrm>
            <a:off x="6464808" y="1755648"/>
            <a:ext cx="548640" cy="548640"/>
          </a:xfrm>
          <a:prstGeom prst="ellipse">
            <a:avLst/>
          </a:prstGeom>
          <a:solidFill>
            <a:schemeClr val="accent1"/>
          </a:solidFill>
          <a:ln/>
        </p:spPr>
      </p:sp>
      <p:pic>
        <p:nvPicPr>
          <p:cNvPr id="18" name="a2f-ai1ci" descr="preencoded.png">    </p:cNvPr>
          <p:cNvPicPr>
            <a:picLocks noChangeAspect="1"/>
          </p:cNvPicPr>
          <p:nvPr/>
        </p:nvPicPr>
        <p:blipFill>
          <a:blip r:embed="rId2"/>
          <a:stretch>
            <a:fillRect/>
          </a:stretch>
        </p:blipFill>
        <p:spPr>
          <a:xfrm>
            <a:off x="6601968" y="1892808"/>
            <a:ext cx="274320" cy="274320"/>
          </a:xfrm>
          <a:prstGeom prst="rect">
            <a:avLst/>
          </a:prstGeom>
        </p:spPr>
      </p:pic>
      <p:sp>
        <p:nvSpPr>
          <p:cNvPr id="19" name="a2f-ai1h"/>
          <p:cNvSpPr txBox="1"/>
          <p:nvPr/>
        </p:nvSpPr>
        <p:spPr>
          <a:xfrm>
            <a:off x="7150608" y="1755648"/>
            <a:ext cx="4297680" cy="548640"/>
          </a:xfrm>
          <a:prstGeom prst="rect">
            <a:avLst/>
          </a:prstGeom>
          <a:noFill/>
          <a:ln/>
        </p:spPr>
        <p:txBody>
          <a:bodyPr wrap="square" lIns="0" tIns="0" rIns="0" bIns="0" rtlCol="0" anchor="ctr"/>
          <a:lstStyle/>
          <a:p>
            <a:pPr indent="0" marL="0">
              <a:buNone/>
            </a:pPr>
            <a:r>
              <a:rPr lang="en-US" sz="1700" dirty="0">
                <a:solidFill>
                  <a:schemeClr val="tx2"/>
                </a:solidFill>
                <a:latin typeface="+mj-lt" pitchFamily="34" charset="0"/>
                <a:ea typeface="+mj-lt" pitchFamily="34" charset="-122"/>
                <a:cs typeface="+mj-lt" pitchFamily="34" charset="-120"/>
              </a:rPr>
              <a:t>Ours: LLM-assisted transforms</a:t>
            </a:r>
            <a:endParaRPr lang="en-US" sz="1700" dirty="0"/>
          </a:p>
        </p:txBody>
      </p:sp>
      <p:sp>
        <p:nvSpPr>
          <p:cNvPr id="20" name="a2f-ai1l0"/>
          <p:cNvSpPr txBox="1"/>
          <p:nvPr/>
        </p:nvSpPr>
        <p:spPr>
          <a:xfrm>
            <a:off x="6464808" y="2514600"/>
            <a:ext cx="1143000" cy="640080"/>
          </a:xfrm>
          <a:prstGeom prst="rect">
            <a:avLst/>
          </a:prstGeom>
          <a:noFill/>
          <a:ln/>
        </p:spPr>
        <p:txBody>
          <a:bodyPr wrap="square" lIns="0" tIns="0" rIns="0" bIns="0" rtlCol="0" anchor="t"/>
          <a:lstStyle/>
          <a:p>
            <a:pPr indent="0" marL="0">
              <a:buNone/>
            </a:pPr>
            <a:r>
              <a:rPr lang="en-US" sz="1300" b="1" dirty="0">
                <a:solidFill>
                  <a:schemeClr val="accent1"/>
                </a:solidFill>
              </a:rPr>
              <a:t>Scope</a:t>
            </a:r>
            <a:endParaRPr lang="en-US" sz="1300" dirty="0"/>
          </a:p>
        </p:txBody>
      </p:sp>
      <p:sp>
        <p:nvSpPr>
          <p:cNvPr id="21" name="a2f-ai1r0"/>
          <p:cNvSpPr txBox="1"/>
          <p:nvPr/>
        </p:nvSpPr>
        <p:spPr>
          <a:xfrm>
            <a:off x="7653528" y="2514600"/>
            <a:ext cx="3794760" cy="685800"/>
          </a:xfrm>
          <a:prstGeom prst="rect">
            <a:avLst/>
          </a:prstGeom>
          <a:noFill/>
          <a:ln/>
        </p:spPr>
        <p:txBody>
          <a:bodyPr wrap="square" lIns="0" tIns="0" rIns="0" bIns="0" rtlCol="0" anchor="t"/>
          <a:lstStyle/>
          <a:p>
            <a:pPr indent="0" marL="0">
              <a:buNone/>
            </a:pPr>
            <a:r>
              <a:rPr lang="en-US" sz="1350" dirty="0">
                <a:solidFill>
                  <a:schemeClr val="tx1"/>
                </a:solidFill>
              </a:rPr>
              <a:t>Procedures, views, tables, functions, SQL scripts, pipelines and notebooks</a:t>
            </a:r>
            <a:endParaRPr lang="en-US" sz="1350" dirty="0"/>
          </a:p>
        </p:txBody>
      </p:sp>
      <p:sp>
        <p:nvSpPr>
          <p:cNvPr id="22" name="a2f-ai1l1"/>
          <p:cNvSpPr txBox="1"/>
          <p:nvPr/>
        </p:nvSpPr>
        <p:spPr>
          <a:xfrm>
            <a:off x="6464808" y="3246120"/>
            <a:ext cx="1143000" cy="640080"/>
          </a:xfrm>
          <a:prstGeom prst="rect">
            <a:avLst/>
          </a:prstGeom>
          <a:noFill/>
          <a:ln/>
        </p:spPr>
        <p:txBody>
          <a:bodyPr wrap="square" lIns="0" tIns="0" rIns="0" bIns="0" rtlCol="0" anchor="t"/>
          <a:lstStyle/>
          <a:p>
            <a:pPr indent="0" marL="0">
              <a:buNone/>
            </a:pPr>
            <a:r>
              <a:rPr lang="en-US" sz="1300" b="1" dirty="0">
                <a:solidFill>
                  <a:schemeClr val="accent1"/>
                </a:solidFill>
              </a:rPr>
              <a:t>Where</a:t>
            </a:r>
            <a:endParaRPr lang="en-US" sz="1300" dirty="0"/>
          </a:p>
        </p:txBody>
      </p:sp>
      <p:sp>
        <p:nvSpPr>
          <p:cNvPr id="23" name="a2f-ai1r1"/>
          <p:cNvSpPr txBox="1"/>
          <p:nvPr/>
        </p:nvSpPr>
        <p:spPr>
          <a:xfrm>
            <a:off x="7653528" y="3246120"/>
            <a:ext cx="3794760" cy="685800"/>
          </a:xfrm>
          <a:prstGeom prst="rect">
            <a:avLst/>
          </a:prstGeom>
          <a:noFill/>
          <a:ln/>
        </p:spPr>
        <p:txBody>
          <a:bodyPr wrap="square" lIns="0" tIns="0" rIns="0" bIns="0" rtlCol="0" anchor="t"/>
          <a:lstStyle/>
          <a:p>
            <a:pPr indent="0" marL="0">
              <a:buNone/>
            </a:pPr>
            <a:r>
              <a:rPr lang="en-US" sz="1350" dirty="0">
                <a:solidFill>
                  <a:schemeClr val="tx1"/>
                </a:solidFill>
              </a:rPr>
              <a:t>A review queue in Assess, or per object; Claude through the Claude Code CLI, tools switched off</a:t>
            </a:r>
            <a:endParaRPr lang="en-US" sz="1350" dirty="0"/>
          </a:p>
        </p:txBody>
      </p:sp>
      <p:sp>
        <p:nvSpPr>
          <p:cNvPr id="24" name="a2f-ai1l2"/>
          <p:cNvSpPr txBox="1"/>
          <p:nvPr/>
        </p:nvSpPr>
        <p:spPr>
          <a:xfrm>
            <a:off x="6464808" y="3977640"/>
            <a:ext cx="1143000" cy="640080"/>
          </a:xfrm>
          <a:prstGeom prst="rect">
            <a:avLst/>
          </a:prstGeom>
          <a:noFill/>
          <a:ln/>
        </p:spPr>
        <p:txBody>
          <a:bodyPr wrap="square" lIns="0" tIns="0" rIns="0" bIns="0" rtlCol="0" anchor="t"/>
          <a:lstStyle/>
          <a:p>
            <a:pPr indent="0" marL="0">
              <a:buNone/>
            </a:pPr>
            <a:r>
              <a:rPr lang="en-US" sz="1300" b="1" dirty="0">
                <a:solidFill>
                  <a:schemeClr val="accent1"/>
                </a:solidFill>
              </a:rPr>
              <a:t>Guardrails</a:t>
            </a:r>
            <a:endParaRPr lang="en-US" sz="1300" dirty="0"/>
          </a:p>
        </p:txBody>
      </p:sp>
      <p:sp>
        <p:nvSpPr>
          <p:cNvPr id="25" name="a2f-ai1r2"/>
          <p:cNvSpPr txBox="1"/>
          <p:nvPr/>
        </p:nvSpPr>
        <p:spPr>
          <a:xfrm>
            <a:off x="7653528" y="3977640"/>
            <a:ext cx="3794760" cy="685800"/>
          </a:xfrm>
          <a:prstGeom prst="rect">
            <a:avLst/>
          </a:prstGeom>
          <a:noFill/>
          <a:ln/>
        </p:spPr>
        <p:txBody>
          <a:bodyPr wrap="square" lIns="0" tIns="0" rIns="0" bIns="0" rtlCol="0" anchor="t"/>
          <a:lstStyle/>
          <a:p>
            <a:pPr indent="0" marL="0">
              <a:buNone/>
            </a:pPr>
            <a:r>
              <a:rPr lang="en-US" sz="1350" dirty="0">
                <a:solidFill>
                  <a:schemeClr val="tx1"/>
                </a:solidFill>
              </a:rPr>
              <a:t>Automatic checks; accept, edit or discard; pinned to the source, so a changed object falls back to the rules</a:t>
            </a:r>
            <a:endParaRPr lang="en-US" sz="1350" dirty="0"/>
          </a:p>
        </p:txBody>
      </p:sp>
      <p:sp>
        <p:nvSpPr>
          <p:cNvPr id="26" name="a2f-ai1l3"/>
          <p:cNvSpPr txBox="1"/>
          <p:nvPr/>
        </p:nvSpPr>
        <p:spPr>
          <a:xfrm>
            <a:off x="6464808" y="4709160"/>
            <a:ext cx="1143000" cy="640080"/>
          </a:xfrm>
          <a:prstGeom prst="rect">
            <a:avLst/>
          </a:prstGeom>
          <a:noFill/>
          <a:ln/>
        </p:spPr>
        <p:txBody>
          <a:bodyPr wrap="square" lIns="0" tIns="0" rIns="0" bIns="0" rtlCol="0" anchor="t"/>
          <a:lstStyle/>
          <a:p>
            <a:pPr indent="0" marL="0">
              <a:buNone/>
            </a:pPr>
            <a:r>
              <a:rPr lang="en-US" sz="1300" b="1" dirty="0">
                <a:solidFill>
                  <a:schemeClr val="accent1"/>
                </a:solidFill>
              </a:rPr>
              <a:t>Control</a:t>
            </a:r>
            <a:endParaRPr lang="en-US" sz="1300" dirty="0"/>
          </a:p>
        </p:txBody>
      </p:sp>
      <p:sp>
        <p:nvSpPr>
          <p:cNvPr id="27" name="a2f-ai1r3"/>
          <p:cNvSpPr txBox="1"/>
          <p:nvPr/>
        </p:nvSpPr>
        <p:spPr>
          <a:xfrm>
            <a:off x="7653528" y="4709160"/>
            <a:ext cx="3794760" cy="685800"/>
          </a:xfrm>
          <a:prstGeom prst="rect">
            <a:avLst/>
          </a:prstGeom>
          <a:noFill/>
          <a:ln/>
        </p:spPr>
        <p:txBody>
          <a:bodyPr wrap="square" lIns="0" tIns="0" rIns="0" bIns="0" rtlCol="0" anchor="t"/>
          <a:lstStyle/>
          <a:p>
            <a:pPr indent="0" marL="0">
              <a:buNone/>
            </a:pPr>
            <a:r>
              <a:rPr lang="en-US" sz="1350" dirty="0">
                <a:solidFill>
                  <a:schemeClr val="tx1"/>
                </a:solidFill>
              </a:rPr>
              <a:t>Project rules in one file; off with one setting; rules stay the default</a:t>
            </a:r>
            <a:endParaRPr lang="en-US" sz="1350" dirty="0"/>
          </a:p>
        </p:txBody>
      </p:sp>
      <p:sp>
        <p:nvSpPr>
          <p:cNvPr id="28" name="a3w-both"/>
          <p:cNvSpPr/>
          <p:nvPr/>
        </p:nvSpPr>
        <p:spPr>
          <a:xfrm>
            <a:off x="548640" y="5577840"/>
            <a:ext cx="11094415" cy="566928"/>
          </a:xfrm>
          <a:prstGeom prst="roundRect">
            <a:avLst>
              <a:gd name="adj" fmla="val 19355"/>
            </a:avLst>
          </a:prstGeom>
          <a:solidFill>
            <a:schemeClr val="tx2"/>
          </a:solidFill>
          <a:ln/>
        </p:spPr>
      </p:sp>
      <p:sp>
        <p:nvSpPr>
          <p:cNvPr id="29" name="a3w-botht"/>
          <p:cNvSpPr txBox="1"/>
          <p:nvPr/>
        </p:nvSpPr>
        <p:spPr>
          <a:xfrm>
            <a:off x="822960" y="5577840"/>
            <a:ext cx="10545775" cy="566928"/>
          </a:xfrm>
          <a:prstGeom prst="rect">
            <a:avLst/>
          </a:prstGeom>
          <a:noFill/>
          <a:ln/>
        </p:spPr>
        <p:txBody>
          <a:bodyPr wrap="square" lIns="0" tIns="0" rIns="0" bIns="0" rtlCol="0" anchor="ctr"/>
          <a:lstStyle/>
          <a:p>
            <a:pPr indent="0" marL="0">
              <a:buNone/>
            </a:pPr>
            <a:r>
              <a:rPr lang="en-US" sz="1500" b="1" dirty="0">
                <a:solidFill>
                  <a:schemeClr val="accent5"/>
                </a:solidFill>
              </a:rPr>
              <a:t>Both keep a person in the loop:  </a:t>
            </a:r>
            <a:pPr indent="0" marL="0">
              <a:buNone/>
            </a:pPr>
            <a:r>
              <a:rPr lang="en-US" sz="1500" dirty="0">
                <a:solidFill>
                  <a:schemeClr val="bg1"/>
                </a:solidFill>
              </a:rPr>
              <a:t>nothing AI-written is used until someone has reviewed it.</a:t>
            </a:r>
            <a:endParaRPr lang="en-US" sz="15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childTnLst>
                          </p:cTn>
                        </p:par>
                        <p:par>
                          <p:cTn id="41" fill="hold">
                            <p:stCondLst>
                              <p:cond delay="450"/>
                            </p:stCondLst>
                            <p:childTnLst>
                              <p:par>
                                <p:cTn id="42" presetID="10" presetClass="entr" presetSubtype="0"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5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5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5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5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5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5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5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45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45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5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45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450"/>
                                        <p:tgtEl>
                                          <p:spTgt spid="27"/>
                                        </p:tgtEl>
                                      </p:cBhvr>
                                    </p:animEffect>
                                  </p:childTnLst>
                                </p:cTn>
                              </p:par>
                            </p:childTnLst>
                          </p:cTn>
                        </p:par>
                        <p:par>
                          <p:cTn id="78" fill="hold">
                            <p:stCondLst>
                              <p:cond delay="900"/>
                            </p:stCondLst>
                            <p:childTnLst>
                              <p:par>
                                <p:cTn id="79" presetID="22" presetClass="entr" presetSubtype="8" fill="hold" grpId="0" nodeType="after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wipe(left)">
                                      <p:cBhvr>
                                        <p:cTn id="81" dur="500"/>
                                        <p:tgtEl>
                                          <p:spTgt spid="28"/>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left)">
                                      <p:cBhvr>
                                        <p:cTn id="8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a1z-num"/>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03</a:t>
            </a:r>
            <a:endParaRPr lang="en-US" sz="8800" dirty="0"/>
          </a:p>
        </p:txBody>
      </p:sp>
      <p:sp>
        <p:nvSpPr>
          <p:cNvPr id="3" name="a2z-icon"/>
          <p:cNvSpPr/>
          <p:nvPr/>
        </p:nvSpPr>
        <p:spPr>
          <a:xfrm>
            <a:off x="8549640" y="2011680"/>
            <a:ext cx="2468880" cy="2468880"/>
          </a:xfrm>
          <a:prstGeom prst="ellipse">
            <a:avLst/>
          </a:prstGeom>
          <a:solidFill>
            <a:schemeClr val="accent5">
              <a:alpha val="18000"/>
            </a:schemeClr>
          </a:solidFill>
          <a:ln/>
        </p:spPr>
      </p:sp>
      <p:pic>
        <p:nvPicPr>
          <p:cNvPr id="4" name="a2z-iconi"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Inside the accelerator</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Architecture, trust, Git and the numbers</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20</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fill="hold"/>
                                        <p:tgtEl>
                                          <p:spTgt spid="2"/>
                                        </p:tgtEl>
                                        <p:attrNameLst>
                                          <p:attrName>ppt_w</p:attrName>
                                        </p:attrNameLst>
                                      </p:cBhvr>
                                      <p:tavLst>
                                        <p:tav tm="0">
                                          <p:val>
                                            <p:fltVal val="0"/>
                                          </p:val>
                                        </p:tav>
                                        <p:tav tm="100000">
                                          <p:val>
                                            <p:strVal val="#ppt_w"/>
                                          </p:val>
                                        </p:tav>
                                      </p:tavLst>
                                    </p:anim>
                                    <p:anim calcmode="lin" valueType="num">
                                      <p:cBhvr>
                                        <p:cTn id="8" dur="45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childTnLst>
                          </p:cTn>
                        </p:par>
                        <p:par>
                          <p:cTn id="10" fill="hold">
                            <p:stCondLst>
                              <p:cond delay="45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450" fill="hold"/>
                                        <p:tgtEl>
                                          <p:spTgt spid="3"/>
                                        </p:tgtEl>
                                        <p:attrNameLst>
                                          <p:attrName>ppt_w</p:attrName>
                                        </p:attrNameLst>
                                      </p:cBhvr>
                                      <p:tavLst>
                                        <p:tav tm="0">
                                          <p:val>
                                            <p:fltVal val="0"/>
                                          </p:val>
                                        </p:tav>
                                        <p:tav tm="100000">
                                          <p:val>
                                            <p:strVal val="#ppt_w"/>
                                          </p:val>
                                        </p:tav>
                                      </p:tavLst>
                                    </p:anim>
                                    <p:anim calcmode="lin" valueType="num">
                                      <p:cBhvr>
                                        <p:cTn id="14" dur="450" fill="hold"/>
                                        <p:tgtEl>
                                          <p:spTgt spid="3"/>
                                        </p:tgtEl>
                                        <p:attrNameLst>
                                          <p:attrName>ppt_h</p:attrName>
                                        </p:attrNameLst>
                                      </p:cBhvr>
                                      <p:tavLst>
                                        <p:tav tm="0">
                                          <p:val>
                                            <p:fltVal val="0"/>
                                          </p:val>
                                        </p:tav>
                                        <p:tav tm="100000">
                                          <p:val>
                                            <p:strVal val="#ppt_h"/>
                                          </p:val>
                                        </p:tav>
                                      </p:tavLst>
                                    </p:anim>
                                    <p:animEffect transition="in" filter="fade">
                                      <p:cBhvr>
                                        <p:cTn id="15" dur="450"/>
                                        <p:tgtEl>
                                          <p:spTgt spid="3"/>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450" fill="hold"/>
                                        <p:tgtEl>
                                          <p:spTgt spid="4"/>
                                        </p:tgtEl>
                                        <p:attrNameLst>
                                          <p:attrName>ppt_w</p:attrName>
                                        </p:attrNameLst>
                                      </p:cBhvr>
                                      <p:tavLst>
                                        <p:tav tm="0">
                                          <p:val>
                                            <p:fltVal val="0"/>
                                          </p:val>
                                        </p:tav>
                                        <p:tav tm="100000">
                                          <p:val>
                                            <p:strVal val="#ppt_w"/>
                                          </p:val>
                                        </p:tav>
                                      </p:tavLst>
                                    </p:anim>
                                    <p:anim calcmode="lin" valueType="num">
                                      <p:cBhvr>
                                        <p:cTn id="19" dur="450" fill="hold"/>
                                        <p:tgtEl>
                                          <p:spTgt spid="4"/>
                                        </p:tgtEl>
                                        <p:attrNameLst>
                                          <p:attrName>ppt_h</p:attrName>
                                        </p:attrNameLst>
                                      </p:cBhvr>
                                      <p:tavLst>
                                        <p:tav tm="0">
                                          <p:val>
                                            <p:fltVal val="0"/>
                                          </p:val>
                                        </p:tav>
                                        <p:tav tm="100000">
                                          <p:val>
                                            <p:strVal val="#ppt_h"/>
                                          </p:val>
                                        </p:tav>
                                      </p:tavLst>
                                    </p:anim>
                                    <p:animEffect transition="in" filter="fade">
                                      <p:cBhvr>
                                        <p:cTn id="2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INSIDE THE ACCELERATOR</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Architecture built around trust</a:t>
            </a:r>
            <a:endParaRPr lang="en-US" sz="3200" dirty="0"/>
          </a:p>
        </p:txBody>
      </p:sp>
      <p:sp>
        <p:nvSpPr>
          <p:cNvPr id="4" name="a1f-n1"/>
          <p:cNvSpPr/>
          <p:nvPr/>
        </p:nvSpPr>
        <p:spPr>
          <a:xfrm>
            <a:off x="1325880" y="1572768"/>
            <a:ext cx="3749040" cy="749808"/>
          </a:xfrm>
          <a:prstGeom prst="roundRect">
            <a:avLst>
              <a:gd name="adj" fmla="val 14634"/>
            </a:avLst>
          </a:prstGeom>
          <a:solidFill>
            <a:schemeClr val="bg2"/>
          </a:solidFill>
          <a:ln/>
        </p:spPr>
      </p:sp>
      <p:sp>
        <p:nvSpPr>
          <p:cNvPr id="5" name="a1f-n1c"/>
          <p:cNvSpPr/>
          <p:nvPr/>
        </p:nvSpPr>
        <p:spPr>
          <a:xfrm>
            <a:off x="1490472" y="1719072"/>
            <a:ext cx="457200" cy="457200"/>
          </a:xfrm>
          <a:prstGeom prst="ellipse">
            <a:avLst/>
          </a:prstGeom>
          <a:solidFill>
            <a:schemeClr val="tx2"/>
          </a:solidFill>
          <a:ln/>
        </p:spPr>
      </p:sp>
      <p:pic>
        <p:nvPicPr>
          <p:cNvPr id="6" name="a1f-n1ci" descr="preencoded.png">    </p:cNvPr>
          <p:cNvPicPr>
            <a:picLocks noChangeAspect="1"/>
          </p:cNvPicPr>
          <p:nvPr/>
        </p:nvPicPr>
        <p:blipFill>
          <a:blip r:embed="rId1"/>
          <a:stretch>
            <a:fillRect/>
          </a:stretch>
        </p:blipFill>
        <p:spPr>
          <a:xfrm>
            <a:off x="1604772" y="1833372"/>
            <a:ext cx="228600" cy="228600"/>
          </a:xfrm>
          <a:prstGeom prst="rect">
            <a:avLst/>
          </a:prstGeom>
        </p:spPr>
      </p:pic>
      <p:sp>
        <p:nvSpPr>
          <p:cNvPr id="7" name="a1f-n1t"/>
          <p:cNvSpPr txBox="1"/>
          <p:nvPr/>
        </p:nvSpPr>
        <p:spPr>
          <a:xfrm>
            <a:off x="2075688" y="1627632"/>
            <a:ext cx="2880360" cy="64008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Browser: React web app</a:t>
            </a:r>
            <a:endParaRPr lang="en-US" sz="1400" dirty="0"/>
          </a:p>
          <a:p>
            <a:pPr indent="0" marL="0">
              <a:buNone/>
            </a:pPr>
            <a:r>
              <a:rPr lang="en-US" sz="1250" dirty="0">
                <a:solidFill>
                  <a:schemeClr val="accent6"/>
                </a:solidFill>
              </a:rPr>
              <a:t>Live mode, or Demo mode</a:t>
            </a:r>
            <a:endParaRPr lang="en-US" sz="1400" dirty="0"/>
          </a:p>
        </p:txBody>
      </p:sp>
      <p:sp>
        <p:nvSpPr>
          <p:cNvPr id="8" name="a2f-a1"/>
          <p:cNvSpPr/>
          <p:nvPr/>
        </p:nvSpPr>
        <p:spPr>
          <a:xfrm>
            <a:off x="3200400" y="2340864"/>
            <a:ext cx="91" cy="329184"/>
          </a:xfrm>
          <a:prstGeom prst="line">
            <a:avLst/>
          </a:prstGeom>
          <a:noFill/>
          <a:ln w="22225">
            <a:solidFill>
              <a:srgbClr val="5D6B82"/>
            </a:solidFill>
            <a:prstDash val="solid"/>
            <a:tailEnd type="triangle"/>
          </a:ln>
        </p:spPr>
      </p:sp>
      <p:sp>
        <p:nvSpPr>
          <p:cNvPr id="9" name="a2f-n2"/>
          <p:cNvSpPr/>
          <p:nvPr/>
        </p:nvSpPr>
        <p:spPr>
          <a:xfrm>
            <a:off x="1325880" y="2697480"/>
            <a:ext cx="3749040" cy="749808"/>
          </a:xfrm>
          <a:prstGeom prst="roundRect">
            <a:avLst>
              <a:gd name="adj" fmla="val 14634"/>
            </a:avLst>
          </a:prstGeom>
          <a:solidFill>
            <a:schemeClr val="bg2"/>
          </a:solidFill>
          <a:ln/>
        </p:spPr>
      </p:sp>
      <p:sp>
        <p:nvSpPr>
          <p:cNvPr id="10" name="a2f-n2c"/>
          <p:cNvSpPr/>
          <p:nvPr/>
        </p:nvSpPr>
        <p:spPr>
          <a:xfrm>
            <a:off x="1490472" y="2843784"/>
            <a:ext cx="457200" cy="457200"/>
          </a:xfrm>
          <a:prstGeom prst="ellipse">
            <a:avLst/>
          </a:prstGeom>
          <a:solidFill>
            <a:schemeClr val="tx2"/>
          </a:solidFill>
          <a:ln/>
        </p:spPr>
      </p:sp>
      <p:pic>
        <p:nvPicPr>
          <p:cNvPr id="11" name="a2f-n2ci" descr="preencoded.png">    </p:cNvPr>
          <p:cNvPicPr>
            <a:picLocks noChangeAspect="1"/>
          </p:cNvPicPr>
          <p:nvPr/>
        </p:nvPicPr>
        <p:blipFill>
          <a:blip r:embed="rId2"/>
          <a:stretch>
            <a:fillRect/>
          </a:stretch>
        </p:blipFill>
        <p:spPr>
          <a:xfrm>
            <a:off x="1604772" y="2958084"/>
            <a:ext cx="228600" cy="228600"/>
          </a:xfrm>
          <a:prstGeom prst="rect">
            <a:avLst/>
          </a:prstGeom>
        </p:spPr>
      </p:pic>
      <p:sp>
        <p:nvSpPr>
          <p:cNvPr id="12" name="a2f-n2t"/>
          <p:cNvSpPr txBox="1"/>
          <p:nvPr/>
        </p:nvSpPr>
        <p:spPr>
          <a:xfrm>
            <a:off x="2075688" y="2752344"/>
            <a:ext cx="2880360" cy="64008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Local API: Python</a:t>
            </a:r>
            <a:endParaRPr lang="en-US" sz="1400" dirty="0"/>
          </a:p>
          <a:p>
            <a:pPr indent="0" marL="0">
              <a:buNone/>
            </a:pPr>
            <a:r>
              <a:rPr lang="en-US" sz="1250" dirty="0">
                <a:solidFill>
                  <a:schemeClr val="accent6"/>
                </a:solidFill>
              </a:rPr>
              <a:t>Plans, migrates and validates</a:t>
            </a:r>
            <a:endParaRPr lang="en-US" sz="1400" dirty="0"/>
          </a:p>
        </p:txBody>
      </p:sp>
      <p:sp>
        <p:nvSpPr>
          <p:cNvPr id="13" name="a3f-a2"/>
          <p:cNvSpPr/>
          <p:nvPr/>
        </p:nvSpPr>
        <p:spPr>
          <a:xfrm flipH="1">
            <a:off x="1783080" y="3465576"/>
            <a:ext cx="502920" cy="356616"/>
          </a:xfrm>
          <a:prstGeom prst="line">
            <a:avLst/>
          </a:prstGeom>
          <a:noFill/>
          <a:ln w="22225">
            <a:solidFill>
              <a:srgbClr val="5D6B82"/>
            </a:solidFill>
            <a:prstDash val="solid"/>
            <a:tailEnd type="triangle"/>
          </a:ln>
        </p:spPr>
      </p:sp>
      <p:sp>
        <p:nvSpPr>
          <p:cNvPr id="14" name="a3f-a3"/>
          <p:cNvSpPr/>
          <p:nvPr/>
        </p:nvSpPr>
        <p:spPr>
          <a:xfrm>
            <a:off x="4114800" y="3465576"/>
            <a:ext cx="502920" cy="356616"/>
          </a:xfrm>
          <a:prstGeom prst="line">
            <a:avLst/>
          </a:prstGeom>
          <a:noFill/>
          <a:ln w="22225">
            <a:solidFill>
              <a:srgbClr val="5D6B82"/>
            </a:solidFill>
            <a:prstDash val="solid"/>
            <a:tailEnd type="triangle"/>
          </a:ln>
        </p:spPr>
      </p:sp>
      <p:sp>
        <p:nvSpPr>
          <p:cNvPr id="15" name="a3f-n3"/>
          <p:cNvSpPr/>
          <p:nvPr/>
        </p:nvSpPr>
        <p:spPr>
          <a:xfrm>
            <a:off x="548640" y="3840480"/>
            <a:ext cx="2606040" cy="1234440"/>
          </a:xfrm>
          <a:prstGeom prst="roundRect">
            <a:avLst>
              <a:gd name="adj" fmla="val 8889"/>
            </a:avLst>
          </a:prstGeom>
          <a:solidFill>
            <a:schemeClr val="bg2"/>
          </a:solidFill>
          <a:ln/>
        </p:spPr>
      </p:sp>
      <p:sp>
        <p:nvSpPr>
          <p:cNvPr id="16" name="a3f-n3c"/>
          <p:cNvSpPr/>
          <p:nvPr/>
        </p:nvSpPr>
        <p:spPr>
          <a:xfrm>
            <a:off x="713232" y="4229100"/>
            <a:ext cx="457200" cy="457200"/>
          </a:xfrm>
          <a:prstGeom prst="ellipse">
            <a:avLst/>
          </a:prstGeom>
          <a:solidFill>
            <a:schemeClr val="accent2"/>
          </a:solidFill>
          <a:ln/>
        </p:spPr>
      </p:sp>
      <p:pic>
        <p:nvPicPr>
          <p:cNvPr id="17" name="a3f-n3ci" descr="preencoded.png">    </p:cNvPr>
          <p:cNvPicPr>
            <a:picLocks noChangeAspect="1"/>
          </p:cNvPicPr>
          <p:nvPr/>
        </p:nvPicPr>
        <p:blipFill>
          <a:blip r:embed="rId3"/>
          <a:stretch>
            <a:fillRect/>
          </a:stretch>
        </p:blipFill>
        <p:spPr>
          <a:xfrm>
            <a:off x="827532" y="4343400"/>
            <a:ext cx="228600" cy="228600"/>
          </a:xfrm>
          <a:prstGeom prst="rect">
            <a:avLst/>
          </a:prstGeom>
        </p:spPr>
      </p:pic>
      <p:sp>
        <p:nvSpPr>
          <p:cNvPr id="18" name="a3f-n3t"/>
          <p:cNvSpPr txBox="1"/>
          <p:nvPr/>
        </p:nvSpPr>
        <p:spPr>
          <a:xfrm>
            <a:off x="1298448" y="3895344"/>
            <a:ext cx="1737360" cy="1124712"/>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Azure Synapse</a:t>
            </a:r>
            <a:endParaRPr lang="en-US" sz="1400" dirty="0"/>
          </a:p>
          <a:p>
            <a:pPr indent="0" marL="0">
              <a:buNone/>
            </a:pPr>
            <a:r>
              <a:rPr lang="en-US" sz="1250" dirty="0">
                <a:solidFill>
                  <a:schemeClr val="accent6"/>
                </a:solidFill>
              </a:rPr>
              <a:t>Read only: GET calls, 16 fixed SELECTs</a:t>
            </a:r>
            <a:endParaRPr lang="en-US" sz="1400" dirty="0"/>
          </a:p>
        </p:txBody>
      </p:sp>
      <p:sp>
        <p:nvSpPr>
          <p:cNvPr id="19" name="a3f-n4"/>
          <p:cNvSpPr/>
          <p:nvPr/>
        </p:nvSpPr>
        <p:spPr>
          <a:xfrm>
            <a:off x="3291840" y="3840480"/>
            <a:ext cx="2606040" cy="1234440"/>
          </a:xfrm>
          <a:prstGeom prst="roundRect">
            <a:avLst>
              <a:gd name="adj" fmla="val 8889"/>
            </a:avLst>
          </a:prstGeom>
          <a:solidFill>
            <a:schemeClr val="bg2"/>
          </a:solidFill>
          <a:ln/>
        </p:spPr>
      </p:sp>
      <p:sp>
        <p:nvSpPr>
          <p:cNvPr id="20" name="a3f-n4c"/>
          <p:cNvSpPr/>
          <p:nvPr/>
        </p:nvSpPr>
        <p:spPr>
          <a:xfrm>
            <a:off x="3456432" y="4229100"/>
            <a:ext cx="457200" cy="457200"/>
          </a:xfrm>
          <a:prstGeom prst="ellipse">
            <a:avLst/>
          </a:prstGeom>
          <a:solidFill>
            <a:schemeClr val="accent1"/>
          </a:solidFill>
          <a:ln/>
        </p:spPr>
      </p:sp>
      <p:pic>
        <p:nvPicPr>
          <p:cNvPr id="21" name="a3f-n4ci" descr="preencoded.png">    </p:cNvPr>
          <p:cNvPicPr>
            <a:picLocks noChangeAspect="1"/>
          </p:cNvPicPr>
          <p:nvPr/>
        </p:nvPicPr>
        <p:blipFill>
          <a:blip r:embed="rId4"/>
          <a:stretch>
            <a:fillRect/>
          </a:stretch>
        </p:blipFill>
        <p:spPr>
          <a:xfrm>
            <a:off x="3570732" y="4343400"/>
            <a:ext cx="228600" cy="228600"/>
          </a:xfrm>
          <a:prstGeom prst="rect">
            <a:avLst/>
          </a:prstGeom>
        </p:spPr>
      </p:pic>
      <p:sp>
        <p:nvSpPr>
          <p:cNvPr id="22" name="a3f-n4t"/>
          <p:cNvSpPr txBox="1"/>
          <p:nvPr/>
        </p:nvSpPr>
        <p:spPr>
          <a:xfrm>
            <a:off x="4041648" y="3895344"/>
            <a:ext cx="1737360" cy="1124712"/>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Microsoft Fabric</a:t>
            </a:r>
            <a:endParaRPr lang="en-US" sz="1400" dirty="0"/>
          </a:p>
          <a:p>
            <a:pPr indent="0" marL="0">
              <a:buNone/>
            </a:pPr>
            <a:r>
              <a:rPr lang="en-US" sz="1250" dirty="0">
                <a:solidFill>
                  <a:schemeClr val="accent6"/>
                </a:solidFill>
              </a:rPr>
              <a:t>REST API, Warehouse SQL, pipelines, Git</a:t>
            </a:r>
            <a:endParaRPr lang="en-US" sz="1400" dirty="0"/>
          </a:p>
        </p:txBody>
      </p:sp>
      <p:sp>
        <p:nvSpPr>
          <p:cNvPr id="23" name="a4f-a4"/>
          <p:cNvSpPr/>
          <p:nvPr/>
        </p:nvSpPr>
        <p:spPr>
          <a:xfrm>
            <a:off x="4599432" y="5093208"/>
            <a:ext cx="91" cy="256032"/>
          </a:xfrm>
          <a:prstGeom prst="line">
            <a:avLst/>
          </a:prstGeom>
          <a:noFill/>
          <a:ln w="22225">
            <a:solidFill>
              <a:srgbClr val="5D6B82"/>
            </a:solidFill>
            <a:prstDash val="solid"/>
            <a:tailEnd type="triangle"/>
          </a:ln>
        </p:spPr>
      </p:sp>
      <p:sp>
        <p:nvSpPr>
          <p:cNvPr id="24" name="a4f-n5"/>
          <p:cNvSpPr/>
          <p:nvPr/>
        </p:nvSpPr>
        <p:spPr>
          <a:xfrm>
            <a:off x="3291840" y="5376672"/>
            <a:ext cx="2606040" cy="749808"/>
          </a:xfrm>
          <a:prstGeom prst="roundRect">
            <a:avLst>
              <a:gd name="adj" fmla="val 14634"/>
            </a:avLst>
          </a:prstGeom>
          <a:solidFill>
            <a:schemeClr val="bg2"/>
          </a:solidFill>
          <a:ln/>
        </p:spPr>
      </p:sp>
      <p:sp>
        <p:nvSpPr>
          <p:cNvPr id="25" name="a4f-n5c"/>
          <p:cNvSpPr/>
          <p:nvPr/>
        </p:nvSpPr>
        <p:spPr>
          <a:xfrm>
            <a:off x="3456432" y="5522976"/>
            <a:ext cx="457200" cy="457200"/>
          </a:xfrm>
          <a:prstGeom prst="ellipse">
            <a:avLst/>
          </a:prstGeom>
          <a:solidFill>
            <a:schemeClr val="tx2"/>
          </a:solidFill>
          <a:ln/>
        </p:spPr>
      </p:sp>
      <p:pic>
        <p:nvPicPr>
          <p:cNvPr id="26" name="a4f-n5ci" descr="preencoded.png">    </p:cNvPr>
          <p:cNvPicPr>
            <a:picLocks noChangeAspect="1"/>
          </p:cNvPicPr>
          <p:nvPr/>
        </p:nvPicPr>
        <p:blipFill>
          <a:blip r:embed="rId5"/>
          <a:stretch>
            <a:fillRect/>
          </a:stretch>
        </p:blipFill>
        <p:spPr>
          <a:xfrm>
            <a:off x="3570732" y="5637276"/>
            <a:ext cx="228600" cy="228600"/>
          </a:xfrm>
          <a:prstGeom prst="rect">
            <a:avLst/>
          </a:prstGeom>
        </p:spPr>
      </p:pic>
      <p:sp>
        <p:nvSpPr>
          <p:cNvPr id="27" name="a4f-n5t"/>
          <p:cNvSpPr txBox="1"/>
          <p:nvPr/>
        </p:nvSpPr>
        <p:spPr>
          <a:xfrm>
            <a:off x="4041648" y="5431536"/>
            <a:ext cx="1737360" cy="640080"/>
          </a:xfrm>
          <a:prstGeom prst="rect">
            <a:avLst/>
          </a:prstGeom>
          <a:noFill/>
          <a:ln/>
        </p:spPr>
        <p:txBody>
          <a:bodyPr wrap="square" lIns="0" tIns="0" rIns="0" bIns="0" rtlCol="0" anchor="ctr"/>
          <a:lstStyle/>
          <a:p>
            <a:pPr indent="0" marL="0">
              <a:buNone/>
            </a:pPr>
            <a:r>
              <a:rPr lang="en-US" sz="1450" dirty="0">
                <a:solidFill>
                  <a:schemeClr val="tx2"/>
                </a:solidFill>
                <a:latin typeface="+mj-lt" pitchFamily="34" charset="0"/>
                <a:ea typeface="+mj-lt" pitchFamily="34" charset="-122"/>
                <a:cs typeface="+mj-lt" pitchFamily="34" charset="-120"/>
              </a:rPr>
              <a:t>DevOps or GitHub</a:t>
            </a:r>
            <a:endParaRPr lang="en-US" sz="1400" dirty="0"/>
          </a:p>
          <a:p>
            <a:pPr indent="0" marL="0">
              <a:buNone/>
            </a:pPr>
            <a:r>
              <a:rPr lang="en-US" sz="1250" dirty="0">
                <a:solidFill>
                  <a:schemeClr val="accent6"/>
                </a:solidFill>
              </a:rPr>
              <a:t>dev → PR → main</a:t>
            </a:r>
            <a:endParaRPr lang="en-US" sz="1400" dirty="0"/>
          </a:p>
        </p:txBody>
      </p:sp>
      <p:sp>
        <p:nvSpPr>
          <p:cNvPr id="28" name="a5u-pr0"/>
          <p:cNvSpPr/>
          <p:nvPr/>
        </p:nvSpPr>
        <p:spPr>
          <a:xfrm>
            <a:off x="6355080" y="1618488"/>
            <a:ext cx="457200" cy="457200"/>
          </a:xfrm>
          <a:prstGeom prst="ellipse">
            <a:avLst/>
          </a:prstGeom>
          <a:solidFill>
            <a:schemeClr val="accent1"/>
          </a:solidFill>
          <a:ln/>
        </p:spPr>
      </p:sp>
      <p:pic>
        <p:nvPicPr>
          <p:cNvPr id="29" name="a5u-pr0i" descr="preencoded.png">    </p:cNvPr>
          <p:cNvPicPr>
            <a:picLocks noChangeAspect="1"/>
          </p:cNvPicPr>
          <p:nvPr/>
        </p:nvPicPr>
        <p:blipFill>
          <a:blip r:embed="rId6"/>
          <a:stretch>
            <a:fillRect/>
          </a:stretch>
        </p:blipFill>
        <p:spPr>
          <a:xfrm>
            <a:off x="6469380" y="1732788"/>
            <a:ext cx="228600" cy="228600"/>
          </a:xfrm>
          <a:prstGeom prst="rect">
            <a:avLst/>
          </a:prstGeom>
        </p:spPr>
      </p:pic>
      <p:sp>
        <p:nvSpPr>
          <p:cNvPr id="30" name="a5u-pr0h"/>
          <p:cNvSpPr txBox="1"/>
          <p:nvPr/>
        </p:nvSpPr>
        <p:spPr>
          <a:xfrm>
            <a:off x="6995160" y="157276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Synapse is never changed</a:t>
            </a:r>
            <a:endParaRPr lang="en-US" sz="1500" dirty="0"/>
          </a:p>
        </p:txBody>
      </p:sp>
      <p:sp>
        <p:nvSpPr>
          <p:cNvPr id="31" name="a5u-pr0b"/>
          <p:cNvSpPr txBox="1"/>
          <p:nvPr/>
        </p:nvSpPr>
        <p:spPr>
          <a:xfrm>
            <a:off x="6995160" y="1865376"/>
            <a:ext cx="4645152" cy="384048"/>
          </a:xfrm>
          <a:prstGeom prst="rect">
            <a:avLst/>
          </a:prstGeom>
          <a:noFill/>
          <a:ln/>
        </p:spPr>
        <p:txBody>
          <a:bodyPr wrap="square" lIns="0" tIns="0" rIns="0" bIns="0" rtlCol="0" anchor="t"/>
          <a:lstStyle/>
          <a:p>
            <a:pPr indent="0" marL="0">
              <a:buNone/>
            </a:pPr>
            <a:r>
              <a:rPr lang="en-US" sz="1300" dirty="0">
                <a:solidFill>
                  <a:schemeClr val="tx1"/>
                </a:solidFill>
              </a:rPr>
              <a:t>Only GET calls and fixed, named SELECT queries.</a:t>
            </a:r>
            <a:endParaRPr lang="en-US" sz="1300" dirty="0"/>
          </a:p>
        </p:txBody>
      </p:sp>
      <p:sp>
        <p:nvSpPr>
          <p:cNvPr id="32" name="a5u-pr1"/>
          <p:cNvSpPr/>
          <p:nvPr/>
        </p:nvSpPr>
        <p:spPr>
          <a:xfrm>
            <a:off x="6355080" y="2350008"/>
            <a:ext cx="457200" cy="457200"/>
          </a:xfrm>
          <a:prstGeom prst="ellipse">
            <a:avLst/>
          </a:prstGeom>
          <a:solidFill>
            <a:schemeClr val="accent1"/>
          </a:solidFill>
          <a:ln/>
        </p:spPr>
      </p:sp>
      <p:pic>
        <p:nvPicPr>
          <p:cNvPr id="33" name="a5u-pr1i" descr="preencoded.png">    </p:cNvPr>
          <p:cNvPicPr>
            <a:picLocks noChangeAspect="1"/>
          </p:cNvPicPr>
          <p:nvPr/>
        </p:nvPicPr>
        <p:blipFill>
          <a:blip r:embed="rId7"/>
          <a:stretch>
            <a:fillRect/>
          </a:stretch>
        </p:blipFill>
        <p:spPr>
          <a:xfrm>
            <a:off x="6469380" y="2464308"/>
            <a:ext cx="228600" cy="228600"/>
          </a:xfrm>
          <a:prstGeom prst="rect">
            <a:avLst/>
          </a:prstGeom>
        </p:spPr>
      </p:pic>
      <p:sp>
        <p:nvSpPr>
          <p:cNvPr id="34" name="a5u-pr1h"/>
          <p:cNvSpPr txBox="1"/>
          <p:nvPr/>
        </p:nvSpPr>
        <p:spPr>
          <a:xfrm>
            <a:off x="6995160" y="230428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Only Migrate writes, and only to Fabric</a:t>
            </a:r>
            <a:endParaRPr lang="en-US" sz="1500" dirty="0"/>
          </a:p>
        </p:txBody>
      </p:sp>
      <p:sp>
        <p:nvSpPr>
          <p:cNvPr id="35" name="a5u-pr1b"/>
          <p:cNvSpPr txBox="1"/>
          <p:nvPr/>
        </p:nvSpPr>
        <p:spPr>
          <a:xfrm>
            <a:off x="6995160" y="2596896"/>
            <a:ext cx="4645152" cy="384048"/>
          </a:xfrm>
          <a:prstGeom prst="rect">
            <a:avLst/>
          </a:prstGeom>
          <a:noFill/>
          <a:ln/>
        </p:spPr>
        <p:txBody>
          <a:bodyPr wrap="square" lIns="0" tIns="0" rIns="0" bIns="0" rtlCol="0" anchor="t"/>
          <a:lstStyle/>
          <a:p>
            <a:pPr indent="0" marL="0">
              <a:buNone/>
            </a:pPr>
            <a:r>
              <a:rPr lang="en-US" sz="1300" dirty="0">
                <a:solidFill>
                  <a:schemeClr val="tx1"/>
                </a:solidFill>
              </a:rPr>
              <a:t>Existing objects skipped unless you choose to update.</a:t>
            </a:r>
            <a:endParaRPr lang="en-US" sz="1300" dirty="0"/>
          </a:p>
        </p:txBody>
      </p:sp>
      <p:sp>
        <p:nvSpPr>
          <p:cNvPr id="36" name="a6u-pr2"/>
          <p:cNvSpPr/>
          <p:nvPr/>
        </p:nvSpPr>
        <p:spPr>
          <a:xfrm>
            <a:off x="6355080" y="3081528"/>
            <a:ext cx="457200" cy="457200"/>
          </a:xfrm>
          <a:prstGeom prst="ellipse">
            <a:avLst/>
          </a:prstGeom>
          <a:solidFill>
            <a:schemeClr val="accent1"/>
          </a:solidFill>
          <a:ln/>
        </p:spPr>
      </p:sp>
      <p:pic>
        <p:nvPicPr>
          <p:cNvPr id="37" name="a6u-pr2i" descr="preencoded.png">    </p:cNvPr>
          <p:cNvPicPr>
            <a:picLocks noChangeAspect="1"/>
          </p:cNvPicPr>
          <p:nvPr/>
        </p:nvPicPr>
        <p:blipFill>
          <a:blip r:embed="rId8"/>
          <a:stretch>
            <a:fillRect/>
          </a:stretch>
        </p:blipFill>
        <p:spPr>
          <a:xfrm>
            <a:off x="6469380" y="3195828"/>
            <a:ext cx="228600" cy="228600"/>
          </a:xfrm>
          <a:prstGeom prst="rect">
            <a:avLst/>
          </a:prstGeom>
        </p:spPr>
      </p:pic>
      <p:sp>
        <p:nvSpPr>
          <p:cNvPr id="38" name="a6u-pr2h"/>
          <p:cNvSpPr txBox="1"/>
          <p:nvPr/>
        </p:nvSpPr>
        <p:spPr>
          <a:xfrm>
            <a:off x="6995160" y="303580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No secrets kept</a:t>
            </a:r>
            <a:endParaRPr lang="en-US" sz="1500" dirty="0"/>
          </a:p>
        </p:txBody>
      </p:sp>
      <p:sp>
        <p:nvSpPr>
          <p:cNvPr id="39" name="a6u-pr2b"/>
          <p:cNvSpPr txBox="1"/>
          <p:nvPr/>
        </p:nvSpPr>
        <p:spPr>
          <a:xfrm>
            <a:off x="6995160" y="3328416"/>
            <a:ext cx="4645152" cy="384048"/>
          </a:xfrm>
          <a:prstGeom prst="rect">
            <a:avLst/>
          </a:prstGeom>
          <a:noFill/>
          <a:ln/>
        </p:spPr>
        <p:txBody>
          <a:bodyPr wrap="square" lIns="0" tIns="0" rIns="0" bIns="0" rtlCol="0" anchor="t"/>
          <a:lstStyle/>
          <a:p>
            <a:pPr indent="0" marL="0">
              <a:buNone/>
            </a:pPr>
            <a:r>
              <a:rPr lang="en-US" sz="1300" dirty="0">
                <a:solidFill>
                  <a:schemeClr val="tx1"/>
                </a:solidFill>
              </a:rPr>
              <a:t>Microsoft sign-in or the CLIs; no secret is ever stored.</a:t>
            </a:r>
            <a:endParaRPr lang="en-US" sz="1300" dirty="0"/>
          </a:p>
        </p:txBody>
      </p:sp>
      <p:sp>
        <p:nvSpPr>
          <p:cNvPr id="40" name="a6u-pr3"/>
          <p:cNvSpPr/>
          <p:nvPr/>
        </p:nvSpPr>
        <p:spPr>
          <a:xfrm>
            <a:off x="6355080" y="3813048"/>
            <a:ext cx="457200" cy="457200"/>
          </a:xfrm>
          <a:prstGeom prst="ellipse">
            <a:avLst/>
          </a:prstGeom>
          <a:solidFill>
            <a:schemeClr val="accent1"/>
          </a:solidFill>
          <a:ln/>
        </p:spPr>
      </p:sp>
      <p:pic>
        <p:nvPicPr>
          <p:cNvPr id="41" name="a6u-pr3i" descr="preencoded.png">    </p:cNvPr>
          <p:cNvPicPr>
            <a:picLocks noChangeAspect="1"/>
          </p:cNvPicPr>
          <p:nvPr/>
        </p:nvPicPr>
        <p:blipFill>
          <a:blip r:embed="rId9"/>
          <a:stretch>
            <a:fillRect/>
          </a:stretch>
        </p:blipFill>
        <p:spPr>
          <a:xfrm>
            <a:off x="6469380" y="3927348"/>
            <a:ext cx="228600" cy="228600"/>
          </a:xfrm>
          <a:prstGeom prst="rect">
            <a:avLst/>
          </a:prstGeom>
        </p:spPr>
      </p:pic>
      <p:sp>
        <p:nvSpPr>
          <p:cNvPr id="42" name="a6u-pr3h"/>
          <p:cNvSpPr txBox="1"/>
          <p:nvPr/>
        </p:nvSpPr>
        <p:spPr>
          <a:xfrm>
            <a:off x="6995160" y="376732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Deterministic by default</a:t>
            </a:r>
            <a:endParaRPr lang="en-US" sz="1500" dirty="0"/>
          </a:p>
        </p:txBody>
      </p:sp>
      <p:sp>
        <p:nvSpPr>
          <p:cNvPr id="43" name="a6u-pr3b"/>
          <p:cNvSpPr txBox="1"/>
          <p:nvPr/>
        </p:nvSpPr>
        <p:spPr>
          <a:xfrm>
            <a:off x="6995160" y="4059936"/>
            <a:ext cx="4645152" cy="384048"/>
          </a:xfrm>
          <a:prstGeom prst="rect">
            <a:avLst/>
          </a:prstGeom>
          <a:noFill/>
          <a:ln/>
        </p:spPr>
        <p:txBody>
          <a:bodyPr wrap="square" lIns="0" tIns="0" rIns="0" bIns="0" rtlCol="0" anchor="t"/>
          <a:lstStyle/>
          <a:p>
            <a:pPr indent="0" marL="0">
              <a:buNone/>
            </a:pPr>
            <a:r>
              <a:rPr lang="en-US" sz="1300" dirty="0">
                <a:solidFill>
                  <a:schemeClr val="tx1"/>
                </a:solidFill>
              </a:rPr>
              <a:t>The same workspace and plan give the same result.</a:t>
            </a:r>
            <a:endParaRPr lang="en-US" sz="1300" dirty="0"/>
          </a:p>
        </p:txBody>
      </p:sp>
      <p:sp>
        <p:nvSpPr>
          <p:cNvPr id="44" name="a7u-pr4"/>
          <p:cNvSpPr/>
          <p:nvPr/>
        </p:nvSpPr>
        <p:spPr>
          <a:xfrm>
            <a:off x="6355080" y="4544568"/>
            <a:ext cx="457200" cy="457200"/>
          </a:xfrm>
          <a:prstGeom prst="ellipse">
            <a:avLst/>
          </a:prstGeom>
          <a:solidFill>
            <a:schemeClr val="accent1"/>
          </a:solidFill>
          <a:ln/>
        </p:spPr>
      </p:sp>
      <p:pic>
        <p:nvPicPr>
          <p:cNvPr id="45" name="a7u-pr4i" descr="preencoded.png">    </p:cNvPr>
          <p:cNvPicPr>
            <a:picLocks noChangeAspect="1"/>
          </p:cNvPicPr>
          <p:nvPr/>
        </p:nvPicPr>
        <p:blipFill>
          <a:blip r:embed="rId10"/>
          <a:stretch>
            <a:fillRect/>
          </a:stretch>
        </p:blipFill>
        <p:spPr>
          <a:xfrm>
            <a:off x="6469380" y="4658868"/>
            <a:ext cx="228600" cy="228600"/>
          </a:xfrm>
          <a:prstGeom prst="rect">
            <a:avLst/>
          </a:prstGeom>
        </p:spPr>
      </p:pic>
      <p:sp>
        <p:nvSpPr>
          <p:cNvPr id="46" name="a7u-pr4h"/>
          <p:cNvSpPr txBox="1"/>
          <p:nvPr/>
        </p:nvSpPr>
        <p:spPr>
          <a:xfrm>
            <a:off x="6995160" y="449884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Honest about limits</a:t>
            </a:r>
            <a:endParaRPr lang="en-US" sz="1500" dirty="0"/>
          </a:p>
        </p:txBody>
      </p:sp>
      <p:sp>
        <p:nvSpPr>
          <p:cNvPr id="47" name="a7u-pr4b"/>
          <p:cNvSpPr txBox="1"/>
          <p:nvPr/>
        </p:nvSpPr>
        <p:spPr>
          <a:xfrm>
            <a:off x="6995160" y="4791456"/>
            <a:ext cx="4645152" cy="384048"/>
          </a:xfrm>
          <a:prstGeom prst="rect">
            <a:avLst/>
          </a:prstGeom>
          <a:noFill/>
          <a:ln/>
        </p:spPr>
        <p:txBody>
          <a:bodyPr wrap="square" lIns="0" tIns="0" rIns="0" bIns="0" rtlCol="0" anchor="t"/>
          <a:lstStyle/>
          <a:p>
            <a:pPr indent="0" marL="0">
              <a:buNone/>
            </a:pPr>
            <a:r>
              <a:rPr lang="en-US" sz="1300" dirty="0">
                <a:solidFill>
                  <a:schemeClr val="tx1"/>
                </a:solidFill>
              </a:rPr>
              <a:t>Whatever is not converted is reported, with the reason.</a:t>
            </a:r>
            <a:endParaRPr lang="en-US" sz="1300" dirty="0"/>
          </a:p>
        </p:txBody>
      </p:sp>
      <p:sp>
        <p:nvSpPr>
          <p:cNvPr id="48" name="a7u-pr5"/>
          <p:cNvSpPr/>
          <p:nvPr/>
        </p:nvSpPr>
        <p:spPr>
          <a:xfrm>
            <a:off x="6355080" y="5276088"/>
            <a:ext cx="457200" cy="457200"/>
          </a:xfrm>
          <a:prstGeom prst="ellipse">
            <a:avLst/>
          </a:prstGeom>
          <a:solidFill>
            <a:schemeClr val="accent1"/>
          </a:solidFill>
          <a:ln/>
        </p:spPr>
      </p:sp>
      <p:pic>
        <p:nvPicPr>
          <p:cNvPr id="49" name="a7u-pr5i" descr="preencoded.png">    </p:cNvPr>
          <p:cNvPicPr>
            <a:picLocks noChangeAspect="1"/>
          </p:cNvPicPr>
          <p:nvPr/>
        </p:nvPicPr>
        <p:blipFill>
          <a:blip r:embed="rId11"/>
          <a:stretch>
            <a:fillRect/>
          </a:stretch>
        </p:blipFill>
        <p:spPr>
          <a:xfrm>
            <a:off x="6469380" y="5390388"/>
            <a:ext cx="228600" cy="228600"/>
          </a:xfrm>
          <a:prstGeom prst="rect">
            <a:avLst/>
          </a:prstGeom>
        </p:spPr>
      </p:pic>
      <p:sp>
        <p:nvSpPr>
          <p:cNvPr id="50" name="a7u-pr5h"/>
          <p:cNvSpPr txBox="1"/>
          <p:nvPr/>
        </p:nvSpPr>
        <p:spPr>
          <a:xfrm>
            <a:off x="6995160" y="5230368"/>
            <a:ext cx="4645152" cy="292608"/>
          </a:xfrm>
          <a:prstGeom prst="rect">
            <a:avLst/>
          </a:prstGeom>
          <a:noFill/>
          <a:ln/>
        </p:spPr>
        <p:txBody>
          <a:bodyPr wrap="square" lIns="0" tIns="0" rIns="0" bIns="0" rtlCol="0" anchor="t"/>
          <a:lstStyle/>
          <a:p>
            <a:pPr indent="0" marL="0">
              <a:buNone/>
            </a:pPr>
            <a:r>
              <a:rPr lang="en-US" sz="1500" dirty="0">
                <a:solidFill>
                  <a:schemeClr val="tx2"/>
                </a:solidFill>
                <a:latin typeface="+mj-lt" pitchFamily="34" charset="0"/>
                <a:ea typeface="+mj-lt" pitchFamily="34" charset="-122"/>
                <a:cs typeface="+mj-lt" pitchFamily="34" charset="-120"/>
              </a:rPr>
              <a:t>Safe to re-run</a:t>
            </a:r>
            <a:endParaRPr lang="en-US" sz="1500" dirty="0"/>
          </a:p>
        </p:txBody>
      </p:sp>
      <p:sp>
        <p:nvSpPr>
          <p:cNvPr id="51" name="a7u-pr5b"/>
          <p:cNvSpPr txBox="1"/>
          <p:nvPr/>
        </p:nvSpPr>
        <p:spPr>
          <a:xfrm>
            <a:off x="6995160" y="5522976"/>
            <a:ext cx="4645152" cy="384048"/>
          </a:xfrm>
          <a:prstGeom prst="rect">
            <a:avLst/>
          </a:prstGeom>
          <a:noFill/>
          <a:ln/>
        </p:spPr>
        <p:txBody>
          <a:bodyPr wrap="square" lIns="0" tIns="0" rIns="0" bIns="0" rtlCol="0" anchor="t"/>
          <a:lstStyle/>
          <a:p>
            <a:pPr indent="0" marL="0">
              <a:buNone/>
            </a:pPr>
            <a:r>
              <a:rPr lang="en-US" sz="1300" dirty="0">
                <a:solidFill>
                  <a:schemeClr val="tx1"/>
                </a:solidFill>
              </a:rPr>
              <a:t>Pause, resume, retry failed, or stop at a failing wave.</a:t>
            </a:r>
            <a:endParaRPr lang="en-US" sz="13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par>
                          <p:cTn id="17" fill="hold">
                            <p:stCondLst>
                              <p:cond delay="45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45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5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5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5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50"/>
                                        <p:tgtEl>
                                          <p:spTgt spid="12"/>
                                        </p:tgtEl>
                                      </p:cBhvr>
                                    </p:animEffect>
                                  </p:childTnLst>
                                </p:cTn>
                              </p:par>
                            </p:childTnLst>
                          </p:cTn>
                        </p:par>
                        <p:par>
                          <p:cTn id="33" fill="hold">
                            <p:stCondLst>
                              <p:cond delay="90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5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5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5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45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45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45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45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50"/>
                                        <p:tgtEl>
                                          <p:spTgt spid="22"/>
                                        </p:tgtEl>
                                      </p:cBhvr>
                                    </p:animEffect>
                                  </p:childTnLst>
                                </p:cTn>
                              </p:par>
                            </p:childTnLst>
                          </p:cTn>
                        </p:par>
                        <p:par>
                          <p:cTn id="64" fill="hold">
                            <p:stCondLst>
                              <p:cond delay="1350"/>
                            </p:stCondLst>
                            <p:childTnLst>
                              <p:par>
                                <p:cTn id="65" presetID="10" presetClass="entr" presetSubtype="0"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5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50"/>
                                        <p:tgtEl>
                                          <p:spTgt spid="2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50"/>
                                        <p:tgtEl>
                                          <p:spTgt spid="2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5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childTnLst>
                          </p:cTn>
                        </p:par>
                        <p:par>
                          <p:cTn id="80" fill="hold">
                            <p:stCondLst>
                              <p:cond delay="1800"/>
                            </p:stCondLst>
                            <p:childTnLst>
                              <p:par>
                                <p:cTn id="81" presetID="42" presetClass="entr" presetSubtype="0" fill="hold" grpId="0"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50"/>
                                        <p:tgtEl>
                                          <p:spTgt spid="28"/>
                                        </p:tgtEl>
                                      </p:cBhvr>
                                    </p:animEffect>
                                    <p:anim calcmode="lin" valueType="num">
                                      <p:cBhvr>
                                        <p:cTn id="84" dur="550" fill="hold"/>
                                        <p:tgtEl>
                                          <p:spTgt spid="28"/>
                                        </p:tgtEl>
                                        <p:attrNameLst>
                                          <p:attrName>ppt_x</p:attrName>
                                        </p:attrNameLst>
                                      </p:cBhvr>
                                      <p:tavLst>
                                        <p:tav tm="0">
                                          <p:val>
                                            <p:strVal val="#ppt_x"/>
                                          </p:val>
                                        </p:tav>
                                        <p:tav tm="100000">
                                          <p:val>
                                            <p:strVal val="#ppt_x"/>
                                          </p:val>
                                        </p:tav>
                                      </p:tavLst>
                                    </p:anim>
                                    <p:anim calcmode="lin" valueType="num">
                                      <p:cBhvr>
                                        <p:cTn id="85" dur="550" fill="hold"/>
                                        <p:tgtEl>
                                          <p:spTgt spid="2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50"/>
                                        <p:tgtEl>
                                          <p:spTgt spid="29"/>
                                        </p:tgtEl>
                                      </p:cBhvr>
                                    </p:animEffect>
                                    <p:anim calcmode="lin" valueType="num">
                                      <p:cBhvr>
                                        <p:cTn id="89" dur="550" fill="hold"/>
                                        <p:tgtEl>
                                          <p:spTgt spid="29"/>
                                        </p:tgtEl>
                                        <p:attrNameLst>
                                          <p:attrName>ppt_x</p:attrName>
                                        </p:attrNameLst>
                                      </p:cBhvr>
                                      <p:tavLst>
                                        <p:tav tm="0">
                                          <p:val>
                                            <p:strVal val="#ppt_x"/>
                                          </p:val>
                                        </p:tav>
                                        <p:tav tm="100000">
                                          <p:val>
                                            <p:strVal val="#ppt_x"/>
                                          </p:val>
                                        </p:tav>
                                      </p:tavLst>
                                    </p:anim>
                                    <p:anim calcmode="lin" valueType="num">
                                      <p:cBhvr>
                                        <p:cTn id="90" dur="550" fill="hold"/>
                                        <p:tgtEl>
                                          <p:spTgt spid="2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550"/>
                                        <p:tgtEl>
                                          <p:spTgt spid="30"/>
                                        </p:tgtEl>
                                      </p:cBhvr>
                                    </p:animEffect>
                                    <p:anim calcmode="lin" valueType="num">
                                      <p:cBhvr>
                                        <p:cTn id="94" dur="550" fill="hold"/>
                                        <p:tgtEl>
                                          <p:spTgt spid="30"/>
                                        </p:tgtEl>
                                        <p:attrNameLst>
                                          <p:attrName>ppt_x</p:attrName>
                                        </p:attrNameLst>
                                      </p:cBhvr>
                                      <p:tavLst>
                                        <p:tav tm="0">
                                          <p:val>
                                            <p:strVal val="#ppt_x"/>
                                          </p:val>
                                        </p:tav>
                                        <p:tav tm="100000">
                                          <p:val>
                                            <p:strVal val="#ppt_x"/>
                                          </p:val>
                                        </p:tav>
                                      </p:tavLst>
                                    </p:anim>
                                    <p:anim calcmode="lin" valueType="num">
                                      <p:cBhvr>
                                        <p:cTn id="95" dur="550" fill="hold"/>
                                        <p:tgtEl>
                                          <p:spTgt spid="30"/>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50"/>
                                        <p:tgtEl>
                                          <p:spTgt spid="31"/>
                                        </p:tgtEl>
                                      </p:cBhvr>
                                    </p:animEffect>
                                    <p:anim calcmode="lin" valueType="num">
                                      <p:cBhvr>
                                        <p:cTn id="99" dur="550" fill="hold"/>
                                        <p:tgtEl>
                                          <p:spTgt spid="31"/>
                                        </p:tgtEl>
                                        <p:attrNameLst>
                                          <p:attrName>ppt_x</p:attrName>
                                        </p:attrNameLst>
                                      </p:cBhvr>
                                      <p:tavLst>
                                        <p:tav tm="0">
                                          <p:val>
                                            <p:strVal val="#ppt_x"/>
                                          </p:val>
                                        </p:tav>
                                        <p:tav tm="100000">
                                          <p:val>
                                            <p:strVal val="#ppt_x"/>
                                          </p:val>
                                        </p:tav>
                                      </p:tavLst>
                                    </p:anim>
                                    <p:anim calcmode="lin" valueType="num">
                                      <p:cBhvr>
                                        <p:cTn id="100" dur="550" fill="hold"/>
                                        <p:tgtEl>
                                          <p:spTgt spid="3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550"/>
                                        <p:tgtEl>
                                          <p:spTgt spid="32"/>
                                        </p:tgtEl>
                                      </p:cBhvr>
                                    </p:animEffect>
                                    <p:anim calcmode="lin" valueType="num">
                                      <p:cBhvr>
                                        <p:cTn id="104" dur="550" fill="hold"/>
                                        <p:tgtEl>
                                          <p:spTgt spid="32"/>
                                        </p:tgtEl>
                                        <p:attrNameLst>
                                          <p:attrName>ppt_x</p:attrName>
                                        </p:attrNameLst>
                                      </p:cBhvr>
                                      <p:tavLst>
                                        <p:tav tm="0">
                                          <p:val>
                                            <p:strVal val="#ppt_x"/>
                                          </p:val>
                                        </p:tav>
                                        <p:tav tm="100000">
                                          <p:val>
                                            <p:strVal val="#ppt_x"/>
                                          </p:val>
                                        </p:tav>
                                      </p:tavLst>
                                    </p:anim>
                                    <p:anim calcmode="lin" valueType="num">
                                      <p:cBhvr>
                                        <p:cTn id="105" dur="550" fill="hold"/>
                                        <p:tgtEl>
                                          <p:spTgt spid="32"/>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50"/>
                                        <p:tgtEl>
                                          <p:spTgt spid="33"/>
                                        </p:tgtEl>
                                      </p:cBhvr>
                                    </p:animEffect>
                                    <p:anim calcmode="lin" valueType="num">
                                      <p:cBhvr>
                                        <p:cTn id="109" dur="550" fill="hold"/>
                                        <p:tgtEl>
                                          <p:spTgt spid="33"/>
                                        </p:tgtEl>
                                        <p:attrNameLst>
                                          <p:attrName>ppt_x</p:attrName>
                                        </p:attrNameLst>
                                      </p:cBhvr>
                                      <p:tavLst>
                                        <p:tav tm="0">
                                          <p:val>
                                            <p:strVal val="#ppt_x"/>
                                          </p:val>
                                        </p:tav>
                                        <p:tav tm="100000">
                                          <p:val>
                                            <p:strVal val="#ppt_x"/>
                                          </p:val>
                                        </p:tav>
                                      </p:tavLst>
                                    </p:anim>
                                    <p:anim calcmode="lin" valueType="num">
                                      <p:cBhvr>
                                        <p:cTn id="110" dur="550" fill="hold"/>
                                        <p:tgtEl>
                                          <p:spTgt spid="33"/>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550"/>
                                        <p:tgtEl>
                                          <p:spTgt spid="34"/>
                                        </p:tgtEl>
                                      </p:cBhvr>
                                    </p:animEffect>
                                    <p:anim calcmode="lin" valueType="num">
                                      <p:cBhvr>
                                        <p:cTn id="114" dur="550" fill="hold"/>
                                        <p:tgtEl>
                                          <p:spTgt spid="34"/>
                                        </p:tgtEl>
                                        <p:attrNameLst>
                                          <p:attrName>ppt_x</p:attrName>
                                        </p:attrNameLst>
                                      </p:cBhvr>
                                      <p:tavLst>
                                        <p:tav tm="0">
                                          <p:val>
                                            <p:strVal val="#ppt_x"/>
                                          </p:val>
                                        </p:tav>
                                        <p:tav tm="100000">
                                          <p:val>
                                            <p:strVal val="#ppt_x"/>
                                          </p:val>
                                        </p:tav>
                                      </p:tavLst>
                                    </p:anim>
                                    <p:anim calcmode="lin" valueType="num">
                                      <p:cBhvr>
                                        <p:cTn id="115" dur="550" fill="hold"/>
                                        <p:tgtEl>
                                          <p:spTgt spid="34"/>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fade">
                                      <p:cBhvr>
                                        <p:cTn id="118" dur="550"/>
                                        <p:tgtEl>
                                          <p:spTgt spid="35"/>
                                        </p:tgtEl>
                                      </p:cBhvr>
                                    </p:animEffect>
                                    <p:anim calcmode="lin" valueType="num">
                                      <p:cBhvr>
                                        <p:cTn id="119" dur="550" fill="hold"/>
                                        <p:tgtEl>
                                          <p:spTgt spid="35"/>
                                        </p:tgtEl>
                                        <p:attrNameLst>
                                          <p:attrName>ppt_x</p:attrName>
                                        </p:attrNameLst>
                                      </p:cBhvr>
                                      <p:tavLst>
                                        <p:tav tm="0">
                                          <p:val>
                                            <p:strVal val="#ppt_x"/>
                                          </p:val>
                                        </p:tav>
                                        <p:tav tm="100000">
                                          <p:val>
                                            <p:strVal val="#ppt_x"/>
                                          </p:val>
                                        </p:tav>
                                      </p:tavLst>
                                    </p:anim>
                                    <p:anim calcmode="lin" valueType="num">
                                      <p:cBhvr>
                                        <p:cTn id="120" dur="550" fill="hold"/>
                                        <p:tgtEl>
                                          <p:spTgt spid="35"/>
                                        </p:tgtEl>
                                        <p:attrNameLst>
                                          <p:attrName>ppt_y</p:attrName>
                                        </p:attrNameLst>
                                      </p:cBhvr>
                                      <p:tavLst>
                                        <p:tav tm="0">
                                          <p:val>
                                            <p:strVal val="#ppt_y+.1"/>
                                          </p:val>
                                        </p:tav>
                                        <p:tav tm="100000">
                                          <p:val>
                                            <p:strVal val="#ppt_y"/>
                                          </p:val>
                                        </p:tav>
                                      </p:tavLst>
                                    </p:anim>
                                  </p:childTnLst>
                                </p:cTn>
                              </p:par>
                            </p:childTnLst>
                          </p:cTn>
                        </p:par>
                        <p:par>
                          <p:cTn id="121" fill="hold">
                            <p:stCondLst>
                              <p:cond delay="2350"/>
                            </p:stCondLst>
                            <p:childTnLst>
                              <p:par>
                                <p:cTn id="122" presetID="42" presetClass="entr" presetSubtype="0" fill="hold" grpId="0" nodeType="afterEffect">
                                  <p:stCondLst>
                                    <p:cond delay="0"/>
                                  </p:stCondLst>
                                  <p:childTnLst>
                                    <p:set>
                                      <p:cBhvr>
                                        <p:cTn id="123" dur="1" fill="hold">
                                          <p:stCondLst>
                                            <p:cond delay="0"/>
                                          </p:stCondLst>
                                        </p:cTn>
                                        <p:tgtEl>
                                          <p:spTgt spid="36"/>
                                        </p:tgtEl>
                                        <p:attrNameLst>
                                          <p:attrName>style.visibility</p:attrName>
                                        </p:attrNameLst>
                                      </p:cBhvr>
                                      <p:to>
                                        <p:strVal val="visible"/>
                                      </p:to>
                                    </p:set>
                                    <p:animEffect transition="in" filter="fade">
                                      <p:cBhvr>
                                        <p:cTn id="124" dur="550"/>
                                        <p:tgtEl>
                                          <p:spTgt spid="36"/>
                                        </p:tgtEl>
                                      </p:cBhvr>
                                    </p:animEffect>
                                    <p:anim calcmode="lin" valueType="num">
                                      <p:cBhvr>
                                        <p:cTn id="125" dur="550" fill="hold"/>
                                        <p:tgtEl>
                                          <p:spTgt spid="36"/>
                                        </p:tgtEl>
                                        <p:attrNameLst>
                                          <p:attrName>ppt_x</p:attrName>
                                        </p:attrNameLst>
                                      </p:cBhvr>
                                      <p:tavLst>
                                        <p:tav tm="0">
                                          <p:val>
                                            <p:strVal val="#ppt_x"/>
                                          </p:val>
                                        </p:tav>
                                        <p:tav tm="100000">
                                          <p:val>
                                            <p:strVal val="#ppt_x"/>
                                          </p:val>
                                        </p:tav>
                                      </p:tavLst>
                                    </p:anim>
                                    <p:anim calcmode="lin" valueType="num">
                                      <p:cBhvr>
                                        <p:cTn id="126" dur="550" fill="hold"/>
                                        <p:tgtEl>
                                          <p:spTgt spid="3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37"/>
                                        </p:tgtEl>
                                        <p:attrNameLst>
                                          <p:attrName>style.visibility</p:attrName>
                                        </p:attrNameLst>
                                      </p:cBhvr>
                                      <p:to>
                                        <p:strVal val="visible"/>
                                      </p:to>
                                    </p:set>
                                    <p:animEffect transition="in" filter="fade">
                                      <p:cBhvr>
                                        <p:cTn id="129" dur="550"/>
                                        <p:tgtEl>
                                          <p:spTgt spid="37"/>
                                        </p:tgtEl>
                                      </p:cBhvr>
                                    </p:animEffect>
                                    <p:anim calcmode="lin" valueType="num">
                                      <p:cBhvr>
                                        <p:cTn id="130" dur="550" fill="hold"/>
                                        <p:tgtEl>
                                          <p:spTgt spid="37"/>
                                        </p:tgtEl>
                                        <p:attrNameLst>
                                          <p:attrName>ppt_x</p:attrName>
                                        </p:attrNameLst>
                                      </p:cBhvr>
                                      <p:tavLst>
                                        <p:tav tm="0">
                                          <p:val>
                                            <p:strVal val="#ppt_x"/>
                                          </p:val>
                                        </p:tav>
                                        <p:tav tm="100000">
                                          <p:val>
                                            <p:strVal val="#ppt_x"/>
                                          </p:val>
                                        </p:tav>
                                      </p:tavLst>
                                    </p:anim>
                                    <p:anim calcmode="lin" valueType="num">
                                      <p:cBhvr>
                                        <p:cTn id="131" dur="550" fill="hold"/>
                                        <p:tgtEl>
                                          <p:spTgt spid="3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fade">
                                      <p:cBhvr>
                                        <p:cTn id="134" dur="550"/>
                                        <p:tgtEl>
                                          <p:spTgt spid="38"/>
                                        </p:tgtEl>
                                      </p:cBhvr>
                                    </p:animEffect>
                                    <p:anim calcmode="lin" valueType="num">
                                      <p:cBhvr>
                                        <p:cTn id="135" dur="550" fill="hold"/>
                                        <p:tgtEl>
                                          <p:spTgt spid="38"/>
                                        </p:tgtEl>
                                        <p:attrNameLst>
                                          <p:attrName>ppt_x</p:attrName>
                                        </p:attrNameLst>
                                      </p:cBhvr>
                                      <p:tavLst>
                                        <p:tav tm="0">
                                          <p:val>
                                            <p:strVal val="#ppt_x"/>
                                          </p:val>
                                        </p:tav>
                                        <p:tav tm="100000">
                                          <p:val>
                                            <p:strVal val="#ppt_x"/>
                                          </p:val>
                                        </p:tav>
                                      </p:tavLst>
                                    </p:anim>
                                    <p:anim calcmode="lin" valueType="num">
                                      <p:cBhvr>
                                        <p:cTn id="136" dur="550" fill="hold"/>
                                        <p:tgtEl>
                                          <p:spTgt spid="38"/>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fade">
                                      <p:cBhvr>
                                        <p:cTn id="139" dur="550"/>
                                        <p:tgtEl>
                                          <p:spTgt spid="39"/>
                                        </p:tgtEl>
                                      </p:cBhvr>
                                    </p:animEffect>
                                    <p:anim calcmode="lin" valueType="num">
                                      <p:cBhvr>
                                        <p:cTn id="140" dur="550" fill="hold"/>
                                        <p:tgtEl>
                                          <p:spTgt spid="39"/>
                                        </p:tgtEl>
                                        <p:attrNameLst>
                                          <p:attrName>ppt_x</p:attrName>
                                        </p:attrNameLst>
                                      </p:cBhvr>
                                      <p:tavLst>
                                        <p:tav tm="0">
                                          <p:val>
                                            <p:strVal val="#ppt_x"/>
                                          </p:val>
                                        </p:tav>
                                        <p:tav tm="100000">
                                          <p:val>
                                            <p:strVal val="#ppt_x"/>
                                          </p:val>
                                        </p:tav>
                                      </p:tavLst>
                                    </p:anim>
                                    <p:anim calcmode="lin" valueType="num">
                                      <p:cBhvr>
                                        <p:cTn id="141" dur="550" fill="hold"/>
                                        <p:tgtEl>
                                          <p:spTgt spid="39"/>
                                        </p:tgtEl>
                                        <p:attrNameLst>
                                          <p:attrName>ppt_y</p:attrName>
                                        </p:attrNameLst>
                                      </p:cBhvr>
                                      <p:tavLst>
                                        <p:tav tm="0">
                                          <p:val>
                                            <p:strVal val="#ppt_y+.1"/>
                                          </p:val>
                                        </p:tav>
                                        <p:tav tm="100000">
                                          <p:val>
                                            <p:strVal val="#ppt_y"/>
                                          </p:val>
                                        </p:tav>
                                      </p:tavLst>
                                    </p:anim>
                                  </p:childTnLst>
                                </p:cTn>
                              </p:par>
                              <p:par>
                                <p:cTn id="142" presetID="42" presetClass="entr" presetSubtype="0" fill="hold" grpId="0" nodeType="withEffect">
                                  <p:stCondLst>
                                    <p:cond delay="0"/>
                                  </p:stCondLst>
                                  <p:childTnLst>
                                    <p:set>
                                      <p:cBhvr>
                                        <p:cTn id="143" dur="1" fill="hold">
                                          <p:stCondLst>
                                            <p:cond delay="0"/>
                                          </p:stCondLst>
                                        </p:cTn>
                                        <p:tgtEl>
                                          <p:spTgt spid="40"/>
                                        </p:tgtEl>
                                        <p:attrNameLst>
                                          <p:attrName>style.visibility</p:attrName>
                                        </p:attrNameLst>
                                      </p:cBhvr>
                                      <p:to>
                                        <p:strVal val="visible"/>
                                      </p:to>
                                    </p:set>
                                    <p:animEffect transition="in" filter="fade">
                                      <p:cBhvr>
                                        <p:cTn id="144" dur="550"/>
                                        <p:tgtEl>
                                          <p:spTgt spid="40"/>
                                        </p:tgtEl>
                                      </p:cBhvr>
                                    </p:animEffect>
                                    <p:anim calcmode="lin" valueType="num">
                                      <p:cBhvr>
                                        <p:cTn id="145" dur="550" fill="hold"/>
                                        <p:tgtEl>
                                          <p:spTgt spid="40"/>
                                        </p:tgtEl>
                                        <p:attrNameLst>
                                          <p:attrName>ppt_x</p:attrName>
                                        </p:attrNameLst>
                                      </p:cBhvr>
                                      <p:tavLst>
                                        <p:tav tm="0">
                                          <p:val>
                                            <p:strVal val="#ppt_x"/>
                                          </p:val>
                                        </p:tav>
                                        <p:tav tm="100000">
                                          <p:val>
                                            <p:strVal val="#ppt_x"/>
                                          </p:val>
                                        </p:tav>
                                      </p:tavLst>
                                    </p:anim>
                                    <p:anim calcmode="lin" valueType="num">
                                      <p:cBhvr>
                                        <p:cTn id="146" dur="550" fill="hold"/>
                                        <p:tgtEl>
                                          <p:spTgt spid="40"/>
                                        </p:tgtEl>
                                        <p:attrNameLst>
                                          <p:attrName>ppt_y</p:attrName>
                                        </p:attrNameLst>
                                      </p:cBhvr>
                                      <p:tavLst>
                                        <p:tav tm="0">
                                          <p:val>
                                            <p:strVal val="#ppt_y+.1"/>
                                          </p:val>
                                        </p:tav>
                                        <p:tav tm="100000">
                                          <p:val>
                                            <p:strVal val="#ppt_y"/>
                                          </p:val>
                                        </p:tav>
                                      </p:tavLst>
                                    </p:anim>
                                  </p:childTnLst>
                                </p:cTn>
                              </p:par>
                              <p:par>
                                <p:cTn id="147" presetID="42" presetClass="entr" presetSubtype="0" fill="hold" grpId="0" nodeType="withEffect">
                                  <p:stCondLst>
                                    <p:cond delay="0"/>
                                  </p:stCondLst>
                                  <p:childTnLst>
                                    <p:set>
                                      <p:cBhvr>
                                        <p:cTn id="148" dur="1" fill="hold">
                                          <p:stCondLst>
                                            <p:cond delay="0"/>
                                          </p:stCondLst>
                                        </p:cTn>
                                        <p:tgtEl>
                                          <p:spTgt spid="41"/>
                                        </p:tgtEl>
                                        <p:attrNameLst>
                                          <p:attrName>style.visibility</p:attrName>
                                        </p:attrNameLst>
                                      </p:cBhvr>
                                      <p:to>
                                        <p:strVal val="visible"/>
                                      </p:to>
                                    </p:set>
                                    <p:animEffect transition="in" filter="fade">
                                      <p:cBhvr>
                                        <p:cTn id="149" dur="550"/>
                                        <p:tgtEl>
                                          <p:spTgt spid="41"/>
                                        </p:tgtEl>
                                      </p:cBhvr>
                                    </p:animEffect>
                                    <p:anim calcmode="lin" valueType="num">
                                      <p:cBhvr>
                                        <p:cTn id="150" dur="550" fill="hold"/>
                                        <p:tgtEl>
                                          <p:spTgt spid="41"/>
                                        </p:tgtEl>
                                        <p:attrNameLst>
                                          <p:attrName>ppt_x</p:attrName>
                                        </p:attrNameLst>
                                      </p:cBhvr>
                                      <p:tavLst>
                                        <p:tav tm="0">
                                          <p:val>
                                            <p:strVal val="#ppt_x"/>
                                          </p:val>
                                        </p:tav>
                                        <p:tav tm="100000">
                                          <p:val>
                                            <p:strVal val="#ppt_x"/>
                                          </p:val>
                                        </p:tav>
                                      </p:tavLst>
                                    </p:anim>
                                    <p:anim calcmode="lin" valueType="num">
                                      <p:cBhvr>
                                        <p:cTn id="151" dur="550" fill="hold"/>
                                        <p:tgtEl>
                                          <p:spTgt spid="41"/>
                                        </p:tgtEl>
                                        <p:attrNameLst>
                                          <p:attrName>ppt_y</p:attrName>
                                        </p:attrNameLst>
                                      </p:cBhvr>
                                      <p:tavLst>
                                        <p:tav tm="0">
                                          <p:val>
                                            <p:strVal val="#ppt_y+.1"/>
                                          </p:val>
                                        </p:tav>
                                        <p:tav tm="100000">
                                          <p:val>
                                            <p:strVal val="#ppt_y"/>
                                          </p:val>
                                        </p:tav>
                                      </p:tavLst>
                                    </p:anim>
                                  </p:childTnLst>
                                </p:cTn>
                              </p:par>
                              <p:par>
                                <p:cTn id="152" presetID="42" presetClass="entr" presetSubtype="0" fill="hold" grpId="0" nodeType="withEffect">
                                  <p:stCondLst>
                                    <p:cond delay="0"/>
                                  </p:stCondLst>
                                  <p:childTnLst>
                                    <p:set>
                                      <p:cBhvr>
                                        <p:cTn id="153" dur="1" fill="hold">
                                          <p:stCondLst>
                                            <p:cond delay="0"/>
                                          </p:stCondLst>
                                        </p:cTn>
                                        <p:tgtEl>
                                          <p:spTgt spid="42"/>
                                        </p:tgtEl>
                                        <p:attrNameLst>
                                          <p:attrName>style.visibility</p:attrName>
                                        </p:attrNameLst>
                                      </p:cBhvr>
                                      <p:to>
                                        <p:strVal val="visible"/>
                                      </p:to>
                                    </p:set>
                                    <p:animEffect transition="in" filter="fade">
                                      <p:cBhvr>
                                        <p:cTn id="154" dur="550"/>
                                        <p:tgtEl>
                                          <p:spTgt spid="42"/>
                                        </p:tgtEl>
                                      </p:cBhvr>
                                    </p:animEffect>
                                    <p:anim calcmode="lin" valueType="num">
                                      <p:cBhvr>
                                        <p:cTn id="155" dur="550" fill="hold"/>
                                        <p:tgtEl>
                                          <p:spTgt spid="42"/>
                                        </p:tgtEl>
                                        <p:attrNameLst>
                                          <p:attrName>ppt_x</p:attrName>
                                        </p:attrNameLst>
                                      </p:cBhvr>
                                      <p:tavLst>
                                        <p:tav tm="0">
                                          <p:val>
                                            <p:strVal val="#ppt_x"/>
                                          </p:val>
                                        </p:tav>
                                        <p:tav tm="100000">
                                          <p:val>
                                            <p:strVal val="#ppt_x"/>
                                          </p:val>
                                        </p:tav>
                                      </p:tavLst>
                                    </p:anim>
                                    <p:anim calcmode="lin" valueType="num">
                                      <p:cBhvr>
                                        <p:cTn id="156" dur="550" fill="hold"/>
                                        <p:tgtEl>
                                          <p:spTgt spid="42"/>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43"/>
                                        </p:tgtEl>
                                        <p:attrNameLst>
                                          <p:attrName>style.visibility</p:attrName>
                                        </p:attrNameLst>
                                      </p:cBhvr>
                                      <p:to>
                                        <p:strVal val="visible"/>
                                      </p:to>
                                    </p:set>
                                    <p:animEffect transition="in" filter="fade">
                                      <p:cBhvr>
                                        <p:cTn id="159" dur="550"/>
                                        <p:tgtEl>
                                          <p:spTgt spid="43"/>
                                        </p:tgtEl>
                                      </p:cBhvr>
                                    </p:animEffect>
                                    <p:anim calcmode="lin" valueType="num">
                                      <p:cBhvr>
                                        <p:cTn id="160" dur="550" fill="hold"/>
                                        <p:tgtEl>
                                          <p:spTgt spid="43"/>
                                        </p:tgtEl>
                                        <p:attrNameLst>
                                          <p:attrName>ppt_x</p:attrName>
                                        </p:attrNameLst>
                                      </p:cBhvr>
                                      <p:tavLst>
                                        <p:tav tm="0">
                                          <p:val>
                                            <p:strVal val="#ppt_x"/>
                                          </p:val>
                                        </p:tav>
                                        <p:tav tm="100000">
                                          <p:val>
                                            <p:strVal val="#ppt_x"/>
                                          </p:val>
                                        </p:tav>
                                      </p:tavLst>
                                    </p:anim>
                                    <p:anim calcmode="lin" valueType="num">
                                      <p:cBhvr>
                                        <p:cTn id="161" dur="550" fill="hold"/>
                                        <p:tgtEl>
                                          <p:spTgt spid="43"/>
                                        </p:tgtEl>
                                        <p:attrNameLst>
                                          <p:attrName>ppt_y</p:attrName>
                                        </p:attrNameLst>
                                      </p:cBhvr>
                                      <p:tavLst>
                                        <p:tav tm="0">
                                          <p:val>
                                            <p:strVal val="#ppt_y+.1"/>
                                          </p:val>
                                        </p:tav>
                                        <p:tav tm="100000">
                                          <p:val>
                                            <p:strVal val="#ppt_y"/>
                                          </p:val>
                                        </p:tav>
                                      </p:tavLst>
                                    </p:anim>
                                  </p:childTnLst>
                                </p:cTn>
                              </p:par>
                            </p:childTnLst>
                          </p:cTn>
                        </p:par>
                        <p:par>
                          <p:cTn id="162" fill="hold">
                            <p:stCondLst>
                              <p:cond delay="2900"/>
                            </p:stCondLst>
                            <p:childTnLst>
                              <p:par>
                                <p:cTn id="163" presetID="42" presetClass="entr" presetSubtype="0" fill="hold" grpId="0" nodeType="afterEffect">
                                  <p:stCondLst>
                                    <p:cond delay="0"/>
                                  </p:stCondLst>
                                  <p:childTnLst>
                                    <p:set>
                                      <p:cBhvr>
                                        <p:cTn id="164" dur="1" fill="hold">
                                          <p:stCondLst>
                                            <p:cond delay="0"/>
                                          </p:stCondLst>
                                        </p:cTn>
                                        <p:tgtEl>
                                          <p:spTgt spid="44"/>
                                        </p:tgtEl>
                                        <p:attrNameLst>
                                          <p:attrName>style.visibility</p:attrName>
                                        </p:attrNameLst>
                                      </p:cBhvr>
                                      <p:to>
                                        <p:strVal val="visible"/>
                                      </p:to>
                                    </p:set>
                                    <p:animEffect transition="in" filter="fade">
                                      <p:cBhvr>
                                        <p:cTn id="165" dur="550"/>
                                        <p:tgtEl>
                                          <p:spTgt spid="44"/>
                                        </p:tgtEl>
                                      </p:cBhvr>
                                    </p:animEffect>
                                    <p:anim calcmode="lin" valueType="num">
                                      <p:cBhvr>
                                        <p:cTn id="166" dur="550" fill="hold"/>
                                        <p:tgtEl>
                                          <p:spTgt spid="44"/>
                                        </p:tgtEl>
                                        <p:attrNameLst>
                                          <p:attrName>ppt_x</p:attrName>
                                        </p:attrNameLst>
                                      </p:cBhvr>
                                      <p:tavLst>
                                        <p:tav tm="0">
                                          <p:val>
                                            <p:strVal val="#ppt_x"/>
                                          </p:val>
                                        </p:tav>
                                        <p:tav tm="100000">
                                          <p:val>
                                            <p:strVal val="#ppt_x"/>
                                          </p:val>
                                        </p:tav>
                                      </p:tavLst>
                                    </p:anim>
                                    <p:anim calcmode="lin" valueType="num">
                                      <p:cBhvr>
                                        <p:cTn id="167" dur="550" fill="hold"/>
                                        <p:tgtEl>
                                          <p:spTgt spid="44"/>
                                        </p:tgtEl>
                                        <p:attrNameLst>
                                          <p:attrName>ppt_y</p:attrName>
                                        </p:attrNameLst>
                                      </p:cBhvr>
                                      <p:tavLst>
                                        <p:tav tm="0">
                                          <p:val>
                                            <p:strVal val="#ppt_y+.1"/>
                                          </p:val>
                                        </p:tav>
                                        <p:tav tm="100000">
                                          <p:val>
                                            <p:strVal val="#ppt_y"/>
                                          </p:val>
                                        </p:tav>
                                      </p:tavLst>
                                    </p:anim>
                                  </p:childTnLst>
                                </p:cTn>
                              </p:par>
                              <p:par>
                                <p:cTn id="168" presetID="42" presetClass="entr" presetSubtype="0" fill="hold" grpId="0" nodeType="withEffect">
                                  <p:stCondLst>
                                    <p:cond delay="0"/>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550"/>
                                        <p:tgtEl>
                                          <p:spTgt spid="45"/>
                                        </p:tgtEl>
                                      </p:cBhvr>
                                    </p:animEffect>
                                    <p:anim calcmode="lin" valueType="num">
                                      <p:cBhvr>
                                        <p:cTn id="171" dur="550" fill="hold"/>
                                        <p:tgtEl>
                                          <p:spTgt spid="45"/>
                                        </p:tgtEl>
                                        <p:attrNameLst>
                                          <p:attrName>ppt_x</p:attrName>
                                        </p:attrNameLst>
                                      </p:cBhvr>
                                      <p:tavLst>
                                        <p:tav tm="0">
                                          <p:val>
                                            <p:strVal val="#ppt_x"/>
                                          </p:val>
                                        </p:tav>
                                        <p:tav tm="100000">
                                          <p:val>
                                            <p:strVal val="#ppt_x"/>
                                          </p:val>
                                        </p:tav>
                                      </p:tavLst>
                                    </p:anim>
                                    <p:anim calcmode="lin" valueType="num">
                                      <p:cBhvr>
                                        <p:cTn id="172" dur="550" fill="hold"/>
                                        <p:tgtEl>
                                          <p:spTgt spid="45"/>
                                        </p:tgtEl>
                                        <p:attrNameLst>
                                          <p:attrName>ppt_y</p:attrName>
                                        </p:attrNameLst>
                                      </p:cBhvr>
                                      <p:tavLst>
                                        <p:tav tm="0">
                                          <p:val>
                                            <p:strVal val="#ppt_y+.1"/>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46"/>
                                        </p:tgtEl>
                                        <p:attrNameLst>
                                          <p:attrName>style.visibility</p:attrName>
                                        </p:attrNameLst>
                                      </p:cBhvr>
                                      <p:to>
                                        <p:strVal val="visible"/>
                                      </p:to>
                                    </p:set>
                                    <p:animEffect transition="in" filter="fade">
                                      <p:cBhvr>
                                        <p:cTn id="175" dur="550"/>
                                        <p:tgtEl>
                                          <p:spTgt spid="46"/>
                                        </p:tgtEl>
                                      </p:cBhvr>
                                    </p:animEffect>
                                    <p:anim calcmode="lin" valueType="num">
                                      <p:cBhvr>
                                        <p:cTn id="176" dur="550" fill="hold"/>
                                        <p:tgtEl>
                                          <p:spTgt spid="46"/>
                                        </p:tgtEl>
                                        <p:attrNameLst>
                                          <p:attrName>ppt_x</p:attrName>
                                        </p:attrNameLst>
                                      </p:cBhvr>
                                      <p:tavLst>
                                        <p:tav tm="0">
                                          <p:val>
                                            <p:strVal val="#ppt_x"/>
                                          </p:val>
                                        </p:tav>
                                        <p:tav tm="100000">
                                          <p:val>
                                            <p:strVal val="#ppt_x"/>
                                          </p:val>
                                        </p:tav>
                                      </p:tavLst>
                                    </p:anim>
                                    <p:anim calcmode="lin" valueType="num">
                                      <p:cBhvr>
                                        <p:cTn id="177" dur="550" fill="hold"/>
                                        <p:tgtEl>
                                          <p:spTgt spid="46"/>
                                        </p:tgtEl>
                                        <p:attrNameLst>
                                          <p:attrName>ppt_y</p:attrName>
                                        </p:attrNameLst>
                                      </p:cBhvr>
                                      <p:tavLst>
                                        <p:tav tm="0">
                                          <p:val>
                                            <p:strVal val="#ppt_y+.1"/>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47"/>
                                        </p:tgtEl>
                                        <p:attrNameLst>
                                          <p:attrName>style.visibility</p:attrName>
                                        </p:attrNameLst>
                                      </p:cBhvr>
                                      <p:to>
                                        <p:strVal val="visible"/>
                                      </p:to>
                                    </p:set>
                                    <p:animEffect transition="in" filter="fade">
                                      <p:cBhvr>
                                        <p:cTn id="180" dur="550"/>
                                        <p:tgtEl>
                                          <p:spTgt spid="47"/>
                                        </p:tgtEl>
                                      </p:cBhvr>
                                    </p:animEffect>
                                    <p:anim calcmode="lin" valueType="num">
                                      <p:cBhvr>
                                        <p:cTn id="181" dur="550" fill="hold"/>
                                        <p:tgtEl>
                                          <p:spTgt spid="47"/>
                                        </p:tgtEl>
                                        <p:attrNameLst>
                                          <p:attrName>ppt_x</p:attrName>
                                        </p:attrNameLst>
                                      </p:cBhvr>
                                      <p:tavLst>
                                        <p:tav tm="0">
                                          <p:val>
                                            <p:strVal val="#ppt_x"/>
                                          </p:val>
                                        </p:tav>
                                        <p:tav tm="100000">
                                          <p:val>
                                            <p:strVal val="#ppt_x"/>
                                          </p:val>
                                        </p:tav>
                                      </p:tavLst>
                                    </p:anim>
                                    <p:anim calcmode="lin" valueType="num">
                                      <p:cBhvr>
                                        <p:cTn id="182" dur="550" fill="hold"/>
                                        <p:tgtEl>
                                          <p:spTgt spid="47"/>
                                        </p:tgtEl>
                                        <p:attrNameLst>
                                          <p:attrName>ppt_y</p:attrName>
                                        </p:attrNameLst>
                                      </p:cBhvr>
                                      <p:tavLst>
                                        <p:tav tm="0">
                                          <p:val>
                                            <p:strVal val="#ppt_y+.1"/>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48"/>
                                        </p:tgtEl>
                                        <p:attrNameLst>
                                          <p:attrName>style.visibility</p:attrName>
                                        </p:attrNameLst>
                                      </p:cBhvr>
                                      <p:to>
                                        <p:strVal val="visible"/>
                                      </p:to>
                                    </p:set>
                                    <p:animEffect transition="in" filter="fade">
                                      <p:cBhvr>
                                        <p:cTn id="185" dur="550"/>
                                        <p:tgtEl>
                                          <p:spTgt spid="48"/>
                                        </p:tgtEl>
                                      </p:cBhvr>
                                    </p:animEffect>
                                    <p:anim calcmode="lin" valueType="num">
                                      <p:cBhvr>
                                        <p:cTn id="186" dur="550" fill="hold"/>
                                        <p:tgtEl>
                                          <p:spTgt spid="48"/>
                                        </p:tgtEl>
                                        <p:attrNameLst>
                                          <p:attrName>ppt_x</p:attrName>
                                        </p:attrNameLst>
                                      </p:cBhvr>
                                      <p:tavLst>
                                        <p:tav tm="0">
                                          <p:val>
                                            <p:strVal val="#ppt_x"/>
                                          </p:val>
                                        </p:tav>
                                        <p:tav tm="100000">
                                          <p:val>
                                            <p:strVal val="#ppt_x"/>
                                          </p:val>
                                        </p:tav>
                                      </p:tavLst>
                                    </p:anim>
                                    <p:anim calcmode="lin" valueType="num">
                                      <p:cBhvr>
                                        <p:cTn id="187" dur="550" fill="hold"/>
                                        <p:tgtEl>
                                          <p:spTgt spid="48"/>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anim calcmode="lin" valueType="num">
                                      <p:cBhvr>
                                        <p:cTn id="191" dur="550" fill="hold"/>
                                        <p:tgtEl>
                                          <p:spTgt spid="49"/>
                                        </p:tgtEl>
                                        <p:attrNameLst>
                                          <p:attrName>ppt_x</p:attrName>
                                        </p:attrNameLst>
                                      </p:cBhvr>
                                      <p:tavLst>
                                        <p:tav tm="0">
                                          <p:val>
                                            <p:strVal val="#ppt_x"/>
                                          </p:val>
                                        </p:tav>
                                        <p:tav tm="100000">
                                          <p:val>
                                            <p:strVal val="#ppt_x"/>
                                          </p:val>
                                        </p:tav>
                                      </p:tavLst>
                                    </p:anim>
                                    <p:anim calcmode="lin" valueType="num">
                                      <p:cBhvr>
                                        <p:cTn id="192" dur="550" fill="hold"/>
                                        <p:tgtEl>
                                          <p:spTgt spid="49"/>
                                        </p:tgtEl>
                                        <p:attrNameLst>
                                          <p:attrName>ppt_y</p:attrName>
                                        </p:attrNameLst>
                                      </p:cBhvr>
                                      <p:tavLst>
                                        <p:tav tm="0">
                                          <p:val>
                                            <p:strVal val="#ppt_y+.1"/>
                                          </p:val>
                                        </p:tav>
                                        <p:tav tm="100000">
                                          <p:val>
                                            <p:strVal val="#ppt_y"/>
                                          </p:val>
                                        </p:tav>
                                      </p:tavLst>
                                    </p:anim>
                                  </p:childTnLst>
                                </p:cTn>
                              </p:par>
                              <p:par>
                                <p:cTn id="193" presetID="42" presetClass="entr" presetSubtype="0" fill="hold" grpId="0" nodeType="withEffect">
                                  <p:stCondLst>
                                    <p:cond delay="0"/>
                                  </p:stCondLst>
                                  <p:childTnLst>
                                    <p:set>
                                      <p:cBhvr>
                                        <p:cTn id="194" dur="1" fill="hold">
                                          <p:stCondLst>
                                            <p:cond delay="0"/>
                                          </p:stCondLst>
                                        </p:cTn>
                                        <p:tgtEl>
                                          <p:spTgt spid="50"/>
                                        </p:tgtEl>
                                        <p:attrNameLst>
                                          <p:attrName>style.visibility</p:attrName>
                                        </p:attrNameLst>
                                      </p:cBhvr>
                                      <p:to>
                                        <p:strVal val="visible"/>
                                      </p:to>
                                    </p:set>
                                    <p:animEffect transition="in" filter="fade">
                                      <p:cBhvr>
                                        <p:cTn id="195" dur="550"/>
                                        <p:tgtEl>
                                          <p:spTgt spid="50"/>
                                        </p:tgtEl>
                                      </p:cBhvr>
                                    </p:animEffect>
                                    <p:anim calcmode="lin" valueType="num">
                                      <p:cBhvr>
                                        <p:cTn id="196" dur="550" fill="hold"/>
                                        <p:tgtEl>
                                          <p:spTgt spid="50"/>
                                        </p:tgtEl>
                                        <p:attrNameLst>
                                          <p:attrName>ppt_x</p:attrName>
                                        </p:attrNameLst>
                                      </p:cBhvr>
                                      <p:tavLst>
                                        <p:tav tm="0">
                                          <p:val>
                                            <p:strVal val="#ppt_x"/>
                                          </p:val>
                                        </p:tav>
                                        <p:tav tm="100000">
                                          <p:val>
                                            <p:strVal val="#ppt_x"/>
                                          </p:val>
                                        </p:tav>
                                      </p:tavLst>
                                    </p:anim>
                                    <p:anim calcmode="lin" valueType="num">
                                      <p:cBhvr>
                                        <p:cTn id="197" dur="550" fill="hold"/>
                                        <p:tgtEl>
                                          <p:spTgt spid="50"/>
                                        </p:tgtEl>
                                        <p:attrNameLst>
                                          <p:attrName>ppt_y</p:attrName>
                                        </p:attrNameLst>
                                      </p:cBhvr>
                                      <p:tavLst>
                                        <p:tav tm="0">
                                          <p:val>
                                            <p:strVal val="#ppt_y+.1"/>
                                          </p:val>
                                        </p:tav>
                                        <p:tav tm="100000">
                                          <p:val>
                                            <p:strVal val="#ppt_y"/>
                                          </p:val>
                                        </p:tav>
                                      </p:tavLst>
                                    </p:anim>
                                  </p:childTnLst>
                                </p:cTn>
                              </p:par>
                              <p:par>
                                <p:cTn id="198" presetID="42" presetClass="entr" presetSubtype="0" fill="hold" grpId="0" nodeType="withEffect">
                                  <p:stCondLst>
                                    <p:cond delay="0"/>
                                  </p:stCondLst>
                                  <p:childTnLst>
                                    <p:set>
                                      <p:cBhvr>
                                        <p:cTn id="199" dur="1" fill="hold">
                                          <p:stCondLst>
                                            <p:cond delay="0"/>
                                          </p:stCondLst>
                                        </p:cTn>
                                        <p:tgtEl>
                                          <p:spTgt spid="51"/>
                                        </p:tgtEl>
                                        <p:attrNameLst>
                                          <p:attrName>style.visibility</p:attrName>
                                        </p:attrNameLst>
                                      </p:cBhvr>
                                      <p:to>
                                        <p:strVal val="visible"/>
                                      </p:to>
                                    </p:set>
                                    <p:animEffect transition="in" filter="fade">
                                      <p:cBhvr>
                                        <p:cTn id="200" dur="550"/>
                                        <p:tgtEl>
                                          <p:spTgt spid="51"/>
                                        </p:tgtEl>
                                      </p:cBhvr>
                                    </p:animEffect>
                                    <p:anim calcmode="lin" valueType="num">
                                      <p:cBhvr>
                                        <p:cTn id="201" dur="550" fill="hold"/>
                                        <p:tgtEl>
                                          <p:spTgt spid="51"/>
                                        </p:tgtEl>
                                        <p:attrNameLst>
                                          <p:attrName>ppt_x</p:attrName>
                                        </p:attrNameLst>
                                      </p:cBhvr>
                                      <p:tavLst>
                                        <p:tav tm="0">
                                          <p:val>
                                            <p:strVal val="#ppt_x"/>
                                          </p:val>
                                        </p:tav>
                                        <p:tav tm="100000">
                                          <p:val>
                                            <p:strVal val="#ppt_x"/>
                                          </p:val>
                                        </p:tav>
                                      </p:tavLst>
                                    </p:anim>
                                    <p:anim calcmode="lin" valueType="num">
                                      <p:cBhvr>
                                        <p:cTn id="202" dur="550" fill="hold"/>
                                        <p:tgtEl>
                                          <p:spTgt spid="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2" grpId="0" animBg="1"/>
      <p:bldP spid="23" grpId="0" animBg="1"/>
      <p:bldP spid="24" grpId="0" animBg="1"/>
      <p:bldP spid="25" grpId="0" animBg="1"/>
      <p:bldP spid="27" grpId="0" animBg="1"/>
      <p:bldP spid="28" grpId="0" animBg="1"/>
      <p:bldP spid="30" grpId="0" animBg="1"/>
      <p:bldP spid="31" grpId="0" animBg="1"/>
      <p:bldP spid="32" grpId="0" animBg="1"/>
      <p:bldP spid="34" grpId="0" animBg="1"/>
      <p:bldP spid="35" grpId="0" animBg="1"/>
      <p:bldP spid="36" grpId="0" animBg="1"/>
      <p:bldP spid="38" grpId="0" animBg="1"/>
      <p:bldP spid="39" grpId="0" animBg="1"/>
      <p:bldP spid="40" grpId="0" animBg="1"/>
      <p:bldP spid="42" grpId="0" animBg="1"/>
      <p:bldP spid="43" grpId="0" animBg="1"/>
      <p:bldP spid="44" grpId="0" animBg="1"/>
      <p:bldP spid="46" grpId="0" animBg="1"/>
      <p:bldP spid="47" grpId="0" animBg="1"/>
      <p:bldP spid="48" grpId="0" animBg="1"/>
      <p:bldP spid="50" grpId="0" animBg="1"/>
      <p:bldP spid="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INSIDE THE ACCELERATOR</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From migration run to pull request</a:t>
            </a:r>
            <a:endParaRPr lang="en-US" sz="3200" dirty="0"/>
          </a:p>
        </p:txBody>
      </p:sp>
      <p:sp>
        <p:nvSpPr>
          <p:cNvPr id="4" name="a1z-gf0"/>
          <p:cNvSpPr/>
          <p:nvPr/>
        </p:nvSpPr>
        <p:spPr>
          <a:xfrm>
            <a:off x="987552" y="1673352"/>
            <a:ext cx="859536" cy="859536"/>
          </a:xfrm>
          <a:prstGeom prst="ellipse">
            <a:avLst/>
          </a:prstGeom>
          <a:solidFill>
            <a:schemeClr val="accent1"/>
          </a:solidFill>
          <a:ln/>
        </p:spPr>
      </p:sp>
      <p:pic>
        <p:nvPicPr>
          <p:cNvPr id="5" name="a1z-gf0i" descr="preencoded.png">    </p:cNvPr>
          <p:cNvPicPr>
            <a:picLocks noChangeAspect="1"/>
          </p:cNvPicPr>
          <p:nvPr/>
        </p:nvPicPr>
        <p:blipFill>
          <a:blip r:embed="rId1"/>
          <a:stretch>
            <a:fillRect/>
          </a:stretch>
        </p:blipFill>
        <p:spPr>
          <a:xfrm>
            <a:off x="1202436" y="1888236"/>
            <a:ext cx="429768" cy="429768"/>
          </a:xfrm>
          <a:prstGeom prst="rect">
            <a:avLst/>
          </a:prstGeom>
        </p:spPr>
      </p:pic>
      <p:sp>
        <p:nvSpPr>
          <p:cNvPr id="6" name="a1z-gf0h"/>
          <p:cNvSpPr txBox="1"/>
          <p:nvPr/>
        </p:nvSpPr>
        <p:spPr>
          <a:xfrm>
            <a:off x="548640" y="2670048"/>
            <a:ext cx="1737360" cy="347472"/>
          </a:xfrm>
          <a:prstGeom prst="rect">
            <a:avLst/>
          </a:prstGeom>
          <a:noFill/>
          <a:ln/>
        </p:spPr>
        <p:txBody>
          <a:bodyPr wrap="square" lIns="0" tIns="0" rIns="0" bIns="0" rtlCol="0" anchor="t"/>
          <a:lstStyle/>
          <a:p>
            <a:pPr algn="ctr" indent="0" marL="0">
              <a:buNone/>
            </a:pPr>
            <a:r>
              <a:rPr lang="en-US" sz="1600" dirty="0">
                <a:solidFill>
                  <a:schemeClr val="tx2"/>
                </a:solidFill>
                <a:latin typeface="+mj-lt" pitchFamily="34" charset="0"/>
                <a:ea typeface="+mj-lt" pitchFamily="34" charset="-122"/>
                <a:cs typeface="+mj-lt" pitchFamily="34" charset="-120"/>
              </a:rPr>
              <a:t>Synapse Git</a:t>
            </a:r>
            <a:endParaRPr lang="en-US" sz="1600" dirty="0"/>
          </a:p>
        </p:txBody>
      </p:sp>
      <p:sp>
        <p:nvSpPr>
          <p:cNvPr id="7" name="a1z-gf0b"/>
          <p:cNvSpPr txBox="1"/>
          <p:nvPr/>
        </p:nvSpPr>
        <p:spPr>
          <a:xfrm>
            <a:off x="548640"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collaboration branch</a:t>
            </a:r>
            <a:endParaRPr lang="en-US" sz="1300" dirty="0"/>
          </a:p>
        </p:txBody>
      </p:sp>
      <p:sp>
        <p:nvSpPr>
          <p:cNvPr id="8" name="a2w-ga1"/>
          <p:cNvSpPr/>
          <p:nvPr/>
        </p:nvSpPr>
        <p:spPr>
          <a:xfrm>
            <a:off x="1920240" y="2103120"/>
            <a:ext cx="865022" cy="91"/>
          </a:xfrm>
          <a:prstGeom prst="line">
            <a:avLst/>
          </a:prstGeom>
          <a:noFill/>
          <a:ln w="22225">
            <a:solidFill>
              <a:srgbClr val="5D6B82"/>
            </a:solidFill>
            <a:prstDash val="solid"/>
            <a:tailEnd type="triangle"/>
          </a:ln>
        </p:spPr>
      </p:sp>
      <p:sp>
        <p:nvSpPr>
          <p:cNvPr id="9" name="a2z-gf1"/>
          <p:cNvSpPr/>
          <p:nvPr/>
        </p:nvSpPr>
        <p:spPr>
          <a:xfrm>
            <a:off x="2858414" y="1673352"/>
            <a:ext cx="859536" cy="859536"/>
          </a:xfrm>
          <a:prstGeom prst="ellipse">
            <a:avLst/>
          </a:prstGeom>
          <a:solidFill>
            <a:schemeClr val="accent1"/>
          </a:solidFill>
          <a:ln/>
        </p:spPr>
      </p:sp>
      <p:pic>
        <p:nvPicPr>
          <p:cNvPr id="10" name="a2z-gf1i" descr="preencoded.png">    </p:cNvPr>
          <p:cNvPicPr>
            <a:picLocks noChangeAspect="1"/>
          </p:cNvPicPr>
          <p:nvPr/>
        </p:nvPicPr>
        <p:blipFill>
          <a:blip r:embed="rId2"/>
          <a:stretch>
            <a:fillRect/>
          </a:stretch>
        </p:blipFill>
        <p:spPr>
          <a:xfrm>
            <a:off x="3073298" y="1888236"/>
            <a:ext cx="429768" cy="429768"/>
          </a:xfrm>
          <a:prstGeom prst="rect">
            <a:avLst/>
          </a:prstGeom>
        </p:spPr>
      </p:pic>
      <p:sp>
        <p:nvSpPr>
          <p:cNvPr id="11" name="a2z-gf1h"/>
          <p:cNvSpPr txBox="1"/>
          <p:nvPr/>
        </p:nvSpPr>
        <p:spPr>
          <a:xfrm>
            <a:off x="2419502" y="2670048"/>
            <a:ext cx="1737360" cy="347472"/>
          </a:xfrm>
          <a:prstGeom prst="rect">
            <a:avLst/>
          </a:prstGeom>
          <a:noFill/>
          <a:ln/>
        </p:spPr>
        <p:txBody>
          <a:bodyPr wrap="square" lIns="0" tIns="0" rIns="0" bIns="0" rtlCol="0" anchor="t"/>
          <a:lstStyle/>
          <a:p>
            <a:pPr algn="ctr" indent="0" marL="0">
              <a:buNone/>
            </a:pPr>
            <a:r>
              <a:rPr lang="en-US" sz="1600" dirty="0">
                <a:solidFill>
                  <a:schemeClr val="tx2"/>
                </a:solidFill>
                <a:latin typeface="+mj-lt" pitchFamily="34" charset="0"/>
                <a:ea typeface="+mj-lt" pitchFamily="34" charset="-122"/>
                <a:cs typeface="+mj-lt" pitchFamily="34" charset="-120"/>
              </a:rPr>
              <a:t>Accelerator</a:t>
            </a:r>
            <a:endParaRPr lang="en-US" sz="1600" dirty="0"/>
          </a:p>
        </p:txBody>
      </p:sp>
      <p:sp>
        <p:nvSpPr>
          <p:cNvPr id="12" name="a2z-gf1b"/>
          <p:cNvSpPr txBox="1"/>
          <p:nvPr/>
        </p:nvSpPr>
        <p:spPr>
          <a:xfrm>
            <a:off x="2419502"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discover and migrate</a:t>
            </a:r>
            <a:endParaRPr lang="en-US" sz="1300" dirty="0"/>
          </a:p>
        </p:txBody>
      </p:sp>
      <p:sp>
        <p:nvSpPr>
          <p:cNvPr id="13" name="a3w-ga2"/>
          <p:cNvSpPr/>
          <p:nvPr/>
        </p:nvSpPr>
        <p:spPr>
          <a:xfrm>
            <a:off x="3791102" y="2103120"/>
            <a:ext cx="865022" cy="91"/>
          </a:xfrm>
          <a:prstGeom prst="line">
            <a:avLst/>
          </a:prstGeom>
          <a:noFill/>
          <a:ln w="22225">
            <a:solidFill>
              <a:srgbClr val="5D6B82"/>
            </a:solidFill>
            <a:prstDash val="solid"/>
            <a:tailEnd type="triangle"/>
          </a:ln>
        </p:spPr>
      </p:sp>
      <p:sp>
        <p:nvSpPr>
          <p:cNvPr id="14" name="a3z-gf2"/>
          <p:cNvSpPr/>
          <p:nvPr/>
        </p:nvSpPr>
        <p:spPr>
          <a:xfrm>
            <a:off x="4729277" y="1673352"/>
            <a:ext cx="859536" cy="859536"/>
          </a:xfrm>
          <a:prstGeom prst="ellipse">
            <a:avLst/>
          </a:prstGeom>
          <a:solidFill>
            <a:schemeClr val="accent1"/>
          </a:solidFill>
          <a:ln/>
        </p:spPr>
      </p:sp>
      <p:pic>
        <p:nvPicPr>
          <p:cNvPr id="15" name="a3z-gf2i" descr="preencoded.png">    </p:cNvPr>
          <p:cNvPicPr>
            <a:picLocks noChangeAspect="1"/>
          </p:cNvPicPr>
          <p:nvPr/>
        </p:nvPicPr>
        <p:blipFill>
          <a:blip r:embed="rId3"/>
          <a:stretch>
            <a:fillRect/>
          </a:stretch>
        </p:blipFill>
        <p:spPr>
          <a:xfrm>
            <a:off x="4944161" y="1888236"/>
            <a:ext cx="429768" cy="429768"/>
          </a:xfrm>
          <a:prstGeom prst="rect">
            <a:avLst/>
          </a:prstGeom>
        </p:spPr>
      </p:pic>
      <p:sp>
        <p:nvSpPr>
          <p:cNvPr id="16" name="a3z-gf2h"/>
          <p:cNvSpPr txBox="1"/>
          <p:nvPr/>
        </p:nvSpPr>
        <p:spPr>
          <a:xfrm>
            <a:off x="4290365" y="2670048"/>
            <a:ext cx="1737360" cy="347472"/>
          </a:xfrm>
          <a:prstGeom prst="rect">
            <a:avLst/>
          </a:prstGeom>
          <a:noFill/>
          <a:ln/>
        </p:spPr>
        <p:txBody>
          <a:bodyPr wrap="square" lIns="0" tIns="0" rIns="0" bIns="0" rtlCol="0" anchor="t"/>
          <a:lstStyle/>
          <a:p>
            <a:pPr algn="ctr" indent="0" marL="0">
              <a:buNone/>
            </a:pPr>
            <a:r>
              <a:rPr lang="en-US" sz="1600" dirty="0">
                <a:solidFill>
                  <a:schemeClr val="tx2"/>
                </a:solidFill>
                <a:latin typeface="+mj-lt" pitchFamily="34" charset="0"/>
                <a:ea typeface="+mj-lt" pitchFamily="34" charset="-122"/>
                <a:cs typeface="+mj-lt" pitchFamily="34" charset="-120"/>
              </a:rPr>
              <a:t>Fabric Dev</a:t>
            </a:r>
            <a:endParaRPr lang="en-US" sz="1600" dirty="0"/>
          </a:p>
        </p:txBody>
      </p:sp>
      <p:sp>
        <p:nvSpPr>
          <p:cNvPr id="17" name="a3z-gf2b"/>
          <p:cNvSpPr txBox="1"/>
          <p:nvPr/>
        </p:nvSpPr>
        <p:spPr>
          <a:xfrm>
            <a:off x="4290365"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the migrated items</a:t>
            </a:r>
            <a:endParaRPr lang="en-US" sz="1300" dirty="0"/>
          </a:p>
        </p:txBody>
      </p:sp>
      <p:sp>
        <p:nvSpPr>
          <p:cNvPr id="18" name="a4w-ga3"/>
          <p:cNvSpPr/>
          <p:nvPr/>
        </p:nvSpPr>
        <p:spPr>
          <a:xfrm>
            <a:off x="5661965" y="2103120"/>
            <a:ext cx="865022" cy="91"/>
          </a:xfrm>
          <a:prstGeom prst="line">
            <a:avLst/>
          </a:prstGeom>
          <a:noFill/>
          <a:ln w="22225">
            <a:solidFill>
              <a:srgbClr val="5D6B82"/>
            </a:solidFill>
            <a:prstDash val="solid"/>
            <a:tailEnd type="triangle"/>
          </a:ln>
        </p:spPr>
      </p:sp>
      <p:sp>
        <p:nvSpPr>
          <p:cNvPr id="19" name="a4z-gf3"/>
          <p:cNvSpPr/>
          <p:nvPr/>
        </p:nvSpPr>
        <p:spPr>
          <a:xfrm>
            <a:off x="6600139" y="1673352"/>
            <a:ext cx="859536" cy="859536"/>
          </a:xfrm>
          <a:prstGeom prst="ellipse">
            <a:avLst/>
          </a:prstGeom>
          <a:solidFill>
            <a:schemeClr val="accent1"/>
          </a:solidFill>
          <a:ln/>
        </p:spPr>
      </p:sp>
      <p:pic>
        <p:nvPicPr>
          <p:cNvPr id="20" name="a4z-gf3i" descr="preencoded.png">    </p:cNvPr>
          <p:cNvPicPr>
            <a:picLocks noChangeAspect="1"/>
          </p:cNvPicPr>
          <p:nvPr/>
        </p:nvPicPr>
        <p:blipFill>
          <a:blip r:embed="rId4"/>
          <a:stretch>
            <a:fillRect/>
          </a:stretch>
        </p:blipFill>
        <p:spPr>
          <a:xfrm>
            <a:off x="6815023" y="1888236"/>
            <a:ext cx="429768" cy="429768"/>
          </a:xfrm>
          <a:prstGeom prst="rect">
            <a:avLst/>
          </a:prstGeom>
        </p:spPr>
      </p:pic>
      <p:sp>
        <p:nvSpPr>
          <p:cNvPr id="21" name="a4z-gf3h"/>
          <p:cNvSpPr txBox="1"/>
          <p:nvPr/>
        </p:nvSpPr>
        <p:spPr>
          <a:xfrm>
            <a:off x="6161227" y="2670048"/>
            <a:ext cx="1737360" cy="347472"/>
          </a:xfrm>
          <a:prstGeom prst="rect">
            <a:avLst/>
          </a:prstGeom>
          <a:noFill/>
          <a:ln/>
        </p:spPr>
        <p:txBody>
          <a:bodyPr wrap="square" lIns="0" tIns="0" rIns="0" bIns="0" rtlCol="0" anchor="t"/>
          <a:lstStyle/>
          <a:p>
            <a:pPr algn="ctr" indent="0" marL="0">
              <a:buNone/>
            </a:pPr>
            <a:r>
              <a:rPr lang="en-US" sz="1600" dirty="0">
                <a:solidFill>
                  <a:schemeClr val="tx2"/>
                </a:solidFill>
                <a:latin typeface="+mj-lt" pitchFamily="34" charset="0"/>
                <a:ea typeface="+mj-lt" pitchFamily="34" charset="-122"/>
                <a:cs typeface="+mj-lt" pitchFamily="34" charset="-120"/>
              </a:rPr>
              <a:t>dev branch</a:t>
            </a:r>
            <a:endParaRPr lang="en-US" sz="1600" dirty="0"/>
          </a:p>
        </p:txBody>
      </p:sp>
      <p:sp>
        <p:nvSpPr>
          <p:cNvPr id="22" name="a4z-gf3b"/>
          <p:cNvSpPr txBox="1"/>
          <p:nvPr/>
        </p:nvSpPr>
        <p:spPr>
          <a:xfrm>
            <a:off x="6161227"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commit after each run</a:t>
            </a:r>
            <a:endParaRPr lang="en-US" sz="1300" dirty="0"/>
          </a:p>
        </p:txBody>
      </p:sp>
      <p:sp>
        <p:nvSpPr>
          <p:cNvPr id="23" name="a5w-ga4"/>
          <p:cNvSpPr/>
          <p:nvPr/>
        </p:nvSpPr>
        <p:spPr>
          <a:xfrm>
            <a:off x="7532827" y="2103120"/>
            <a:ext cx="865022" cy="91"/>
          </a:xfrm>
          <a:prstGeom prst="line">
            <a:avLst/>
          </a:prstGeom>
          <a:noFill/>
          <a:ln w="22225">
            <a:solidFill>
              <a:srgbClr val="5D6B82"/>
            </a:solidFill>
            <a:prstDash val="solid"/>
            <a:tailEnd type="triangle"/>
          </a:ln>
        </p:spPr>
      </p:sp>
      <p:sp>
        <p:nvSpPr>
          <p:cNvPr id="24" name="a5z-gf4"/>
          <p:cNvSpPr/>
          <p:nvPr/>
        </p:nvSpPr>
        <p:spPr>
          <a:xfrm>
            <a:off x="8471002" y="1673352"/>
            <a:ext cx="859536" cy="859536"/>
          </a:xfrm>
          <a:prstGeom prst="ellipse">
            <a:avLst/>
          </a:prstGeom>
          <a:solidFill>
            <a:schemeClr val="accent1"/>
          </a:solidFill>
          <a:ln/>
        </p:spPr>
      </p:sp>
      <p:pic>
        <p:nvPicPr>
          <p:cNvPr id="25" name="a5z-gf4i" descr="preencoded.png">    </p:cNvPr>
          <p:cNvPicPr>
            <a:picLocks noChangeAspect="1"/>
          </p:cNvPicPr>
          <p:nvPr/>
        </p:nvPicPr>
        <p:blipFill>
          <a:blip r:embed="rId5"/>
          <a:stretch>
            <a:fillRect/>
          </a:stretch>
        </p:blipFill>
        <p:spPr>
          <a:xfrm>
            <a:off x="8685886" y="1888236"/>
            <a:ext cx="429768" cy="429768"/>
          </a:xfrm>
          <a:prstGeom prst="rect">
            <a:avLst/>
          </a:prstGeom>
        </p:spPr>
      </p:pic>
      <p:sp>
        <p:nvSpPr>
          <p:cNvPr id="26" name="a5z-gf4h"/>
          <p:cNvSpPr txBox="1"/>
          <p:nvPr/>
        </p:nvSpPr>
        <p:spPr>
          <a:xfrm>
            <a:off x="8032090" y="2670048"/>
            <a:ext cx="1737360" cy="347472"/>
          </a:xfrm>
          <a:prstGeom prst="rect">
            <a:avLst/>
          </a:prstGeom>
          <a:noFill/>
          <a:ln/>
        </p:spPr>
        <p:txBody>
          <a:bodyPr wrap="square" lIns="0" tIns="0" rIns="0" bIns="0" rtlCol="0" anchor="t"/>
          <a:lstStyle/>
          <a:p>
            <a:pPr algn="ctr" indent="0" marL="0">
              <a:buNone/>
            </a:pPr>
            <a:r>
              <a:rPr lang="en-US" sz="1600" dirty="0">
                <a:solidFill>
                  <a:schemeClr val="tx2"/>
                </a:solidFill>
                <a:latin typeface="+mj-lt" pitchFamily="34" charset="0"/>
                <a:ea typeface="+mj-lt" pitchFamily="34" charset="-122"/>
                <a:cs typeface="+mj-lt" pitchFamily="34" charset="-120"/>
              </a:rPr>
              <a:t>Pull request</a:t>
            </a:r>
            <a:endParaRPr lang="en-US" sz="1600" dirty="0"/>
          </a:p>
        </p:txBody>
      </p:sp>
      <p:sp>
        <p:nvSpPr>
          <p:cNvPr id="27" name="a5z-gf4b"/>
          <p:cNvSpPr txBox="1"/>
          <p:nvPr/>
        </p:nvSpPr>
        <p:spPr>
          <a:xfrm>
            <a:off x="8032090"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review dev → main</a:t>
            </a:r>
            <a:endParaRPr lang="en-US" sz="1300" dirty="0"/>
          </a:p>
        </p:txBody>
      </p:sp>
      <p:sp>
        <p:nvSpPr>
          <p:cNvPr id="28" name="a6w-ga5"/>
          <p:cNvSpPr/>
          <p:nvPr/>
        </p:nvSpPr>
        <p:spPr>
          <a:xfrm>
            <a:off x="9403690" y="2103120"/>
            <a:ext cx="865022" cy="91"/>
          </a:xfrm>
          <a:prstGeom prst="line">
            <a:avLst/>
          </a:prstGeom>
          <a:noFill/>
          <a:ln w="22225">
            <a:solidFill>
              <a:srgbClr val="5D6B82"/>
            </a:solidFill>
            <a:prstDash val="dash"/>
            <a:tailEnd type="triangle"/>
          </a:ln>
        </p:spPr>
      </p:sp>
      <p:sp>
        <p:nvSpPr>
          <p:cNvPr id="29" name="a6z-gf5"/>
          <p:cNvSpPr/>
          <p:nvPr/>
        </p:nvSpPr>
        <p:spPr>
          <a:xfrm>
            <a:off x="10341864" y="1673352"/>
            <a:ext cx="859536" cy="859536"/>
          </a:xfrm>
          <a:prstGeom prst="ellipse">
            <a:avLst/>
          </a:prstGeom>
          <a:solidFill>
            <a:schemeClr val="bg1"/>
          </a:solidFill>
          <a:ln w="19050">
            <a:solidFill>
              <a:srgbClr val="5D6B82"/>
            </a:solidFill>
            <a:prstDash val="solid"/>
          </a:ln>
        </p:spPr>
      </p:sp>
      <p:pic>
        <p:nvPicPr>
          <p:cNvPr id="30" name="a6z-gf5i" descr="preencoded.png">    </p:cNvPr>
          <p:cNvPicPr>
            <a:picLocks noChangeAspect="1"/>
          </p:cNvPicPr>
          <p:nvPr/>
        </p:nvPicPr>
        <p:blipFill>
          <a:blip r:embed="rId6"/>
          <a:stretch>
            <a:fillRect/>
          </a:stretch>
        </p:blipFill>
        <p:spPr>
          <a:xfrm>
            <a:off x="10556748" y="1888236"/>
            <a:ext cx="429768" cy="429768"/>
          </a:xfrm>
          <a:prstGeom prst="rect">
            <a:avLst/>
          </a:prstGeom>
        </p:spPr>
      </p:pic>
      <p:sp>
        <p:nvSpPr>
          <p:cNvPr id="31" name="a6z-gf5h"/>
          <p:cNvSpPr txBox="1"/>
          <p:nvPr/>
        </p:nvSpPr>
        <p:spPr>
          <a:xfrm>
            <a:off x="9902952" y="2670048"/>
            <a:ext cx="1737360" cy="347472"/>
          </a:xfrm>
          <a:prstGeom prst="rect">
            <a:avLst/>
          </a:prstGeom>
          <a:noFill/>
          <a:ln/>
        </p:spPr>
        <p:txBody>
          <a:bodyPr wrap="square" lIns="0" tIns="0" rIns="0" bIns="0" rtlCol="0" anchor="t"/>
          <a:lstStyle/>
          <a:p>
            <a:pPr algn="ctr" indent="0" marL="0">
              <a:buNone/>
            </a:pPr>
            <a:r>
              <a:rPr lang="en-US" sz="1600" dirty="0">
                <a:solidFill>
                  <a:schemeClr val="accent6"/>
                </a:solidFill>
                <a:latin typeface="+mj-lt" pitchFamily="34" charset="0"/>
                <a:ea typeface="+mj-lt" pitchFamily="34" charset="-122"/>
                <a:cs typeface="+mj-lt" pitchFamily="34" charset="-120"/>
              </a:rPr>
              <a:t>Test and Prod</a:t>
            </a:r>
            <a:endParaRPr lang="en-US" sz="1600" dirty="0"/>
          </a:p>
        </p:txBody>
      </p:sp>
      <p:sp>
        <p:nvSpPr>
          <p:cNvPr id="32" name="a6z-gf5b"/>
          <p:cNvSpPr txBox="1"/>
          <p:nvPr/>
        </p:nvSpPr>
        <p:spPr>
          <a:xfrm>
            <a:off x="9902952" y="3017520"/>
            <a:ext cx="1737360" cy="365760"/>
          </a:xfrm>
          <a:prstGeom prst="rect">
            <a:avLst/>
          </a:prstGeom>
          <a:noFill/>
          <a:ln/>
        </p:spPr>
        <p:txBody>
          <a:bodyPr wrap="square" lIns="0" tIns="0" rIns="0" bIns="0" rtlCol="0" anchor="t"/>
          <a:lstStyle/>
          <a:p>
            <a:pPr algn="ctr" indent="0" marL="0">
              <a:buNone/>
            </a:pPr>
            <a:r>
              <a:rPr lang="en-US" sz="1300" dirty="0">
                <a:solidFill>
                  <a:schemeClr val="accent6"/>
                </a:solidFill>
              </a:rPr>
              <a:t>next: fabric-cicd</a:t>
            </a:r>
            <a:endParaRPr lang="en-US" sz="1300" dirty="0"/>
          </a:p>
        </p:txBody>
      </p:sp>
      <p:sp>
        <p:nvSpPr>
          <p:cNvPr id="33" name="a7u-gc0"/>
          <p:cNvSpPr/>
          <p:nvPr/>
        </p:nvSpPr>
        <p:spPr>
          <a:xfrm>
            <a:off x="548640" y="3703320"/>
            <a:ext cx="5449824" cy="868680"/>
          </a:xfrm>
          <a:prstGeom prst="roundRect">
            <a:avLst>
              <a:gd name="adj" fmla="val 12632"/>
            </a:avLst>
          </a:prstGeom>
          <a:solidFill>
            <a:schemeClr val="bg2"/>
          </a:solidFill>
          <a:ln/>
        </p:spPr>
      </p:sp>
      <p:sp>
        <p:nvSpPr>
          <p:cNvPr id="34" name="a7u-gc0c"/>
          <p:cNvSpPr/>
          <p:nvPr/>
        </p:nvSpPr>
        <p:spPr>
          <a:xfrm>
            <a:off x="749808" y="3886200"/>
            <a:ext cx="502920" cy="502920"/>
          </a:xfrm>
          <a:prstGeom prst="ellipse">
            <a:avLst/>
          </a:prstGeom>
          <a:solidFill>
            <a:schemeClr val="accent1"/>
          </a:solidFill>
          <a:ln/>
        </p:spPr>
      </p:sp>
      <p:pic>
        <p:nvPicPr>
          <p:cNvPr id="35" name="a7u-gc0ci" descr="preencoded.png">    </p:cNvPr>
          <p:cNvPicPr>
            <a:picLocks noChangeAspect="1"/>
          </p:cNvPicPr>
          <p:nvPr/>
        </p:nvPicPr>
        <p:blipFill>
          <a:blip r:embed="rId7"/>
          <a:stretch>
            <a:fillRect/>
          </a:stretch>
        </p:blipFill>
        <p:spPr>
          <a:xfrm>
            <a:off x="875538" y="4011930"/>
            <a:ext cx="251460" cy="251460"/>
          </a:xfrm>
          <a:prstGeom prst="rect">
            <a:avLst/>
          </a:prstGeom>
        </p:spPr>
      </p:pic>
      <p:sp>
        <p:nvSpPr>
          <p:cNvPr id="36" name="a7u-gc0t"/>
          <p:cNvSpPr txBox="1"/>
          <p:nvPr/>
        </p:nvSpPr>
        <p:spPr>
          <a:xfrm>
            <a:off x="1417320" y="3776472"/>
            <a:ext cx="4434840" cy="731520"/>
          </a:xfrm>
          <a:prstGeom prst="rect">
            <a:avLst/>
          </a:prstGeom>
          <a:noFill/>
          <a:ln/>
        </p:spPr>
        <p:txBody>
          <a:bodyPr wrap="square" lIns="0" tIns="0" rIns="0" bIns="0" rtlCol="0" anchor="ctr"/>
          <a:lstStyle/>
          <a:p>
            <a:pPr indent="0" marL="0">
              <a:buNone/>
            </a:pPr>
            <a:r>
              <a:rPr lang="en-US" sz="1400" b="1" dirty="0">
                <a:solidFill>
                  <a:schemeClr val="tx2"/>
                </a:solidFill>
              </a:rPr>
              <a:t>Selective commit  </a:t>
            </a:r>
            <a:endParaRPr lang="en-US" sz="1400" dirty="0"/>
          </a:p>
          <a:p>
            <a:pPr indent="0" marL="0">
              <a:buNone/>
            </a:pPr>
            <a:r>
              <a:rPr lang="en-US" sz="1400" dirty="0">
                <a:solidFill>
                  <a:schemeClr val="tx1"/>
                </a:solidFill>
              </a:rPr>
              <a:t>Load and sync pipelines stay out: each environment rebuilds them.</a:t>
            </a:r>
            <a:endParaRPr lang="en-US" sz="1400" dirty="0"/>
          </a:p>
        </p:txBody>
      </p:sp>
      <p:sp>
        <p:nvSpPr>
          <p:cNvPr id="37" name="a7u-gc1"/>
          <p:cNvSpPr/>
          <p:nvPr/>
        </p:nvSpPr>
        <p:spPr>
          <a:xfrm>
            <a:off x="6190488" y="3703320"/>
            <a:ext cx="5449824" cy="868680"/>
          </a:xfrm>
          <a:prstGeom prst="roundRect">
            <a:avLst>
              <a:gd name="adj" fmla="val 12632"/>
            </a:avLst>
          </a:prstGeom>
          <a:solidFill>
            <a:schemeClr val="bg2"/>
          </a:solidFill>
          <a:ln/>
        </p:spPr>
      </p:sp>
      <p:sp>
        <p:nvSpPr>
          <p:cNvPr id="38" name="a7u-gc1c"/>
          <p:cNvSpPr/>
          <p:nvPr/>
        </p:nvSpPr>
        <p:spPr>
          <a:xfrm>
            <a:off x="6391656" y="3886200"/>
            <a:ext cx="502920" cy="502920"/>
          </a:xfrm>
          <a:prstGeom prst="ellipse">
            <a:avLst/>
          </a:prstGeom>
          <a:solidFill>
            <a:schemeClr val="accent1"/>
          </a:solidFill>
          <a:ln/>
        </p:spPr>
      </p:sp>
      <p:pic>
        <p:nvPicPr>
          <p:cNvPr id="39" name="a7u-gc1ci" descr="preencoded.png">    </p:cNvPr>
          <p:cNvPicPr>
            <a:picLocks noChangeAspect="1"/>
          </p:cNvPicPr>
          <p:nvPr/>
        </p:nvPicPr>
        <p:blipFill>
          <a:blip r:embed="rId8"/>
          <a:stretch>
            <a:fillRect/>
          </a:stretch>
        </p:blipFill>
        <p:spPr>
          <a:xfrm>
            <a:off x="6517386" y="4011930"/>
            <a:ext cx="251460" cy="251460"/>
          </a:xfrm>
          <a:prstGeom prst="rect">
            <a:avLst/>
          </a:prstGeom>
        </p:spPr>
      </p:pic>
      <p:sp>
        <p:nvSpPr>
          <p:cNvPr id="40" name="a7u-gc1t"/>
          <p:cNvSpPr txBox="1"/>
          <p:nvPr/>
        </p:nvSpPr>
        <p:spPr>
          <a:xfrm>
            <a:off x="7059168" y="3776472"/>
            <a:ext cx="4434840" cy="731520"/>
          </a:xfrm>
          <a:prstGeom prst="rect">
            <a:avLst/>
          </a:prstGeom>
          <a:noFill/>
          <a:ln/>
        </p:spPr>
        <p:txBody>
          <a:bodyPr wrap="square" lIns="0" tIns="0" rIns="0" bIns="0" rtlCol="0" anchor="ctr"/>
          <a:lstStyle/>
          <a:p>
            <a:pPr indent="0" marL="0">
              <a:buNone/>
            </a:pPr>
            <a:r>
              <a:rPr lang="en-US" sz="1400" b="1" dirty="0">
                <a:solidFill>
                  <a:schemeClr val="tx2"/>
                </a:solidFill>
              </a:rPr>
              <a:t>Stops safely  </a:t>
            </a:r>
            <a:endParaRPr lang="en-US" sz="1400" dirty="0"/>
          </a:p>
          <a:p>
            <a:pPr indent="0" marL="0">
              <a:buNone/>
            </a:pPr>
            <a:r>
              <a:rPr lang="en-US" sz="1400" dirty="0">
                <a:solidFill>
                  <a:schemeClr val="tx1"/>
                </a:solidFill>
              </a:rPr>
              <a:t>Conflicts or incoming changes are reported, never forced.</a:t>
            </a:r>
            <a:endParaRPr lang="en-US" sz="1400" dirty="0"/>
          </a:p>
        </p:txBody>
      </p:sp>
      <p:sp>
        <p:nvSpPr>
          <p:cNvPr id="41" name="a8u-gc2"/>
          <p:cNvSpPr/>
          <p:nvPr/>
        </p:nvSpPr>
        <p:spPr>
          <a:xfrm>
            <a:off x="548640" y="4709160"/>
            <a:ext cx="5449824" cy="868680"/>
          </a:xfrm>
          <a:prstGeom prst="roundRect">
            <a:avLst>
              <a:gd name="adj" fmla="val 12632"/>
            </a:avLst>
          </a:prstGeom>
          <a:solidFill>
            <a:schemeClr val="bg2"/>
          </a:solidFill>
          <a:ln/>
        </p:spPr>
      </p:sp>
      <p:sp>
        <p:nvSpPr>
          <p:cNvPr id="42" name="a8u-gc2c"/>
          <p:cNvSpPr/>
          <p:nvPr/>
        </p:nvSpPr>
        <p:spPr>
          <a:xfrm>
            <a:off x="749808" y="4892040"/>
            <a:ext cx="502920" cy="502920"/>
          </a:xfrm>
          <a:prstGeom prst="ellipse">
            <a:avLst/>
          </a:prstGeom>
          <a:solidFill>
            <a:schemeClr val="accent1"/>
          </a:solidFill>
          <a:ln/>
        </p:spPr>
      </p:sp>
      <p:pic>
        <p:nvPicPr>
          <p:cNvPr id="43" name="a8u-gc2ci" descr="preencoded.png">    </p:cNvPr>
          <p:cNvPicPr>
            <a:picLocks noChangeAspect="1"/>
          </p:cNvPicPr>
          <p:nvPr/>
        </p:nvPicPr>
        <p:blipFill>
          <a:blip r:embed="rId9"/>
          <a:stretch>
            <a:fillRect/>
          </a:stretch>
        </p:blipFill>
        <p:spPr>
          <a:xfrm>
            <a:off x="875538" y="5017770"/>
            <a:ext cx="251460" cy="251460"/>
          </a:xfrm>
          <a:prstGeom prst="rect">
            <a:avLst/>
          </a:prstGeom>
        </p:spPr>
      </p:pic>
      <p:sp>
        <p:nvSpPr>
          <p:cNvPr id="44" name="a8u-gc2t"/>
          <p:cNvSpPr txBox="1"/>
          <p:nvPr/>
        </p:nvSpPr>
        <p:spPr>
          <a:xfrm>
            <a:off x="1417320" y="4782312"/>
            <a:ext cx="4434840" cy="731520"/>
          </a:xfrm>
          <a:prstGeom prst="rect">
            <a:avLst/>
          </a:prstGeom>
          <a:noFill/>
          <a:ln/>
        </p:spPr>
        <p:txBody>
          <a:bodyPr wrap="square" lIns="0" tIns="0" rIns="0" bIns="0" rtlCol="0" anchor="ctr"/>
          <a:lstStyle/>
          <a:p>
            <a:pPr indent="0" marL="0">
              <a:buNone/>
            </a:pPr>
            <a:r>
              <a:rPr lang="en-US" sz="1400" b="1" dirty="0">
                <a:solidFill>
                  <a:schemeClr val="tx2"/>
                </a:solidFill>
              </a:rPr>
              <a:t>Built for size  </a:t>
            </a:r>
            <a:endParaRPr lang="en-US" sz="1400" dirty="0"/>
          </a:p>
          <a:p>
            <a:pPr indent="0" marL="0">
              <a:buNone/>
            </a:pPr>
            <a:r>
              <a:rPr lang="en-US" sz="1400" dirty="0">
                <a:solidFill>
                  <a:schemeClr val="tx1"/>
                </a:solidFill>
              </a:rPr>
              <a:t>Large commits are split into batches; a moved head is retried once.</a:t>
            </a:r>
            <a:endParaRPr lang="en-US" sz="1400" dirty="0"/>
          </a:p>
        </p:txBody>
      </p:sp>
      <p:sp>
        <p:nvSpPr>
          <p:cNvPr id="45" name="a8u-gc3"/>
          <p:cNvSpPr/>
          <p:nvPr/>
        </p:nvSpPr>
        <p:spPr>
          <a:xfrm>
            <a:off x="6190488" y="4709160"/>
            <a:ext cx="5449824" cy="868680"/>
          </a:xfrm>
          <a:prstGeom prst="roundRect">
            <a:avLst>
              <a:gd name="adj" fmla="val 12632"/>
            </a:avLst>
          </a:prstGeom>
          <a:solidFill>
            <a:schemeClr val="bg2"/>
          </a:solidFill>
          <a:ln/>
        </p:spPr>
      </p:sp>
      <p:sp>
        <p:nvSpPr>
          <p:cNvPr id="46" name="a8u-gc3c"/>
          <p:cNvSpPr/>
          <p:nvPr/>
        </p:nvSpPr>
        <p:spPr>
          <a:xfrm>
            <a:off x="6391656" y="4892040"/>
            <a:ext cx="502920" cy="502920"/>
          </a:xfrm>
          <a:prstGeom prst="ellipse">
            <a:avLst/>
          </a:prstGeom>
          <a:solidFill>
            <a:schemeClr val="accent1"/>
          </a:solidFill>
          <a:ln/>
        </p:spPr>
      </p:sp>
      <p:pic>
        <p:nvPicPr>
          <p:cNvPr id="47" name="a8u-gc3ci" descr="preencoded.png">    </p:cNvPr>
          <p:cNvPicPr>
            <a:picLocks noChangeAspect="1"/>
          </p:cNvPicPr>
          <p:nvPr/>
        </p:nvPicPr>
        <p:blipFill>
          <a:blip r:embed="rId10"/>
          <a:stretch>
            <a:fillRect/>
          </a:stretch>
        </p:blipFill>
        <p:spPr>
          <a:xfrm>
            <a:off x="6517386" y="5017770"/>
            <a:ext cx="251460" cy="251460"/>
          </a:xfrm>
          <a:prstGeom prst="rect">
            <a:avLst/>
          </a:prstGeom>
        </p:spPr>
      </p:pic>
      <p:sp>
        <p:nvSpPr>
          <p:cNvPr id="48" name="a8u-gc3t"/>
          <p:cNvSpPr txBox="1"/>
          <p:nvPr/>
        </p:nvSpPr>
        <p:spPr>
          <a:xfrm>
            <a:off x="7059168" y="4782312"/>
            <a:ext cx="4434840" cy="731520"/>
          </a:xfrm>
          <a:prstGeom prst="rect">
            <a:avLst/>
          </a:prstGeom>
          <a:noFill/>
          <a:ln/>
        </p:spPr>
        <p:txBody>
          <a:bodyPr wrap="square" lIns="0" tIns="0" rIns="0" bIns="0" rtlCol="0" anchor="ctr"/>
          <a:lstStyle/>
          <a:p>
            <a:pPr indent="0" marL="0">
              <a:buNone/>
            </a:pPr>
            <a:r>
              <a:rPr lang="en-US" sz="1400" b="1" dirty="0">
                <a:solidFill>
                  <a:schemeClr val="tx2"/>
                </a:solidFill>
              </a:rPr>
              <a:t>One-click review  </a:t>
            </a:r>
            <a:endParaRPr lang="en-US" sz="1400" dirty="0"/>
          </a:p>
          <a:p>
            <a:pPr indent="0" marL="0">
              <a:buNone/>
            </a:pPr>
            <a:r>
              <a:rPr lang="en-US" sz="1400" dirty="0">
                <a:solidFill>
                  <a:schemeClr val="tx1"/>
                </a:solidFill>
              </a:rPr>
              <a:t>A pull-request link for Azure DevOps or GitHub, from dev into main.</a:t>
            </a:r>
            <a:endParaRPr lang="en-US" sz="1400" dirty="0"/>
          </a:p>
        </p:txBody>
      </p:sp>
      <p:sp>
        <p:nvSpPr>
          <p:cNvPr id="49" name="a9f-contrast"/>
          <p:cNvSpPr txBox="1"/>
          <p:nvPr/>
        </p:nvSpPr>
        <p:spPr>
          <a:xfrm>
            <a:off x="548640" y="5715000"/>
            <a:ext cx="11094415" cy="384048"/>
          </a:xfrm>
          <a:prstGeom prst="rect">
            <a:avLst/>
          </a:prstGeom>
          <a:noFill/>
          <a:ln/>
        </p:spPr>
        <p:txBody>
          <a:bodyPr wrap="square" lIns="0" tIns="0" rIns="0" bIns="0" rtlCol="0" anchor="ctr"/>
          <a:lstStyle/>
          <a:p>
            <a:pPr indent="0" marL="0">
              <a:buNone/>
            </a:pPr>
            <a:r>
              <a:rPr lang="en-US" sz="1400" b="1" dirty="0">
                <a:solidFill>
                  <a:schemeClr val="accent2"/>
                </a:solidFill>
              </a:rPr>
              <a:t>Microsoft:  </a:t>
            </a:r>
            <a:pPr indent="0" marL="0">
              <a:buNone/>
            </a:pPr>
            <a:r>
              <a:rPr lang="en-US" sz="1400" dirty="0">
                <a:solidFill>
                  <a:schemeClr val="accent6"/>
                </a:solidFill>
              </a:rPr>
              <a:t>connecting the workspace to Git and committing are manual steps after migrating.</a:t>
            </a:r>
            <a:endParaRPr lang="en-US" sz="14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450" fill="hold"/>
                                        <p:tgtEl>
                                          <p:spTgt spid="7"/>
                                        </p:tgtEl>
                                        <p:attrNameLst>
                                          <p:attrName>ppt_w</p:attrName>
                                        </p:attrNameLst>
                                      </p:cBhvr>
                                      <p:tavLst>
                                        <p:tav tm="0">
                                          <p:val>
                                            <p:fltVal val="0"/>
                                          </p:val>
                                        </p:tav>
                                        <p:tav tm="100000">
                                          <p:val>
                                            <p:strVal val="#ppt_w"/>
                                          </p:val>
                                        </p:tav>
                                      </p:tavLst>
                                    </p:anim>
                                    <p:anim calcmode="lin" valueType="num">
                                      <p:cBhvr>
                                        <p:cTn id="23" dur="450" fill="hold"/>
                                        <p:tgtEl>
                                          <p:spTgt spid="7"/>
                                        </p:tgtEl>
                                        <p:attrNameLst>
                                          <p:attrName>ppt_h</p:attrName>
                                        </p:attrNameLst>
                                      </p:cBhvr>
                                      <p:tavLst>
                                        <p:tav tm="0">
                                          <p:val>
                                            <p:fltVal val="0"/>
                                          </p:val>
                                        </p:tav>
                                        <p:tav tm="100000">
                                          <p:val>
                                            <p:strVal val="#ppt_h"/>
                                          </p:val>
                                        </p:tav>
                                      </p:tavLst>
                                    </p:anim>
                                    <p:animEffect transition="in" filter="fade">
                                      <p:cBhvr>
                                        <p:cTn id="24" dur="450"/>
                                        <p:tgtEl>
                                          <p:spTgt spid="7"/>
                                        </p:tgtEl>
                                      </p:cBhvr>
                                    </p:animEffect>
                                  </p:childTnLst>
                                </p:cTn>
                              </p:par>
                            </p:childTnLst>
                          </p:cTn>
                        </p:par>
                        <p:par>
                          <p:cTn id="25" fill="hold">
                            <p:stCondLst>
                              <p:cond delay="450"/>
                            </p:stCondLst>
                            <p:childTnLst>
                              <p:par>
                                <p:cTn id="26" presetID="2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450" fill="hold"/>
                                        <p:tgtEl>
                                          <p:spTgt spid="9"/>
                                        </p:tgtEl>
                                        <p:attrNameLst>
                                          <p:attrName>ppt_w</p:attrName>
                                        </p:attrNameLst>
                                      </p:cBhvr>
                                      <p:tavLst>
                                        <p:tav tm="0">
                                          <p:val>
                                            <p:fltVal val="0"/>
                                          </p:val>
                                        </p:tav>
                                        <p:tav tm="100000">
                                          <p:val>
                                            <p:strVal val="#ppt_w"/>
                                          </p:val>
                                        </p:tav>
                                      </p:tavLst>
                                    </p:anim>
                                    <p:anim calcmode="lin" valueType="num">
                                      <p:cBhvr>
                                        <p:cTn id="32" dur="450" fill="hold"/>
                                        <p:tgtEl>
                                          <p:spTgt spid="9"/>
                                        </p:tgtEl>
                                        <p:attrNameLst>
                                          <p:attrName>ppt_h</p:attrName>
                                        </p:attrNameLst>
                                      </p:cBhvr>
                                      <p:tavLst>
                                        <p:tav tm="0">
                                          <p:val>
                                            <p:fltVal val="0"/>
                                          </p:val>
                                        </p:tav>
                                        <p:tav tm="100000">
                                          <p:val>
                                            <p:strVal val="#ppt_h"/>
                                          </p:val>
                                        </p:tav>
                                      </p:tavLst>
                                    </p:anim>
                                    <p:animEffect transition="in" filter="fade">
                                      <p:cBhvr>
                                        <p:cTn id="33" dur="450"/>
                                        <p:tgtEl>
                                          <p:spTgt spid="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450" fill="hold"/>
                                        <p:tgtEl>
                                          <p:spTgt spid="10"/>
                                        </p:tgtEl>
                                        <p:attrNameLst>
                                          <p:attrName>ppt_w</p:attrName>
                                        </p:attrNameLst>
                                      </p:cBhvr>
                                      <p:tavLst>
                                        <p:tav tm="0">
                                          <p:val>
                                            <p:fltVal val="0"/>
                                          </p:val>
                                        </p:tav>
                                        <p:tav tm="100000">
                                          <p:val>
                                            <p:strVal val="#ppt_w"/>
                                          </p:val>
                                        </p:tav>
                                      </p:tavLst>
                                    </p:anim>
                                    <p:anim calcmode="lin" valueType="num">
                                      <p:cBhvr>
                                        <p:cTn id="37" dur="450" fill="hold"/>
                                        <p:tgtEl>
                                          <p:spTgt spid="10"/>
                                        </p:tgtEl>
                                        <p:attrNameLst>
                                          <p:attrName>ppt_h</p:attrName>
                                        </p:attrNameLst>
                                      </p:cBhvr>
                                      <p:tavLst>
                                        <p:tav tm="0">
                                          <p:val>
                                            <p:fltVal val="0"/>
                                          </p:val>
                                        </p:tav>
                                        <p:tav tm="100000">
                                          <p:val>
                                            <p:strVal val="#ppt_h"/>
                                          </p:val>
                                        </p:tav>
                                      </p:tavLst>
                                    </p:anim>
                                    <p:animEffect transition="in" filter="fade">
                                      <p:cBhvr>
                                        <p:cTn id="38" dur="450"/>
                                        <p:tgtEl>
                                          <p:spTgt spid="10"/>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450" fill="hold"/>
                                        <p:tgtEl>
                                          <p:spTgt spid="11"/>
                                        </p:tgtEl>
                                        <p:attrNameLst>
                                          <p:attrName>ppt_w</p:attrName>
                                        </p:attrNameLst>
                                      </p:cBhvr>
                                      <p:tavLst>
                                        <p:tav tm="0">
                                          <p:val>
                                            <p:fltVal val="0"/>
                                          </p:val>
                                        </p:tav>
                                        <p:tav tm="100000">
                                          <p:val>
                                            <p:strVal val="#ppt_w"/>
                                          </p:val>
                                        </p:tav>
                                      </p:tavLst>
                                    </p:anim>
                                    <p:anim calcmode="lin" valueType="num">
                                      <p:cBhvr>
                                        <p:cTn id="42" dur="450" fill="hold"/>
                                        <p:tgtEl>
                                          <p:spTgt spid="11"/>
                                        </p:tgtEl>
                                        <p:attrNameLst>
                                          <p:attrName>ppt_h</p:attrName>
                                        </p:attrNameLst>
                                      </p:cBhvr>
                                      <p:tavLst>
                                        <p:tav tm="0">
                                          <p:val>
                                            <p:fltVal val="0"/>
                                          </p:val>
                                        </p:tav>
                                        <p:tav tm="100000">
                                          <p:val>
                                            <p:strVal val="#ppt_h"/>
                                          </p:val>
                                        </p:tav>
                                      </p:tavLst>
                                    </p:anim>
                                    <p:animEffect transition="in" filter="fade">
                                      <p:cBhvr>
                                        <p:cTn id="43" dur="450"/>
                                        <p:tgtEl>
                                          <p:spTgt spid="1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450" fill="hold"/>
                                        <p:tgtEl>
                                          <p:spTgt spid="12"/>
                                        </p:tgtEl>
                                        <p:attrNameLst>
                                          <p:attrName>ppt_w</p:attrName>
                                        </p:attrNameLst>
                                      </p:cBhvr>
                                      <p:tavLst>
                                        <p:tav tm="0">
                                          <p:val>
                                            <p:fltVal val="0"/>
                                          </p:val>
                                        </p:tav>
                                        <p:tav tm="100000">
                                          <p:val>
                                            <p:strVal val="#ppt_w"/>
                                          </p:val>
                                        </p:tav>
                                      </p:tavLst>
                                    </p:anim>
                                    <p:anim calcmode="lin" valueType="num">
                                      <p:cBhvr>
                                        <p:cTn id="47" dur="450" fill="hold"/>
                                        <p:tgtEl>
                                          <p:spTgt spid="12"/>
                                        </p:tgtEl>
                                        <p:attrNameLst>
                                          <p:attrName>ppt_h</p:attrName>
                                        </p:attrNameLst>
                                      </p:cBhvr>
                                      <p:tavLst>
                                        <p:tav tm="0">
                                          <p:val>
                                            <p:fltVal val="0"/>
                                          </p:val>
                                        </p:tav>
                                        <p:tav tm="100000">
                                          <p:val>
                                            <p:strVal val="#ppt_h"/>
                                          </p:val>
                                        </p:tav>
                                      </p:tavLst>
                                    </p:anim>
                                    <p:animEffect transition="in" filter="fade">
                                      <p:cBhvr>
                                        <p:cTn id="48" dur="450"/>
                                        <p:tgtEl>
                                          <p:spTgt spid="12"/>
                                        </p:tgtEl>
                                      </p:cBhvr>
                                    </p:animEffect>
                                  </p:childTnLst>
                                </p:cTn>
                              </p:par>
                            </p:childTnLst>
                          </p:cTn>
                        </p:par>
                        <p:par>
                          <p:cTn id="49" fill="hold">
                            <p:stCondLst>
                              <p:cond delay="950"/>
                            </p:stCondLst>
                            <p:childTnLst>
                              <p:par>
                                <p:cTn id="50" presetID="22" presetClass="entr" presetSubtype="8" fill="hold" grpId="0"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450" fill="hold"/>
                                        <p:tgtEl>
                                          <p:spTgt spid="14"/>
                                        </p:tgtEl>
                                        <p:attrNameLst>
                                          <p:attrName>ppt_w</p:attrName>
                                        </p:attrNameLst>
                                      </p:cBhvr>
                                      <p:tavLst>
                                        <p:tav tm="0">
                                          <p:val>
                                            <p:fltVal val="0"/>
                                          </p:val>
                                        </p:tav>
                                        <p:tav tm="100000">
                                          <p:val>
                                            <p:strVal val="#ppt_w"/>
                                          </p:val>
                                        </p:tav>
                                      </p:tavLst>
                                    </p:anim>
                                    <p:anim calcmode="lin" valueType="num">
                                      <p:cBhvr>
                                        <p:cTn id="56" dur="450" fill="hold"/>
                                        <p:tgtEl>
                                          <p:spTgt spid="14"/>
                                        </p:tgtEl>
                                        <p:attrNameLst>
                                          <p:attrName>ppt_h</p:attrName>
                                        </p:attrNameLst>
                                      </p:cBhvr>
                                      <p:tavLst>
                                        <p:tav tm="0">
                                          <p:val>
                                            <p:fltVal val="0"/>
                                          </p:val>
                                        </p:tav>
                                        <p:tav tm="100000">
                                          <p:val>
                                            <p:strVal val="#ppt_h"/>
                                          </p:val>
                                        </p:tav>
                                      </p:tavLst>
                                    </p:anim>
                                    <p:animEffect transition="in" filter="fade">
                                      <p:cBhvr>
                                        <p:cTn id="57" dur="450"/>
                                        <p:tgtEl>
                                          <p:spTgt spid="14"/>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450" fill="hold"/>
                                        <p:tgtEl>
                                          <p:spTgt spid="15"/>
                                        </p:tgtEl>
                                        <p:attrNameLst>
                                          <p:attrName>ppt_w</p:attrName>
                                        </p:attrNameLst>
                                      </p:cBhvr>
                                      <p:tavLst>
                                        <p:tav tm="0">
                                          <p:val>
                                            <p:fltVal val="0"/>
                                          </p:val>
                                        </p:tav>
                                        <p:tav tm="100000">
                                          <p:val>
                                            <p:strVal val="#ppt_w"/>
                                          </p:val>
                                        </p:tav>
                                      </p:tavLst>
                                    </p:anim>
                                    <p:anim calcmode="lin" valueType="num">
                                      <p:cBhvr>
                                        <p:cTn id="61" dur="450" fill="hold"/>
                                        <p:tgtEl>
                                          <p:spTgt spid="15"/>
                                        </p:tgtEl>
                                        <p:attrNameLst>
                                          <p:attrName>ppt_h</p:attrName>
                                        </p:attrNameLst>
                                      </p:cBhvr>
                                      <p:tavLst>
                                        <p:tav tm="0">
                                          <p:val>
                                            <p:fltVal val="0"/>
                                          </p:val>
                                        </p:tav>
                                        <p:tav tm="100000">
                                          <p:val>
                                            <p:strVal val="#ppt_h"/>
                                          </p:val>
                                        </p:tav>
                                      </p:tavLst>
                                    </p:anim>
                                    <p:animEffect transition="in" filter="fade">
                                      <p:cBhvr>
                                        <p:cTn id="62" dur="450"/>
                                        <p:tgtEl>
                                          <p:spTgt spid="15"/>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450" fill="hold"/>
                                        <p:tgtEl>
                                          <p:spTgt spid="16"/>
                                        </p:tgtEl>
                                        <p:attrNameLst>
                                          <p:attrName>ppt_w</p:attrName>
                                        </p:attrNameLst>
                                      </p:cBhvr>
                                      <p:tavLst>
                                        <p:tav tm="0">
                                          <p:val>
                                            <p:fltVal val="0"/>
                                          </p:val>
                                        </p:tav>
                                        <p:tav tm="100000">
                                          <p:val>
                                            <p:strVal val="#ppt_w"/>
                                          </p:val>
                                        </p:tav>
                                      </p:tavLst>
                                    </p:anim>
                                    <p:anim calcmode="lin" valueType="num">
                                      <p:cBhvr>
                                        <p:cTn id="66" dur="450" fill="hold"/>
                                        <p:tgtEl>
                                          <p:spTgt spid="16"/>
                                        </p:tgtEl>
                                        <p:attrNameLst>
                                          <p:attrName>ppt_h</p:attrName>
                                        </p:attrNameLst>
                                      </p:cBhvr>
                                      <p:tavLst>
                                        <p:tav tm="0">
                                          <p:val>
                                            <p:fltVal val="0"/>
                                          </p:val>
                                        </p:tav>
                                        <p:tav tm="100000">
                                          <p:val>
                                            <p:strVal val="#ppt_h"/>
                                          </p:val>
                                        </p:tav>
                                      </p:tavLst>
                                    </p:anim>
                                    <p:animEffect transition="in" filter="fade">
                                      <p:cBhvr>
                                        <p:cTn id="67" dur="45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450" fill="hold"/>
                                        <p:tgtEl>
                                          <p:spTgt spid="17"/>
                                        </p:tgtEl>
                                        <p:attrNameLst>
                                          <p:attrName>ppt_w</p:attrName>
                                        </p:attrNameLst>
                                      </p:cBhvr>
                                      <p:tavLst>
                                        <p:tav tm="0">
                                          <p:val>
                                            <p:fltVal val="0"/>
                                          </p:val>
                                        </p:tav>
                                        <p:tav tm="100000">
                                          <p:val>
                                            <p:strVal val="#ppt_w"/>
                                          </p:val>
                                        </p:tav>
                                      </p:tavLst>
                                    </p:anim>
                                    <p:anim calcmode="lin" valueType="num">
                                      <p:cBhvr>
                                        <p:cTn id="71" dur="450" fill="hold"/>
                                        <p:tgtEl>
                                          <p:spTgt spid="17"/>
                                        </p:tgtEl>
                                        <p:attrNameLst>
                                          <p:attrName>ppt_h</p:attrName>
                                        </p:attrNameLst>
                                      </p:cBhvr>
                                      <p:tavLst>
                                        <p:tav tm="0">
                                          <p:val>
                                            <p:fltVal val="0"/>
                                          </p:val>
                                        </p:tav>
                                        <p:tav tm="100000">
                                          <p:val>
                                            <p:strVal val="#ppt_h"/>
                                          </p:val>
                                        </p:tav>
                                      </p:tavLst>
                                    </p:anim>
                                    <p:animEffect transition="in" filter="fade">
                                      <p:cBhvr>
                                        <p:cTn id="72" dur="450"/>
                                        <p:tgtEl>
                                          <p:spTgt spid="17"/>
                                        </p:tgtEl>
                                      </p:cBhvr>
                                    </p:animEffect>
                                  </p:childTnLst>
                                </p:cTn>
                              </p:par>
                            </p:childTnLst>
                          </p:cTn>
                        </p:par>
                        <p:par>
                          <p:cTn id="73" fill="hold">
                            <p:stCondLst>
                              <p:cond delay="1450"/>
                            </p:stCondLst>
                            <p:childTnLst>
                              <p:par>
                                <p:cTn id="74" presetID="22" presetClass="entr" presetSubtype="8" fill="hold" grpId="0" nodeType="after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ipe(left)">
                                      <p:cBhvr>
                                        <p:cTn id="76" dur="500"/>
                                        <p:tgtEl>
                                          <p:spTgt spid="18"/>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p:cTn id="79" dur="450" fill="hold"/>
                                        <p:tgtEl>
                                          <p:spTgt spid="19"/>
                                        </p:tgtEl>
                                        <p:attrNameLst>
                                          <p:attrName>ppt_w</p:attrName>
                                        </p:attrNameLst>
                                      </p:cBhvr>
                                      <p:tavLst>
                                        <p:tav tm="0">
                                          <p:val>
                                            <p:fltVal val="0"/>
                                          </p:val>
                                        </p:tav>
                                        <p:tav tm="100000">
                                          <p:val>
                                            <p:strVal val="#ppt_w"/>
                                          </p:val>
                                        </p:tav>
                                      </p:tavLst>
                                    </p:anim>
                                    <p:anim calcmode="lin" valueType="num">
                                      <p:cBhvr>
                                        <p:cTn id="80" dur="450" fill="hold"/>
                                        <p:tgtEl>
                                          <p:spTgt spid="19"/>
                                        </p:tgtEl>
                                        <p:attrNameLst>
                                          <p:attrName>ppt_h</p:attrName>
                                        </p:attrNameLst>
                                      </p:cBhvr>
                                      <p:tavLst>
                                        <p:tav tm="0">
                                          <p:val>
                                            <p:fltVal val="0"/>
                                          </p:val>
                                        </p:tav>
                                        <p:tav tm="100000">
                                          <p:val>
                                            <p:strVal val="#ppt_h"/>
                                          </p:val>
                                        </p:tav>
                                      </p:tavLst>
                                    </p:anim>
                                    <p:animEffect transition="in" filter="fade">
                                      <p:cBhvr>
                                        <p:cTn id="81" dur="450"/>
                                        <p:tgtEl>
                                          <p:spTgt spid="19"/>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p:cTn id="84" dur="450" fill="hold"/>
                                        <p:tgtEl>
                                          <p:spTgt spid="20"/>
                                        </p:tgtEl>
                                        <p:attrNameLst>
                                          <p:attrName>ppt_w</p:attrName>
                                        </p:attrNameLst>
                                      </p:cBhvr>
                                      <p:tavLst>
                                        <p:tav tm="0">
                                          <p:val>
                                            <p:fltVal val="0"/>
                                          </p:val>
                                        </p:tav>
                                        <p:tav tm="100000">
                                          <p:val>
                                            <p:strVal val="#ppt_w"/>
                                          </p:val>
                                        </p:tav>
                                      </p:tavLst>
                                    </p:anim>
                                    <p:anim calcmode="lin" valueType="num">
                                      <p:cBhvr>
                                        <p:cTn id="85" dur="450" fill="hold"/>
                                        <p:tgtEl>
                                          <p:spTgt spid="20"/>
                                        </p:tgtEl>
                                        <p:attrNameLst>
                                          <p:attrName>ppt_h</p:attrName>
                                        </p:attrNameLst>
                                      </p:cBhvr>
                                      <p:tavLst>
                                        <p:tav tm="0">
                                          <p:val>
                                            <p:fltVal val="0"/>
                                          </p:val>
                                        </p:tav>
                                        <p:tav tm="100000">
                                          <p:val>
                                            <p:strVal val="#ppt_h"/>
                                          </p:val>
                                        </p:tav>
                                      </p:tavLst>
                                    </p:anim>
                                    <p:animEffect transition="in" filter="fade">
                                      <p:cBhvr>
                                        <p:cTn id="86" dur="450"/>
                                        <p:tgtEl>
                                          <p:spTgt spid="20"/>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 calcmode="lin" valueType="num">
                                      <p:cBhvr>
                                        <p:cTn id="89" dur="450" fill="hold"/>
                                        <p:tgtEl>
                                          <p:spTgt spid="21"/>
                                        </p:tgtEl>
                                        <p:attrNameLst>
                                          <p:attrName>ppt_w</p:attrName>
                                        </p:attrNameLst>
                                      </p:cBhvr>
                                      <p:tavLst>
                                        <p:tav tm="0">
                                          <p:val>
                                            <p:fltVal val="0"/>
                                          </p:val>
                                        </p:tav>
                                        <p:tav tm="100000">
                                          <p:val>
                                            <p:strVal val="#ppt_w"/>
                                          </p:val>
                                        </p:tav>
                                      </p:tavLst>
                                    </p:anim>
                                    <p:anim calcmode="lin" valueType="num">
                                      <p:cBhvr>
                                        <p:cTn id="90" dur="450" fill="hold"/>
                                        <p:tgtEl>
                                          <p:spTgt spid="21"/>
                                        </p:tgtEl>
                                        <p:attrNameLst>
                                          <p:attrName>ppt_h</p:attrName>
                                        </p:attrNameLst>
                                      </p:cBhvr>
                                      <p:tavLst>
                                        <p:tav tm="0">
                                          <p:val>
                                            <p:fltVal val="0"/>
                                          </p:val>
                                        </p:tav>
                                        <p:tav tm="100000">
                                          <p:val>
                                            <p:strVal val="#ppt_h"/>
                                          </p:val>
                                        </p:tav>
                                      </p:tavLst>
                                    </p:anim>
                                    <p:animEffect transition="in" filter="fade">
                                      <p:cBhvr>
                                        <p:cTn id="91" dur="450"/>
                                        <p:tgtEl>
                                          <p:spTgt spid="21"/>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 calcmode="lin" valueType="num">
                                      <p:cBhvr>
                                        <p:cTn id="94" dur="450" fill="hold"/>
                                        <p:tgtEl>
                                          <p:spTgt spid="22"/>
                                        </p:tgtEl>
                                        <p:attrNameLst>
                                          <p:attrName>ppt_w</p:attrName>
                                        </p:attrNameLst>
                                      </p:cBhvr>
                                      <p:tavLst>
                                        <p:tav tm="0">
                                          <p:val>
                                            <p:fltVal val="0"/>
                                          </p:val>
                                        </p:tav>
                                        <p:tav tm="100000">
                                          <p:val>
                                            <p:strVal val="#ppt_w"/>
                                          </p:val>
                                        </p:tav>
                                      </p:tavLst>
                                    </p:anim>
                                    <p:anim calcmode="lin" valueType="num">
                                      <p:cBhvr>
                                        <p:cTn id="95" dur="450" fill="hold"/>
                                        <p:tgtEl>
                                          <p:spTgt spid="22"/>
                                        </p:tgtEl>
                                        <p:attrNameLst>
                                          <p:attrName>ppt_h</p:attrName>
                                        </p:attrNameLst>
                                      </p:cBhvr>
                                      <p:tavLst>
                                        <p:tav tm="0">
                                          <p:val>
                                            <p:fltVal val="0"/>
                                          </p:val>
                                        </p:tav>
                                        <p:tav tm="100000">
                                          <p:val>
                                            <p:strVal val="#ppt_h"/>
                                          </p:val>
                                        </p:tav>
                                      </p:tavLst>
                                    </p:anim>
                                    <p:animEffect transition="in" filter="fade">
                                      <p:cBhvr>
                                        <p:cTn id="96" dur="450"/>
                                        <p:tgtEl>
                                          <p:spTgt spid="22"/>
                                        </p:tgtEl>
                                      </p:cBhvr>
                                    </p:animEffect>
                                  </p:childTnLst>
                                </p:cTn>
                              </p:par>
                            </p:childTnLst>
                          </p:cTn>
                        </p:par>
                        <p:par>
                          <p:cTn id="97" fill="hold">
                            <p:stCondLst>
                              <p:cond delay="1950"/>
                            </p:stCondLst>
                            <p:childTnLst>
                              <p:par>
                                <p:cTn id="98" presetID="22" presetClass="entr" presetSubtype="8"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wipe(left)">
                                      <p:cBhvr>
                                        <p:cTn id="100" dur="500"/>
                                        <p:tgtEl>
                                          <p:spTgt spid="23"/>
                                        </p:tgtEl>
                                      </p:cBhvr>
                                    </p:animEffect>
                                  </p:childTnLst>
                                </p:cTn>
                              </p:par>
                              <p:par>
                                <p:cTn id="101" presetID="53" presetClass="entr" presetSubtype="16"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p:cTn id="103" dur="450" fill="hold"/>
                                        <p:tgtEl>
                                          <p:spTgt spid="24"/>
                                        </p:tgtEl>
                                        <p:attrNameLst>
                                          <p:attrName>ppt_w</p:attrName>
                                        </p:attrNameLst>
                                      </p:cBhvr>
                                      <p:tavLst>
                                        <p:tav tm="0">
                                          <p:val>
                                            <p:fltVal val="0"/>
                                          </p:val>
                                        </p:tav>
                                        <p:tav tm="100000">
                                          <p:val>
                                            <p:strVal val="#ppt_w"/>
                                          </p:val>
                                        </p:tav>
                                      </p:tavLst>
                                    </p:anim>
                                    <p:anim calcmode="lin" valueType="num">
                                      <p:cBhvr>
                                        <p:cTn id="104" dur="450" fill="hold"/>
                                        <p:tgtEl>
                                          <p:spTgt spid="24"/>
                                        </p:tgtEl>
                                        <p:attrNameLst>
                                          <p:attrName>ppt_h</p:attrName>
                                        </p:attrNameLst>
                                      </p:cBhvr>
                                      <p:tavLst>
                                        <p:tav tm="0">
                                          <p:val>
                                            <p:fltVal val="0"/>
                                          </p:val>
                                        </p:tav>
                                        <p:tav tm="100000">
                                          <p:val>
                                            <p:strVal val="#ppt_h"/>
                                          </p:val>
                                        </p:tav>
                                      </p:tavLst>
                                    </p:anim>
                                    <p:animEffect transition="in" filter="fade">
                                      <p:cBhvr>
                                        <p:cTn id="105" dur="450"/>
                                        <p:tgtEl>
                                          <p:spTgt spid="24"/>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5"/>
                                        </p:tgtEl>
                                        <p:attrNameLst>
                                          <p:attrName>style.visibility</p:attrName>
                                        </p:attrNameLst>
                                      </p:cBhvr>
                                      <p:to>
                                        <p:strVal val="visible"/>
                                      </p:to>
                                    </p:set>
                                    <p:anim calcmode="lin" valueType="num">
                                      <p:cBhvr>
                                        <p:cTn id="108" dur="450" fill="hold"/>
                                        <p:tgtEl>
                                          <p:spTgt spid="25"/>
                                        </p:tgtEl>
                                        <p:attrNameLst>
                                          <p:attrName>ppt_w</p:attrName>
                                        </p:attrNameLst>
                                      </p:cBhvr>
                                      <p:tavLst>
                                        <p:tav tm="0">
                                          <p:val>
                                            <p:fltVal val="0"/>
                                          </p:val>
                                        </p:tav>
                                        <p:tav tm="100000">
                                          <p:val>
                                            <p:strVal val="#ppt_w"/>
                                          </p:val>
                                        </p:tav>
                                      </p:tavLst>
                                    </p:anim>
                                    <p:anim calcmode="lin" valueType="num">
                                      <p:cBhvr>
                                        <p:cTn id="109" dur="450" fill="hold"/>
                                        <p:tgtEl>
                                          <p:spTgt spid="25"/>
                                        </p:tgtEl>
                                        <p:attrNameLst>
                                          <p:attrName>ppt_h</p:attrName>
                                        </p:attrNameLst>
                                      </p:cBhvr>
                                      <p:tavLst>
                                        <p:tav tm="0">
                                          <p:val>
                                            <p:fltVal val="0"/>
                                          </p:val>
                                        </p:tav>
                                        <p:tav tm="100000">
                                          <p:val>
                                            <p:strVal val="#ppt_h"/>
                                          </p:val>
                                        </p:tav>
                                      </p:tavLst>
                                    </p:anim>
                                    <p:animEffect transition="in" filter="fade">
                                      <p:cBhvr>
                                        <p:cTn id="110" dur="450"/>
                                        <p:tgtEl>
                                          <p:spTgt spid="25"/>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 calcmode="lin" valueType="num">
                                      <p:cBhvr>
                                        <p:cTn id="113" dur="450" fill="hold"/>
                                        <p:tgtEl>
                                          <p:spTgt spid="26"/>
                                        </p:tgtEl>
                                        <p:attrNameLst>
                                          <p:attrName>ppt_w</p:attrName>
                                        </p:attrNameLst>
                                      </p:cBhvr>
                                      <p:tavLst>
                                        <p:tav tm="0">
                                          <p:val>
                                            <p:fltVal val="0"/>
                                          </p:val>
                                        </p:tav>
                                        <p:tav tm="100000">
                                          <p:val>
                                            <p:strVal val="#ppt_w"/>
                                          </p:val>
                                        </p:tav>
                                      </p:tavLst>
                                    </p:anim>
                                    <p:anim calcmode="lin" valueType="num">
                                      <p:cBhvr>
                                        <p:cTn id="114" dur="450" fill="hold"/>
                                        <p:tgtEl>
                                          <p:spTgt spid="26"/>
                                        </p:tgtEl>
                                        <p:attrNameLst>
                                          <p:attrName>ppt_h</p:attrName>
                                        </p:attrNameLst>
                                      </p:cBhvr>
                                      <p:tavLst>
                                        <p:tav tm="0">
                                          <p:val>
                                            <p:fltVal val="0"/>
                                          </p:val>
                                        </p:tav>
                                        <p:tav tm="100000">
                                          <p:val>
                                            <p:strVal val="#ppt_h"/>
                                          </p:val>
                                        </p:tav>
                                      </p:tavLst>
                                    </p:anim>
                                    <p:animEffect transition="in" filter="fade">
                                      <p:cBhvr>
                                        <p:cTn id="115" dur="450"/>
                                        <p:tgtEl>
                                          <p:spTgt spid="26"/>
                                        </p:tgtEl>
                                      </p:cBhvr>
                                    </p:animEffect>
                                  </p:childTnLst>
                                </p:cTn>
                              </p:par>
                              <p:par>
                                <p:cTn id="116" presetID="53" presetClass="entr" presetSubtype="16" fill="hold" grpId="0" nodeType="withEffect">
                                  <p:stCondLst>
                                    <p:cond delay="0"/>
                                  </p:stCondLst>
                                  <p:childTnLst>
                                    <p:set>
                                      <p:cBhvr>
                                        <p:cTn id="117" dur="1" fill="hold">
                                          <p:stCondLst>
                                            <p:cond delay="0"/>
                                          </p:stCondLst>
                                        </p:cTn>
                                        <p:tgtEl>
                                          <p:spTgt spid="27"/>
                                        </p:tgtEl>
                                        <p:attrNameLst>
                                          <p:attrName>style.visibility</p:attrName>
                                        </p:attrNameLst>
                                      </p:cBhvr>
                                      <p:to>
                                        <p:strVal val="visible"/>
                                      </p:to>
                                    </p:set>
                                    <p:anim calcmode="lin" valueType="num">
                                      <p:cBhvr>
                                        <p:cTn id="118" dur="450" fill="hold"/>
                                        <p:tgtEl>
                                          <p:spTgt spid="27"/>
                                        </p:tgtEl>
                                        <p:attrNameLst>
                                          <p:attrName>ppt_w</p:attrName>
                                        </p:attrNameLst>
                                      </p:cBhvr>
                                      <p:tavLst>
                                        <p:tav tm="0">
                                          <p:val>
                                            <p:fltVal val="0"/>
                                          </p:val>
                                        </p:tav>
                                        <p:tav tm="100000">
                                          <p:val>
                                            <p:strVal val="#ppt_w"/>
                                          </p:val>
                                        </p:tav>
                                      </p:tavLst>
                                    </p:anim>
                                    <p:anim calcmode="lin" valueType="num">
                                      <p:cBhvr>
                                        <p:cTn id="119" dur="450" fill="hold"/>
                                        <p:tgtEl>
                                          <p:spTgt spid="27"/>
                                        </p:tgtEl>
                                        <p:attrNameLst>
                                          <p:attrName>ppt_h</p:attrName>
                                        </p:attrNameLst>
                                      </p:cBhvr>
                                      <p:tavLst>
                                        <p:tav tm="0">
                                          <p:val>
                                            <p:fltVal val="0"/>
                                          </p:val>
                                        </p:tav>
                                        <p:tav tm="100000">
                                          <p:val>
                                            <p:strVal val="#ppt_h"/>
                                          </p:val>
                                        </p:tav>
                                      </p:tavLst>
                                    </p:anim>
                                    <p:animEffect transition="in" filter="fade">
                                      <p:cBhvr>
                                        <p:cTn id="120" dur="450"/>
                                        <p:tgtEl>
                                          <p:spTgt spid="27"/>
                                        </p:tgtEl>
                                      </p:cBhvr>
                                    </p:animEffect>
                                  </p:childTnLst>
                                </p:cTn>
                              </p:par>
                            </p:childTnLst>
                          </p:cTn>
                        </p:par>
                        <p:par>
                          <p:cTn id="121" fill="hold">
                            <p:stCondLst>
                              <p:cond delay="2450"/>
                            </p:stCondLst>
                            <p:childTnLst>
                              <p:par>
                                <p:cTn id="122" presetID="22" presetClass="entr" presetSubtype="8"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animEffect transition="in" filter="wipe(left)">
                                      <p:cBhvr>
                                        <p:cTn id="124" dur="500"/>
                                        <p:tgtEl>
                                          <p:spTgt spid="28"/>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9"/>
                                        </p:tgtEl>
                                        <p:attrNameLst>
                                          <p:attrName>style.visibility</p:attrName>
                                        </p:attrNameLst>
                                      </p:cBhvr>
                                      <p:to>
                                        <p:strVal val="visible"/>
                                      </p:to>
                                    </p:set>
                                    <p:anim calcmode="lin" valueType="num">
                                      <p:cBhvr>
                                        <p:cTn id="127" dur="450" fill="hold"/>
                                        <p:tgtEl>
                                          <p:spTgt spid="29"/>
                                        </p:tgtEl>
                                        <p:attrNameLst>
                                          <p:attrName>ppt_w</p:attrName>
                                        </p:attrNameLst>
                                      </p:cBhvr>
                                      <p:tavLst>
                                        <p:tav tm="0">
                                          <p:val>
                                            <p:fltVal val="0"/>
                                          </p:val>
                                        </p:tav>
                                        <p:tav tm="100000">
                                          <p:val>
                                            <p:strVal val="#ppt_w"/>
                                          </p:val>
                                        </p:tav>
                                      </p:tavLst>
                                    </p:anim>
                                    <p:anim calcmode="lin" valueType="num">
                                      <p:cBhvr>
                                        <p:cTn id="128" dur="450" fill="hold"/>
                                        <p:tgtEl>
                                          <p:spTgt spid="29"/>
                                        </p:tgtEl>
                                        <p:attrNameLst>
                                          <p:attrName>ppt_h</p:attrName>
                                        </p:attrNameLst>
                                      </p:cBhvr>
                                      <p:tavLst>
                                        <p:tav tm="0">
                                          <p:val>
                                            <p:fltVal val="0"/>
                                          </p:val>
                                        </p:tav>
                                        <p:tav tm="100000">
                                          <p:val>
                                            <p:strVal val="#ppt_h"/>
                                          </p:val>
                                        </p:tav>
                                      </p:tavLst>
                                    </p:anim>
                                    <p:animEffect transition="in" filter="fade">
                                      <p:cBhvr>
                                        <p:cTn id="129" dur="450"/>
                                        <p:tgtEl>
                                          <p:spTgt spid="29"/>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0"/>
                                        </p:tgtEl>
                                        <p:attrNameLst>
                                          <p:attrName>style.visibility</p:attrName>
                                        </p:attrNameLst>
                                      </p:cBhvr>
                                      <p:to>
                                        <p:strVal val="visible"/>
                                      </p:to>
                                    </p:set>
                                    <p:anim calcmode="lin" valueType="num">
                                      <p:cBhvr>
                                        <p:cTn id="132" dur="450" fill="hold"/>
                                        <p:tgtEl>
                                          <p:spTgt spid="30"/>
                                        </p:tgtEl>
                                        <p:attrNameLst>
                                          <p:attrName>ppt_w</p:attrName>
                                        </p:attrNameLst>
                                      </p:cBhvr>
                                      <p:tavLst>
                                        <p:tav tm="0">
                                          <p:val>
                                            <p:fltVal val="0"/>
                                          </p:val>
                                        </p:tav>
                                        <p:tav tm="100000">
                                          <p:val>
                                            <p:strVal val="#ppt_w"/>
                                          </p:val>
                                        </p:tav>
                                      </p:tavLst>
                                    </p:anim>
                                    <p:anim calcmode="lin" valueType="num">
                                      <p:cBhvr>
                                        <p:cTn id="133" dur="450" fill="hold"/>
                                        <p:tgtEl>
                                          <p:spTgt spid="30"/>
                                        </p:tgtEl>
                                        <p:attrNameLst>
                                          <p:attrName>ppt_h</p:attrName>
                                        </p:attrNameLst>
                                      </p:cBhvr>
                                      <p:tavLst>
                                        <p:tav tm="0">
                                          <p:val>
                                            <p:fltVal val="0"/>
                                          </p:val>
                                        </p:tav>
                                        <p:tav tm="100000">
                                          <p:val>
                                            <p:strVal val="#ppt_h"/>
                                          </p:val>
                                        </p:tav>
                                      </p:tavLst>
                                    </p:anim>
                                    <p:animEffect transition="in" filter="fade">
                                      <p:cBhvr>
                                        <p:cTn id="134" dur="450"/>
                                        <p:tgtEl>
                                          <p:spTgt spid="30"/>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1"/>
                                        </p:tgtEl>
                                        <p:attrNameLst>
                                          <p:attrName>style.visibility</p:attrName>
                                        </p:attrNameLst>
                                      </p:cBhvr>
                                      <p:to>
                                        <p:strVal val="visible"/>
                                      </p:to>
                                    </p:set>
                                    <p:anim calcmode="lin" valueType="num">
                                      <p:cBhvr>
                                        <p:cTn id="137" dur="450" fill="hold"/>
                                        <p:tgtEl>
                                          <p:spTgt spid="31"/>
                                        </p:tgtEl>
                                        <p:attrNameLst>
                                          <p:attrName>ppt_w</p:attrName>
                                        </p:attrNameLst>
                                      </p:cBhvr>
                                      <p:tavLst>
                                        <p:tav tm="0">
                                          <p:val>
                                            <p:fltVal val="0"/>
                                          </p:val>
                                        </p:tav>
                                        <p:tav tm="100000">
                                          <p:val>
                                            <p:strVal val="#ppt_w"/>
                                          </p:val>
                                        </p:tav>
                                      </p:tavLst>
                                    </p:anim>
                                    <p:anim calcmode="lin" valueType="num">
                                      <p:cBhvr>
                                        <p:cTn id="138" dur="450" fill="hold"/>
                                        <p:tgtEl>
                                          <p:spTgt spid="31"/>
                                        </p:tgtEl>
                                        <p:attrNameLst>
                                          <p:attrName>ppt_h</p:attrName>
                                        </p:attrNameLst>
                                      </p:cBhvr>
                                      <p:tavLst>
                                        <p:tav tm="0">
                                          <p:val>
                                            <p:fltVal val="0"/>
                                          </p:val>
                                        </p:tav>
                                        <p:tav tm="100000">
                                          <p:val>
                                            <p:strVal val="#ppt_h"/>
                                          </p:val>
                                        </p:tav>
                                      </p:tavLst>
                                    </p:anim>
                                    <p:animEffect transition="in" filter="fade">
                                      <p:cBhvr>
                                        <p:cTn id="139" dur="450"/>
                                        <p:tgtEl>
                                          <p:spTgt spid="31"/>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32"/>
                                        </p:tgtEl>
                                        <p:attrNameLst>
                                          <p:attrName>style.visibility</p:attrName>
                                        </p:attrNameLst>
                                      </p:cBhvr>
                                      <p:to>
                                        <p:strVal val="visible"/>
                                      </p:to>
                                    </p:set>
                                    <p:anim calcmode="lin" valueType="num">
                                      <p:cBhvr>
                                        <p:cTn id="142" dur="450" fill="hold"/>
                                        <p:tgtEl>
                                          <p:spTgt spid="32"/>
                                        </p:tgtEl>
                                        <p:attrNameLst>
                                          <p:attrName>ppt_w</p:attrName>
                                        </p:attrNameLst>
                                      </p:cBhvr>
                                      <p:tavLst>
                                        <p:tav tm="0">
                                          <p:val>
                                            <p:fltVal val="0"/>
                                          </p:val>
                                        </p:tav>
                                        <p:tav tm="100000">
                                          <p:val>
                                            <p:strVal val="#ppt_w"/>
                                          </p:val>
                                        </p:tav>
                                      </p:tavLst>
                                    </p:anim>
                                    <p:anim calcmode="lin" valueType="num">
                                      <p:cBhvr>
                                        <p:cTn id="143" dur="450" fill="hold"/>
                                        <p:tgtEl>
                                          <p:spTgt spid="32"/>
                                        </p:tgtEl>
                                        <p:attrNameLst>
                                          <p:attrName>ppt_h</p:attrName>
                                        </p:attrNameLst>
                                      </p:cBhvr>
                                      <p:tavLst>
                                        <p:tav tm="0">
                                          <p:val>
                                            <p:fltVal val="0"/>
                                          </p:val>
                                        </p:tav>
                                        <p:tav tm="100000">
                                          <p:val>
                                            <p:strVal val="#ppt_h"/>
                                          </p:val>
                                        </p:tav>
                                      </p:tavLst>
                                    </p:anim>
                                    <p:animEffect transition="in" filter="fade">
                                      <p:cBhvr>
                                        <p:cTn id="144" dur="450"/>
                                        <p:tgtEl>
                                          <p:spTgt spid="32"/>
                                        </p:tgtEl>
                                      </p:cBhvr>
                                    </p:animEffect>
                                  </p:childTnLst>
                                </p:cTn>
                              </p:par>
                            </p:childTnLst>
                          </p:cTn>
                        </p:par>
                        <p:par>
                          <p:cTn id="145" fill="hold">
                            <p:stCondLst>
                              <p:cond delay="295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p:cTn id="149" dur="550" fill="hold"/>
                                        <p:tgtEl>
                                          <p:spTgt spid="33"/>
                                        </p:tgtEl>
                                        <p:attrNameLst>
                                          <p:attrName>ppt_x</p:attrName>
                                        </p:attrNameLst>
                                      </p:cBhvr>
                                      <p:tavLst>
                                        <p:tav tm="0">
                                          <p:val>
                                            <p:strVal val="#ppt_x"/>
                                          </p:val>
                                        </p:tav>
                                        <p:tav tm="100000">
                                          <p:val>
                                            <p:strVal val="#ppt_x"/>
                                          </p:val>
                                        </p:tav>
                                      </p:tavLst>
                                    </p:anim>
                                    <p:anim calcmode="lin" valueType="num">
                                      <p:cBhvr>
                                        <p:cTn id="150" dur="550" fill="hold"/>
                                        <p:tgtEl>
                                          <p:spTgt spid="33"/>
                                        </p:tgtEl>
                                        <p:attrNameLst>
                                          <p:attrName>ppt_y</p:attrName>
                                        </p:attrNameLst>
                                      </p:cBhvr>
                                      <p:tavLst>
                                        <p:tav tm="0">
                                          <p:val>
                                            <p:strVal val="#ppt_y+.1"/>
                                          </p:val>
                                        </p:tav>
                                        <p:tav tm="100000">
                                          <p:val>
                                            <p:strVal val="#ppt_y"/>
                                          </p:val>
                                        </p:tav>
                                      </p:tavLst>
                                    </p:anim>
                                  </p:childTnLst>
                                </p:cTn>
                              </p:par>
                              <p:par>
                                <p:cTn id="151" presetID="42" presetClass="entr" presetSubtype="0" fill="hold" grpId="0" nodeType="withEffect">
                                  <p:stCondLst>
                                    <p:cond delay="0"/>
                                  </p:stCondLst>
                                  <p:childTnLst>
                                    <p:set>
                                      <p:cBhvr>
                                        <p:cTn id="152" dur="1" fill="hold">
                                          <p:stCondLst>
                                            <p:cond delay="0"/>
                                          </p:stCondLst>
                                        </p:cTn>
                                        <p:tgtEl>
                                          <p:spTgt spid="34"/>
                                        </p:tgtEl>
                                        <p:attrNameLst>
                                          <p:attrName>style.visibility</p:attrName>
                                        </p:attrNameLst>
                                      </p:cBhvr>
                                      <p:to>
                                        <p:strVal val="visible"/>
                                      </p:to>
                                    </p:set>
                                    <p:animEffect transition="in" filter="fade">
                                      <p:cBhvr>
                                        <p:cTn id="153" dur="550"/>
                                        <p:tgtEl>
                                          <p:spTgt spid="34"/>
                                        </p:tgtEl>
                                      </p:cBhvr>
                                    </p:animEffect>
                                    <p:anim calcmode="lin" valueType="num">
                                      <p:cBhvr>
                                        <p:cTn id="154" dur="550" fill="hold"/>
                                        <p:tgtEl>
                                          <p:spTgt spid="34"/>
                                        </p:tgtEl>
                                        <p:attrNameLst>
                                          <p:attrName>ppt_x</p:attrName>
                                        </p:attrNameLst>
                                      </p:cBhvr>
                                      <p:tavLst>
                                        <p:tav tm="0">
                                          <p:val>
                                            <p:strVal val="#ppt_x"/>
                                          </p:val>
                                        </p:tav>
                                        <p:tav tm="100000">
                                          <p:val>
                                            <p:strVal val="#ppt_x"/>
                                          </p:val>
                                        </p:tav>
                                      </p:tavLst>
                                    </p:anim>
                                    <p:anim calcmode="lin" valueType="num">
                                      <p:cBhvr>
                                        <p:cTn id="155" dur="550" fill="hold"/>
                                        <p:tgtEl>
                                          <p:spTgt spid="34"/>
                                        </p:tgtEl>
                                        <p:attrNameLst>
                                          <p:attrName>ppt_y</p:attrName>
                                        </p:attrNameLst>
                                      </p:cBhvr>
                                      <p:tavLst>
                                        <p:tav tm="0">
                                          <p:val>
                                            <p:strVal val="#ppt_y+.1"/>
                                          </p:val>
                                        </p:tav>
                                        <p:tav tm="100000">
                                          <p:val>
                                            <p:strVal val="#ppt_y"/>
                                          </p:val>
                                        </p:tav>
                                      </p:tavLst>
                                    </p:anim>
                                  </p:childTnLst>
                                </p:cTn>
                              </p:par>
                              <p:par>
                                <p:cTn id="156" presetID="42" presetClass="entr" presetSubtype="0" fill="hold" grpId="0" nodeType="withEffect">
                                  <p:stCondLst>
                                    <p:cond delay="0"/>
                                  </p:stCondLst>
                                  <p:childTnLst>
                                    <p:set>
                                      <p:cBhvr>
                                        <p:cTn id="157" dur="1" fill="hold">
                                          <p:stCondLst>
                                            <p:cond delay="0"/>
                                          </p:stCondLst>
                                        </p:cTn>
                                        <p:tgtEl>
                                          <p:spTgt spid="35"/>
                                        </p:tgtEl>
                                        <p:attrNameLst>
                                          <p:attrName>style.visibility</p:attrName>
                                        </p:attrNameLst>
                                      </p:cBhvr>
                                      <p:to>
                                        <p:strVal val="visible"/>
                                      </p:to>
                                    </p:set>
                                    <p:animEffect transition="in" filter="fade">
                                      <p:cBhvr>
                                        <p:cTn id="158" dur="550"/>
                                        <p:tgtEl>
                                          <p:spTgt spid="35"/>
                                        </p:tgtEl>
                                      </p:cBhvr>
                                    </p:animEffect>
                                    <p:anim calcmode="lin" valueType="num">
                                      <p:cBhvr>
                                        <p:cTn id="159" dur="550" fill="hold"/>
                                        <p:tgtEl>
                                          <p:spTgt spid="35"/>
                                        </p:tgtEl>
                                        <p:attrNameLst>
                                          <p:attrName>ppt_x</p:attrName>
                                        </p:attrNameLst>
                                      </p:cBhvr>
                                      <p:tavLst>
                                        <p:tav tm="0">
                                          <p:val>
                                            <p:strVal val="#ppt_x"/>
                                          </p:val>
                                        </p:tav>
                                        <p:tav tm="100000">
                                          <p:val>
                                            <p:strVal val="#ppt_x"/>
                                          </p:val>
                                        </p:tav>
                                      </p:tavLst>
                                    </p:anim>
                                    <p:anim calcmode="lin" valueType="num">
                                      <p:cBhvr>
                                        <p:cTn id="160" dur="550" fill="hold"/>
                                        <p:tgtEl>
                                          <p:spTgt spid="35"/>
                                        </p:tgtEl>
                                        <p:attrNameLst>
                                          <p:attrName>ppt_y</p:attrName>
                                        </p:attrNameLst>
                                      </p:cBhvr>
                                      <p:tavLst>
                                        <p:tav tm="0">
                                          <p:val>
                                            <p:strVal val="#ppt_y+.1"/>
                                          </p:val>
                                        </p:tav>
                                        <p:tav tm="100000">
                                          <p:val>
                                            <p:strVal val="#ppt_y"/>
                                          </p:val>
                                        </p:tav>
                                      </p:tavLst>
                                    </p:anim>
                                  </p:childTnLst>
                                </p:cTn>
                              </p:par>
                              <p:par>
                                <p:cTn id="161" presetID="42" presetClass="entr" presetSubtype="0" fill="hold" grpId="0" nodeType="withEffect">
                                  <p:stCondLst>
                                    <p:cond delay="0"/>
                                  </p:stCondLst>
                                  <p:childTnLst>
                                    <p:set>
                                      <p:cBhvr>
                                        <p:cTn id="162" dur="1" fill="hold">
                                          <p:stCondLst>
                                            <p:cond delay="0"/>
                                          </p:stCondLst>
                                        </p:cTn>
                                        <p:tgtEl>
                                          <p:spTgt spid="36"/>
                                        </p:tgtEl>
                                        <p:attrNameLst>
                                          <p:attrName>style.visibility</p:attrName>
                                        </p:attrNameLst>
                                      </p:cBhvr>
                                      <p:to>
                                        <p:strVal val="visible"/>
                                      </p:to>
                                    </p:set>
                                    <p:animEffect transition="in" filter="fade">
                                      <p:cBhvr>
                                        <p:cTn id="163" dur="550"/>
                                        <p:tgtEl>
                                          <p:spTgt spid="36"/>
                                        </p:tgtEl>
                                      </p:cBhvr>
                                    </p:animEffect>
                                    <p:anim calcmode="lin" valueType="num">
                                      <p:cBhvr>
                                        <p:cTn id="164" dur="550" fill="hold"/>
                                        <p:tgtEl>
                                          <p:spTgt spid="36"/>
                                        </p:tgtEl>
                                        <p:attrNameLst>
                                          <p:attrName>ppt_x</p:attrName>
                                        </p:attrNameLst>
                                      </p:cBhvr>
                                      <p:tavLst>
                                        <p:tav tm="0">
                                          <p:val>
                                            <p:strVal val="#ppt_x"/>
                                          </p:val>
                                        </p:tav>
                                        <p:tav tm="100000">
                                          <p:val>
                                            <p:strVal val="#ppt_x"/>
                                          </p:val>
                                        </p:tav>
                                      </p:tavLst>
                                    </p:anim>
                                    <p:anim calcmode="lin" valueType="num">
                                      <p:cBhvr>
                                        <p:cTn id="165" dur="550" fill="hold"/>
                                        <p:tgtEl>
                                          <p:spTgt spid="36"/>
                                        </p:tgtEl>
                                        <p:attrNameLst>
                                          <p:attrName>ppt_y</p:attrName>
                                        </p:attrNameLst>
                                      </p:cBhvr>
                                      <p:tavLst>
                                        <p:tav tm="0">
                                          <p:val>
                                            <p:strVal val="#ppt_y+.1"/>
                                          </p:val>
                                        </p:tav>
                                        <p:tav tm="100000">
                                          <p:val>
                                            <p:strVal val="#ppt_y"/>
                                          </p:val>
                                        </p:tav>
                                      </p:tavLst>
                                    </p:anim>
                                  </p:childTnLst>
                                </p:cTn>
                              </p:par>
                              <p:par>
                                <p:cTn id="166" presetID="42" presetClass="entr" presetSubtype="0" fill="hold" grpId="0" nodeType="withEffect">
                                  <p:stCondLst>
                                    <p:cond delay="0"/>
                                  </p:stCondLst>
                                  <p:childTnLst>
                                    <p:set>
                                      <p:cBhvr>
                                        <p:cTn id="167" dur="1" fill="hold">
                                          <p:stCondLst>
                                            <p:cond delay="0"/>
                                          </p:stCondLst>
                                        </p:cTn>
                                        <p:tgtEl>
                                          <p:spTgt spid="37"/>
                                        </p:tgtEl>
                                        <p:attrNameLst>
                                          <p:attrName>style.visibility</p:attrName>
                                        </p:attrNameLst>
                                      </p:cBhvr>
                                      <p:to>
                                        <p:strVal val="visible"/>
                                      </p:to>
                                    </p:set>
                                    <p:animEffect transition="in" filter="fade">
                                      <p:cBhvr>
                                        <p:cTn id="168" dur="550"/>
                                        <p:tgtEl>
                                          <p:spTgt spid="37"/>
                                        </p:tgtEl>
                                      </p:cBhvr>
                                    </p:animEffect>
                                    <p:anim calcmode="lin" valueType="num">
                                      <p:cBhvr>
                                        <p:cTn id="169" dur="550" fill="hold"/>
                                        <p:tgtEl>
                                          <p:spTgt spid="37"/>
                                        </p:tgtEl>
                                        <p:attrNameLst>
                                          <p:attrName>ppt_x</p:attrName>
                                        </p:attrNameLst>
                                      </p:cBhvr>
                                      <p:tavLst>
                                        <p:tav tm="0">
                                          <p:val>
                                            <p:strVal val="#ppt_x"/>
                                          </p:val>
                                        </p:tav>
                                        <p:tav tm="100000">
                                          <p:val>
                                            <p:strVal val="#ppt_x"/>
                                          </p:val>
                                        </p:tav>
                                      </p:tavLst>
                                    </p:anim>
                                    <p:anim calcmode="lin" valueType="num">
                                      <p:cBhvr>
                                        <p:cTn id="170" dur="550" fill="hold"/>
                                        <p:tgtEl>
                                          <p:spTgt spid="37"/>
                                        </p:tgtEl>
                                        <p:attrNameLst>
                                          <p:attrName>ppt_y</p:attrName>
                                        </p:attrNameLst>
                                      </p:cBhvr>
                                      <p:tavLst>
                                        <p:tav tm="0">
                                          <p:val>
                                            <p:strVal val="#ppt_y+.1"/>
                                          </p:val>
                                        </p:tav>
                                        <p:tav tm="100000">
                                          <p:val>
                                            <p:strVal val="#ppt_y"/>
                                          </p:val>
                                        </p:tav>
                                      </p:tavLst>
                                    </p:anim>
                                  </p:childTnLst>
                                </p:cTn>
                              </p:par>
                              <p:par>
                                <p:cTn id="171" presetID="42" presetClass="entr" presetSubtype="0" fill="hold" grpId="0" nodeType="withEffect">
                                  <p:stCondLst>
                                    <p:cond delay="0"/>
                                  </p:stCondLst>
                                  <p:childTnLst>
                                    <p:set>
                                      <p:cBhvr>
                                        <p:cTn id="172" dur="1" fill="hold">
                                          <p:stCondLst>
                                            <p:cond delay="0"/>
                                          </p:stCondLst>
                                        </p:cTn>
                                        <p:tgtEl>
                                          <p:spTgt spid="38"/>
                                        </p:tgtEl>
                                        <p:attrNameLst>
                                          <p:attrName>style.visibility</p:attrName>
                                        </p:attrNameLst>
                                      </p:cBhvr>
                                      <p:to>
                                        <p:strVal val="visible"/>
                                      </p:to>
                                    </p:set>
                                    <p:animEffect transition="in" filter="fade">
                                      <p:cBhvr>
                                        <p:cTn id="173" dur="550"/>
                                        <p:tgtEl>
                                          <p:spTgt spid="38"/>
                                        </p:tgtEl>
                                      </p:cBhvr>
                                    </p:animEffect>
                                    <p:anim calcmode="lin" valueType="num">
                                      <p:cBhvr>
                                        <p:cTn id="174" dur="550" fill="hold"/>
                                        <p:tgtEl>
                                          <p:spTgt spid="38"/>
                                        </p:tgtEl>
                                        <p:attrNameLst>
                                          <p:attrName>ppt_x</p:attrName>
                                        </p:attrNameLst>
                                      </p:cBhvr>
                                      <p:tavLst>
                                        <p:tav tm="0">
                                          <p:val>
                                            <p:strVal val="#ppt_x"/>
                                          </p:val>
                                        </p:tav>
                                        <p:tav tm="100000">
                                          <p:val>
                                            <p:strVal val="#ppt_x"/>
                                          </p:val>
                                        </p:tav>
                                      </p:tavLst>
                                    </p:anim>
                                    <p:anim calcmode="lin" valueType="num">
                                      <p:cBhvr>
                                        <p:cTn id="175" dur="550" fill="hold"/>
                                        <p:tgtEl>
                                          <p:spTgt spid="38"/>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39"/>
                                        </p:tgtEl>
                                        <p:attrNameLst>
                                          <p:attrName>style.visibility</p:attrName>
                                        </p:attrNameLst>
                                      </p:cBhvr>
                                      <p:to>
                                        <p:strVal val="visible"/>
                                      </p:to>
                                    </p:set>
                                    <p:animEffect transition="in" filter="fade">
                                      <p:cBhvr>
                                        <p:cTn id="178" dur="550"/>
                                        <p:tgtEl>
                                          <p:spTgt spid="39"/>
                                        </p:tgtEl>
                                      </p:cBhvr>
                                    </p:animEffect>
                                    <p:anim calcmode="lin" valueType="num">
                                      <p:cBhvr>
                                        <p:cTn id="179" dur="550" fill="hold"/>
                                        <p:tgtEl>
                                          <p:spTgt spid="39"/>
                                        </p:tgtEl>
                                        <p:attrNameLst>
                                          <p:attrName>ppt_x</p:attrName>
                                        </p:attrNameLst>
                                      </p:cBhvr>
                                      <p:tavLst>
                                        <p:tav tm="0">
                                          <p:val>
                                            <p:strVal val="#ppt_x"/>
                                          </p:val>
                                        </p:tav>
                                        <p:tav tm="100000">
                                          <p:val>
                                            <p:strVal val="#ppt_x"/>
                                          </p:val>
                                        </p:tav>
                                      </p:tavLst>
                                    </p:anim>
                                    <p:anim calcmode="lin" valueType="num">
                                      <p:cBhvr>
                                        <p:cTn id="180" dur="550" fill="hold"/>
                                        <p:tgtEl>
                                          <p:spTgt spid="39"/>
                                        </p:tgtEl>
                                        <p:attrNameLst>
                                          <p:attrName>ppt_y</p:attrName>
                                        </p:attrNameLst>
                                      </p:cBhvr>
                                      <p:tavLst>
                                        <p:tav tm="0">
                                          <p:val>
                                            <p:strVal val="#ppt_y+.1"/>
                                          </p:val>
                                        </p:tav>
                                        <p:tav tm="100000">
                                          <p:val>
                                            <p:strVal val="#ppt_y"/>
                                          </p:val>
                                        </p:tav>
                                      </p:tavLst>
                                    </p:anim>
                                  </p:childTnLst>
                                </p:cTn>
                              </p:par>
                              <p:par>
                                <p:cTn id="181" presetID="42" presetClass="entr" presetSubtype="0" fill="hold" grpId="0" nodeType="withEffect">
                                  <p:stCondLst>
                                    <p:cond delay="0"/>
                                  </p:stCondLst>
                                  <p:childTnLst>
                                    <p:set>
                                      <p:cBhvr>
                                        <p:cTn id="182" dur="1" fill="hold">
                                          <p:stCondLst>
                                            <p:cond delay="0"/>
                                          </p:stCondLst>
                                        </p:cTn>
                                        <p:tgtEl>
                                          <p:spTgt spid="40"/>
                                        </p:tgtEl>
                                        <p:attrNameLst>
                                          <p:attrName>style.visibility</p:attrName>
                                        </p:attrNameLst>
                                      </p:cBhvr>
                                      <p:to>
                                        <p:strVal val="visible"/>
                                      </p:to>
                                    </p:set>
                                    <p:animEffect transition="in" filter="fade">
                                      <p:cBhvr>
                                        <p:cTn id="183" dur="550"/>
                                        <p:tgtEl>
                                          <p:spTgt spid="40"/>
                                        </p:tgtEl>
                                      </p:cBhvr>
                                    </p:animEffect>
                                    <p:anim calcmode="lin" valueType="num">
                                      <p:cBhvr>
                                        <p:cTn id="184" dur="550" fill="hold"/>
                                        <p:tgtEl>
                                          <p:spTgt spid="40"/>
                                        </p:tgtEl>
                                        <p:attrNameLst>
                                          <p:attrName>ppt_x</p:attrName>
                                        </p:attrNameLst>
                                      </p:cBhvr>
                                      <p:tavLst>
                                        <p:tav tm="0">
                                          <p:val>
                                            <p:strVal val="#ppt_x"/>
                                          </p:val>
                                        </p:tav>
                                        <p:tav tm="100000">
                                          <p:val>
                                            <p:strVal val="#ppt_x"/>
                                          </p:val>
                                        </p:tav>
                                      </p:tavLst>
                                    </p:anim>
                                    <p:anim calcmode="lin" valueType="num">
                                      <p:cBhvr>
                                        <p:cTn id="185" dur="550" fill="hold"/>
                                        <p:tgtEl>
                                          <p:spTgt spid="40"/>
                                        </p:tgtEl>
                                        <p:attrNameLst>
                                          <p:attrName>ppt_y</p:attrName>
                                        </p:attrNameLst>
                                      </p:cBhvr>
                                      <p:tavLst>
                                        <p:tav tm="0">
                                          <p:val>
                                            <p:strVal val="#ppt_y+.1"/>
                                          </p:val>
                                        </p:tav>
                                        <p:tav tm="100000">
                                          <p:val>
                                            <p:strVal val="#ppt_y"/>
                                          </p:val>
                                        </p:tav>
                                      </p:tavLst>
                                    </p:anim>
                                  </p:childTnLst>
                                </p:cTn>
                              </p:par>
                            </p:childTnLst>
                          </p:cTn>
                        </p:par>
                        <p:par>
                          <p:cTn id="186" fill="hold">
                            <p:stCondLst>
                              <p:cond delay="3500"/>
                            </p:stCondLst>
                            <p:childTnLst>
                              <p:par>
                                <p:cTn id="187" presetID="42" presetClass="entr" presetSubtype="0" fill="hold" grpId="0" nodeType="afterEffect">
                                  <p:stCondLst>
                                    <p:cond delay="0"/>
                                  </p:stCondLst>
                                  <p:childTnLst>
                                    <p:set>
                                      <p:cBhvr>
                                        <p:cTn id="188" dur="1" fill="hold">
                                          <p:stCondLst>
                                            <p:cond delay="0"/>
                                          </p:stCondLst>
                                        </p:cTn>
                                        <p:tgtEl>
                                          <p:spTgt spid="41"/>
                                        </p:tgtEl>
                                        <p:attrNameLst>
                                          <p:attrName>style.visibility</p:attrName>
                                        </p:attrNameLst>
                                      </p:cBhvr>
                                      <p:to>
                                        <p:strVal val="visible"/>
                                      </p:to>
                                    </p:set>
                                    <p:animEffect transition="in" filter="fade">
                                      <p:cBhvr>
                                        <p:cTn id="189" dur="550"/>
                                        <p:tgtEl>
                                          <p:spTgt spid="41"/>
                                        </p:tgtEl>
                                      </p:cBhvr>
                                    </p:animEffect>
                                    <p:anim calcmode="lin" valueType="num">
                                      <p:cBhvr>
                                        <p:cTn id="190" dur="550" fill="hold"/>
                                        <p:tgtEl>
                                          <p:spTgt spid="41"/>
                                        </p:tgtEl>
                                        <p:attrNameLst>
                                          <p:attrName>ppt_x</p:attrName>
                                        </p:attrNameLst>
                                      </p:cBhvr>
                                      <p:tavLst>
                                        <p:tav tm="0">
                                          <p:val>
                                            <p:strVal val="#ppt_x"/>
                                          </p:val>
                                        </p:tav>
                                        <p:tav tm="100000">
                                          <p:val>
                                            <p:strVal val="#ppt_x"/>
                                          </p:val>
                                        </p:tav>
                                      </p:tavLst>
                                    </p:anim>
                                    <p:anim calcmode="lin" valueType="num">
                                      <p:cBhvr>
                                        <p:cTn id="191" dur="550" fill="hold"/>
                                        <p:tgtEl>
                                          <p:spTgt spid="41"/>
                                        </p:tgtEl>
                                        <p:attrNameLst>
                                          <p:attrName>ppt_y</p:attrName>
                                        </p:attrNameLst>
                                      </p:cBhvr>
                                      <p:tavLst>
                                        <p:tav tm="0">
                                          <p:val>
                                            <p:strVal val="#ppt_y+.1"/>
                                          </p:val>
                                        </p:tav>
                                        <p:tav tm="100000">
                                          <p:val>
                                            <p:strVal val="#ppt_y"/>
                                          </p:val>
                                        </p:tav>
                                      </p:tavLst>
                                    </p:anim>
                                  </p:childTnLst>
                                </p:cTn>
                              </p:par>
                              <p:par>
                                <p:cTn id="192" presetID="42" presetClass="entr" presetSubtype="0" fill="hold" grpId="0" nodeType="withEffect">
                                  <p:stCondLst>
                                    <p:cond delay="0"/>
                                  </p:stCondLst>
                                  <p:childTnLst>
                                    <p:set>
                                      <p:cBhvr>
                                        <p:cTn id="193" dur="1" fill="hold">
                                          <p:stCondLst>
                                            <p:cond delay="0"/>
                                          </p:stCondLst>
                                        </p:cTn>
                                        <p:tgtEl>
                                          <p:spTgt spid="42"/>
                                        </p:tgtEl>
                                        <p:attrNameLst>
                                          <p:attrName>style.visibility</p:attrName>
                                        </p:attrNameLst>
                                      </p:cBhvr>
                                      <p:to>
                                        <p:strVal val="visible"/>
                                      </p:to>
                                    </p:set>
                                    <p:animEffect transition="in" filter="fade">
                                      <p:cBhvr>
                                        <p:cTn id="194" dur="550"/>
                                        <p:tgtEl>
                                          <p:spTgt spid="42"/>
                                        </p:tgtEl>
                                      </p:cBhvr>
                                    </p:animEffect>
                                    <p:anim calcmode="lin" valueType="num">
                                      <p:cBhvr>
                                        <p:cTn id="195" dur="550" fill="hold"/>
                                        <p:tgtEl>
                                          <p:spTgt spid="42"/>
                                        </p:tgtEl>
                                        <p:attrNameLst>
                                          <p:attrName>ppt_x</p:attrName>
                                        </p:attrNameLst>
                                      </p:cBhvr>
                                      <p:tavLst>
                                        <p:tav tm="0">
                                          <p:val>
                                            <p:strVal val="#ppt_x"/>
                                          </p:val>
                                        </p:tav>
                                        <p:tav tm="100000">
                                          <p:val>
                                            <p:strVal val="#ppt_x"/>
                                          </p:val>
                                        </p:tav>
                                      </p:tavLst>
                                    </p:anim>
                                    <p:anim calcmode="lin" valueType="num">
                                      <p:cBhvr>
                                        <p:cTn id="196" dur="550" fill="hold"/>
                                        <p:tgtEl>
                                          <p:spTgt spid="42"/>
                                        </p:tgtEl>
                                        <p:attrNameLst>
                                          <p:attrName>ppt_y</p:attrName>
                                        </p:attrNameLst>
                                      </p:cBhvr>
                                      <p:tavLst>
                                        <p:tav tm="0">
                                          <p:val>
                                            <p:strVal val="#ppt_y+.1"/>
                                          </p:val>
                                        </p:tav>
                                        <p:tav tm="100000">
                                          <p:val>
                                            <p:strVal val="#ppt_y"/>
                                          </p:val>
                                        </p:tav>
                                      </p:tavLst>
                                    </p:anim>
                                  </p:childTnLst>
                                </p:cTn>
                              </p:par>
                              <p:par>
                                <p:cTn id="197" presetID="42" presetClass="entr" presetSubtype="0" fill="hold" grpId="0" nodeType="withEffect">
                                  <p:stCondLst>
                                    <p:cond delay="0"/>
                                  </p:stCondLst>
                                  <p:childTnLst>
                                    <p:set>
                                      <p:cBhvr>
                                        <p:cTn id="198" dur="1" fill="hold">
                                          <p:stCondLst>
                                            <p:cond delay="0"/>
                                          </p:stCondLst>
                                        </p:cTn>
                                        <p:tgtEl>
                                          <p:spTgt spid="43"/>
                                        </p:tgtEl>
                                        <p:attrNameLst>
                                          <p:attrName>style.visibility</p:attrName>
                                        </p:attrNameLst>
                                      </p:cBhvr>
                                      <p:to>
                                        <p:strVal val="visible"/>
                                      </p:to>
                                    </p:set>
                                    <p:animEffect transition="in" filter="fade">
                                      <p:cBhvr>
                                        <p:cTn id="199" dur="550"/>
                                        <p:tgtEl>
                                          <p:spTgt spid="43"/>
                                        </p:tgtEl>
                                      </p:cBhvr>
                                    </p:animEffect>
                                    <p:anim calcmode="lin" valueType="num">
                                      <p:cBhvr>
                                        <p:cTn id="200" dur="550" fill="hold"/>
                                        <p:tgtEl>
                                          <p:spTgt spid="43"/>
                                        </p:tgtEl>
                                        <p:attrNameLst>
                                          <p:attrName>ppt_x</p:attrName>
                                        </p:attrNameLst>
                                      </p:cBhvr>
                                      <p:tavLst>
                                        <p:tav tm="0">
                                          <p:val>
                                            <p:strVal val="#ppt_x"/>
                                          </p:val>
                                        </p:tav>
                                        <p:tav tm="100000">
                                          <p:val>
                                            <p:strVal val="#ppt_x"/>
                                          </p:val>
                                        </p:tav>
                                      </p:tavLst>
                                    </p:anim>
                                    <p:anim calcmode="lin" valueType="num">
                                      <p:cBhvr>
                                        <p:cTn id="201" dur="550" fill="hold"/>
                                        <p:tgtEl>
                                          <p:spTgt spid="43"/>
                                        </p:tgtEl>
                                        <p:attrNameLst>
                                          <p:attrName>ppt_y</p:attrName>
                                        </p:attrNameLst>
                                      </p:cBhvr>
                                      <p:tavLst>
                                        <p:tav tm="0">
                                          <p:val>
                                            <p:strVal val="#ppt_y+.1"/>
                                          </p:val>
                                        </p:tav>
                                        <p:tav tm="100000">
                                          <p:val>
                                            <p:strVal val="#ppt_y"/>
                                          </p:val>
                                        </p:tav>
                                      </p:tavLst>
                                    </p:anim>
                                  </p:childTnLst>
                                </p:cTn>
                              </p:par>
                              <p:par>
                                <p:cTn id="202" presetID="42" presetClass="entr" presetSubtype="0" fill="hold" grpId="0" nodeType="withEffect">
                                  <p:stCondLst>
                                    <p:cond delay="0"/>
                                  </p:stCondLst>
                                  <p:childTnLst>
                                    <p:set>
                                      <p:cBhvr>
                                        <p:cTn id="203" dur="1" fill="hold">
                                          <p:stCondLst>
                                            <p:cond delay="0"/>
                                          </p:stCondLst>
                                        </p:cTn>
                                        <p:tgtEl>
                                          <p:spTgt spid="44"/>
                                        </p:tgtEl>
                                        <p:attrNameLst>
                                          <p:attrName>style.visibility</p:attrName>
                                        </p:attrNameLst>
                                      </p:cBhvr>
                                      <p:to>
                                        <p:strVal val="visible"/>
                                      </p:to>
                                    </p:set>
                                    <p:animEffect transition="in" filter="fade">
                                      <p:cBhvr>
                                        <p:cTn id="204" dur="550"/>
                                        <p:tgtEl>
                                          <p:spTgt spid="44"/>
                                        </p:tgtEl>
                                      </p:cBhvr>
                                    </p:animEffect>
                                    <p:anim calcmode="lin" valueType="num">
                                      <p:cBhvr>
                                        <p:cTn id="205" dur="550" fill="hold"/>
                                        <p:tgtEl>
                                          <p:spTgt spid="44"/>
                                        </p:tgtEl>
                                        <p:attrNameLst>
                                          <p:attrName>ppt_x</p:attrName>
                                        </p:attrNameLst>
                                      </p:cBhvr>
                                      <p:tavLst>
                                        <p:tav tm="0">
                                          <p:val>
                                            <p:strVal val="#ppt_x"/>
                                          </p:val>
                                        </p:tav>
                                        <p:tav tm="100000">
                                          <p:val>
                                            <p:strVal val="#ppt_x"/>
                                          </p:val>
                                        </p:tav>
                                      </p:tavLst>
                                    </p:anim>
                                    <p:anim calcmode="lin" valueType="num">
                                      <p:cBhvr>
                                        <p:cTn id="206" dur="550" fill="hold"/>
                                        <p:tgtEl>
                                          <p:spTgt spid="44"/>
                                        </p:tgtEl>
                                        <p:attrNameLst>
                                          <p:attrName>ppt_y</p:attrName>
                                        </p:attrNameLst>
                                      </p:cBhvr>
                                      <p:tavLst>
                                        <p:tav tm="0">
                                          <p:val>
                                            <p:strVal val="#ppt_y+.1"/>
                                          </p:val>
                                        </p:tav>
                                        <p:tav tm="100000">
                                          <p:val>
                                            <p:strVal val="#ppt_y"/>
                                          </p:val>
                                        </p:tav>
                                      </p:tavLst>
                                    </p:anim>
                                  </p:childTnLst>
                                </p:cTn>
                              </p:par>
                              <p:par>
                                <p:cTn id="207" presetID="42" presetClass="entr" presetSubtype="0" fill="hold" grpId="0" nodeType="withEffect">
                                  <p:stCondLst>
                                    <p:cond delay="0"/>
                                  </p:stCondLst>
                                  <p:childTnLst>
                                    <p:set>
                                      <p:cBhvr>
                                        <p:cTn id="208" dur="1" fill="hold">
                                          <p:stCondLst>
                                            <p:cond delay="0"/>
                                          </p:stCondLst>
                                        </p:cTn>
                                        <p:tgtEl>
                                          <p:spTgt spid="45"/>
                                        </p:tgtEl>
                                        <p:attrNameLst>
                                          <p:attrName>style.visibility</p:attrName>
                                        </p:attrNameLst>
                                      </p:cBhvr>
                                      <p:to>
                                        <p:strVal val="visible"/>
                                      </p:to>
                                    </p:set>
                                    <p:animEffect transition="in" filter="fade">
                                      <p:cBhvr>
                                        <p:cTn id="209" dur="550"/>
                                        <p:tgtEl>
                                          <p:spTgt spid="45"/>
                                        </p:tgtEl>
                                      </p:cBhvr>
                                    </p:animEffect>
                                    <p:anim calcmode="lin" valueType="num">
                                      <p:cBhvr>
                                        <p:cTn id="210" dur="550" fill="hold"/>
                                        <p:tgtEl>
                                          <p:spTgt spid="45"/>
                                        </p:tgtEl>
                                        <p:attrNameLst>
                                          <p:attrName>ppt_x</p:attrName>
                                        </p:attrNameLst>
                                      </p:cBhvr>
                                      <p:tavLst>
                                        <p:tav tm="0">
                                          <p:val>
                                            <p:strVal val="#ppt_x"/>
                                          </p:val>
                                        </p:tav>
                                        <p:tav tm="100000">
                                          <p:val>
                                            <p:strVal val="#ppt_x"/>
                                          </p:val>
                                        </p:tav>
                                      </p:tavLst>
                                    </p:anim>
                                    <p:anim calcmode="lin" valueType="num">
                                      <p:cBhvr>
                                        <p:cTn id="211" dur="550" fill="hold"/>
                                        <p:tgtEl>
                                          <p:spTgt spid="45"/>
                                        </p:tgtEl>
                                        <p:attrNameLst>
                                          <p:attrName>ppt_y</p:attrName>
                                        </p:attrNameLst>
                                      </p:cBhvr>
                                      <p:tavLst>
                                        <p:tav tm="0">
                                          <p:val>
                                            <p:strVal val="#ppt_y+.1"/>
                                          </p:val>
                                        </p:tav>
                                        <p:tav tm="100000">
                                          <p:val>
                                            <p:strVal val="#ppt_y"/>
                                          </p:val>
                                        </p:tav>
                                      </p:tavLst>
                                    </p:anim>
                                  </p:childTnLst>
                                </p:cTn>
                              </p:par>
                              <p:par>
                                <p:cTn id="212" presetID="42" presetClass="entr" presetSubtype="0" fill="hold" grpId="0" nodeType="withEffect">
                                  <p:stCondLst>
                                    <p:cond delay="0"/>
                                  </p:stCondLst>
                                  <p:childTnLst>
                                    <p:set>
                                      <p:cBhvr>
                                        <p:cTn id="213" dur="1" fill="hold">
                                          <p:stCondLst>
                                            <p:cond delay="0"/>
                                          </p:stCondLst>
                                        </p:cTn>
                                        <p:tgtEl>
                                          <p:spTgt spid="46"/>
                                        </p:tgtEl>
                                        <p:attrNameLst>
                                          <p:attrName>style.visibility</p:attrName>
                                        </p:attrNameLst>
                                      </p:cBhvr>
                                      <p:to>
                                        <p:strVal val="visible"/>
                                      </p:to>
                                    </p:set>
                                    <p:animEffect transition="in" filter="fade">
                                      <p:cBhvr>
                                        <p:cTn id="214" dur="550"/>
                                        <p:tgtEl>
                                          <p:spTgt spid="46"/>
                                        </p:tgtEl>
                                      </p:cBhvr>
                                    </p:animEffect>
                                    <p:anim calcmode="lin" valueType="num">
                                      <p:cBhvr>
                                        <p:cTn id="215" dur="550" fill="hold"/>
                                        <p:tgtEl>
                                          <p:spTgt spid="46"/>
                                        </p:tgtEl>
                                        <p:attrNameLst>
                                          <p:attrName>ppt_x</p:attrName>
                                        </p:attrNameLst>
                                      </p:cBhvr>
                                      <p:tavLst>
                                        <p:tav tm="0">
                                          <p:val>
                                            <p:strVal val="#ppt_x"/>
                                          </p:val>
                                        </p:tav>
                                        <p:tav tm="100000">
                                          <p:val>
                                            <p:strVal val="#ppt_x"/>
                                          </p:val>
                                        </p:tav>
                                      </p:tavLst>
                                    </p:anim>
                                    <p:anim calcmode="lin" valueType="num">
                                      <p:cBhvr>
                                        <p:cTn id="216" dur="550" fill="hold"/>
                                        <p:tgtEl>
                                          <p:spTgt spid="46"/>
                                        </p:tgtEl>
                                        <p:attrNameLst>
                                          <p:attrName>ppt_y</p:attrName>
                                        </p:attrNameLst>
                                      </p:cBhvr>
                                      <p:tavLst>
                                        <p:tav tm="0">
                                          <p:val>
                                            <p:strVal val="#ppt_y+.1"/>
                                          </p:val>
                                        </p:tav>
                                        <p:tav tm="100000">
                                          <p:val>
                                            <p:strVal val="#ppt_y"/>
                                          </p:val>
                                        </p:tav>
                                      </p:tavLst>
                                    </p:anim>
                                  </p:childTnLst>
                                </p:cTn>
                              </p:par>
                              <p:par>
                                <p:cTn id="217" presetID="42" presetClass="entr" presetSubtype="0" fill="hold" grpId="0" nodeType="withEffect">
                                  <p:stCondLst>
                                    <p:cond delay="0"/>
                                  </p:stCondLst>
                                  <p:childTnLst>
                                    <p:set>
                                      <p:cBhvr>
                                        <p:cTn id="218" dur="1" fill="hold">
                                          <p:stCondLst>
                                            <p:cond delay="0"/>
                                          </p:stCondLst>
                                        </p:cTn>
                                        <p:tgtEl>
                                          <p:spTgt spid="47"/>
                                        </p:tgtEl>
                                        <p:attrNameLst>
                                          <p:attrName>style.visibility</p:attrName>
                                        </p:attrNameLst>
                                      </p:cBhvr>
                                      <p:to>
                                        <p:strVal val="visible"/>
                                      </p:to>
                                    </p:set>
                                    <p:animEffect transition="in" filter="fade">
                                      <p:cBhvr>
                                        <p:cTn id="219" dur="550"/>
                                        <p:tgtEl>
                                          <p:spTgt spid="47"/>
                                        </p:tgtEl>
                                      </p:cBhvr>
                                    </p:animEffect>
                                    <p:anim calcmode="lin" valueType="num">
                                      <p:cBhvr>
                                        <p:cTn id="220" dur="550" fill="hold"/>
                                        <p:tgtEl>
                                          <p:spTgt spid="47"/>
                                        </p:tgtEl>
                                        <p:attrNameLst>
                                          <p:attrName>ppt_x</p:attrName>
                                        </p:attrNameLst>
                                      </p:cBhvr>
                                      <p:tavLst>
                                        <p:tav tm="0">
                                          <p:val>
                                            <p:strVal val="#ppt_x"/>
                                          </p:val>
                                        </p:tav>
                                        <p:tav tm="100000">
                                          <p:val>
                                            <p:strVal val="#ppt_x"/>
                                          </p:val>
                                        </p:tav>
                                      </p:tavLst>
                                    </p:anim>
                                    <p:anim calcmode="lin" valueType="num">
                                      <p:cBhvr>
                                        <p:cTn id="221" dur="550" fill="hold"/>
                                        <p:tgtEl>
                                          <p:spTgt spid="47"/>
                                        </p:tgtEl>
                                        <p:attrNameLst>
                                          <p:attrName>ppt_y</p:attrName>
                                        </p:attrNameLst>
                                      </p:cBhvr>
                                      <p:tavLst>
                                        <p:tav tm="0">
                                          <p:val>
                                            <p:strVal val="#ppt_y+.1"/>
                                          </p:val>
                                        </p:tav>
                                        <p:tav tm="100000">
                                          <p:val>
                                            <p:strVal val="#ppt_y"/>
                                          </p:val>
                                        </p:tav>
                                      </p:tavLst>
                                    </p:anim>
                                  </p:childTnLst>
                                </p:cTn>
                              </p:par>
                              <p:par>
                                <p:cTn id="222" presetID="42" presetClass="entr" presetSubtype="0" fill="hold" grpId="0" nodeType="withEffect">
                                  <p:stCondLst>
                                    <p:cond delay="0"/>
                                  </p:stCondLst>
                                  <p:childTnLst>
                                    <p:set>
                                      <p:cBhvr>
                                        <p:cTn id="223" dur="1" fill="hold">
                                          <p:stCondLst>
                                            <p:cond delay="0"/>
                                          </p:stCondLst>
                                        </p:cTn>
                                        <p:tgtEl>
                                          <p:spTgt spid="48"/>
                                        </p:tgtEl>
                                        <p:attrNameLst>
                                          <p:attrName>style.visibility</p:attrName>
                                        </p:attrNameLst>
                                      </p:cBhvr>
                                      <p:to>
                                        <p:strVal val="visible"/>
                                      </p:to>
                                    </p:set>
                                    <p:animEffect transition="in" filter="fade">
                                      <p:cBhvr>
                                        <p:cTn id="224" dur="550"/>
                                        <p:tgtEl>
                                          <p:spTgt spid="48"/>
                                        </p:tgtEl>
                                      </p:cBhvr>
                                    </p:animEffect>
                                    <p:anim calcmode="lin" valueType="num">
                                      <p:cBhvr>
                                        <p:cTn id="225" dur="550" fill="hold"/>
                                        <p:tgtEl>
                                          <p:spTgt spid="48"/>
                                        </p:tgtEl>
                                        <p:attrNameLst>
                                          <p:attrName>ppt_x</p:attrName>
                                        </p:attrNameLst>
                                      </p:cBhvr>
                                      <p:tavLst>
                                        <p:tav tm="0">
                                          <p:val>
                                            <p:strVal val="#ppt_x"/>
                                          </p:val>
                                        </p:tav>
                                        <p:tav tm="100000">
                                          <p:val>
                                            <p:strVal val="#ppt_x"/>
                                          </p:val>
                                        </p:tav>
                                      </p:tavLst>
                                    </p:anim>
                                    <p:anim calcmode="lin" valueType="num">
                                      <p:cBhvr>
                                        <p:cTn id="226" dur="550" fill="hold"/>
                                        <p:tgtEl>
                                          <p:spTgt spid="48"/>
                                        </p:tgtEl>
                                        <p:attrNameLst>
                                          <p:attrName>ppt_y</p:attrName>
                                        </p:attrNameLst>
                                      </p:cBhvr>
                                      <p:tavLst>
                                        <p:tav tm="0">
                                          <p:val>
                                            <p:strVal val="#ppt_y+.1"/>
                                          </p:val>
                                        </p:tav>
                                        <p:tav tm="100000">
                                          <p:val>
                                            <p:strVal val="#ppt_y"/>
                                          </p:val>
                                        </p:tav>
                                      </p:tavLst>
                                    </p:anim>
                                  </p:childTnLst>
                                </p:cTn>
                              </p:par>
                            </p:childTnLst>
                          </p:cTn>
                        </p:par>
                        <p:par>
                          <p:cTn id="227" fill="hold">
                            <p:stCondLst>
                              <p:cond delay="4050"/>
                            </p:stCondLst>
                            <p:childTnLst>
                              <p:par>
                                <p:cTn id="228" presetID="10" presetClass="entr" presetSubtype="0" fill="hold" grpId="0" nodeType="afterEffect">
                                  <p:stCondLst>
                                    <p:cond delay="0"/>
                                  </p:stCondLst>
                                  <p:childTnLst>
                                    <p:set>
                                      <p:cBhvr>
                                        <p:cTn id="229" dur="1" fill="hold">
                                          <p:stCondLst>
                                            <p:cond delay="0"/>
                                          </p:stCondLst>
                                        </p:cTn>
                                        <p:tgtEl>
                                          <p:spTgt spid="49"/>
                                        </p:tgtEl>
                                        <p:attrNameLst>
                                          <p:attrName>style.visibility</p:attrName>
                                        </p:attrNameLst>
                                      </p:cBhvr>
                                      <p:to>
                                        <p:strVal val="visible"/>
                                      </p:to>
                                    </p:set>
                                    <p:animEffect transition="in" filter="fade">
                                      <p:cBhvr>
                                        <p:cTn id="230"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40" grpId="0" animBg="1"/>
      <p:bldP spid="41" grpId="0" animBg="1"/>
      <p:bldP spid="42" grpId="0" animBg="1"/>
      <p:bldP spid="44" grpId="0" animBg="1"/>
      <p:bldP spid="45" grpId="0" animBg="1"/>
      <p:bldP spid="46" grpId="0" animBg="1"/>
      <p:bldP spid="48" grpId="0" animBg="1"/>
      <p:bldP spid="4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03 · INSIDE THE ACCELERATOR</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The accelerator by the numbers</a:t>
            </a:r>
            <a:endParaRPr lang="en-US" sz="3200" dirty="0"/>
          </a:p>
        </p:txBody>
      </p:sp>
      <p:sp>
        <p:nvSpPr>
          <p:cNvPr id="4" name="a1z-stat0"/>
          <p:cNvSpPr/>
          <p:nvPr/>
        </p:nvSpPr>
        <p:spPr>
          <a:xfrm>
            <a:off x="548640" y="1600200"/>
            <a:ext cx="2587752" cy="1874520"/>
          </a:xfrm>
          <a:prstGeom prst="roundRect">
            <a:avLst>
              <a:gd name="adj" fmla="val 5854"/>
            </a:avLst>
          </a:prstGeom>
          <a:solidFill>
            <a:schemeClr val="bg2"/>
          </a:solidFill>
          <a:ln/>
        </p:spPr>
      </p:sp>
      <p:sp>
        <p:nvSpPr>
          <p:cNvPr id="5" name="a1z-stat0n"/>
          <p:cNvSpPr txBox="1"/>
          <p:nvPr/>
        </p:nvSpPr>
        <p:spPr>
          <a:xfrm>
            <a:off x="822960" y="185623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24</a:t>
            </a:r>
            <a:endParaRPr lang="en-US" sz="4400" dirty="0"/>
          </a:p>
        </p:txBody>
      </p:sp>
      <p:sp>
        <p:nvSpPr>
          <p:cNvPr id="6" name="a1z-stat0l"/>
          <p:cNvSpPr txBox="1"/>
          <p:nvPr/>
        </p:nvSpPr>
        <p:spPr>
          <a:xfrm>
            <a:off x="822960" y="2651760"/>
            <a:ext cx="2103120" cy="685800"/>
          </a:xfrm>
          <a:prstGeom prst="rect">
            <a:avLst/>
          </a:prstGeom>
          <a:noFill/>
          <a:ln/>
        </p:spPr>
        <p:txBody>
          <a:bodyPr wrap="square" lIns="0" tIns="0" rIns="0" bIns="0" rtlCol="0" anchor="t"/>
          <a:lstStyle/>
          <a:p>
            <a:pPr indent="0" marL="0">
              <a:buNone/>
            </a:pPr>
            <a:r>
              <a:rPr lang="en-US" sz="1400" dirty="0">
                <a:solidFill>
                  <a:schemeClr val="tx1"/>
                </a:solidFill>
              </a:rPr>
              <a:t>Synapse component types mapped to a Fabric target</a:t>
            </a:r>
            <a:endParaRPr lang="en-US" sz="1400" dirty="0"/>
          </a:p>
        </p:txBody>
      </p:sp>
      <p:sp>
        <p:nvSpPr>
          <p:cNvPr id="7" name="a2z-stat1"/>
          <p:cNvSpPr/>
          <p:nvPr/>
        </p:nvSpPr>
        <p:spPr>
          <a:xfrm>
            <a:off x="3383280" y="1600200"/>
            <a:ext cx="2587752" cy="1874520"/>
          </a:xfrm>
          <a:prstGeom prst="roundRect">
            <a:avLst>
              <a:gd name="adj" fmla="val 5854"/>
            </a:avLst>
          </a:prstGeom>
          <a:solidFill>
            <a:schemeClr val="bg2"/>
          </a:solidFill>
          <a:ln/>
        </p:spPr>
      </p:sp>
      <p:sp>
        <p:nvSpPr>
          <p:cNvPr id="8" name="a2z-stat1n"/>
          <p:cNvSpPr txBox="1"/>
          <p:nvPr/>
        </p:nvSpPr>
        <p:spPr>
          <a:xfrm>
            <a:off x="3657600" y="185623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11</a:t>
            </a:r>
            <a:endParaRPr lang="en-US" sz="4400" dirty="0"/>
          </a:p>
        </p:txBody>
      </p:sp>
      <p:sp>
        <p:nvSpPr>
          <p:cNvPr id="9" name="a2z-stat1l"/>
          <p:cNvSpPr txBox="1"/>
          <p:nvPr/>
        </p:nvSpPr>
        <p:spPr>
          <a:xfrm>
            <a:off x="3657600" y="2651760"/>
            <a:ext cx="2103120" cy="685800"/>
          </a:xfrm>
          <a:prstGeom prst="rect">
            <a:avLst/>
          </a:prstGeom>
          <a:noFill/>
          <a:ln/>
        </p:spPr>
        <p:txBody>
          <a:bodyPr wrap="square" lIns="0" tIns="0" rIns="0" bIns="0" rtlCol="0" anchor="t"/>
          <a:lstStyle/>
          <a:p>
            <a:pPr indent="0" marL="0">
              <a:buNone/>
            </a:pPr>
            <a:r>
              <a:rPr lang="en-US" sz="1400" dirty="0">
                <a:solidFill>
                  <a:schemeClr val="tx1"/>
                </a:solidFill>
              </a:rPr>
              <a:t>Migration stages, each one switchable</a:t>
            </a:r>
            <a:endParaRPr lang="en-US" sz="1400" dirty="0"/>
          </a:p>
        </p:txBody>
      </p:sp>
      <p:sp>
        <p:nvSpPr>
          <p:cNvPr id="10" name="a3z-stat2"/>
          <p:cNvSpPr/>
          <p:nvPr/>
        </p:nvSpPr>
        <p:spPr>
          <a:xfrm>
            <a:off x="6217920" y="1600200"/>
            <a:ext cx="2587752" cy="1874520"/>
          </a:xfrm>
          <a:prstGeom prst="roundRect">
            <a:avLst>
              <a:gd name="adj" fmla="val 5854"/>
            </a:avLst>
          </a:prstGeom>
          <a:solidFill>
            <a:schemeClr val="bg2"/>
          </a:solidFill>
          <a:ln/>
        </p:spPr>
      </p:sp>
      <p:sp>
        <p:nvSpPr>
          <p:cNvPr id="11" name="a3z-stat2n"/>
          <p:cNvSpPr txBox="1"/>
          <p:nvPr/>
        </p:nvSpPr>
        <p:spPr>
          <a:xfrm>
            <a:off x="6492240" y="185623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33</a:t>
            </a:r>
            <a:endParaRPr lang="en-US" sz="4400" dirty="0"/>
          </a:p>
        </p:txBody>
      </p:sp>
      <p:sp>
        <p:nvSpPr>
          <p:cNvPr id="12" name="a3z-stat2l"/>
          <p:cNvSpPr txBox="1"/>
          <p:nvPr/>
        </p:nvSpPr>
        <p:spPr>
          <a:xfrm>
            <a:off x="6492240" y="2651760"/>
            <a:ext cx="2103120" cy="685800"/>
          </a:xfrm>
          <a:prstGeom prst="rect">
            <a:avLst/>
          </a:prstGeom>
          <a:noFill/>
          <a:ln/>
        </p:spPr>
        <p:txBody>
          <a:bodyPr wrap="square" lIns="0" tIns="0" rIns="0" bIns="0" rtlCol="0" anchor="t"/>
          <a:lstStyle/>
          <a:p>
            <a:pPr indent="0" marL="0">
              <a:buNone/>
            </a:pPr>
            <a:r>
              <a:rPr lang="en-US" sz="1400" dirty="0">
                <a:solidFill>
                  <a:schemeClr val="tx1"/>
                </a:solidFill>
              </a:rPr>
              <a:t>Pipeline activity types converted</a:t>
            </a:r>
            <a:endParaRPr lang="en-US" sz="1400" dirty="0"/>
          </a:p>
        </p:txBody>
      </p:sp>
      <p:sp>
        <p:nvSpPr>
          <p:cNvPr id="13" name="a4z-stat3"/>
          <p:cNvSpPr/>
          <p:nvPr/>
        </p:nvSpPr>
        <p:spPr>
          <a:xfrm>
            <a:off x="9052560" y="1600200"/>
            <a:ext cx="2587752" cy="1874520"/>
          </a:xfrm>
          <a:prstGeom prst="roundRect">
            <a:avLst>
              <a:gd name="adj" fmla="val 5854"/>
            </a:avLst>
          </a:prstGeom>
          <a:solidFill>
            <a:schemeClr val="bg2"/>
          </a:solidFill>
          <a:ln/>
        </p:spPr>
      </p:sp>
      <p:sp>
        <p:nvSpPr>
          <p:cNvPr id="14" name="a4z-stat3n"/>
          <p:cNvSpPr txBox="1"/>
          <p:nvPr/>
        </p:nvSpPr>
        <p:spPr>
          <a:xfrm>
            <a:off x="9326880" y="185623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33</a:t>
            </a:r>
            <a:endParaRPr lang="en-US" sz="4400" dirty="0"/>
          </a:p>
        </p:txBody>
      </p:sp>
      <p:sp>
        <p:nvSpPr>
          <p:cNvPr id="15" name="a4z-stat3l"/>
          <p:cNvSpPr txBox="1"/>
          <p:nvPr/>
        </p:nvSpPr>
        <p:spPr>
          <a:xfrm>
            <a:off x="9326880" y="2651760"/>
            <a:ext cx="2103120" cy="685800"/>
          </a:xfrm>
          <a:prstGeom prst="rect">
            <a:avLst/>
          </a:prstGeom>
          <a:noFill/>
          <a:ln/>
        </p:spPr>
        <p:txBody>
          <a:bodyPr wrap="square" lIns="0" tIns="0" rIns="0" bIns="0" rtlCol="0" anchor="t"/>
          <a:lstStyle/>
          <a:p>
            <a:pPr indent="0" marL="0">
              <a:buNone/>
            </a:pPr>
            <a:r>
              <a:rPr lang="en-US" sz="1400" dirty="0">
                <a:solidFill>
                  <a:schemeClr val="tx1"/>
                </a:solidFill>
              </a:rPr>
              <a:t>SQL column types mapped, every change noted</a:t>
            </a:r>
            <a:endParaRPr lang="en-US" sz="1400" dirty="0"/>
          </a:p>
        </p:txBody>
      </p:sp>
      <p:sp>
        <p:nvSpPr>
          <p:cNvPr id="16" name="a5z-stat4"/>
          <p:cNvSpPr/>
          <p:nvPr/>
        </p:nvSpPr>
        <p:spPr>
          <a:xfrm>
            <a:off x="548640" y="3703320"/>
            <a:ext cx="2587752" cy="1874520"/>
          </a:xfrm>
          <a:prstGeom prst="roundRect">
            <a:avLst>
              <a:gd name="adj" fmla="val 5854"/>
            </a:avLst>
          </a:prstGeom>
          <a:solidFill>
            <a:schemeClr val="bg2"/>
          </a:solidFill>
          <a:ln/>
        </p:spPr>
      </p:sp>
      <p:sp>
        <p:nvSpPr>
          <p:cNvPr id="17" name="a5z-stat4n"/>
          <p:cNvSpPr txBox="1"/>
          <p:nvPr/>
        </p:nvSpPr>
        <p:spPr>
          <a:xfrm>
            <a:off x="822960" y="395935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45</a:t>
            </a:r>
            <a:endParaRPr lang="en-US" sz="4400" dirty="0"/>
          </a:p>
        </p:txBody>
      </p:sp>
      <p:sp>
        <p:nvSpPr>
          <p:cNvPr id="18" name="a5z-stat4l"/>
          <p:cNvSpPr txBox="1"/>
          <p:nvPr/>
        </p:nvSpPr>
        <p:spPr>
          <a:xfrm>
            <a:off x="822960" y="4754880"/>
            <a:ext cx="2103120" cy="685800"/>
          </a:xfrm>
          <a:prstGeom prst="rect">
            <a:avLst/>
          </a:prstGeom>
          <a:noFill/>
          <a:ln/>
        </p:spPr>
        <p:txBody>
          <a:bodyPr wrap="square" lIns="0" tIns="0" rIns="0" bIns="0" rtlCol="0" anchor="t"/>
          <a:lstStyle/>
          <a:p>
            <a:pPr indent="0" marL="0">
              <a:buNone/>
            </a:pPr>
            <a:r>
              <a:rPr lang="en-US" sz="1400" dirty="0">
                <a:solidFill>
                  <a:schemeClr val="tx1"/>
                </a:solidFill>
              </a:rPr>
              <a:t>API endpoints behind the web app</a:t>
            </a:r>
            <a:endParaRPr lang="en-US" sz="1400" dirty="0"/>
          </a:p>
        </p:txBody>
      </p:sp>
      <p:sp>
        <p:nvSpPr>
          <p:cNvPr id="19" name="a6z-stat5"/>
          <p:cNvSpPr/>
          <p:nvPr/>
        </p:nvSpPr>
        <p:spPr>
          <a:xfrm>
            <a:off x="3383280" y="3703320"/>
            <a:ext cx="2587752" cy="1874520"/>
          </a:xfrm>
          <a:prstGeom prst="roundRect">
            <a:avLst>
              <a:gd name="adj" fmla="val 5854"/>
            </a:avLst>
          </a:prstGeom>
          <a:solidFill>
            <a:schemeClr val="bg2"/>
          </a:solidFill>
          <a:ln/>
        </p:spPr>
      </p:sp>
      <p:sp>
        <p:nvSpPr>
          <p:cNvPr id="20" name="a6z-stat5n"/>
          <p:cNvSpPr txBox="1"/>
          <p:nvPr/>
        </p:nvSpPr>
        <p:spPr>
          <a:xfrm>
            <a:off x="3657600" y="395935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1,508</a:t>
            </a:r>
            <a:endParaRPr lang="en-US" sz="4400" dirty="0"/>
          </a:p>
        </p:txBody>
      </p:sp>
      <p:sp>
        <p:nvSpPr>
          <p:cNvPr id="21" name="a6z-stat5l"/>
          <p:cNvSpPr txBox="1"/>
          <p:nvPr/>
        </p:nvSpPr>
        <p:spPr>
          <a:xfrm>
            <a:off x="3657600" y="4754880"/>
            <a:ext cx="2103120" cy="685800"/>
          </a:xfrm>
          <a:prstGeom prst="rect">
            <a:avLst/>
          </a:prstGeom>
          <a:noFill/>
          <a:ln/>
        </p:spPr>
        <p:txBody>
          <a:bodyPr wrap="square" lIns="0" tIns="0" rIns="0" bIns="0" rtlCol="0" anchor="t"/>
          <a:lstStyle/>
          <a:p>
            <a:pPr indent="0" marL="0">
              <a:buNone/>
            </a:pPr>
            <a:r>
              <a:rPr lang="en-US" sz="1400" dirty="0">
                <a:solidFill>
                  <a:schemeClr val="tx1"/>
                </a:solidFill>
              </a:rPr>
              <a:t>Backend tests passing, all offline</a:t>
            </a:r>
            <a:endParaRPr lang="en-US" sz="1400" dirty="0"/>
          </a:p>
        </p:txBody>
      </p:sp>
      <p:sp>
        <p:nvSpPr>
          <p:cNvPr id="22" name="a7z-stat6"/>
          <p:cNvSpPr/>
          <p:nvPr/>
        </p:nvSpPr>
        <p:spPr>
          <a:xfrm>
            <a:off x="6217920" y="3703320"/>
            <a:ext cx="2587752" cy="1874520"/>
          </a:xfrm>
          <a:prstGeom prst="roundRect">
            <a:avLst>
              <a:gd name="adj" fmla="val 5854"/>
            </a:avLst>
          </a:prstGeom>
          <a:solidFill>
            <a:schemeClr val="bg2"/>
          </a:solidFill>
          <a:ln/>
        </p:spPr>
      </p:sp>
      <p:sp>
        <p:nvSpPr>
          <p:cNvPr id="23" name="a7z-stat6n"/>
          <p:cNvSpPr txBox="1"/>
          <p:nvPr/>
        </p:nvSpPr>
        <p:spPr>
          <a:xfrm>
            <a:off x="6492240" y="395935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70</a:t>
            </a:r>
            <a:endParaRPr lang="en-US" sz="4400" dirty="0"/>
          </a:p>
        </p:txBody>
      </p:sp>
      <p:sp>
        <p:nvSpPr>
          <p:cNvPr id="24" name="a7z-stat6l"/>
          <p:cNvSpPr txBox="1"/>
          <p:nvPr/>
        </p:nvSpPr>
        <p:spPr>
          <a:xfrm>
            <a:off x="6492240" y="4754880"/>
            <a:ext cx="2103120" cy="685800"/>
          </a:xfrm>
          <a:prstGeom prst="rect">
            <a:avLst/>
          </a:prstGeom>
          <a:noFill/>
          <a:ln/>
        </p:spPr>
        <p:txBody>
          <a:bodyPr wrap="square" lIns="0" tIns="0" rIns="0" bIns="0" rtlCol="0" anchor="t"/>
          <a:lstStyle/>
          <a:p>
            <a:pPr indent="0" marL="0">
              <a:buNone/>
            </a:pPr>
            <a:r>
              <a:rPr lang="en-US" sz="1400" dirty="0">
                <a:solidFill>
                  <a:schemeClr val="tx1"/>
                </a:solidFill>
              </a:rPr>
              <a:t>UI tests passing on demo data</a:t>
            </a:r>
            <a:endParaRPr lang="en-US" sz="1400" dirty="0"/>
          </a:p>
        </p:txBody>
      </p:sp>
      <p:sp>
        <p:nvSpPr>
          <p:cNvPr id="25" name="a8z-stat7"/>
          <p:cNvSpPr/>
          <p:nvPr/>
        </p:nvSpPr>
        <p:spPr>
          <a:xfrm>
            <a:off x="9052560" y="3703320"/>
            <a:ext cx="2587752" cy="1874520"/>
          </a:xfrm>
          <a:prstGeom prst="roundRect">
            <a:avLst>
              <a:gd name="adj" fmla="val 5854"/>
            </a:avLst>
          </a:prstGeom>
          <a:solidFill>
            <a:schemeClr val="bg2"/>
          </a:solidFill>
          <a:ln/>
        </p:spPr>
      </p:sp>
      <p:sp>
        <p:nvSpPr>
          <p:cNvPr id="26" name="a8z-stat7n"/>
          <p:cNvSpPr txBox="1"/>
          <p:nvPr/>
        </p:nvSpPr>
        <p:spPr>
          <a:xfrm>
            <a:off x="9326880" y="3959352"/>
            <a:ext cx="2103120" cy="777240"/>
          </a:xfrm>
          <a:prstGeom prst="rect">
            <a:avLst/>
          </a:prstGeom>
          <a:noFill/>
          <a:ln/>
        </p:spPr>
        <p:txBody>
          <a:bodyPr wrap="square" lIns="0" tIns="0" rIns="0" bIns="0" rtlCol="0" anchor="t"/>
          <a:lstStyle/>
          <a:p>
            <a:pPr indent="0" marL="0">
              <a:buNone/>
            </a:pPr>
            <a:r>
              <a:rPr lang="en-US" sz="4400" dirty="0">
                <a:solidFill>
                  <a:schemeClr val="accent1"/>
                </a:solidFill>
                <a:latin typeface="+mj-lt" pitchFamily="34" charset="0"/>
                <a:ea typeface="+mj-lt" pitchFamily="34" charset="-122"/>
                <a:cs typeface="+mj-lt" pitchFamily="34" charset="-120"/>
              </a:rPr>
              <a:t>1,500+</a:t>
            </a:r>
            <a:endParaRPr lang="en-US" sz="4400" dirty="0"/>
          </a:p>
        </p:txBody>
      </p:sp>
      <p:sp>
        <p:nvSpPr>
          <p:cNvPr id="27" name="a8z-stat7l"/>
          <p:cNvSpPr txBox="1"/>
          <p:nvPr/>
        </p:nvSpPr>
        <p:spPr>
          <a:xfrm>
            <a:off x="9326880" y="4754880"/>
            <a:ext cx="2103120" cy="685800"/>
          </a:xfrm>
          <a:prstGeom prst="rect">
            <a:avLst/>
          </a:prstGeom>
          <a:noFill/>
          <a:ln/>
        </p:spPr>
        <p:txBody>
          <a:bodyPr wrap="square" lIns="0" tIns="0" rIns="0" bIns="0" rtlCol="0" anchor="t"/>
          <a:lstStyle/>
          <a:p>
            <a:pPr indent="0" marL="0">
              <a:buNone/>
            </a:pPr>
            <a:r>
              <a:rPr lang="en-US" sz="1400" dirty="0">
                <a:solidFill>
                  <a:schemeClr val="tx1"/>
                </a:solidFill>
              </a:rPr>
              <a:t>Objects in the built-in demo workspace</a:t>
            </a:r>
            <a:endParaRPr lang="en-US" sz="1400" dirty="0"/>
          </a:p>
        </p:txBody>
      </p:sp>
      <p:sp>
        <p:nvSpPr>
          <p:cNvPr id="28" name="a9f-cap"/>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dirty="0">
                <a:solidFill>
                  <a:schemeClr val="accent6"/>
                </a:solidFill>
              </a:rPr>
              <a:t>Counted from the code on branch Rasool (commit c0d16de, 13 October 2026). Tests run on 14 October 2026: 1,508 passed, 104 skipped, 0 failed.</a:t>
            </a:r>
            <a:endParaRPr lang="en-US" sz="12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450" fill="hold"/>
                                        <p:tgtEl>
                                          <p:spTgt spid="4"/>
                                        </p:tgtEl>
                                        <p:attrNameLst>
                                          <p:attrName>ppt_w</p:attrName>
                                        </p:attrNameLst>
                                      </p:cBhvr>
                                      <p:tavLst>
                                        <p:tav tm="0">
                                          <p:val>
                                            <p:fltVal val="0"/>
                                          </p:val>
                                        </p:tav>
                                        <p:tav tm="100000">
                                          <p:val>
                                            <p:strVal val="#ppt_w"/>
                                          </p:val>
                                        </p:tav>
                                      </p:tavLst>
                                    </p:anim>
                                    <p:anim calcmode="lin" valueType="num">
                                      <p:cBhvr>
                                        <p:cTn id="8" dur="450" fill="hold"/>
                                        <p:tgtEl>
                                          <p:spTgt spid="4"/>
                                        </p:tgtEl>
                                        <p:attrNameLst>
                                          <p:attrName>ppt_h</p:attrName>
                                        </p:attrNameLst>
                                      </p:cBhvr>
                                      <p:tavLst>
                                        <p:tav tm="0">
                                          <p:val>
                                            <p:fltVal val="0"/>
                                          </p:val>
                                        </p:tav>
                                        <p:tav tm="100000">
                                          <p:val>
                                            <p:strVal val="#ppt_h"/>
                                          </p:val>
                                        </p:tav>
                                      </p:tavLst>
                                    </p:anim>
                                    <p:animEffect transition="in" filter="fade">
                                      <p:cBhvr>
                                        <p:cTn id="9" dur="45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450" fill="hold"/>
                                        <p:tgtEl>
                                          <p:spTgt spid="5"/>
                                        </p:tgtEl>
                                        <p:attrNameLst>
                                          <p:attrName>ppt_w</p:attrName>
                                        </p:attrNameLst>
                                      </p:cBhvr>
                                      <p:tavLst>
                                        <p:tav tm="0">
                                          <p:val>
                                            <p:fltVal val="0"/>
                                          </p:val>
                                        </p:tav>
                                        <p:tav tm="100000">
                                          <p:val>
                                            <p:strVal val="#ppt_w"/>
                                          </p:val>
                                        </p:tav>
                                      </p:tavLst>
                                    </p:anim>
                                    <p:anim calcmode="lin" valueType="num">
                                      <p:cBhvr>
                                        <p:cTn id="13" dur="450" fill="hold"/>
                                        <p:tgtEl>
                                          <p:spTgt spid="5"/>
                                        </p:tgtEl>
                                        <p:attrNameLst>
                                          <p:attrName>ppt_h</p:attrName>
                                        </p:attrNameLst>
                                      </p:cBhvr>
                                      <p:tavLst>
                                        <p:tav tm="0">
                                          <p:val>
                                            <p:fltVal val="0"/>
                                          </p:val>
                                        </p:tav>
                                        <p:tav tm="100000">
                                          <p:val>
                                            <p:strVal val="#ppt_h"/>
                                          </p:val>
                                        </p:tav>
                                      </p:tavLst>
                                    </p:anim>
                                    <p:animEffect transition="in" filter="fade">
                                      <p:cBhvr>
                                        <p:cTn id="14" dur="45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450" fill="hold"/>
                                        <p:tgtEl>
                                          <p:spTgt spid="6"/>
                                        </p:tgtEl>
                                        <p:attrNameLst>
                                          <p:attrName>ppt_w</p:attrName>
                                        </p:attrNameLst>
                                      </p:cBhvr>
                                      <p:tavLst>
                                        <p:tav tm="0">
                                          <p:val>
                                            <p:fltVal val="0"/>
                                          </p:val>
                                        </p:tav>
                                        <p:tav tm="100000">
                                          <p:val>
                                            <p:strVal val="#ppt_w"/>
                                          </p:val>
                                        </p:tav>
                                      </p:tavLst>
                                    </p:anim>
                                    <p:anim calcmode="lin" valueType="num">
                                      <p:cBhvr>
                                        <p:cTn id="18" dur="450" fill="hold"/>
                                        <p:tgtEl>
                                          <p:spTgt spid="6"/>
                                        </p:tgtEl>
                                        <p:attrNameLst>
                                          <p:attrName>ppt_h</p:attrName>
                                        </p:attrNameLst>
                                      </p:cBhvr>
                                      <p:tavLst>
                                        <p:tav tm="0">
                                          <p:val>
                                            <p:fltVal val="0"/>
                                          </p:val>
                                        </p:tav>
                                        <p:tav tm="100000">
                                          <p:val>
                                            <p:strVal val="#ppt_h"/>
                                          </p:val>
                                        </p:tav>
                                      </p:tavLst>
                                    </p:anim>
                                    <p:animEffect transition="in" filter="fade">
                                      <p:cBhvr>
                                        <p:cTn id="19" dur="450"/>
                                        <p:tgtEl>
                                          <p:spTgt spid="6"/>
                                        </p:tgtEl>
                                      </p:cBhvr>
                                    </p:animEffect>
                                  </p:childTnLst>
                                </p:cTn>
                              </p:par>
                            </p:childTnLst>
                          </p:cTn>
                        </p:par>
                        <p:par>
                          <p:cTn id="20" fill="hold">
                            <p:stCondLst>
                              <p:cond delay="45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450" fill="hold"/>
                                        <p:tgtEl>
                                          <p:spTgt spid="7"/>
                                        </p:tgtEl>
                                        <p:attrNameLst>
                                          <p:attrName>ppt_w</p:attrName>
                                        </p:attrNameLst>
                                      </p:cBhvr>
                                      <p:tavLst>
                                        <p:tav tm="0">
                                          <p:val>
                                            <p:fltVal val="0"/>
                                          </p:val>
                                        </p:tav>
                                        <p:tav tm="100000">
                                          <p:val>
                                            <p:strVal val="#ppt_w"/>
                                          </p:val>
                                        </p:tav>
                                      </p:tavLst>
                                    </p:anim>
                                    <p:anim calcmode="lin" valueType="num">
                                      <p:cBhvr>
                                        <p:cTn id="24" dur="450" fill="hold"/>
                                        <p:tgtEl>
                                          <p:spTgt spid="7"/>
                                        </p:tgtEl>
                                        <p:attrNameLst>
                                          <p:attrName>ppt_h</p:attrName>
                                        </p:attrNameLst>
                                      </p:cBhvr>
                                      <p:tavLst>
                                        <p:tav tm="0">
                                          <p:val>
                                            <p:fltVal val="0"/>
                                          </p:val>
                                        </p:tav>
                                        <p:tav tm="100000">
                                          <p:val>
                                            <p:strVal val="#ppt_h"/>
                                          </p:val>
                                        </p:tav>
                                      </p:tavLst>
                                    </p:anim>
                                    <p:animEffect transition="in" filter="fade">
                                      <p:cBhvr>
                                        <p:cTn id="25" dur="450"/>
                                        <p:tgtEl>
                                          <p:spTgt spid="7"/>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450" fill="hold"/>
                                        <p:tgtEl>
                                          <p:spTgt spid="8"/>
                                        </p:tgtEl>
                                        <p:attrNameLst>
                                          <p:attrName>ppt_w</p:attrName>
                                        </p:attrNameLst>
                                      </p:cBhvr>
                                      <p:tavLst>
                                        <p:tav tm="0">
                                          <p:val>
                                            <p:fltVal val="0"/>
                                          </p:val>
                                        </p:tav>
                                        <p:tav tm="100000">
                                          <p:val>
                                            <p:strVal val="#ppt_w"/>
                                          </p:val>
                                        </p:tav>
                                      </p:tavLst>
                                    </p:anim>
                                    <p:anim calcmode="lin" valueType="num">
                                      <p:cBhvr>
                                        <p:cTn id="29" dur="450" fill="hold"/>
                                        <p:tgtEl>
                                          <p:spTgt spid="8"/>
                                        </p:tgtEl>
                                        <p:attrNameLst>
                                          <p:attrName>ppt_h</p:attrName>
                                        </p:attrNameLst>
                                      </p:cBhvr>
                                      <p:tavLst>
                                        <p:tav tm="0">
                                          <p:val>
                                            <p:fltVal val="0"/>
                                          </p:val>
                                        </p:tav>
                                        <p:tav tm="100000">
                                          <p:val>
                                            <p:strVal val="#ppt_h"/>
                                          </p:val>
                                        </p:tav>
                                      </p:tavLst>
                                    </p:anim>
                                    <p:animEffect transition="in" filter="fade">
                                      <p:cBhvr>
                                        <p:cTn id="30" dur="450"/>
                                        <p:tgtEl>
                                          <p:spTgt spid="8"/>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450" fill="hold"/>
                                        <p:tgtEl>
                                          <p:spTgt spid="9"/>
                                        </p:tgtEl>
                                        <p:attrNameLst>
                                          <p:attrName>ppt_w</p:attrName>
                                        </p:attrNameLst>
                                      </p:cBhvr>
                                      <p:tavLst>
                                        <p:tav tm="0">
                                          <p:val>
                                            <p:fltVal val="0"/>
                                          </p:val>
                                        </p:tav>
                                        <p:tav tm="100000">
                                          <p:val>
                                            <p:strVal val="#ppt_w"/>
                                          </p:val>
                                        </p:tav>
                                      </p:tavLst>
                                    </p:anim>
                                    <p:anim calcmode="lin" valueType="num">
                                      <p:cBhvr>
                                        <p:cTn id="34" dur="450" fill="hold"/>
                                        <p:tgtEl>
                                          <p:spTgt spid="9"/>
                                        </p:tgtEl>
                                        <p:attrNameLst>
                                          <p:attrName>ppt_h</p:attrName>
                                        </p:attrNameLst>
                                      </p:cBhvr>
                                      <p:tavLst>
                                        <p:tav tm="0">
                                          <p:val>
                                            <p:fltVal val="0"/>
                                          </p:val>
                                        </p:tav>
                                        <p:tav tm="100000">
                                          <p:val>
                                            <p:strVal val="#ppt_h"/>
                                          </p:val>
                                        </p:tav>
                                      </p:tavLst>
                                    </p:anim>
                                    <p:animEffect transition="in" filter="fade">
                                      <p:cBhvr>
                                        <p:cTn id="35" dur="450"/>
                                        <p:tgtEl>
                                          <p:spTgt spid="9"/>
                                        </p:tgtEl>
                                      </p:cBhvr>
                                    </p:animEffect>
                                  </p:childTnLst>
                                </p:cTn>
                              </p:par>
                            </p:childTnLst>
                          </p:cTn>
                        </p:par>
                        <p:par>
                          <p:cTn id="36" fill="hold">
                            <p:stCondLst>
                              <p:cond delay="900"/>
                            </p:stCondLst>
                            <p:childTnLst>
                              <p:par>
                                <p:cTn id="37" presetID="53" presetClass="entr" presetSubtype="16"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450" fill="hold"/>
                                        <p:tgtEl>
                                          <p:spTgt spid="10"/>
                                        </p:tgtEl>
                                        <p:attrNameLst>
                                          <p:attrName>ppt_w</p:attrName>
                                        </p:attrNameLst>
                                      </p:cBhvr>
                                      <p:tavLst>
                                        <p:tav tm="0">
                                          <p:val>
                                            <p:fltVal val="0"/>
                                          </p:val>
                                        </p:tav>
                                        <p:tav tm="100000">
                                          <p:val>
                                            <p:strVal val="#ppt_w"/>
                                          </p:val>
                                        </p:tav>
                                      </p:tavLst>
                                    </p:anim>
                                    <p:anim calcmode="lin" valueType="num">
                                      <p:cBhvr>
                                        <p:cTn id="40" dur="450" fill="hold"/>
                                        <p:tgtEl>
                                          <p:spTgt spid="10"/>
                                        </p:tgtEl>
                                        <p:attrNameLst>
                                          <p:attrName>ppt_h</p:attrName>
                                        </p:attrNameLst>
                                      </p:cBhvr>
                                      <p:tavLst>
                                        <p:tav tm="0">
                                          <p:val>
                                            <p:fltVal val="0"/>
                                          </p:val>
                                        </p:tav>
                                        <p:tav tm="100000">
                                          <p:val>
                                            <p:strVal val="#ppt_h"/>
                                          </p:val>
                                        </p:tav>
                                      </p:tavLst>
                                    </p:anim>
                                    <p:animEffect transition="in" filter="fade">
                                      <p:cBhvr>
                                        <p:cTn id="41" dur="450"/>
                                        <p:tgtEl>
                                          <p:spTgt spid="10"/>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450" fill="hold"/>
                                        <p:tgtEl>
                                          <p:spTgt spid="11"/>
                                        </p:tgtEl>
                                        <p:attrNameLst>
                                          <p:attrName>ppt_w</p:attrName>
                                        </p:attrNameLst>
                                      </p:cBhvr>
                                      <p:tavLst>
                                        <p:tav tm="0">
                                          <p:val>
                                            <p:fltVal val="0"/>
                                          </p:val>
                                        </p:tav>
                                        <p:tav tm="100000">
                                          <p:val>
                                            <p:strVal val="#ppt_w"/>
                                          </p:val>
                                        </p:tav>
                                      </p:tavLst>
                                    </p:anim>
                                    <p:anim calcmode="lin" valueType="num">
                                      <p:cBhvr>
                                        <p:cTn id="45" dur="450" fill="hold"/>
                                        <p:tgtEl>
                                          <p:spTgt spid="11"/>
                                        </p:tgtEl>
                                        <p:attrNameLst>
                                          <p:attrName>ppt_h</p:attrName>
                                        </p:attrNameLst>
                                      </p:cBhvr>
                                      <p:tavLst>
                                        <p:tav tm="0">
                                          <p:val>
                                            <p:fltVal val="0"/>
                                          </p:val>
                                        </p:tav>
                                        <p:tav tm="100000">
                                          <p:val>
                                            <p:strVal val="#ppt_h"/>
                                          </p:val>
                                        </p:tav>
                                      </p:tavLst>
                                    </p:anim>
                                    <p:animEffect transition="in" filter="fade">
                                      <p:cBhvr>
                                        <p:cTn id="46" dur="450"/>
                                        <p:tgtEl>
                                          <p:spTgt spid="11"/>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450" fill="hold"/>
                                        <p:tgtEl>
                                          <p:spTgt spid="12"/>
                                        </p:tgtEl>
                                        <p:attrNameLst>
                                          <p:attrName>ppt_w</p:attrName>
                                        </p:attrNameLst>
                                      </p:cBhvr>
                                      <p:tavLst>
                                        <p:tav tm="0">
                                          <p:val>
                                            <p:fltVal val="0"/>
                                          </p:val>
                                        </p:tav>
                                        <p:tav tm="100000">
                                          <p:val>
                                            <p:strVal val="#ppt_w"/>
                                          </p:val>
                                        </p:tav>
                                      </p:tavLst>
                                    </p:anim>
                                    <p:anim calcmode="lin" valueType="num">
                                      <p:cBhvr>
                                        <p:cTn id="50" dur="450" fill="hold"/>
                                        <p:tgtEl>
                                          <p:spTgt spid="12"/>
                                        </p:tgtEl>
                                        <p:attrNameLst>
                                          <p:attrName>ppt_h</p:attrName>
                                        </p:attrNameLst>
                                      </p:cBhvr>
                                      <p:tavLst>
                                        <p:tav tm="0">
                                          <p:val>
                                            <p:fltVal val="0"/>
                                          </p:val>
                                        </p:tav>
                                        <p:tav tm="100000">
                                          <p:val>
                                            <p:strVal val="#ppt_h"/>
                                          </p:val>
                                        </p:tav>
                                      </p:tavLst>
                                    </p:anim>
                                    <p:animEffect transition="in" filter="fade">
                                      <p:cBhvr>
                                        <p:cTn id="51" dur="450"/>
                                        <p:tgtEl>
                                          <p:spTgt spid="12"/>
                                        </p:tgtEl>
                                      </p:cBhvr>
                                    </p:animEffect>
                                  </p:childTnLst>
                                </p:cTn>
                              </p:par>
                            </p:childTnLst>
                          </p:cTn>
                        </p:par>
                        <p:par>
                          <p:cTn id="52" fill="hold">
                            <p:stCondLst>
                              <p:cond delay="1350"/>
                            </p:stCondLst>
                            <p:childTnLst>
                              <p:par>
                                <p:cTn id="53" presetID="53" presetClass="entr" presetSubtype="16" fill="hold" grpId="0" nodeType="after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450" fill="hold"/>
                                        <p:tgtEl>
                                          <p:spTgt spid="13"/>
                                        </p:tgtEl>
                                        <p:attrNameLst>
                                          <p:attrName>ppt_w</p:attrName>
                                        </p:attrNameLst>
                                      </p:cBhvr>
                                      <p:tavLst>
                                        <p:tav tm="0">
                                          <p:val>
                                            <p:fltVal val="0"/>
                                          </p:val>
                                        </p:tav>
                                        <p:tav tm="100000">
                                          <p:val>
                                            <p:strVal val="#ppt_w"/>
                                          </p:val>
                                        </p:tav>
                                      </p:tavLst>
                                    </p:anim>
                                    <p:anim calcmode="lin" valueType="num">
                                      <p:cBhvr>
                                        <p:cTn id="56" dur="450" fill="hold"/>
                                        <p:tgtEl>
                                          <p:spTgt spid="13"/>
                                        </p:tgtEl>
                                        <p:attrNameLst>
                                          <p:attrName>ppt_h</p:attrName>
                                        </p:attrNameLst>
                                      </p:cBhvr>
                                      <p:tavLst>
                                        <p:tav tm="0">
                                          <p:val>
                                            <p:fltVal val="0"/>
                                          </p:val>
                                        </p:tav>
                                        <p:tav tm="100000">
                                          <p:val>
                                            <p:strVal val="#ppt_h"/>
                                          </p:val>
                                        </p:tav>
                                      </p:tavLst>
                                    </p:anim>
                                    <p:animEffect transition="in" filter="fade">
                                      <p:cBhvr>
                                        <p:cTn id="57" dur="45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450" fill="hold"/>
                                        <p:tgtEl>
                                          <p:spTgt spid="14"/>
                                        </p:tgtEl>
                                        <p:attrNameLst>
                                          <p:attrName>ppt_w</p:attrName>
                                        </p:attrNameLst>
                                      </p:cBhvr>
                                      <p:tavLst>
                                        <p:tav tm="0">
                                          <p:val>
                                            <p:fltVal val="0"/>
                                          </p:val>
                                        </p:tav>
                                        <p:tav tm="100000">
                                          <p:val>
                                            <p:strVal val="#ppt_w"/>
                                          </p:val>
                                        </p:tav>
                                      </p:tavLst>
                                    </p:anim>
                                    <p:anim calcmode="lin" valueType="num">
                                      <p:cBhvr>
                                        <p:cTn id="61" dur="450" fill="hold"/>
                                        <p:tgtEl>
                                          <p:spTgt spid="14"/>
                                        </p:tgtEl>
                                        <p:attrNameLst>
                                          <p:attrName>ppt_h</p:attrName>
                                        </p:attrNameLst>
                                      </p:cBhvr>
                                      <p:tavLst>
                                        <p:tav tm="0">
                                          <p:val>
                                            <p:fltVal val="0"/>
                                          </p:val>
                                        </p:tav>
                                        <p:tav tm="100000">
                                          <p:val>
                                            <p:strVal val="#ppt_h"/>
                                          </p:val>
                                        </p:tav>
                                      </p:tavLst>
                                    </p:anim>
                                    <p:animEffect transition="in" filter="fade">
                                      <p:cBhvr>
                                        <p:cTn id="62" dur="45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450" fill="hold"/>
                                        <p:tgtEl>
                                          <p:spTgt spid="15"/>
                                        </p:tgtEl>
                                        <p:attrNameLst>
                                          <p:attrName>ppt_w</p:attrName>
                                        </p:attrNameLst>
                                      </p:cBhvr>
                                      <p:tavLst>
                                        <p:tav tm="0">
                                          <p:val>
                                            <p:fltVal val="0"/>
                                          </p:val>
                                        </p:tav>
                                        <p:tav tm="100000">
                                          <p:val>
                                            <p:strVal val="#ppt_w"/>
                                          </p:val>
                                        </p:tav>
                                      </p:tavLst>
                                    </p:anim>
                                    <p:anim calcmode="lin" valueType="num">
                                      <p:cBhvr>
                                        <p:cTn id="66" dur="450" fill="hold"/>
                                        <p:tgtEl>
                                          <p:spTgt spid="15"/>
                                        </p:tgtEl>
                                        <p:attrNameLst>
                                          <p:attrName>ppt_h</p:attrName>
                                        </p:attrNameLst>
                                      </p:cBhvr>
                                      <p:tavLst>
                                        <p:tav tm="0">
                                          <p:val>
                                            <p:fltVal val="0"/>
                                          </p:val>
                                        </p:tav>
                                        <p:tav tm="100000">
                                          <p:val>
                                            <p:strVal val="#ppt_h"/>
                                          </p:val>
                                        </p:tav>
                                      </p:tavLst>
                                    </p:anim>
                                    <p:animEffect transition="in" filter="fade">
                                      <p:cBhvr>
                                        <p:cTn id="67" dur="450"/>
                                        <p:tgtEl>
                                          <p:spTgt spid="15"/>
                                        </p:tgtEl>
                                      </p:cBhvr>
                                    </p:animEffect>
                                  </p:childTnLst>
                                </p:cTn>
                              </p:par>
                            </p:childTnLst>
                          </p:cTn>
                        </p:par>
                        <p:par>
                          <p:cTn id="68" fill="hold">
                            <p:stCondLst>
                              <p:cond delay="1800"/>
                            </p:stCondLst>
                            <p:childTnLst>
                              <p:par>
                                <p:cTn id="69" presetID="53" presetClass="entr" presetSubtype="16" fill="hold" grpId="0" nodeType="after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p:cTn id="71" dur="450" fill="hold"/>
                                        <p:tgtEl>
                                          <p:spTgt spid="16"/>
                                        </p:tgtEl>
                                        <p:attrNameLst>
                                          <p:attrName>ppt_w</p:attrName>
                                        </p:attrNameLst>
                                      </p:cBhvr>
                                      <p:tavLst>
                                        <p:tav tm="0">
                                          <p:val>
                                            <p:fltVal val="0"/>
                                          </p:val>
                                        </p:tav>
                                        <p:tav tm="100000">
                                          <p:val>
                                            <p:strVal val="#ppt_w"/>
                                          </p:val>
                                        </p:tav>
                                      </p:tavLst>
                                    </p:anim>
                                    <p:anim calcmode="lin" valueType="num">
                                      <p:cBhvr>
                                        <p:cTn id="72" dur="450" fill="hold"/>
                                        <p:tgtEl>
                                          <p:spTgt spid="16"/>
                                        </p:tgtEl>
                                        <p:attrNameLst>
                                          <p:attrName>ppt_h</p:attrName>
                                        </p:attrNameLst>
                                      </p:cBhvr>
                                      <p:tavLst>
                                        <p:tav tm="0">
                                          <p:val>
                                            <p:fltVal val="0"/>
                                          </p:val>
                                        </p:tav>
                                        <p:tav tm="100000">
                                          <p:val>
                                            <p:strVal val="#ppt_h"/>
                                          </p:val>
                                        </p:tav>
                                      </p:tavLst>
                                    </p:anim>
                                    <p:animEffect transition="in" filter="fade">
                                      <p:cBhvr>
                                        <p:cTn id="73" dur="450"/>
                                        <p:tgtEl>
                                          <p:spTgt spid="16"/>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 calcmode="lin" valueType="num">
                                      <p:cBhvr>
                                        <p:cTn id="76" dur="450" fill="hold"/>
                                        <p:tgtEl>
                                          <p:spTgt spid="17"/>
                                        </p:tgtEl>
                                        <p:attrNameLst>
                                          <p:attrName>ppt_w</p:attrName>
                                        </p:attrNameLst>
                                      </p:cBhvr>
                                      <p:tavLst>
                                        <p:tav tm="0">
                                          <p:val>
                                            <p:fltVal val="0"/>
                                          </p:val>
                                        </p:tav>
                                        <p:tav tm="100000">
                                          <p:val>
                                            <p:strVal val="#ppt_w"/>
                                          </p:val>
                                        </p:tav>
                                      </p:tavLst>
                                    </p:anim>
                                    <p:anim calcmode="lin" valueType="num">
                                      <p:cBhvr>
                                        <p:cTn id="77" dur="450" fill="hold"/>
                                        <p:tgtEl>
                                          <p:spTgt spid="17"/>
                                        </p:tgtEl>
                                        <p:attrNameLst>
                                          <p:attrName>ppt_h</p:attrName>
                                        </p:attrNameLst>
                                      </p:cBhvr>
                                      <p:tavLst>
                                        <p:tav tm="0">
                                          <p:val>
                                            <p:fltVal val="0"/>
                                          </p:val>
                                        </p:tav>
                                        <p:tav tm="100000">
                                          <p:val>
                                            <p:strVal val="#ppt_h"/>
                                          </p:val>
                                        </p:tav>
                                      </p:tavLst>
                                    </p:anim>
                                    <p:animEffect transition="in" filter="fade">
                                      <p:cBhvr>
                                        <p:cTn id="78" dur="450"/>
                                        <p:tgtEl>
                                          <p:spTgt spid="17"/>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 calcmode="lin" valueType="num">
                                      <p:cBhvr>
                                        <p:cTn id="81" dur="450" fill="hold"/>
                                        <p:tgtEl>
                                          <p:spTgt spid="18"/>
                                        </p:tgtEl>
                                        <p:attrNameLst>
                                          <p:attrName>ppt_w</p:attrName>
                                        </p:attrNameLst>
                                      </p:cBhvr>
                                      <p:tavLst>
                                        <p:tav tm="0">
                                          <p:val>
                                            <p:fltVal val="0"/>
                                          </p:val>
                                        </p:tav>
                                        <p:tav tm="100000">
                                          <p:val>
                                            <p:strVal val="#ppt_w"/>
                                          </p:val>
                                        </p:tav>
                                      </p:tavLst>
                                    </p:anim>
                                    <p:anim calcmode="lin" valueType="num">
                                      <p:cBhvr>
                                        <p:cTn id="82" dur="450" fill="hold"/>
                                        <p:tgtEl>
                                          <p:spTgt spid="18"/>
                                        </p:tgtEl>
                                        <p:attrNameLst>
                                          <p:attrName>ppt_h</p:attrName>
                                        </p:attrNameLst>
                                      </p:cBhvr>
                                      <p:tavLst>
                                        <p:tav tm="0">
                                          <p:val>
                                            <p:fltVal val="0"/>
                                          </p:val>
                                        </p:tav>
                                        <p:tav tm="100000">
                                          <p:val>
                                            <p:strVal val="#ppt_h"/>
                                          </p:val>
                                        </p:tav>
                                      </p:tavLst>
                                    </p:anim>
                                    <p:animEffect transition="in" filter="fade">
                                      <p:cBhvr>
                                        <p:cTn id="83" dur="450"/>
                                        <p:tgtEl>
                                          <p:spTgt spid="18"/>
                                        </p:tgtEl>
                                      </p:cBhvr>
                                    </p:animEffect>
                                  </p:childTnLst>
                                </p:cTn>
                              </p:par>
                            </p:childTnLst>
                          </p:cTn>
                        </p:par>
                        <p:par>
                          <p:cTn id="84" fill="hold">
                            <p:stCondLst>
                              <p:cond delay="2250"/>
                            </p:stCondLst>
                            <p:childTnLst>
                              <p:par>
                                <p:cTn id="85" presetID="53" presetClass="entr" presetSubtype="16" fill="hold" grpId="0" nodeType="after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p:cTn id="87" dur="450" fill="hold"/>
                                        <p:tgtEl>
                                          <p:spTgt spid="19"/>
                                        </p:tgtEl>
                                        <p:attrNameLst>
                                          <p:attrName>ppt_w</p:attrName>
                                        </p:attrNameLst>
                                      </p:cBhvr>
                                      <p:tavLst>
                                        <p:tav tm="0">
                                          <p:val>
                                            <p:fltVal val="0"/>
                                          </p:val>
                                        </p:tav>
                                        <p:tav tm="100000">
                                          <p:val>
                                            <p:strVal val="#ppt_w"/>
                                          </p:val>
                                        </p:tav>
                                      </p:tavLst>
                                    </p:anim>
                                    <p:anim calcmode="lin" valueType="num">
                                      <p:cBhvr>
                                        <p:cTn id="88" dur="450" fill="hold"/>
                                        <p:tgtEl>
                                          <p:spTgt spid="19"/>
                                        </p:tgtEl>
                                        <p:attrNameLst>
                                          <p:attrName>ppt_h</p:attrName>
                                        </p:attrNameLst>
                                      </p:cBhvr>
                                      <p:tavLst>
                                        <p:tav tm="0">
                                          <p:val>
                                            <p:fltVal val="0"/>
                                          </p:val>
                                        </p:tav>
                                        <p:tav tm="100000">
                                          <p:val>
                                            <p:strVal val="#ppt_h"/>
                                          </p:val>
                                        </p:tav>
                                      </p:tavLst>
                                    </p:anim>
                                    <p:animEffect transition="in" filter="fade">
                                      <p:cBhvr>
                                        <p:cTn id="89" dur="450"/>
                                        <p:tgtEl>
                                          <p:spTgt spid="19"/>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0"/>
                                        </p:tgtEl>
                                        <p:attrNameLst>
                                          <p:attrName>style.visibility</p:attrName>
                                        </p:attrNameLst>
                                      </p:cBhvr>
                                      <p:to>
                                        <p:strVal val="visible"/>
                                      </p:to>
                                    </p:set>
                                    <p:anim calcmode="lin" valueType="num">
                                      <p:cBhvr>
                                        <p:cTn id="92" dur="450" fill="hold"/>
                                        <p:tgtEl>
                                          <p:spTgt spid="20"/>
                                        </p:tgtEl>
                                        <p:attrNameLst>
                                          <p:attrName>ppt_w</p:attrName>
                                        </p:attrNameLst>
                                      </p:cBhvr>
                                      <p:tavLst>
                                        <p:tav tm="0">
                                          <p:val>
                                            <p:fltVal val="0"/>
                                          </p:val>
                                        </p:tav>
                                        <p:tav tm="100000">
                                          <p:val>
                                            <p:strVal val="#ppt_w"/>
                                          </p:val>
                                        </p:tav>
                                      </p:tavLst>
                                    </p:anim>
                                    <p:anim calcmode="lin" valueType="num">
                                      <p:cBhvr>
                                        <p:cTn id="93" dur="450" fill="hold"/>
                                        <p:tgtEl>
                                          <p:spTgt spid="20"/>
                                        </p:tgtEl>
                                        <p:attrNameLst>
                                          <p:attrName>ppt_h</p:attrName>
                                        </p:attrNameLst>
                                      </p:cBhvr>
                                      <p:tavLst>
                                        <p:tav tm="0">
                                          <p:val>
                                            <p:fltVal val="0"/>
                                          </p:val>
                                        </p:tav>
                                        <p:tav tm="100000">
                                          <p:val>
                                            <p:strVal val="#ppt_h"/>
                                          </p:val>
                                        </p:tav>
                                      </p:tavLst>
                                    </p:anim>
                                    <p:animEffect transition="in" filter="fade">
                                      <p:cBhvr>
                                        <p:cTn id="94" dur="450"/>
                                        <p:tgtEl>
                                          <p:spTgt spid="20"/>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p:cTn id="97" dur="450" fill="hold"/>
                                        <p:tgtEl>
                                          <p:spTgt spid="21"/>
                                        </p:tgtEl>
                                        <p:attrNameLst>
                                          <p:attrName>ppt_w</p:attrName>
                                        </p:attrNameLst>
                                      </p:cBhvr>
                                      <p:tavLst>
                                        <p:tav tm="0">
                                          <p:val>
                                            <p:fltVal val="0"/>
                                          </p:val>
                                        </p:tav>
                                        <p:tav tm="100000">
                                          <p:val>
                                            <p:strVal val="#ppt_w"/>
                                          </p:val>
                                        </p:tav>
                                      </p:tavLst>
                                    </p:anim>
                                    <p:anim calcmode="lin" valueType="num">
                                      <p:cBhvr>
                                        <p:cTn id="98" dur="450" fill="hold"/>
                                        <p:tgtEl>
                                          <p:spTgt spid="21"/>
                                        </p:tgtEl>
                                        <p:attrNameLst>
                                          <p:attrName>ppt_h</p:attrName>
                                        </p:attrNameLst>
                                      </p:cBhvr>
                                      <p:tavLst>
                                        <p:tav tm="0">
                                          <p:val>
                                            <p:fltVal val="0"/>
                                          </p:val>
                                        </p:tav>
                                        <p:tav tm="100000">
                                          <p:val>
                                            <p:strVal val="#ppt_h"/>
                                          </p:val>
                                        </p:tav>
                                      </p:tavLst>
                                    </p:anim>
                                    <p:animEffect transition="in" filter="fade">
                                      <p:cBhvr>
                                        <p:cTn id="99" dur="450"/>
                                        <p:tgtEl>
                                          <p:spTgt spid="21"/>
                                        </p:tgtEl>
                                      </p:cBhvr>
                                    </p:animEffect>
                                  </p:childTnLst>
                                </p:cTn>
                              </p:par>
                            </p:childTnLst>
                          </p:cTn>
                        </p:par>
                        <p:par>
                          <p:cTn id="100" fill="hold">
                            <p:stCondLst>
                              <p:cond delay="2700"/>
                            </p:stCondLst>
                            <p:childTnLst>
                              <p:par>
                                <p:cTn id="101" presetID="53" presetClass="entr" presetSubtype="16" fill="hold" grpId="0" nodeType="afterEffect">
                                  <p:stCondLst>
                                    <p:cond delay="0"/>
                                  </p:stCondLst>
                                  <p:childTnLst>
                                    <p:set>
                                      <p:cBhvr>
                                        <p:cTn id="102" dur="1" fill="hold">
                                          <p:stCondLst>
                                            <p:cond delay="0"/>
                                          </p:stCondLst>
                                        </p:cTn>
                                        <p:tgtEl>
                                          <p:spTgt spid="22"/>
                                        </p:tgtEl>
                                        <p:attrNameLst>
                                          <p:attrName>style.visibility</p:attrName>
                                        </p:attrNameLst>
                                      </p:cBhvr>
                                      <p:to>
                                        <p:strVal val="visible"/>
                                      </p:to>
                                    </p:set>
                                    <p:anim calcmode="lin" valueType="num">
                                      <p:cBhvr>
                                        <p:cTn id="103" dur="450" fill="hold"/>
                                        <p:tgtEl>
                                          <p:spTgt spid="22"/>
                                        </p:tgtEl>
                                        <p:attrNameLst>
                                          <p:attrName>ppt_w</p:attrName>
                                        </p:attrNameLst>
                                      </p:cBhvr>
                                      <p:tavLst>
                                        <p:tav tm="0">
                                          <p:val>
                                            <p:fltVal val="0"/>
                                          </p:val>
                                        </p:tav>
                                        <p:tav tm="100000">
                                          <p:val>
                                            <p:strVal val="#ppt_w"/>
                                          </p:val>
                                        </p:tav>
                                      </p:tavLst>
                                    </p:anim>
                                    <p:anim calcmode="lin" valueType="num">
                                      <p:cBhvr>
                                        <p:cTn id="104" dur="450" fill="hold"/>
                                        <p:tgtEl>
                                          <p:spTgt spid="22"/>
                                        </p:tgtEl>
                                        <p:attrNameLst>
                                          <p:attrName>ppt_h</p:attrName>
                                        </p:attrNameLst>
                                      </p:cBhvr>
                                      <p:tavLst>
                                        <p:tav tm="0">
                                          <p:val>
                                            <p:fltVal val="0"/>
                                          </p:val>
                                        </p:tav>
                                        <p:tav tm="100000">
                                          <p:val>
                                            <p:strVal val="#ppt_h"/>
                                          </p:val>
                                        </p:tav>
                                      </p:tavLst>
                                    </p:anim>
                                    <p:animEffect transition="in" filter="fade">
                                      <p:cBhvr>
                                        <p:cTn id="105" dur="450"/>
                                        <p:tgtEl>
                                          <p:spTgt spid="22"/>
                                        </p:tgtEl>
                                      </p:cBhvr>
                                    </p:animEffect>
                                  </p:childTnLst>
                                </p:cTn>
                              </p:par>
                              <p:par>
                                <p:cTn id="106" presetID="53" presetClass="entr" presetSubtype="16" fill="hold" grpId="0" nodeType="withEffect">
                                  <p:stCondLst>
                                    <p:cond delay="0"/>
                                  </p:stCondLst>
                                  <p:childTnLst>
                                    <p:set>
                                      <p:cBhvr>
                                        <p:cTn id="107" dur="1" fill="hold">
                                          <p:stCondLst>
                                            <p:cond delay="0"/>
                                          </p:stCondLst>
                                        </p:cTn>
                                        <p:tgtEl>
                                          <p:spTgt spid="23"/>
                                        </p:tgtEl>
                                        <p:attrNameLst>
                                          <p:attrName>style.visibility</p:attrName>
                                        </p:attrNameLst>
                                      </p:cBhvr>
                                      <p:to>
                                        <p:strVal val="visible"/>
                                      </p:to>
                                    </p:set>
                                    <p:anim calcmode="lin" valueType="num">
                                      <p:cBhvr>
                                        <p:cTn id="108" dur="450" fill="hold"/>
                                        <p:tgtEl>
                                          <p:spTgt spid="23"/>
                                        </p:tgtEl>
                                        <p:attrNameLst>
                                          <p:attrName>ppt_w</p:attrName>
                                        </p:attrNameLst>
                                      </p:cBhvr>
                                      <p:tavLst>
                                        <p:tav tm="0">
                                          <p:val>
                                            <p:fltVal val="0"/>
                                          </p:val>
                                        </p:tav>
                                        <p:tav tm="100000">
                                          <p:val>
                                            <p:strVal val="#ppt_w"/>
                                          </p:val>
                                        </p:tav>
                                      </p:tavLst>
                                    </p:anim>
                                    <p:anim calcmode="lin" valueType="num">
                                      <p:cBhvr>
                                        <p:cTn id="109" dur="450" fill="hold"/>
                                        <p:tgtEl>
                                          <p:spTgt spid="23"/>
                                        </p:tgtEl>
                                        <p:attrNameLst>
                                          <p:attrName>ppt_h</p:attrName>
                                        </p:attrNameLst>
                                      </p:cBhvr>
                                      <p:tavLst>
                                        <p:tav tm="0">
                                          <p:val>
                                            <p:fltVal val="0"/>
                                          </p:val>
                                        </p:tav>
                                        <p:tav tm="100000">
                                          <p:val>
                                            <p:strVal val="#ppt_h"/>
                                          </p:val>
                                        </p:tav>
                                      </p:tavLst>
                                    </p:anim>
                                    <p:animEffect transition="in" filter="fade">
                                      <p:cBhvr>
                                        <p:cTn id="110" dur="450"/>
                                        <p:tgtEl>
                                          <p:spTgt spid="23"/>
                                        </p:tgtEl>
                                      </p:cBhvr>
                                    </p:animEffect>
                                  </p:childTnLst>
                                </p:cTn>
                              </p:par>
                              <p:par>
                                <p:cTn id="111" presetID="53" presetClass="entr" presetSubtype="16" fill="hold" grpId="0" nodeType="withEffect">
                                  <p:stCondLst>
                                    <p:cond delay="0"/>
                                  </p:stCondLst>
                                  <p:childTnLst>
                                    <p:set>
                                      <p:cBhvr>
                                        <p:cTn id="112" dur="1" fill="hold">
                                          <p:stCondLst>
                                            <p:cond delay="0"/>
                                          </p:stCondLst>
                                        </p:cTn>
                                        <p:tgtEl>
                                          <p:spTgt spid="24"/>
                                        </p:tgtEl>
                                        <p:attrNameLst>
                                          <p:attrName>style.visibility</p:attrName>
                                        </p:attrNameLst>
                                      </p:cBhvr>
                                      <p:to>
                                        <p:strVal val="visible"/>
                                      </p:to>
                                    </p:set>
                                    <p:anim calcmode="lin" valueType="num">
                                      <p:cBhvr>
                                        <p:cTn id="113" dur="450" fill="hold"/>
                                        <p:tgtEl>
                                          <p:spTgt spid="24"/>
                                        </p:tgtEl>
                                        <p:attrNameLst>
                                          <p:attrName>ppt_w</p:attrName>
                                        </p:attrNameLst>
                                      </p:cBhvr>
                                      <p:tavLst>
                                        <p:tav tm="0">
                                          <p:val>
                                            <p:fltVal val="0"/>
                                          </p:val>
                                        </p:tav>
                                        <p:tav tm="100000">
                                          <p:val>
                                            <p:strVal val="#ppt_w"/>
                                          </p:val>
                                        </p:tav>
                                      </p:tavLst>
                                    </p:anim>
                                    <p:anim calcmode="lin" valueType="num">
                                      <p:cBhvr>
                                        <p:cTn id="114" dur="450" fill="hold"/>
                                        <p:tgtEl>
                                          <p:spTgt spid="24"/>
                                        </p:tgtEl>
                                        <p:attrNameLst>
                                          <p:attrName>ppt_h</p:attrName>
                                        </p:attrNameLst>
                                      </p:cBhvr>
                                      <p:tavLst>
                                        <p:tav tm="0">
                                          <p:val>
                                            <p:fltVal val="0"/>
                                          </p:val>
                                        </p:tav>
                                        <p:tav tm="100000">
                                          <p:val>
                                            <p:strVal val="#ppt_h"/>
                                          </p:val>
                                        </p:tav>
                                      </p:tavLst>
                                    </p:anim>
                                    <p:animEffect transition="in" filter="fade">
                                      <p:cBhvr>
                                        <p:cTn id="115" dur="450"/>
                                        <p:tgtEl>
                                          <p:spTgt spid="24"/>
                                        </p:tgtEl>
                                      </p:cBhvr>
                                    </p:animEffect>
                                  </p:childTnLst>
                                </p:cTn>
                              </p:par>
                            </p:childTnLst>
                          </p:cTn>
                        </p:par>
                        <p:par>
                          <p:cTn id="116" fill="hold">
                            <p:stCondLst>
                              <p:cond delay="3150"/>
                            </p:stCondLst>
                            <p:childTnLst>
                              <p:par>
                                <p:cTn id="117" presetID="53" presetClass="entr" presetSubtype="16" fill="hold" grpId="0" nodeType="afterEffect">
                                  <p:stCondLst>
                                    <p:cond delay="0"/>
                                  </p:stCondLst>
                                  <p:childTnLst>
                                    <p:set>
                                      <p:cBhvr>
                                        <p:cTn id="118" dur="1" fill="hold">
                                          <p:stCondLst>
                                            <p:cond delay="0"/>
                                          </p:stCondLst>
                                        </p:cTn>
                                        <p:tgtEl>
                                          <p:spTgt spid="25"/>
                                        </p:tgtEl>
                                        <p:attrNameLst>
                                          <p:attrName>style.visibility</p:attrName>
                                        </p:attrNameLst>
                                      </p:cBhvr>
                                      <p:to>
                                        <p:strVal val="visible"/>
                                      </p:to>
                                    </p:set>
                                    <p:anim calcmode="lin" valueType="num">
                                      <p:cBhvr>
                                        <p:cTn id="119" dur="450" fill="hold"/>
                                        <p:tgtEl>
                                          <p:spTgt spid="25"/>
                                        </p:tgtEl>
                                        <p:attrNameLst>
                                          <p:attrName>ppt_w</p:attrName>
                                        </p:attrNameLst>
                                      </p:cBhvr>
                                      <p:tavLst>
                                        <p:tav tm="0">
                                          <p:val>
                                            <p:fltVal val="0"/>
                                          </p:val>
                                        </p:tav>
                                        <p:tav tm="100000">
                                          <p:val>
                                            <p:strVal val="#ppt_w"/>
                                          </p:val>
                                        </p:tav>
                                      </p:tavLst>
                                    </p:anim>
                                    <p:anim calcmode="lin" valueType="num">
                                      <p:cBhvr>
                                        <p:cTn id="120" dur="450" fill="hold"/>
                                        <p:tgtEl>
                                          <p:spTgt spid="25"/>
                                        </p:tgtEl>
                                        <p:attrNameLst>
                                          <p:attrName>ppt_h</p:attrName>
                                        </p:attrNameLst>
                                      </p:cBhvr>
                                      <p:tavLst>
                                        <p:tav tm="0">
                                          <p:val>
                                            <p:fltVal val="0"/>
                                          </p:val>
                                        </p:tav>
                                        <p:tav tm="100000">
                                          <p:val>
                                            <p:strVal val="#ppt_h"/>
                                          </p:val>
                                        </p:tav>
                                      </p:tavLst>
                                    </p:anim>
                                    <p:animEffect transition="in" filter="fade">
                                      <p:cBhvr>
                                        <p:cTn id="121" dur="450"/>
                                        <p:tgtEl>
                                          <p:spTgt spid="25"/>
                                        </p:tgtEl>
                                      </p:cBhvr>
                                    </p:animEffect>
                                  </p:childTnLst>
                                </p:cTn>
                              </p:par>
                              <p:par>
                                <p:cTn id="122" presetID="53" presetClass="entr" presetSubtype="16"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 calcmode="lin" valueType="num">
                                      <p:cBhvr>
                                        <p:cTn id="124" dur="450" fill="hold"/>
                                        <p:tgtEl>
                                          <p:spTgt spid="26"/>
                                        </p:tgtEl>
                                        <p:attrNameLst>
                                          <p:attrName>ppt_w</p:attrName>
                                        </p:attrNameLst>
                                      </p:cBhvr>
                                      <p:tavLst>
                                        <p:tav tm="0">
                                          <p:val>
                                            <p:fltVal val="0"/>
                                          </p:val>
                                        </p:tav>
                                        <p:tav tm="100000">
                                          <p:val>
                                            <p:strVal val="#ppt_w"/>
                                          </p:val>
                                        </p:tav>
                                      </p:tavLst>
                                    </p:anim>
                                    <p:anim calcmode="lin" valueType="num">
                                      <p:cBhvr>
                                        <p:cTn id="125" dur="450" fill="hold"/>
                                        <p:tgtEl>
                                          <p:spTgt spid="26"/>
                                        </p:tgtEl>
                                        <p:attrNameLst>
                                          <p:attrName>ppt_h</p:attrName>
                                        </p:attrNameLst>
                                      </p:cBhvr>
                                      <p:tavLst>
                                        <p:tav tm="0">
                                          <p:val>
                                            <p:fltVal val="0"/>
                                          </p:val>
                                        </p:tav>
                                        <p:tav tm="100000">
                                          <p:val>
                                            <p:strVal val="#ppt_h"/>
                                          </p:val>
                                        </p:tav>
                                      </p:tavLst>
                                    </p:anim>
                                    <p:animEffect transition="in" filter="fade">
                                      <p:cBhvr>
                                        <p:cTn id="126" dur="450"/>
                                        <p:tgtEl>
                                          <p:spTgt spid="26"/>
                                        </p:tgtEl>
                                      </p:cBhvr>
                                    </p:animEffect>
                                  </p:childTnLst>
                                </p:cTn>
                              </p:par>
                              <p:par>
                                <p:cTn id="127" presetID="53" presetClass="entr" presetSubtype="16" fill="hold" grpId="0" nodeType="withEffect">
                                  <p:stCondLst>
                                    <p:cond delay="0"/>
                                  </p:stCondLst>
                                  <p:childTnLst>
                                    <p:set>
                                      <p:cBhvr>
                                        <p:cTn id="128" dur="1" fill="hold">
                                          <p:stCondLst>
                                            <p:cond delay="0"/>
                                          </p:stCondLst>
                                        </p:cTn>
                                        <p:tgtEl>
                                          <p:spTgt spid="27"/>
                                        </p:tgtEl>
                                        <p:attrNameLst>
                                          <p:attrName>style.visibility</p:attrName>
                                        </p:attrNameLst>
                                      </p:cBhvr>
                                      <p:to>
                                        <p:strVal val="visible"/>
                                      </p:to>
                                    </p:set>
                                    <p:anim calcmode="lin" valueType="num">
                                      <p:cBhvr>
                                        <p:cTn id="129" dur="450" fill="hold"/>
                                        <p:tgtEl>
                                          <p:spTgt spid="27"/>
                                        </p:tgtEl>
                                        <p:attrNameLst>
                                          <p:attrName>ppt_w</p:attrName>
                                        </p:attrNameLst>
                                      </p:cBhvr>
                                      <p:tavLst>
                                        <p:tav tm="0">
                                          <p:val>
                                            <p:fltVal val="0"/>
                                          </p:val>
                                        </p:tav>
                                        <p:tav tm="100000">
                                          <p:val>
                                            <p:strVal val="#ppt_w"/>
                                          </p:val>
                                        </p:tav>
                                      </p:tavLst>
                                    </p:anim>
                                    <p:anim calcmode="lin" valueType="num">
                                      <p:cBhvr>
                                        <p:cTn id="130" dur="450" fill="hold"/>
                                        <p:tgtEl>
                                          <p:spTgt spid="27"/>
                                        </p:tgtEl>
                                        <p:attrNameLst>
                                          <p:attrName>ppt_h</p:attrName>
                                        </p:attrNameLst>
                                      </p:cBhvr>
                                      <p:tavLst>
                                        <p:tav tm="0">
                                          <p:val>
                                            <p:fltVal val="0"/>
                                          </p:val>
                                        </p:tav>
                                        <p:tav tm="100000">
                                          <p:val>
                                            <p:strVal val="#ppt_h"/>
                                          </p:val>
                                        </p:tav>
                                      </p:tavLst>
                                    </p:anim>
                                    <p:animEffect transition="in" filter="fade">
                                      <p:cBhvr>
                                        <p:cTn id="131" dur="450"/>
                                        <p:tgtEl>
                                          <p:spTgt spid="27"/>
                                        </p:tgtEl>
                                      </p:cBhvr>
                                    </p:animEffect>
                                  </p:childTnLst>
                                </p:cTn>
                              </p:par>
                            </p:childTnLst>
                          </p:cTn>
                        </p:par>
                        <p:par>
                          <p:cTn id="132" fill="hold">
                            <p:stCondLst>
                              <p:cond delay="3600"/>
                            </p:stCondLst>
                            <p:childTnLst>
                              <p:par>
                                <p:cTn id="133" presetID="10" presetClass="entr" presetSubtype="0" fill="hold" grpId="0" nodeType="afterEffect">
                                  <p:stCondLst>
                                    <p:cond delay="0"/>
                                  </p:stCondLst>
                                  <p:childTnLst>
                                    <p:set>
                                      <p:cBhvr>
                                        <p:cTn id="134" dur="1" fill="hold">
                                          <p:stCondLst>
                                            <p:cond delay="0"/>
                                          </p:stCondLst>
                                        </p:cTn>
                                        <p:tgtEl>
                                          <p:spTgt spid="28"/>
                                        </p:tgtEl>
                                        <p:attrNameLst>
                                          <p:attrName>style.visibility</p:attrName>
                                        </p:attrNameLst>
                                      </p:cBhvr>
                                      <p:to>
                                        <p:strVal val="visible"/>
                                      </p:to>
                                    </p:set>
                                    <p:animEffect transition="in" filter="fade">
                                      <p:cBhvr>
                                        <p:cTn id="135"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a1z-num"/>
          <p:cNvSpPr txBox="1"/>
          <p:nvPr/>
        </p:nvSpPr>
        <p:spPr>
          <a:xfrm>
            <a:off x="731520" y="1417320"/>
            <a:ext cx="2743200" cy="1371600"/>
          </a:xfrm>
          <a:prstGeom prst="rect">
            <a:avLst/>
          </a:prstGeom>
          <a:noFill/>
          <a:ln/>
        </p:spPr>
        <p:txBody>
          <a:bodyPr wrap="square" lIns="0" tIns="0" rIns="0" bIns="0" rtlCol="0" anchor="t"/>
          <a:lstStyle/>
          <a:p>
            <a:pPr indent="0" marL="0">
              <a:buNone/>
            </a:pPr>
            <a:r>
              <a:rPr lang="en-US" sz="8800" dirty="0">
                <a:solidFill>
                  <a:schemeClr val="accent5"/>
                </a:solidFill>
                <a:latin typeface="+mj-lt" pitchFamily="34" charset="0"/>
                <a:ea typeface="+mj-lt" pitchFamily="34" charset="-122"/>
                <a:cs typeface="+mj-lt" pitchFamily="34" charset="-120"/>
              </a:rPr>
              <a:t>04</a:t>
            </a:r>
            <a:endParaRPr lang="en-US" sz="8800" dirty="0"/>
          </a:p>
        </p:txBody>
      </p:sp>
      <p:sp>
        <p:nvSpPr>
          <p:cNvPr id="3" name="a2z-icon"/>
          <p:cNvSpPr/>
          <p:nvPr/>
        </p:nvSpPr>
        <p:spPr>
          <a:xfrm>
            <a:off x="8549640" y="2011680"/>
            <a:ext cx="2468880" cy="2468880"/>
          </a:xfrm>
          <a:prstGeom prst="ellipse">
            <a:avLst/>
          </a:prstGeom>
          <a:solidFill>
            <a:schemeClr val="accent5">
              <a:alpha val="18000"/>
            </a:schemeClr>
          </a:solidFill>
          <a:ln/>
        </p:spPr>
      </p:sp>
      <p:pic>
        <p:nvPicPr>
          <p:cNvPr id="4" name="a2z-iconi" descr="preencoded.png">    </p:cNvPr>
          <p:cNvPicPr>
            <a:picLocks noChangeAspect="1"/>
          </p:cNvPicPr>
          <p:nvPr/>
        </p:nvPicPr>
        <p:blipFill>
          <a:blip r:embed="rId1"/>
          <a:stretch>
            <a:fillRect/>
          </a:stretch>
        </p:blipFill>
        <p:spPr>
          <a:xfrm>
            <a:off x="9166860" y="2628900"/>
            <a:ext cx="1234440" cy="1234440"/>
          </a:xfrm>
          <a:prstGeom prst="rect">
            <a:avLst/>
          </a:prstGeom>
        </p:spPr>
      </p:pic>
      <p:sp>
        <p:nvSpPr>
          <p:cNvPr id="5" name="Text 0"/>
          <p:cNvSpPr/>
          <p:nvPr>
            <p:ph idx="100" type="title" hasCustomPrompt="1"/>
          </p:nvPr>
        </p:nvSpPr>
        <p:spPr>
          <a:xfrm>
            <a:off x="731520" y="2880360"/>
            <a:ext cx="10515600" cy="914400"/>
          </a:xfrm>
          <a:prstGeom prst="rect">
            <a:avLst/>
          </a:prstGeom>
          <a:noFill/>
          <a:ln/>
        </p:spPr>
        <p:txBody>
          <a:bodyPr wrap="square" lIns="0" tIns="0" rIns="0" bIns="0" rtlCol="0" anchor="ctr"/>
          <a:lstStyle/>
          <a:p>
            <a:pPr algn="l" indent="0" marL="0">
              <a:buNone/>
            </a:pPr>
            <a:r>
              <a:rPr lang="en-US" sz="4000" dirty="0">
                <a:solidFill>
                  <a:schemeClr val="bg1"/>
                </a:solidFill>
              </a:rPr>
              <a:t>Way forward</a:t>
            </a:r>
            <a:endParaRPr lang="en-US" sz="4000" dirty="0"/>
          </a:p>
        </p:txBody>
      </p:sp>
      <p:sp>
        <p:nvSpPr>
          <p:cNvPr id="6" name="Text 0"/>
          <p:cNvSpPr/>
          <p:nvPr>
            <p:ph idx="101" type="body" hasCustomPrompt="1"/>
          </p:nvPr>
        </p:nvSpPr>
        <p:spPr>
          <a:xfrm>
            <a:off x="731520" y="3840480"/>
            <a:ext cx="10515600" cy="548640"/>
          </a:xfrm>
          <a:prstGeom prst="rect">
            <a:avLst/>
          </a:prstGeom>
          <a:noFill/>
          <a:ln/>
        </p:spPr>
        <p:txBody>
          <a:bodyPr wrap="square" lIns="0" tIns="0" rIns="0" bIns="0" rtlCol="0" anchor="t"/>
          <a:lstStyle/>
          <a:p>
            <a:pPr indent="0" marL="0">
              <a:buNone/>
            </a:pPr>
            <a:r>
              <a:rPr lang="en-US" sz="2000" dirty="0">
                <a:solidFill>
                  <a:schemeClr val="accent5"/>
                </a:solidFill>
              </a:rPr>
              <a:t>Gaps, roadmap, and which tool to use when</a:t>
            </a:r>
            <a:endParaRPr lang="en-US" sz="20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9FB0C8"/>
                </a:solidFill>
              </a:defRPr>
            </a:lvl1pPr>
          </a:lstStyle>
          <a:p>
            <a:pPr algn="r"/>
            <a:fld id="{F7021451-1387-4CA6-816F-3879F97B5CBC}" type="slidenum">
              <a:rPr b="0" lang="en-US"/>
              <a:t>24</a:t>
            </a:fld>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450" fill="hold"/>
                                        <p:tgtEl>
                                          <p:spTgt spid="2"/>
                                        </p:tgtEl>
                                        <p:attrNameLst>
                                          <p:attrName>ppt_w</p:attrName>
                                        </p:attrNameLst>
                                      </p:cBhvr>
                                      <p:tavLst>
                                        <p:tav tm="0">
                                          <p:val>
                                            <p:fltVal val="0"/>
                                          </p:val>
                                        </p:tav>
                                        <p:tav tm="100000">
                                          <p:val>
                                            <p:strVal val="#ppt_w"/>
                                          </p:val>
                                        </p:tav>
                                      </p:tavLst>
                                    </p:anim>
                                    <p:anim calcmode="lin" valueType="num">
                                      <p:cBhvr>
                                        <p:cTn id="8" dur="450" fill="hold"/>
                                        <p:tgtEl>
                                          <p:spTgt spid="2"/>
                                        </p:tgtEl>
                                        <p:attrNameLst>
                                          <p:attrName>ppt_h</p:attrName>
                                        </p:attrNameLst>
                                      </p:cBhvr>
                                      <p:tavLst>
                                        <p:tav tm="0">
                                          <p:val>
                                            <p:fltVal val="0"/>
                                          </p:val>
                                        </p:tav>
                                        <p:tav tm="100000">
                                          <p:val>
                                            <p:strVal val="#ppt_h"/>
                                          </p:val>
                                        </p:tav>
                                      </p:tavLst>
                                    </p:anim>
                                    <p:animEffect transition="in" filter="fade">
                                      <p:cBhvr>
                                        <p:cTn id="9" dur="450"/>
                                        <p:tgtEl>
                                          <p:spTgt spid="2"/>
                                        </p:tgtEl>
                                      </p:cBhvr>
                                    </p:animEffect>
                                  </p:childTnLst>
                                </p:cTn>
                              </p:par>
                            </p:childTnLst>
                          </p:cTn>
                        </p:par>
                        <p:par>
                          <p:cTn id="10" fill="hold">
                            <p:stCondLst>
                              <p:cond delay="45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450" fill="hold"/>
                                        <p:tgtEl>
                                          <p:spTgt spid="3"/>
                                        </p:tgtEl>
                                        <p:attrNameLst>
                                          <p:attrName>ppt_w</p:attrName>
                                        </p:attrNameLst>
                                      </p:cBhvr>
                                      <p:tavLst>
                                        <p:tav tm="0">
                                          <p:val>
                                            <p:fltVal val="0"/>
                                          </p:val>
                                        </p:tav>
                                        <p:tav tm="100000">
                                          <p:val>
                                            <p:strVal val="#ppt_w"/>
                                          </p:val>
                                        </p:tav>
                                      </p:tavLst>
                                    </p:anim>
                                    <p:anim calcmode="lin" valueType="num">
                                      <p:cBhvr>
                                        <p:cTn id="14" dur="450" fill="hold"/>
                                        <p:tgtEl>
                                          <p:spTgt spid="3"/>
                                        </p:tgtEl>
                                        <p:attrNameLst>
                                          <p:attrName>ppt_h</p:attrName>
                                        </p:attrNameLst>
                                      </p:cBhvr>
                                      <p:tavLst>
                                        <p:tav tm="0">
                                          <p:val>
                                            <p:fltVal val="0"/>
                                          </p:val>
                                        </p:tav>
                                        <p:tav tm="100000">
                                          <p:val>
                                            <p:strVal val="#ppt_h"/>
                                          </p:val>
                                        </p:tav>
                                      </p:tavLst>
                                    </p:anim>
                                    <p:animEffect transition="in" filter="fade">
                                      <p:cBhvr>
                                        <p:cTn id="15" dur="450"/>
                                        <p:tgtEl>
                                          <p:spTgt spid="3"/>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p:cTn id="18" dur="450" fill="hold"/>
                                        <p:tgtEl>
                                          <p:spTgt spid="4"/>
                                        </p:tgtEl>
                                        <p:attrNameLst>
                                          <p:attrName>ppt_w</p:attrName>
                                        </p:attrNameLst>
                                      </p:cBhvr>
                                      <p:tavLst>
                                        <p:tav tm="0">
                                          <p:val>
                                            <p:fltVal val="0"/>
                                          </p:val>
                                        </p:tav>
                                        <p:tav tm="100000">
                                          <p:val>
                                            <p:strVal val="#ppt_w"/>
                                          </p:val>
                                        </p:tav>
                                      </p:tavLst>
                                    </p:anim>
                                    <p:anim calcmode="lin" valueType="num">
                                      <p:cBhvr>
                                        <p:cTn id="19" dur="450" fill="hold"/>
                                        <p:tgtEl>
                                          <p:spTgt spid="4"/>
                                        </p:tgtEl>
                                        <p:attrNameLst>
                                          <p:attrName>ppt_h</p:attrName>
                                        </p:attrNameLst>
                                      </p:cBhvr>
                                      <p:tavLst>
                                        <p:tav tm="0">
                                          <p:val>
                                            <p:fltVal val="0"/>
                                          </p:val>
                                        </p:tav>
                                        <p:tav tm="100000">
                                          <p:val>
                                            <p:strVal val="#ppt_h"/>
                                          </p:val>
                                        </p:tav>
                                      </p:tavLst>
                                    </p:anim>
                                    <p:animEffect transition="in" filter="fade">
                                      <p:cBhvr>
                                        <p:cTn id="2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WAY FORWARD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Known gaps, and what comes next</a:t>
            </a:r>
            <a:endParaRPr lang="en-US" sz="3200" dirty="0"/>
          </a:p>
        </p:txBody>
      </p:sp>
      <p:sp>
        <p:nvSpPr>
          <p:cNvPr id="4" name="a1f-lane0"/>
          <p:cNvSpPr/>
          <p:nvPr/>
        </p:nvSpPr>
        <p:spPr>
          <a:xfrm>
            <a:off x="548640" y="1554480"/>
            <a:ext cx="5449824" cy="4526280"/>
          </a:xfrm>
          <a:prstGeom prst="roundRect">
            <a:avLst>
              <a:gd name="adj" fmla="val 2424"/>
            </a:avLst>
          </a:prstGeom>
          <a:solidFill>
            <a:schemeClr val="accent4">
              <a:alpha val="9000"/>
            </a:schemeClr>
          </a:solidFill>
          <a:ln/>
        </p:spPr>
      </p:sp>
      <p:sp>
        <p:nvSpPr>
          <p:cNvPr id="5" name="a1f-lane0c"/>
          <p:cNvSpPr/>
          <p:nvPr/>
        </p:nvSpPr>
        <p:spPr>
          <a:xfrm>
            <a:off x="822960" y="1737360"/>
            <a:ext cx="548640" cy="548640"/>
          </a:xfrm>
          <a:prstGeom prst="ellipse">
            <a:avLst/>
          </a:prstGeom>
          <a:solidFill>
            <a:schemeClr val="accent4"/>
          </a:solidFill>
          <a:ln/>
        </p:spPr>
      </p:sp>
      <p:pic>
        <p:nvPicPr>
          <p:cNvPr id="6" name="a1f-lane0ci" descr="preencoded.png">    </p:cNvPr>
          <p:cNvPicPr>
            <a:picLocks noChangeAspect="1"/>
          </p:cNvPicPr>
          <p:nvPr/>
        </p:nvPicPr>
        <p:blipFill>
          <a:blip r:embed="rId1"/>
          <a:stretch>
            <a:fillRect/>
          </a:stretch>
        </p:blipFill>
        <p:spPr>
          <a:xfrm>
            <a:off x="960120" y="1874520"/>
            <a:ext cx="274320" cy="274320"/>
          </a:xfrm>
          <a:prstGeom prst="rect">
            <a:avLst/>
          </a:prstGeom>
        </p:spPr>
      </p:pic>
      <p:sp>
        <p:nvSpPr>
          <p:cNvPr id="7" name="a1f-lane0h"/>
          <p:cNvSpPr txBox="1"/>
          <p:nvPr/>
        </p:nvSpPr>
        <p:spPr>
          <a:xfrm>
            <a:off x="1508760" y="1737360"/>
            <a:ext cx="4206240"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Not covered yet</a:t>
            </a:r>
            <a:endParaRPr lang="en-US" sz="1800" dirty="0"/>
          </a:p>
        </p:txBody>
      </p:sp>
      <p:sp>
        <p:nvSpPr>
          <p:cNvPr id="8" name="a2u-li0_0"/>
          <p:cNvSpPr txBox="1"/>
          <p:nvPr/>
        </p:nvSpPr>
        <p:spPr>
          <a:xfrm>
            <a:off x="822960" y="2514600"/>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Lake databases and serverless SQL databases are not discovered</a:t>
            </a:r>
            <a:endParaRPr lang="en-US" sz="1450" dirty="0"/>
          </a:p>
        </p:txBody>
      </p:sp>
      <p:sp>
        <p:nvSpPr>
          <p:cNvPr id="9" name="a3u-li0_1"/>
          <p:cNvSpPr txBox="1"/>
          <p:nvPr/>
        </p:nvSpPr>
        <p:spPr>
          <a:xfrm>
            <a:off x="822960" y="3209544"/>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Mapping data flows, event and tumbling-window triggers need a person</a:t>
            </a:r>
            <a:endParaRPr lang="en-US" sz="1450" dirty="0"/>
          </a:p>
        </p:txBody>
      </p:sp>
      <p:sp>
        <p:nvSpPr>
          <p:cNvPr id="10" name="a4u-li0_2"/>
          <p:cNvSpPr txBox="1"/>
          <p:nvPr/>
        </p:nvSpPr>
        <p:spPr>
          <a:xfrm>
            <a:off x="822960" y="3904488"/>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Integration runtimes, Spark libraries and folders are set up by hand</a:t>
            </a:r>
            <a:endParaRPr lang="en-US" sz="1450" dirty="0"/>
          </a:p>
        </p:txBody>
      </p:sp>
      <p:sp>
        <p:nvSpPr>
          <p:cNvPr id="11" name="a5u-li0_3"/>
          <p:cNvSpPr txBox="1"/>
          <p:nvPr/>
        </p:nvSpPr>
        <p:spPr>
          <a:xfrm>
            <a:off x="822960" y="4599432"/>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Synapse is the only source, and Fabric the only target</a:t>
            </a:r>
            <a:endParaRPr lang="en-US" sz="1450" dirty="0"/>
          </a:p>
        </p:txBody>
      </p:sp>
      <p:sp>
        <p:nvSpPr>
          <p:cNvPr id="12" name="a6u-li0_4"/>
          <p:cNvSpPr txBox="1"/>
          <p:nvPr/>
        </p:nvSpPr>
        <p:spPr>
          <a:xfrm>
            <a:off x="822960" y="5294376"/>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Runs on one machine for one operator, without Microsoft support</a:t>
            </a:r>
            <a:endParaRPr lang="en-US" sz="1450" dirty="0"/>
          </a:p>
        </p:txBody>
      </p:sp>
      <p:sp>
        <p:nvSpPr>
          <p:cNvPr id="13" name="a7f-lane1"/>
          <p:cNvSpPr/>
          <p:nvPr/>
        </p:nvSpPr>
        <p:spPr>
          <a:xfrm>
            <a:off x="6190488" y="1554480"/>
            <a:ext cx="5449824" cy="4526280"/>
          </a:xfrm>
          <a:prstGeom prst="roundRect">
            <a:avLst>
              <a:gd name="adj" fmla="val 2424"/>
            </a:avLst>
          </a:prstGeom>
          <a:solidFill>
            <a:schemeClr val="accent1">
              <a:alpha val="9000"/>
            </a:schemeClr>
          </a:solidFill>
          <a:ln/>
        </p:spPr>
      </p:sp>
      <p:sp>
        <p:nvSpPr>
          <p:cNvPr id="14" name="a7f-lane1c"/>
          <p:cNvSpPr/>
          <p:nvPr/>
        </p:nvSpPr>
        <p:spPr>
          <a:xfrm>
            <a:off x="6464808" y="1737360"/>
            <a:ext cx="548640" cy="548640"/>
          </a:xfrm>
          <a:prstGeom prst="ellipse">
            <a:avLst/>
          </a:prstGeom>
          <a:solidFill>
            <a:schemeClr val="accent1"/>
          </a:solidFill>
          <a:ln/>
        </p:spPr>
      </p:sp>
      <p:pic>
        <p:nvPicPr>
          <p:cNvPr id="15" name="a7f-lane1ci" descr="preencoded.png">    </p:cNvPr>
          <p:cNvPicPr>
            <a:picLocks noChangeAspect="1"/>
          </p:cNvPicPr>
          <p:nvPr/>
        </p:nvPicPr>
        <p:blipFill>
          <a:blip r:embed="rId2"/>
          <a:stretch>
            <a:fillRect/>
          </a:stretch>
        </p:blipFill>
        <p:spPr>
          <a:xfrm>
            <a:off x="6601968" y="1874520"/>
            <a:ext cx="274320" cy="274320"/>
          </a:xfrm>
          <a:prstGeom prst="rect">
            <a:avLst/>
          </a:prstGeom>
        </p:spPr>
      </p:pic>
      <p:sp>
        <p:nvSpPr>
          <p:cNvPr id="16" name="a7f-lane1h"/>
          <p:cNvSpPr txBox="1"/>
          <p:nvPr/>
        </p:nvSpPr>
        <p:spPr>
          <a:xfrm>
            <a:off x="7150608" y="1737360"/>
            <a:ext cx="4206240" cy="548640"/>
          </a:xfrm>
          <a:prstGeom prst="rect">
            <a:avLst/>
          </a:prstGeom>
          <a:noFill/>
          <a:ln/>
        </p:spPr>
        <p:txBody>
          <a:bodyPr wrap="square" lIns="0" tIns="0" rIns="0" bIns="0" rtlCol="0" anchor="ctr"/>
          <a:lstStyle/>
          <a:p>
            <a:pPr indent="0" marL="0">
              <a:buNone/>
            </a:pPr>
            <a:r>
              <a:rPr lang="en-US" sz="1800" dirty="0">
                <a:solidFill>
                  <a:schemeClr val="tx2"/>
                </a:solidFill>
                <a:latin typeface="+mj-lt" pitchFamily="34" charset="0"/>
                <a:ea typeface="+mj-lt" pitchFamily="34" charset="-122"/>
                <a:cs typeface="+mj-lt" pitchFamily="34" charset="-120"/>
              </a:rPr>
              <a:t>Next on the roadmap</a:t>
            </a:r>
            <a:endParaRPr lang="en-US" sz="1800" dirty="0"/>
          </a:p>
        </p:txBody>
      </p:sp>
      <p:sp>
        <p:nvSpPr>
          <p:cNvPr id="17" name="a8u-li1_0"/>
          <p:cNvSpPr txBox="1"/>
          <p:nvPr/>
        </p:nvSpPr>
        <p:spPr>
          <a:xfrm>
            <a:off x="6464808" y="2514600"/>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Deploy from Git to Fabric Test and Prod with fabric-cicd</a:t>
            </a:r>
            <a:endParaRPr lang="en-US" sz="1450" dirty="0"/>
          </a:p>
        </p:txBody>
      </p:sp>
      <p:sp>
        <p:nvSpPr>
          <p:cNvPr id="18" name="a9u-li1_1"/>
          <p:cNvSpPr txBox="1"/>
          <p:nvPr/>
        </p:nvSpPr>
        <p:spPr>
          <a:xfrm>
            <a:off x="6464808" y="3209544"/>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Assistant chat: explain a failure, suggest a fix, retry the object</a:t>
            </a:r>
            <a:endParaRPr lang="en-US" sz="1450" dirty="0"/>
          </a:p>
        </p:txBody>
      </p:sp>
      <p:sp>
        <p:nvSpPr>
          <p:cNvPr id="19" name="a10u-li1_2"/>
          <p:cNvSpPr txBox="1"/>
          <p:nvPr/>
        </p:nvSpPr>
        <p:spPr>
          <a:xfrm>
            <a:off x="6464808" y="3904488"/>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More sources already in the UI: ADF, SQL Server, Databricks, Snowflake and others</a:t>
            </a:r>
            <a:endParaRPr lang="en-US" sz="1450" dirty="0"/>
          </a:p>
        </p:txBody>
      </p:sp>
      <p:sp>
        <p:nvSpPr>
          <p:cNvPr id="20" name="a11u-li1_3"/>
          <p:cNvSpPr txBox="1"/>
          <p:nvPr/>
        </p:nvSpPr>
        <p:spPr>
          <a:xfrm>
            <a:off x="6464808" y="4599432"/>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Bigger loads: export to Parquet (CETAS), COPY INTO, partition-parallel</a:t>
            </a:r>
            <a:endParaRPr lang="en-US" sz="1450" dirty="0"/>
          </a:p>
        </p:txBody>
      </p:sp>
      <p:sp>
        <p:nvSpPr>
          <p:cNvPr id="21" name="a12u-li1_4"/>
          <p:cNvSpPr txBox="1"/>
          <p:nvPr/>
        </p:nvSpPr>
        <p:spPr>
          <a:xfrm>
            <a:off x="6464808" y="5294376"/>
            <a:ext cx="4937760" cy="658368"/>
          </a:xfrm>
          <a:prstGeom prst="rect">
            <a:avLst/>
          </a:prstGeom>
          <a:noFill/>
          <a:ln/>
        </p:spPr>
        <p:txBody>
          <a:bodyPr wrap="square" lIns="0" tIns="0" rIns="0" bIns="0" rtlCol="0" anchor="t"/>
          <a:lstStyle/>
          <a:p>
            <a:pPr marL="203200" indent="-203200">
              <a:buSzPct val="100000"/>
              <a:buChar char="•"/>
            </a:pPr>
            <a:r>
              <a:rPr lang="en-US" sz="1450" dirty="0">
                <a:solidFill>
                  <a:schemeClr val="tx1"/>
                </a:solidFill>
              </a:rPr>
              <a:t>Discovery of lake and serverless databases</a:t>
            </a:r>
            <a:endParaRPr lang="en-US" sz="145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par>
                          <p:cTn id="17" fill="hold">
                            <p:stCondLst>
                              <p:cond delay="450"/>
                            </p:stCondLst>
                            <p:childTnLst>
                              <p:par>
                                <p:cTn id="18" presetID="42"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anim calcmode="lin" valueType="num">
                                      <p:cBhvr>
                                        <p:cTn id="21" dur="550" fill="hold"/>
                                        <p:tgtEl>
                                          <p:spTgt spid="8"/>
                                        </p:tgtEl>
                                        <p:attrNameLst>
                                          <p:attrName>ppt_x</p:attrName>
                                        </p:attrNameLst>
                                      </p:cBhvr>
                                      <p:tavLst>
                                        <p:tav tm="0">
                                          <p:val>
                                            <p:strVal val="#ppt_x"/>
                                          </p:val>
                                        </p:tav>
                                        <p:tav tm="100000">
                                          <p:val>
                                            <p:strVal val="#ppt_x"/>
                                          </p:val>
                                        </p:tav>
                                      </p:tavLst>
                                    </p:anim>
                                    <p:anim calcmode="lin" valueType="num">
                                      <p:cBhvr>
                                        <p:cTn id="22" dur="550" fill="hold"/>
                                        <p:tgtEl>
                                          <p:spTgt spid="8"/>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anim calcmode="lin" valueType="num">
                                      <p:cBhvr>
                                        <p:cTn id="27" dur="550" fill="hold"/>
                                        <p:tgtEl>
                                          <p:spTgt spid="9"/>
                                        </p:tgtEl>
                                        <p:attrNameLst>
                                          <p:attrName>ppt_x</p:attrName>
                                        </p:attrNameLst>
                                      </p:cBhvr>
                                      <p:tavLst>
                                        <p:tav tm="0">
                                          <p:val>
                                            <p:strVal val="#ppt_x"/>
                                          </p:val>
                                        </p:tav>
                                        <p:tav tm="100000">
                                          <p:val>
                                            <p:strVal val="#ppt_x"/>
                                          </p:val>
                                        </p:tav>
                                      </p:tavLst>
                                    </p:anim>
                                    <p:anim calcmode="lin" valueType="num">
                                      <p:cBhvr>
                                        <p:cTn id="28" dur="550" fill="hold"/>
                                        <p:tgtEl>
                                          <p:spTgt spid="9"/>
                                        </p:tgtEl>
                                        <p:attrNameLst>
                                          <p:attrName>ppt_y</p:attrName>
                                        </p:attrNameLst>
                                      </p:cBhvr>
                                      <p:tavLst>
                                        <p:tav tm="0">
                                          <p:val>
                                            <p:strVal val="#ppt_y+.1"/>
                                          </p:val>
                                        </p:tav>
                                        <p:tav tm="100000">
                                          <p:val>
                                            <p:strVal val="#ppt_y"/>
                                          </p:val>
                                        </p:tav>
                                      </p:tavLst>
                                    </p:anim>
                                  </p:childTnLst>
                                </p:cTn>
                              </p:par>
                            </p:childTnLst>
                          </p:cTn>
                        </p:par>
                        <p:par>
                          <p:cTn id="29" fill="hold">
                            <p:stCondLst>
                              <p:cond delay="1550"/>
                            </p:stCondLst>
                            <p:childTnLst>
                              <p:par>
                                <p:cTn id="30" presetID="42"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50"/>
                                        <p:tgtEl>
                                          <p:spTgt spid="10"/>
                                        </p:tgtEl>
                                      </p:cBhvr>
                                    </p:animEffect>
                                    <p:anim calcmode="lin" valueType="num">
                                      <p:cBhvr>
                                        <p:cTn id="33" dur="550" fill="hold"/>
                                        <p:tgtEl>
                                          <p:spTgt spid="10"/>
                                        </p:tgtEl>
                                        <p:attrNameLst>
                                          <p:attrName>ppt_x</p:attrName>
                                        </p:attrNameLst>
                                      </p:cBhvr>
                                      <p:tavLst>
                                        <p:tav tm="0">
                                          <p:val>
                                            <p:strVal val="#ppt_x"/>
                                          </p:val>
                                        </p:tav>
                                        <p:tav tm="100000">
                                          <p:val>
                                            <p:strVal val="#ppt_x"/>
                                          </p:val>
                                        </p:tav>
                                      </p:tavLst>
                                    </p:anim>
                                    <p:anim calcmode="lin" valueType="num">
                                      <p:cBhvr>
                                        <p:cTn id="34" dur="550" fill="hold"/>
                                        <p:tgtEl>
                                          <p:spTgt spid="10"/>
                                        </p:tgtEl>
                                        <p:attrNameLst>
                                          <p:attrName>ppt_y</p:attrName>
                                        </p:attrNameLst>
                                      </p:cBhvr>
                                      <p:tavLst>
                                        <p:tav tm="0">
                                          <p:val>
                                            <p:strVal val="#ppt_y+.1"/>
                                          </p:val>
                                        </p:tav>
                                        <p:tav tm="100000">
                                          <p:val>
                                            <p:strVal val="#ppt_y"/>
                                          </p:val>
                                        </p:tav>
                                      </p:tavLst>
                                    </p:anim>
                                  </p:childTnLst>
                                </p:cTn>
                              </p:par>
                            </p:childTnLst>
                          </p:cTn>
                        </p:par>
                        <p:par>
                          <p:cTn id="35" fill="hold">
                            <p:stCondLst>
                              <p:cond delay="2100"/>
                            </p:stCondLst>
                            <p:childTnLst>
                              <p:par>
                                <p:cTn id="36" presetID="42"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anim calcmode="lin" valueType="num">
                                      <p:cBhvr>
                                        <p:cTn id="39" dur="550" fill="hold"/>
                                        <p:tgtEl>
                                          <p:spTgt spid="11"/>
                                        </p:tgtEl>
                                        <p:attrNameLst>
                                          <p:attrName>ppt_x</p:attrName>
                                        </p:attrNameLst>
                                      </p:cBhvr>
                                      <p:tavLst>
                                        <p:tav tm="0">
                                          <p:val>
                                            <p:strVal val="#ppt_x"/>
                                          </p:val>
                                        </p:tav>
                                        <p:tav tm="100000">
                                          <p:val>
                                            <p:strVal val="#ppt_x"/>
                                          </p:val>
                                        </p:tav>
                                      </p:tavLst>
                                    </p:anim>
                                    <p:anim calcmode="lin" valueType="num">
                                      <p:cBhvr>
                                        <p:cTn id="40" dur="550" fill="hold"/>
                                        <p:tgtEl>
                                          <p:spTgt spid="11"/>
                                        </p:tgtEl>
                                        <p:attrNameLst>
                                          <p:attrName>ppt_y</p:attrName>
                                        </p:attrNameLst>
                                      </p:cBhvr>
                                      <p:tavLst>
                                        <p:tav tm="0">
                                          <p:val>
                                            <p:strVal val="#ppt_y+.1"/>
                                          </p:val>
                                        </p:tav>
                                        <p:tav tm="100000">
                                          <p:val>
                                            <p:strVal val="#ppt_y"/>
                                          </p:val>
                                        </p:tav>
                                      </p:tavLst>
                                    </p:anim>
                                  </p:childTnLst>
                                </p:cTn>
                              </p:par>
                            </p:childTnLst>
                          </p:cTn>
                        </p:par>
                        <p:par>
                          <p:cTn id="41" fill="hold">
                            <p:stCondLst>
                              <p:cond delay="2650"/>
                            </p:stCondLst>
                            <p:childTnLst>
                              <p:par>
                                <p:cTn id="42" presetID="42"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50"/>
                                        <p:tgtEl>
                                          <p:spTgt spid="12"/>
                                        </p:tgtEl>
                                      </p:cBhvr>
                                    </p:animEffect>
                                    <p:anim calcmode="lin" valueType="num">
                                      <p:cBhvr>
                                        <p:cTn id="45" dur="550" fill="hold"/>
                                        <p:tgtEl>
                                          <p:spTgt spid="12"/>
                                        </p:tgtEl>
                                        <p:attrNameLst>
                                          <p:attrName>ppt_x</p:attrName>
                                        </p:attrNameLst>
                                      </p:cBhvr>
                                      <p:tavLst>
                                        <p:tav tm="0">
                                          <p:val>
                                            <p:strVal val="#ppt_x"/>
                                          </p:val>
                                        </p:tav>
                                        <p:tav tm="100000">
                                          <p:val>
                                            <p:strVal val="#ppt_x"/>
                                          </p:val>
                                        </p:tav>
                                      </p:tavLst>
                                    </p:anim>
                                    <p:anim calcmode="lin" valueType="num">
                                      <p:cBhvr>
                                        <p:cTn id="46" dur="550" fill="hold"/>
                                        <p:tgtEl>
                                          <p:spTgt spid="12"/>
                                        </p:tgtEl>
                                        <p:attrNameLst>
                                          <p:attrName>ppt_y</p:attrName>
                                        </p:attrNameLst>
                                      </p:cBhvr>
                                      <p:tavLst>
                                        <p:tav tm="0">
                                          <p:val>
                                            <p:strVal val="#ppt_y+.1"/>
                                          </p:val>
                                        </p:tav>
                                        <p:tav tm="100000">
                                          <p:val>
                                            <p:strVal val="#ppt_y"/>
                                          </p:val>
                                        </p:tav>
                                      </p:tavLst>
                                    </p:anim>
                                  </p:childTnLst>
                                </p:cTn>
                              </p:par>
                            </p:childTnLst>
                          </p:cTn>
                        </p:par>
                        <p:par>
                          <p:cTn id="47" fill="hold">
                            <p:stCondLst>
                              <p:cond delay="3200"/>
                            </p:stCondLst>
                            <p:childTnLst>
                              <p:par>
                                <p:cTn id="48" presetID="10" presetClass="entr" presetSubtype="0"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450"/>
                                        <p:tgtEl>
                                          <p:spTgt spid="1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450"/>
                                        <p:tgtEl>
                                          <p:spTgt spid="1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50"/>
                                        <p:tgtEl>
                                          <p:spTgt spid="1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childTnLst>
                                </p:cTn>
                              </p:par>
                            </p:childTnLst>
                          </p:cTn>
                        </p:par>
                        <p:par>
                          <p:cTn id="60" fill="hold">
                            <p:stCondLst>
                              <p:cond delay="3650"/>
                            </p:stCondLst>
                            <p:childTnLst>
                              <p:par>
                                <p:cTn id="61" presetID="42" presetClass="entr" presetSubtype="0" fill="hold" grpId="0" nodeType="after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550"/>
                                        <p:tgtEl>
                                          <p:spTgt spid="17"/>
                                        </p:tgtEl>
                                      </p:cBhvr>
                                    </p:animEffect>
                                    <p:anim calcmode="lin" valueType="num">
                                      <p:cBhvr>
                                        <p:cTn id="64" dur="550" fill="hold"/>
                                        <p:tgtEl>
                                          <p:spTgt spid="17"/>
                                        </p:tgtEl>
                                        <p:attrNameLst>
                                          <p:attrName>ppt_x</p:attrName>
                                        </p:attrNameLst>
                                      </p:cBhvr>
                                      <p:tavLst>
                                        <p:tav tm="0">
                                          <p:val>
                                            <p:strVal val="#ppt_x"/>
                                          </p:val>
                                        </p:tav>
                                        <p:tav tm="100000">
                                          <p:val>
                                            <p:strVal val="#ppt_x"/>
                                          </p:val>
                                        </p:tav>
                                      </p:tavLst>
                                    </p:anim>
                                    <p:anim calcmode="lin" valueType="num">
                                      <p:cBhvr>
                                        <p:cTn id="65" dur="550" fill="hold"/>
                                        <p:tgtEl>
                                          <p:spTgt spid="17"/>
                                        </p:tgtEl>
                                        <p:attrNameLst>
                                          <p:attrName>ppt_y</p:attrName>
                                        </p:attrNameLst>
                                      </p:cBhvr>
                                      <p:tavLst>
                                        <p:tav tm="0">
                                          <p:val>
                                            <p:strVal val="#ppt_y+.1"/>
                                          </p:val>
                                        </p:tav>
                                        <p:tav tm="100000">
                                          <p:val>
                                            <p:strVal val="#ppt_y"/>
                                          </p:val>
                                        </p:tav>
                                      </p:tavLst>
                                    </p:anim>
                                  </p:childTnLst>
                                </p:cTn>
                              </p:par>
                            </p:childTnLst>
                          </p:cTn>
                        </p:par>
                        <p:par>
                          <p:cTn id="66" fill="hold">
                            <p:stCondLst>
                              <p:cond delay="4200"/>
                            </p:stCondLst>
                            <p:childTnLst>
                              <p:par>
                                <p:cTn id="67" presetID="42" presetClass="entr" presetSubtype="0" fill="hold" grpId="0"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50"/>
                                        <p:tgtEl>
                                          <p:spTgt spid="18"/>
                                        </p:tgtEl>
                                      </p:cBhvr>
                                    </p:animEffect>
                                    <p:anim calcmode="lin" valueType="num">
                                      <p:cBhvr>
                                        <p:cTn id="70" dur="550" fill="hold"/>
                                        <p:tgtEl>
                                          <p:spTgt spid="18"/>
                                        </p:tgtEl>
                                        <p:attrNameLst>
                                          <p:attrName>ppt_x</p:attrName>
                                        </p:attrNameLst>
                                      </p:cBhvr>
                                      <p:tavLst>
                                        <p:tav tm="0">
                                          <p:val>
                                            <p:strVal val="#ppt_x"/>
                                          </p:val>
                                        </p:tav>
                                        <p:tav tm="100000">
                                          <p:val>
                                            <p:strVal val="#ppt_x"/>
                                          </p:val>
                                        </p:tav>
                                      </p:tavLst>
                                    </p:anim>
                                    <p:anim calcmode="lin" valueType="num">
                                      <p:cBhvr>
                                        <p:cTn id="71" dur="550" fill="hold"/>
                                        <p:tgtEl>
                                          <p:spTgt spid="18"/>
                                        </p:tgtEl>
                                        <p:attrNameLst>
                                          <p:attrName>ppt_y</p:attrName>
                                        </p:attrNameLst>
                                      </p:cBhvr>
                                      <p:tavLst>
                                        <p:tav tm="0">
                                          <p:val>
                                            <p:strVal val="#ppt_y+.1"/>
                                          </p:val>
                                        </p:tav>
                                        <p:tav tm="100000">
                                          <p:val>
                                            <p:strVal val="#ppt_y"/>
                                          </p:val>
                                        </p:tav>
                                      </p:tavLst>
                                    </p:anim>
                                  </p:childTnLst>
                                </p:cTn>
                              </p:par>
                            </p:childTnLst>
                          </p:cTn>
                        </p:par>
                        <p:par>
                          <p:cTn id="72" fill="hold">
                            <p:stCondLst>
                              <p:cond delay="4750"/>
                            </p:stCondLst>
                            <p:childTnLst>
                              <p:par>
                                <p:cTn id="73" presetID="42" presetClass="entr" presetSubtype="0" fill="hold" grpId="0" nodeType="after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50"/>
                                        <p:tgtEl>
                                          <p:spTgt spid="19"/>
                                        </p:tgtEl>
                                      </p:cBhvr>
                                    </p:animEffect>
                                    <p:anim calcmode="lin" valueType="num">
                                      <p:cBhvr>
                                        <p:cTn id="76" dur="550" fill="hold"/>
                                        <p:tgtEl>
                                          <p:spTgt spid="19"/>
                                        </p:tgtEl>
                                        <p:attrNameLst>
                                          <p:attrName>ppt_x</p:attrName>
                                        </p:attrNameLst>
                                      </p:cBhvr>
                                      <p:tavLst>
                                        <p:tav tm="0">
                                          <p:val>
                                            <p:strVal val="#ppt_x"/>
                                          </p:val>
                                        </p:tav>
                                        <p:tav tm="100000">
                                          <p:val>
                                            <p:strVal val="#ppt_x"/>
                                          </p:val>
                                        </p:tav>
                                      </p:tavLst>
                                    </p:anim>
                                    <p:anim calcmode="lin" valueType="num">
                                      <p:cBhvr>
                                        <p:cTn id="77" dur="550" fill="hold"/>
                                        <p:tgtEl>
                                          <p:spTgt spid="19"/>
                                        </p:tgtEl>
                                        <p:attrNameLst>
                                          <p:attrName>ppt_y</p:attrName>
                                        </p:attrNameLst>
                                      </p:cBhvr>
                                      <p:tavLst>
                                        <p:tav tm="0">
                                          <p:val>
                                            <p:strVal val="#ppt_y+.1"/>
                                          </p:val>
                                        </p:tav>
                                        <p:tav tm="100000">
                                          <p:val>
                                            <p:strVal val="#ppt_y"/>
                                          </p:val>
                                        </p:tav>
                                      </p:tavLst>
                                    </p:anim>
                                  </p:childTnLst>
                                </p:cTn>
                              </p:par>
                            </p:childTnLst>
                          </p:cTn>
                        </p:par>
                        <p:par>
                          <p:cTn id="78" fill="hold">
                            <p:stCondLst>
                              <p:cond delay="5300"/>
                            </p:stCondLst>
                            <p:childTnLst>
                              <p:par>
                                <p:cTn id="79" presetID="42" presetClass="entr" presetSubtype="0"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50"/>
                                        <p:tgtEl>
                                          <p:spTgt spid="20"/>
                                        </p:tgtEl>
                                      </p:cBhvr>
                                    </p:animEffect>
                                    <p:anim calcmode="lin" valueType="num">
                                      <p:cBhvr>
                                        <p:cTn id="82" dur="550" fill="hold"/>
                                        <p:tgtEl>
                                          <p:spTgt spid="20"/>
                                        </p:tgtEl>
                                        <p:attrNameLst>
                                          <p:attrName>ppt_x</p:attrName>
                                        </p:attrNameLst>
                                      </p:cBhvr>
                                      <p:tavLst>
                                        <p:tav tm="0">
                                          <p:val>
                                            <p:strVal val="#ppt_x"/>
                                          </p:val>
                                        </p:tav>
                                        <p:tav tm="100000">
                                          <p:val>
                                            <p:strVal val="#ppt_x"/>
                                          </p:val>
                                        </p:tav>
                                      </p:tavLst>
                                    </p:anim>
                                    <p:anim calcmode="lin" valueType="num">
                                      <p:cBhvr>
                                        <p:cTn id="83" dur="550" fill="hold"/>
                                        <p:tgtEl>
                                          <p:spTgt spid="20"/>
                                        </p:tgtEl>
                                        <p:attrNameLst>
                                          <p:attrName>ppt_y</p:attrName>
                                        </p:attrNameLst>
                                      </p:cBhvr>
                                      <p:tavLst>
                                        <p:tav tm="0">
                                          <p:val>
                                            <p:strVal val="#ppt_y+.1"/>
                                          </p:val>
                                        </p:tav>
                                        <p:tav tm="100000">
                                          <p:val>
                                            <p:strVal val="#ppt_y"/>
                                          </p:val>
                                        </p:tav>
                                      </p:tavLst>
                                    </p:anim>
                                  </p:childTnLst>
                                </p:cTn>
                              </p:par>
                            </p:childTnLst>
                          </p:cTn>
                        </p:par>
                        <p:par>
                          <p:cTn id="84" fill="hold">
                            <p:stCondLst>
                              <p:cond delay="5850"/>
                            </p:stCondLst>
                            <p:childTnLst>
                              <p:par>
                                <p:cTn id="85" presetID="42" presetClass="entr" presetSubtype="0" fill="hold" grpId="0" nodeType="afterEffect">
                                  <p:stCondLst>
                                    <p:cond delay="0"/>
                                  </p:stCondLst>
                                  <p:childTnLst>
                                    <p:set>
                                      <p:cBhvr>
                                        <p:cTn id="86" dur="1" fill="hold">
                                          <p:stCondLst>
                                            <p:cond delay="0"/>
                                          </p:stCondLst>
                                        </p:cTn>
                                        <p:tgtEl>
                                          <p:spTgt spid="21"/>
                                        </p:tgtEl>
                                        <p:attrNameLst>
                                          <p:attrName>style.visibility</p:attrName>
                                        </p:attrNameLst>
                                      </p:cBhvr>
                                      <p:to>
                                        <p:strVal val="visible"/>
                                      </p:to>
                                    </p:set>
                                    <p:animEffect transition="in" filter="fade">
                                      <p:cBhvr>
                                        <p:cTn id="87" dur="550"/>
                                        <p:tgtEl>
                                          <p:spTgt spid="21"/>
                                        </p:tgtEl>
                                      </p:cBhvr>
                                    </p:animEffect>
                                    <p:anim calcmode="lin" valueType="num">
                                      <p:cBhvr>
                                        <p:cTn id="88" dur="550" fill="hold"/>
                                        <p:tgtEl>
                                          <p:spTgt spid="21"/>
                                        </p:tgtEl>
                                        <p:attrNameLst>
                                          <p:attrName>ppt_x</p:attrName>
                                        </p:attrNameLst>
                                      </p:cBhvr>
                                      <p:tavLst>
                                        <p:tav tm="0">
                                          <p:val>
                                            <p:strVal val="#ppt_x"/>
                                          </p:val>
                                        </p:tav>
                                        <p:tav tm="100000">
                                          <p:val>
                                            <p:strVal val="#ppt_x"/>
                                          </p:val>
                                        </p:tav>
                                      </p:tavLst>
                                    </p:anim>
                                    <p:anim calcmode="lin" valueType="num">
                                      <p:cBhvr>
                                        <p:cTn id="89" dur="55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822960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04 · WAY FORWARD</a:t>
            </a:r>
            <a:endParaRPr lang="en-US" sz="1200" dirty="0"/>
          </a:p>
        </p:txBody>
      </p:sp>
      <p:sp>
        <p:nvSpPr>
          <p:cNvPr id="3" name="Text 1"/>
          <p:cNvSpPr/>
          <p:nvPr>
            <p:ph idx="101" type="title" hasCustomPrompt="1"/>
          </p:nvPr>
        </p:nvSpPr>
        <p:spPr>
          <a:xfrm>
            <a:off x="548640" y="585216"/>
            <a:ext cx="11094415" cy="749808"/>
          </a:xfrm>
          <a:prstGeom prst="rect">
            <a:avLst/>
          </a:prstGeom>
          <a:noFill/>
          <a:ln/>
        </p:spPr>
        <p:txBody>
          <a:bodyPr wrap="square" lIns="0" tIns="0" rIns="0" bIns="0" rtlCol="0" anchor="t"/>
          <a:lstStyle/>
          <a:p>
            <a:pPr algn="l" indent="0" marL="0">
              <a:buNone/>
            </a:pPr>
            <a:r>
              <a:rPr lang="en-US" sz="3200" dirty="0">
                <a:solidFill>
                  <a:schemeClr val="tx2"/>
                </a:solidFill>
              </a:rPr>
              <a:t>Which tool, when</a:t>
            </a:r>
            <a:endParaRPr lang="en-US" sz="3200" dirty="0"/>
          </a:p>
        </p:txBody>
      </p:sp>
      <p:sp>
        <p:nvSpPr>
          <p:cNvPr id="4" name="a1u-ch0"/>
          <p:cNvSpPr/>
          <p:nvPr/>
        </p:nvSpPr>
        <p:spPr>
          <a:xfrm>
            <a:off x="548640" y="1554480"/>
            <a:ext cx="3575304" cy="3520440"/>
          </a:xfrm>
          <a:prstGeom prst="roundRect">
            <a:avLst>
              <a:gd name="adj" fmla="val 3117"/>
            </a:avLst>
          </a:prstGeom>
          <a:solidFill>
            <a:schemeClr val="accent1">
              <a:alpha val="9000"/>
            </a:schemeClr>
          </a:solidFill>
          <a:ln/>
        </p:spPr>
      </p:sp>
      <p:sp>
        <p:nvSpPr>
          <p:cNvPr id="5" name="a1u-ch0c"/>
          <p:cNvSpPr/>
          <p:nvPr/>
        </p:nvSpPr>
        <p:spPr>
          <a:xfrm>
            <a:off x="777240" y="1737360"/>
            <a:ext cx="530352" cy="530352"/>
          </a:xfrm>
          <a:prstGeom prst="ellipse">
            <a:avLst/>
          </a:prstGeom>
          <a:solidFill>
            <a:schemeClr val="accent1"/>
          </a:solidFill>
          <a:ln/>
        </p:spPr>
      </p:sp>
      <p:pic>
        <p:nvPicPr>
          <p:cNvPr id="6" name="a1u-ch0ci" descr="preencoded.png">    </p:cNvPr>
          <p:cNvPicPr>
            <a:picLocks noChangeAspect="1"/>
          </p:cNvPicPr>
          <p:nvPr/>
        </p:nvPicPr>
        <p:blipFill>
          <a:blip r:embed="rId1"/>
          <a:stretch>
            <a:fillRect/>
          </a:stretch>
        </p:blipFill>
        <p:spPr>
          <a:xfrm>
            <a:off x="909828" y="1869948"/>
            <a:ext cx="265176" cy="265176"/>
          </a:xfrm>
          <a:prstGeom prst="rect">
            <a:avLst/>
          </a:prstGeom>
        </p:spPr>
      </p:pic>
      <p:sp>
        <p:nvSpPr>
          <p:cNvPr id="7" name="a1u-ch0h"/>
          <p:cNvSpPr txBox="1"/>
          <p:nvPr/>
        </p:nvSpPr>
        <p:spPr>
          <a:xfrm>
            <a:off x="1417320" y="1719072"/>
            <a:ext cx="2606040" cy="566928"/>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Choose the accelerator when…</a:t>
            </a:r>
            <a:endParaRPr lang="en-US" sz="1600" dirty="0"/>
          </a:p>
        </p:txBody>
      </p:sp>
      <p:sp>
        <p:nvSpPr>
          <p:cNvPr id="8" name="a1u-ch0b"/>
          <p:cNvSpPr txBox="1"/>
          <p:nvPr/>
        </p:nvSpPr>
        <p:spPr>
          <a:xfrm>
            <a:off x="749808" y="2468880"/>
            <a:ext cx="3200400" cy="2514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The whole Synapse workspace moves: SQL, Spark and pipelines</a:t>
            </a:r>
            <a:endParaRPr lang="en-US" sz="1400" dirty="0"/>
          </a:p>
          <a:p>
            <a:pPr marL="177800" indent="-177800">
              <a:spcAft>
                <a:spcPts val="900"/>
              </a:spcAft>
              <a:buSzPct val="100000"/>
              <a:buChar char="•"/>
            </a:pPr>
            <a:r>
              <a:rPr lang="en-US" sz="1400" dirty="0">
                <a:solidFill>
                  <a:schemeClr val="tx1"/>
                </a:solidFill>
              </a:rPr>
              <a:t>You need a plan, waves and proof before go-live</a:t>
            </a:r>
            <a:endParaRPr lang="en-US" sz="1400" dirty="0"/>
          </a:p>
          <a:p>
            <a:pPr marL="177800" indent="-177800">
              <a:spcAft>
                <a:spcPts val="900"/>
              </a:spcAft>
              <a:buSzPct val="100000"/>
              <a:buChar char="•"/>
            </a:pPr>
            <a:r>
              <a:rPr lang="en-US" sz="1400" dirty="0">
                <a:solidFill>
                  <a:schemeClr val="tx1"/>
                </a:solidFill>
              </a:rPr>
              <a:t>Synapse lives in Git, or you migrate per environment</a:t>
            </a:r>
            <a:endParaRPr lang="en-US" sz="1400" dirty="0"/>
          </a:p>
          <a:p>
            <a:pPr marL="177800" indent="-177800">
              <a:spcAft>
                <a:spcPts val="900"/>
              </a:spcAft>
              <a:buSzPct val="100000"/>
              <a:buChar char="•"/>
            </a:pPr>
            <a:r>
              <a:rPr lang="en-US" sz="1400" dirty="0">
                <a:solidFill>
                  <a:schemeClr val="tx1"/>
                </a:solidFill>
              </a:rPr>
              <a:t>Storage sits in another Microsoft Entra tenant</a:t>
            </a:r>
            <a:endParaRPr lang="en-US" sz="1400" dirty="0"/>
          </a:p>
        </p:txBody>
      </p:sp>
      <p:sp>
        <p:nvSpPr>
          <p:cNvPr id="9" name="a2u-ch1"/>
          <p:cNvSpPr/>
          <p:nvPr/>
        </p:nvSpPr>
        <p:spPr>
          <a:xfrm>
            <a:off x="4306824" y="1554480"/>
            <a:ext cx="3575304" cy="3520440"/>
          </a:xfrm>
          <a:prstGeom prst="roundRect">
            <a:avLst>
              <a:gd name="adj" fmla="val 3117"/>
            </a:avLst>
          </a:prstGeom>
          <a:solidFill>
            <a:schemeClr val="accent2">
              <a:alpha val="9000"/>
            </a:schemeClr>
          </a:solidFill>
          <a:ln/>
        </p:spPr>
      </p:sp>
      <p:sp>
        <p:nvSpPr>
          <p:cNvPr id="10" name="a2u-ch1c"/>
          <p:cNvSpPr/>
          <p:nvPr/>
        </p:nvSpPr>
        <p:spPr>
          <a:xfrm>
            <a:off x="4535424" y="1737360"/>
            <a:ext cx="530352" cy="530352"/>
          </a:xfrm>
          <a:prstGeom prst="ellipse">
            <a:avLst/>
          </a:prstGeom>
          <a:solidFill>
            <a:schemeClr val="accent2"/>
          </a:solidFill>
          <a:ln/>
        </p:spPr>
      </p:sp>
      <p:pic>
        <p:nvPicPr>
          <p:cNvPr id="11" name="a2u-ch1ci" descr="preencoded.png">    </p:cNvPr>
          <p:cNvPicPr>
            <a:picLocks noChangeAspect="1"/>
          </p:cNvPicPr>
          <p:nvPr/>
        </p:nvPicPr>
        <p:blipFill>
          <a:blip r:embed="rId2"/>
          <a:stretch>
            <a:fillRect/>
          </a:stretch>
        </p:blipFill>
        <p:spPr>
          <a:xfrm>
            <a:off x="4668012" y="1869948"/>
            <a:ext cx="265176" cy="265176"/>
          </a:xfrm>
          <a:prstGeom prst="rect">
            <a:avLst/>
          </a:prstGeom>
        </p:spPr>
      </p:pic>
      <p:sp>
        <p:nvSpPr>
          <p:cNvPr id="12" name="a2u-ch1h"/>
          <p:cNvSpPr txBox="1"/>
          <p:nvPr/>
        </p:nvSpPr>
        <p:spPr>
          <a:xfrm>
            <a:off x="5175504" y="1719072"/>
            <a:ext cx="2606040" cy="566928"/>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Choose Microsoft's assistant when…</a:t>
            </a:r>
            <a:endParaRPr lang="en-US" sz="1600" dirty="0"/>
          </a:p>
        </p:txBody>
      </p:sp>
      <p:sp>
        <p:nvSpPr>
          <p:cNvPr id="13" name="a2u-ch1b"/>
          <p:cNvSpPr txBox="1"/>
          <p:nvPr/>
        </p:nvSpPr>
        <p:spPr>
          <a:xfrm>
            <a:off x="4507992" y="2468880"/>
            <a:ext cx="3200400" cy="2514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Only a warehouse moves</a:t>
            </a:r>
            <a:endParaRPr lang="en-US" sz="1400" dirty="0"/>
          </a:p>
          <a:p>
            <a:pPr marL="177800" indent="-177800">
              <a:spcAft>
                <a:spcPts val="900"/>
              </a:spcAft>
              <a:buSzPct val="100000"/>
              <a:buChar char="•"/>
            </a:pPr>
            <a:r>
              <a:rPr lang="en-US" sz="1400" dirty="0">
                <a:solidFill>
                  <a:schemeClr val="tx1"/>
                </a:solidFill>
              </a:rPr>
              <a:t>The source is SQL Server, Azure SQL or Teradata</a:t>
            </a:r>
            <a:endParaRPr lang="en-US" sz="1400" dirty="0"/>
          </a:p>
          <a:p>
            <a:pPr marL="177800" indent="-177800">
              <a:spcAft>
                <a:spcPts val="900"/>
              </a:spcAft>
              <a:buSzPct val="100000"/>
              <a:buChar char="•"/>
            </a:pPr>
            <a:r>
              <a:rPr lang="en-US" sz="1400" dirty="0">
                <a:solidFill>
                  <a:schemeClr val="tx1"/>
                </a:solidFill>
              </a:rPr>
              <a:t>A Microsoft-supported, in-portal tool is required</a:t>
            </a:r>
            <a:endParaRPr lang="en-US" sz="1400" dirty="0"/>
          </a:p>
          <a:p>
            <a:pPr marL="177800" indent="-177800">
              <a:spcAft>
                <a:spcPts val="900"/>
              </a:spcAft>
              <a:buSzPct val="100000"/>
              <a:buChar char="•"/>
            </a:pPr>
            <a:r>
              <a:rPr lang="en-US" sz="1400" dirty="0">
                <a:solidFill>
                  <a:schemeClr val="tx1"/>
                </a:solidFill>
              </a:rPr>
              <a:t>Lake databases must move now</a:t>
            </a:r>
            <a:endParaRPr lang="en-US" sz="1400" dirty="0"/>
          </a:p>
        </p:txBody>
      </p:sp>
      <p:sp>
        <p:nvSpPr>
          <p:cNvPr id="14" name="a3u-ch2"/>
          <p:cNvSpPr/>
          <p:nvPr/>
        </p:nvSpPr>
        <p:spPr>
          <a:xfrm>
            <a:off x="8065008" y="1554480"/>
            <a:ext cx="3575304" cy="3520440"/>
          </a:xfrm>
          <a:prstGeom prst="roundRect">
            <a:avLst>
              <a:gd name="adj" fmla="val 3117"/>
            </a:avLst>
          </a:prstGeom>
          <a:solidFill>
            <a:schemeClr val="tx2">
              <a:alpha val="9000"/>
            </a:schemeClr>
          </a:solidFill>
          <a:ln/>
        </p:spPr>
      </p:sp>
      <p:sp>
        <p:nvSpPr>
          <p:cNvPr id="15" name="a3u-ch2c"/>
          <p:cNvSpPr/>
          <p:nvPr/>
        </p:nvSpPr>
        <p:spPr>
          <a:xfrm>
            <a:off x="8293608" y="1737360"/>
            <a:ext cx="530352" cy="530352"/>
          </a:xfrm>
          <a:prstGeom prst="ellipse">
            <a:avLst/>
          </a:prstGeom>
          <a:solidFill>
            <a:schemeClr val="tx2"/>
          </a:solidFill>
          <a:ln/>
        </p:spPr>
      </p:sp>
      <p:pic>
        <p:nvPicPr>
          <p:cNvPr id="16" name="a3u-ch2ci" descr="preencoded.png">    </p:cNvPr>
          <p:cNvPicPr>
            <a:picLocks noChangeAspect="1"/>
          </p:cNvPicPr>
          <p:nvPr/>
        </p:nvPicPr>
        <p:blipFill>
          <a:blip r:embed="rId3"/>
          <a:stretch>
            <a:fillRect/>
          </a:stretch>
        </p:blipFill>
        <p:spPr>
          <a:xfrm>
            <a:off x="8426196" y="1869948"/>
            <a:ext cx="265176" cy="265176"/>
          </a:xfrm>
          <a:prstGeom prst="rect">
            <a:avLst/>
          </a:prstGeom>
        </p:spPr>
      </p:pic>
      <p:sp>
        <p:nvSpPr>
          <p:cNvPr id="17" name="a3u-ch2h"/>
          <p:cNvSpPr txBox="1"/>
          <p:nvPr/>
        </p:nvSpPr>
        <p:spPr>
          <a:xfrm>
            <a:off x="8933688" y="1719072"/>
            <a:ext cx="2606040" cy="566928"/>
          </a:xfrm>
          <a:prstGeom prst="rect">
            <a:avLst/>
          </a:prstGeom>
          <a:noFill/>
          <a:ln/>
        </p:spPr>
        <p:txBody>
          <a:bodyPr wrap="square" lIns="0" tIns="0" rIns="0" bIns="0" rtlCol="0" anchor="ctr"/>
          <a:lstStyle/>
          <a:p>
            <a:pPr indent="0" marL="0">
              <a:buNone/>
            </a:pPr>
            <a:r>
              <a:rPr lang="en-US" sz="1600" dirty="0">
                <a:solidFill>
                  <a:schemeClr val="tx2"/>
                </a:solidFill>
                <a:latin typeface="+mj-lt" pitchFamily="34" charset="0"/>
                <a:ea typeface="+mj-lt" pitchFamily="34" charset="-122"/>
                <a:cs typeface="+mj-lt" pitchFamily="34" charset="-120"/>
              </a:rPr>
              <a:t>Use both when…</a:t>
            </a:r>
            <a:endParaRPr lang="en-US" sz="1600" dirty="0"/>
          </a:p>
        </p:txBody>
      </p:sp>
      <p:sp>
        <p:nvSpPr>
          <p:cNvPr id="18" name="a3u-ch2b"/>
          <p:cNvSpPr txBox="1"/>
          <p:nvPr/>
        </p:nvSpPr>
        <p:spPr>
          <a:xfrm>
            <a:off x="8266176" y="2468880"/>
            <a:ext cx="3200400" cy="251460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tx1"/>
                </a:solidFill>
              </a:rPr>
              <a:t>The accelerator moves the workspace</a:t>
            </a:r>
            <a:endParaRPr lang="en-US" sz="1400" dirty="0"/>
          </a:p>
          <a:p>
            <a:pPr marL="177800" indent="-177800">
              <a:spcAft>
                <a:spcPts val="900"/>
              </a:spcAft>
              <a:buSzPct val="100000"/>
              <a:buChar char="•"/>
            </a:pPr>
            <a:r>
              <a:rPr lang="en-US" sz="1400" dirty="0">
                <a:solidFill>
                  <a:schemeClr val="tx1"/>
                </a:solidFill>
              </a:rPr>
              <a:t>Microsoft's Spark assistant adds lake databases</a:t>
            </a:r>
            <a:endParaRPr lang="en-US" sz="1400" dirty="0"/>
          </a:p>
          <a:p>
            <a:pPr marL="177800" indent="-177800">
              <a:spcAft>
                <a:spcPts val="900"/>
              </a:spcAft>
              <a:buSzPct val="100000"/>
              <a:buChar char="•"/>
            </a:pPr>
            <a:r>
              <a:rPr lang="en-US" sz="1400" dirty="0">
                <a:solidFill>
                  <a:schemeClr val="tx1"/>
                </a:solidFill>
              </a:rPr>
              <a:t>Copilot in Fabric helps with one-off fixes after the run</a:t>
            </a:r>
            <a:endParaRPr lang="en-US" sz="1400" dirty="0"/>
          </a:p>
        </p:txBody>
      </p:sp>
      <p:sp>
        <p:nvSpPr>
          <p:cNvPr id="19" name="a4w-rec"/>
          <p:cNvSpPr/>
          <p:nvPr/>
        </p:nvSpPr>
        <p:spPr>
          <a:xfrm>
            <a:off x="548640" y="5285232"/>
            <a:ext cx="11094415" cy="868680"/>
          </a:xfrm>
          <a:prstGeom prst="roundRect">
            <a:avLst>
              <a:gd name="adj" fmla="val 12632"/>
            </a:avLst>
          </a:prstGeom>
          <a:solidFill>
            <a:schemeClr val="tx2"/>
          </a:solidFill>
          <a:ln/>
        </p:spPr>
      </p:sp>
      <p:sp>
        <p:nvSpPr>
          <p:cNvPr id="20" name="a4w-recc"/>
          <p:cNvSpPr/>
          <p:nvPr/>
        </p:nvSpPr>
        <p:spPr>
          <a:xfrm>
            <a:off x="777240" y="5449824"/>
            <a:ext cx="530352" cy="530352"/>
          </a:xfrm>
          <a:prstGeom prst="ellipse">
            <a:avLst/>
          </a:prstGeom>
          <a:solidFill>
            <a:schemeClr val="accent5"/>
          </a:solidFill>
          <a:ln/>
        </p:spPr>
      </p:sp>
      <p:pic>
        <p:nvPicPr>
          <p:cNvPr id="21" name="a4w-recci" descr="preencoded.png">    </p:cNvPr>
          <p:cNvPicPr>
            <a:picLocks noChangeAspect="1"/>
          </p:cNvPicPr>
          <p:nvPr/>
        </p:nvPicPr>
        <p:blipFill>
          <a:blip r:embed="rId4"/>
          <a:stretch>
            <a:fillRect/>
          </a:stretch>
        </p:blipFill>
        <p:spPr>
          <a:xfrm>
            <a:off x="909828" y="5582412"/>
            <a:ext cx="265176" cy="265176"/>
          </a:xfrm>
          <a:prstGeom prst="rect">
            <a:avLst/>
          </a:prstGeom>
        </p:spPr>
      </p:pic>
      <p:sp>
        <p:nvSpPr>
          <p:cNvPr id="22" name="a4w-rect"/>
          <p:cNvSpPr txBox="1"/>
          <p:nvPr/>
        </p:nvSpPr>
        <p:spPr>
          <a:xfrm>
            <a:off x="1554480" y="5285232"/>
            <a:ext cx="9859975" cy="868680"/>
          </a:xfrm>
          <a:prstGeom prst="rect">
            <a:avLst/>
          </a:prstGeom>
          <a:noFill/>
          <a:ln/>
        </p:spPr>
        <p:txBody>
          <a:bodyPr wrap="square" lIns="0" tIns="0" rIns="0" bIns="0" rtlCol="0" anchor="ctr"/>
          <a:lstStyle/>
          <a:p>
            <a:pPr indent="0" marL="0">
              <a:buNone/>
            </a:pPr>
            <a:r>
              <a:rPr lang="en-US" sz="1600" b="1" dirty="0">
                <a:solidFill>
                  <a:schemeClr val="accent5"/>
                </a:solidFill>
              </a:rPr>
              <a:t>Recommendation:  </a:t>
            </a:r>
            <a:pPr indent="0" marL="0">
              <a:buNone/>
            </a:pPr>
            <a:r>
              <a:rPr lang="en-US" sz="1600" dirty="0">
                <a:solidFill>
                  <a:schemeClr val="bg1"/>
                </a:solidFill>
              </a:rPr>
              <a:t>lead Synapse migrations with the accelerator, and use Microsoft's assistants for what it does not cover yet.</a:t>
            </a:r>
            <a:endParaRPr lang="en-US" sz="1600" dirty="0"/>
          </a:p>
        </p:txBody>
      </p:sp>
      <p:sp>
        <p:nvSpPr>
          <p:cNvPr id="25" name="Slide Number Placeholder 0"/>
          <p:cNvSpPr>
            <a:spLocks noGrp="1"/>
          </p:cNvSpPr>
          <p:nvPr>
            <p:ph type="sldNum" sz="quarter" idx="4294967295"/>
          </p:nvPr>
        </p:nvSpPr>
        <p:spPr>
          <a:xfrm>
            <a:off x="11109960" y="6428232"/>
            <a:ext cx="530352" cy="256032"/>
          </a:xfrm>
          <a:prstGeom prst="rect">
            <a:avLst/>
          </a:prstGeom>
          <a:extLst>
            <a:ext uri="{C572A759-6A51-4108-AA02-DFA0A04FC94B}">
              <ma14:wrappingTextBoxFlag xmlns:ma14="http://schemas.microsoft.com/office/mac/drawingml/2011/main" val="0"/>
            </a:ext>
          </a:extLst>
        </p:spPr>
        <p:txBody>
          <a:bodyPr lIns="0" tIns="0" rIns="0" bIns="0" anchor="t"/>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fill="hold"/>
                                        <p:tgtEl>
                                          <p:spTgt spid="4"/>
                                        </p:tgtEl>
                                        <p:attrNameLst>
                                          <p:attrName>ppt_x</p:attrName>
                                        </p:attrNameLst>
                                      </p:cBhvr>
                                      <p:tavLst>
                                        <p:tav tm="0">
                                          <p:val>
                                            <p:strVal val="#ppt_x"/>
                                          </p:val>
                                        </p:tav>
                                        <p:tav tm="100000">
                                          <p:val>
                                            <p:strVal val="#ppt_x"/>
                                          </p:val>
                                        </p:tav>
                                      </p:tavLst>
                                    </p:anim>
                                    <p:anim calcmode="lin" valueType="num">
                                      <p:cBhvr>
                                        <p:cTn id="9" dur="5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fill="hold"/>
                                        <p:tgtEl>
                                          <p:spTgt spid="5"/>
                                        </p:tgtEl>
                                        <p:attrNameLst>
                                          <p:attrName>ppt_x</p:attrName>
                                        </p:attrNameLst>
                                      </p:cBhvr>
                                      <p:tavLst>
                                        <p:tav tm="0">
                                          <p:val>
                                            <p:strVal val="#ppt_x"/>
                                          </p:val>
                                        </p:tav>
                                        <p:tav tm="100000">
                                          <p:val>
                                            <p:strVal val="#ppt_x"/>
                                          </p:val>
                                        </p:tav>
                                      </p:tavLst>
                                    </p:anim>
                                    <p:anim calcmode="lin" valueType="num">
                                      <p:cBhvr>
                                        <p:cTn id="14" dur="55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fill="hold"/>
                                        <p:tgtEl>
                                          <p:spTgt spid="6"/>
                                        </p:tgtEl>
                                        <p:attrNameLst>
                                          <p:attrName>ppt_x</p:attrName>
                                        </p:attrNameLst>
                                      </p:cBhvr>
                                      <p:tavLst>
                                        <p:tav tm="0">
                                          <p:val>
                                            <p:strVal val="#ppt_x"/>
                                          </p:val>
                                        </p:tav>
                                        <p:tav tm="100000">
                                          <p:val>
                                            <p:strVal val="#ppt_x"/>
                                          </p:val>
                                        </p:tav>
                                      </p:tavLst>
                                    </p:anim>
                                    <p:anim calcmode="lin" valueType="num">
                                      <p:cBhvr>
                                        <p:cTn id="19" dur="55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fill="hold"/>
                                        <p:tgtEl>
                                          <p:spTgt spid="7"/>
                                        </p:tgtEl>
                                        <p:attrNameLst>
                                          <p:attrName>ppt_x</p:attrName>
                                        </p:attrNameLst>
                                      </p:cBhvr>
                                      <p:tavLst>
                                        <p:tav tm="0">
                                          <p:val>
                                            <p:strVal val="#ppt_x"/>
                                          </p:val>
                                        </p:tav>
                                        <p:tav tm="100000">
                                          <p:val>
                                            <p:strVal val="#ppt_x"/>
                                          </p:val>
                                        </p:tav>
                                      </p:tavLst>
                                    </p:anim>
                                    <p:anim calcmode="lin" valueType="num">
                                      <p:cBhvr>
                                        <p:cTn id="24" dur="55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fill="hold"/>
                                        <p:tgtEl>
                                          <p:spTgt spid="8"/>
                                        </p:tgtEl>
                                        <p:attrNameLst>
                                          <p:attrName>ppt_x</p:attrName>
                                        </p:attrNameLst>
                                      </p:cBhvr>
                                      <p:tavLst>
                                        <p:tav tm="0">
                                          <p:val>
                                            <p:strVal val="#ppt_x"/>
                                          </p:val>
                                        </p:tav>
                                        <p:tav tm="100000">
                                          <p:val>
                                            <p:strVal val="#ppt_x"/>
                                          </p:val>
                                        </p:tav>
                                      </p:tavLst>
                                    </p:anim>
                                    <p:anim calcmode="lin" valueType="num">
                                      <p:cBhvr>
                                        <p:cTn id="29" dur="550" fill="hold"/>
                                        <p:tgtEl>
                                          <p:spTgt spid="8"/>
                                        </p:tgtEl>
                                        <p:attrNameLst>
                                          <p:attrName>ppt_y</p:attrName>
                                        </p:attrNameLst>
                                      </p:cBhvr>
                                      <p:tavLst>
                                        <p:tav tm="0">
                                          <p:val>
                                            <p:strVal val="#ppt_y+.1"/>
                                          </p:val>
                                        </p:tav>
                                        <p:tav tm="100000">
                                          <p:val>
                                            <p:strVal val="#ppt_y"/>
                                          </p:val>
                                        </p:tav>
                                      </p:tavLst>
                                    </p:anim>
                                  </p:childTnLst>
                                </p:cTn>
                              </p:par>
                            </p:childTnLst>
                          </p:cTn>
                        </p:par>
                        <p:par>
                          <p:cTn id="30" fill="hold">
                            <p:stCondLst>
                              <p:cond delay="550"/>
                            </p:stCondLst>
                            <p:childTnLst>
                              <p:par>
                                <p:cTn id="31" presetID="42"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50"/>
                                        <p:tgtEl>
                                          <p:spTgt spid="9"/>
                                        </p:tgtEl>
                                      </p:cBhvr>
                                    </p:animEffect>
                                    <p:anim calcmode="lin" valueType="num">
                                      <p:cBhvr>
                                        <p:cTn id="34" dur="550" fill="hold"/>
                                        <p:tgtEl>
                                          <p:spTgt spid="9"/>
                                        </p:tgtEl>
                                        <p:attrNameLst>
                                          <p:attrName>ppt_x</p:attrName>
                                        </p:attrNameLst>
                                      </p:cBhvr>
                                      <p:tavLst>
                                        <p:tav tm="0">
                                          <p:val>
                                            <p:strVal val="#ppt_x"/>
                                          </p:val>
                                        </p:tav>
                                        <p:tav tm="100000">
                                          <p:val>
                                            <p:strVal val="#ppt_x"/>
                                          </p:val>
                                        </p:tav>
                                      </p:tavLst>
                                    </p:anim>
                                    <p:anim calcmode="lin" valueType="num">
                                      <p:cBhvr>
                                        <p:cTn id="35" dur="550" fill="hold"/>
                                        <p:tgtEl>
                                          <p:spTgt spid="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50"/>
                                        <p:tgtEl>
                                          <p:spTgt spid="10"/>
                                        </p:tgtEl>
                                      </p:cBhvr>
                                    </p:animEffect>
                                    <p:anim calcmode="lin" valueType="num">
                                      <p:cBhvr>
                                        <p:cTn id="39" dur="550" fill="hold"/>
                                        <p:tgtEl>
                                          <p:spTgt spid="10"/>
                                        </p:tgtEl>
                                        <p:attrNameLst>
                                          <p:attrName>ppt_x</p:attrName>
                                        </p:attrNameLst>
                                      </p:cBhvr>
                                      <p:tavLst>
                                        <p:tav tm="0">
                                          <p:val>
                                            <p:strVal val="#ppt_x"/>
                                          </p:val>
                                        </p:tav>
                                        <p:tav tm="100000">
                                          <p:val>
                                            <p:strVal val="#ppt_x"/>
                                          </p:val>
                                        </p:tav>
                                      </p:tavLst>
                                    </p:anim>
                                    <p:anim calcmode="lin" valueType="num">
                                      <p:cBhvr>
                                        <p:cTn id="40" dur="550" fill="hold"/>
                                        <p:tgtEl>
                                          <p:spTgt spid="10"/>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50"/>
                                        <p:tgtEl>
                                          <p:spTgt spid="11"/>
                                        </p:tgtEl>
                                      </p:cBhvr>
                                    </p:animEffect>
                                    <p:anim calcmode="lin" valueType="num">
                                      <p:cBhvr>
                                        <p:cTn id="44" dur="550" fill="hold"/>
                                        <p:tgtEl>
                                          <p:spTgt spid="11"/>
                                        </p:tgtEl>
                                        <p:attrNameLst>
                                          <p:attrName>ppt_x</p:attrName>
                                        </p:attrNameLst>
                                      </p:cBhvr>
                                      <p:tavLst>
                                        <p:tav tm="0">
                                          <p:val>
                                            <p:strVal val="#ppt_x"/>
                                          </p:val>
                                        </p:tav>
                                        <p:tav tm="100000">
                                          <p:val>
                                            <p:strVal val="#ppt_x"/>
                                          </p:val>
                                        </p:tav>
                                      </p:tavLst>
                                    </p:anim>
                                    <p:anim calcmode="lin" valueType="num">
                                      <p:cBhvr>
                                        <p:cTn id="45" dur="55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50"/>
                                        <p:tgtEl>
                                          <p:spTgt spid="12"/>
                                        </p:tgtEl>
                                      </p:cBhvr>
                                    </p:animEffect>
                                    <p:anim calcmode="lin" valueType="num">
                                      <p:cBhvr>
                                        <p:cTn id="49" dur="550" fill="hold"/>
                                        <p:tgtEl>
                                          <p:spTgt spid="12"/>
                                        </p:tgtEl>
                                        <p:attrNameLst>
                                          <p:attrName>ppt_x</p:attrName>
                                        </p:attrNameLst>
                                      </p:cBhvr>
                                      <p:tavLst>
                                        <p:tav tm="0">
                                          <p:val>
                                            <p:strVal val="#ppt_x"/>
                                          </p:val>
                                        </p:tav>
                                        <p:tav tm="100000">
                                          <p:val>
                                            <p:strVal val="#ppt_x"/>
                                          </p:val>
                                        </p:tav>
                                      </p:tavLst>
                                    </p:anim>
                                    <p:anim calcmode="lin" valueType="num">
                                      <p:cBhvr>
                                        <p:cTn id="50" dur="55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50"/>
                                        <p:tgtEl>
                                          <p:spTgt spid="13"/>
                                        </p:tgtEl>
                                      </p:cBhvr>
                                    </p:animEffect>
                                    <p:anim calcmode="lin" valueType="num">
                                      <p:cBhvr>
                                        <p:cTn id="54" dur="550" fill="hold"/>
                                        <p:tgtEl>
                                          <p:spTgt spid="13"/>
                                        </p:tgtEl>
                                        <p:attrNameLst>
                                          <p:attrName>ppt_x</p:attrName>
                                        </p:attrNameLst>
                                      </p:cBhvr>
                                      <p:tavLst>
                                        <p:tav tm="0">
                                          <p:val>
                                            <p:strVal val="#ppt_x"/>
                                          </p:val>
                                        </p:tav>
                                        <p:tav tm="100000">
                                          <p:val>
                                            <p:strVal val="#ppt_x"/>
                                          </p:val>
                                        </p:tav>
                                      </p:tavLst>
                                    </p:anim>
                                    <p:anim calcmode="lin" valueType="num">
                                      <p:cBhvr>
                                        <p:cTn id="55" dur="550" fill="hold"/>
                                        <p:tgtEl>
                                          <p:spTgt spid="13"/>
                                        </p:tgtEl>
                                        <p:attrNameLst>
                                          <p:attrName>ppt_y</p:attrName>
                                        </p:attrNameLst>
                                      </p:cBhvr>
                                      <p:tavLst>
                                        <p:tav tm="0">
                                          <p:val>
                                            <p:strVal val="#ppt_y+.1"/>
                                          </p:val>
                                        </p:tav>
                                        <p:tav tm="100000">
                                          <p:val>
                                            <p:strVal val="#ppt_y"/>
                                          </p:val>
                                        </p:tav>
                                      </p:tavLst>
                                    </p:anim>
                                  </p:childTnLst>
                                </p:cTn>
                              </p:par>
                            </p:childTnLst>
                          </p:cTn>
                        </p:par>
                        <p:par>
                          <p:cTn id="56" fill="hold">
                            <p:stCondLst>
                              <p:cond delay="1100"/>
                            </p:stCondLst>
                            <p:childTnLst>
                              <p:par>
                                <p:cTn id="57" presetID="42"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50"/>
                                        <p:tgtEl>
                                          <p:spTgt spid="14"/>
                                        </p:tgtEl>
                                      </p:cBhvr>
                                    </p:animEffect>
                                    <p:anim calcmode="lin" valueType="num">
                                      <p:cBhvr>
                                        <p:cTn id="60" dur="550" fill="hold"/>
                                        <p:tgtEl>
                                          <p:spTgt spid="14"/>
                                        </p:tgtEl>
                                        <p:attrNameLst>
                                          <p:attrName>ppt_x</p:attrName>
                                        </p:attrNameLst>
                                      </p:cBhvr>
                                      <p:tavLst>
                                        <p:tav tm="0">
                                          <p:val>
                                            <p:strVal val="#ppt_x"/>
                                          </p:val>
                                        </p:tav>
                                        <p:tav tm="100000">
                                          <p:val>
                                            <p:strVal val="#ppt_x"/>
                                          </p:val>
                                        </p:tav>
                                      </p:tavLst>
                                    </p:anim>
                                    <p:anim calcmode="lin" valueType="num">
                                      <p:cBhvr>
                                        <p:cTn id="61" dur="550" fill="hold"/>
                                        <p:tgtEl>
                                          <p:spTgt spid="14"/>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50"/>
                                        <p:tgtEl>
                                          <p:spTgt spid="15"/>
                                        </p:tgtEl>
                                      </p:cBhvr>
                                    </p:animEffect>
                                    <p:anim calcmode="lin" valueType="num">
                                      <p:cBhvr>
                                        <p:cTn id="65" dur="550" fill="hold"/>
                                        <p:tgtEl>
                                          <p:spTgt spid="15"/>
                                        </p:tgtEl>
                                        <p:attrNameLst>
                                          <p:attrName>ppt_x</p:attrName>
                                        </p:attrNameLst>
                                      </p:cBhvr>
                                      <p:tavLst>
                                        <p:tav tm="0">
                                          <p:val>
                                            <p:strVal val="#ppt_x"/>
                                          </p:val>
                                        </p:tav>
                                        <p:tav tm="100000">
                                          <p:val>
                                            <p:strVal val="#ppt_x"/>
                                          </p:val>
                                        </p:tav>
                                      </p:tavLst>
                                    </p:anim>
                                    <p:anim calcmode="lin" valueType="num">
                                      <p:cBhvr>
                                        <p:cTn id="66" dur="550" fill="hold"/>
                                        <p:tgtEl>
                                          <p:spTgt spid="15"/>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50"/>
                                        <p:tgtEl>
                                          <p:spTgt spid="16"/>
                                        </p:tgtEl>
                                      </p:cBhvr>
                                    </p:animEffect>
                                    <p:anim calcmode="lin" valueType="num">
                                      <p:cBhvr>
                                        <p:cTn id="70" dur="550" fill="hold"/>
                                        <p:tgtEl>
                                          <p:spTgt spid="16"/>
                                        </p:tgtEl>
                                        <p:attrNameLst>
                                          <p:attrName>ppt_x</p:attrName>
                                        </p:attrNameLst>
                                      </p:cBhvr>
                                      <p:tavLst>
                                        <p:tav tm="0">
                                          <p:val>
                                            <p:strVal val="#ppt_x"/>
                                          </p:val>
                                        </p:tav>
                                        <p:tav tm="100000">
                                          <p:val>
                                            <p:strVal val="#ppt_x"/>
                                          </p:val>
                                        </p:tav>
                                      </p:tavLst>
                                    </p:anim>
                                    <p:anim calcmode="lin" valueType="num">
                                      <p:cBhvr>
                                        <p:cTn id="71" dur="550" fill="hold"/>
                                        <p:tgtEl>
                                          <p:spTgt spid="16"/>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550"/>
                                        <p:tgtEl>
                                          <p:spTgt spid="17"/>
                                        </p:tgtEl>
                                      </p:cBhvr>
                                    </p:animEffect>
                                    <p:anim calcmode="lin" valueType="num">
                                      <p:cBhvr>
                                        <p:cTn id="75" dur="550" fill="hold"/>
                                        <p:tgtEl>
                                          <p:spTgt spid="17"/>
                                        </p:tgtEl>
                                        <p:attrNameLst>
                                          <p:attrName>ppt_x</p:attrName>
                                        </p:attrNameLst>
                                      </p:cBhvr>
                                      <p:tavLst>
                                        <p:tav tm="0">
                                          <p:val>
                                            <p:strVal val="#ppt_x"/>
                                          </p:val>
                                        </p:tav>
                                        <p:tav tm="100000">
                                          <p:val>
                                            <p:strVal val="#ppt_x"/>
                                          </p:val>
                                        </p:tav>
                                      </p:tavLst>
                                    </p:anim>
                                    <p:anim calcmode="lin" valueType="num">
                                      <p:cBhvr>
                                        <p:cTn id="76" dur="550" fill="hold"/>
                                        <p:tgtEl>
                                          <p:spTgt spid="17"/>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550"/>
                                        <p:tgtEl>
                                          <p:spTgt spid="18"/>
                                        </p:tgtEl>
                                      </p:cBhvr>
                                    </p:animEffect>
                                    <p:anim calcmode="lin" valueType="num">
                                      <p:cBhvr>
                                        <p:cTn id="80" dur="550" fill="hold"/>
                                        <p:tgtEl>
                                          <p:spTgt spid="18"/>
                                        </p:tgtEl>
                                        <p:attrNameLst>
                                          <p:attrName>ppt_x</p:attrName>
                                        </p:attrNameLst>
                                      </p:cBhvr>
                                      <p:tavLst>
                                        <p:tav tm="0">
                                          <p:val>
                                            <p:strVal val="#ppt_x"/>
                                          </p:val>
                                        </p:tav>
                                        <p:tav tm="100000">
                                          <p:val>
                                            <p:strVal val="#ppt_x"/>
                                          </p:val>
                                        </p:tav>
                                      </p:tavLst>
                                    </p:anim>
                                    <p:anim calcmode="lin" valueType="num">
                                      <p:cBhvr>
                                        <p:cTn id="81" dur="550" fill="hold"/>
                                        <p:tgtEl>
                                          <p:spTgt spid="18"/>
                                        </p:tgtEl>
                                        <p:attrNameLst>
                                          <p:attrName>ppt_y</p:attrName>
                                        </p:attrNameLst>
                                      </p:cBhvr>
                                      <p:tavLst>
                                        <p:tav tm="0">
                                          <p:val>
                                            <p:strVal val="#ppt_y+.1"/>
                                          </p:val>
                                        </p:tav>
                                        <p:tav tm="100000">
                                          <p:val>
                                            <p:strVal val="#ppt_y"/>
                                          </p:val>
                                        </p:tav>
                                      </p:tavLst>
                                    </p:anim>
                                  </p:childTnLst>
                                </p:cTn>
                              </p:par>
                            </p:childTnLst>
                          </p:cTn>
                        </p:par>
                        <p:par>
                          <p:cTn id="82" fill="hold">
                            <p:stCondLst>
                              <p:cond delay="1650"/>
                            </p:stCondLst>
                            <p:childTnLst>
                              <p:par>
                                <p:cTn id="83" presetID="22" presetClass="entr" presetSubtype="8" fill="hold" grpId="0" nodeType="after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wipe(left)">
                                      <p:cBhvr>
                                        <p:cTn id="85" dur="500"/>
                                        <p:tgtEl>
                                          <p:spTgt spid="19"/>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500"/>
                                        <p:tgtEl>
                                          <p:spTgt spid="20"/>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wipe(left)">
                                      <p:cBhvr>
                                        <p:cTn id="91" dur="500"/>
                                        <p:tgtEl>
                                          <p:spTgt spid="21"/>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wipe(left)">
                                      <p:cBhvr>
                                        <p:cTn id="9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6766560" cy="1645920"/>
          </a:xfrm>
          <a:prstGeom prst="rect">
            <a:avLst/>
          </a:prstGeom>
          <a:noFill/>
          <a:ln/>
        </p:spPr>
        <p:txBody>
          <a:bodyPr wrap="square" lIns="0" tIns="0" rIns="0" bIns="0" rtlCol="0" anchor="b"/>
          <a:lstStyle/>
          <a:p>
            <a:pPr algn="l" indent="0" marL="0">
              <a:buNone/>
            </a:pPr>
            <a:r>
              <a:rPr lang="en-US" sz="4200" dirty="0">
                <a:solidFill>
                  <a:schemeClr val="bg1"/>
                </a:solidFill>
              </a:rPr>
              <a:t>Questions?</a:t>
            </a:r>
            <a:endParaRPr lang="en-US" sz="4200" dirty="0"/>
          </a:p>
        </p:txBody>
      </p:sp>
      <p:sp>
        <p:nvSpPr>
          <p:cNvPr id="3" name="Text 0"/>
          <p:cNvSpPr/>
          <p:nvPr>
            <p:ph idx="101" type="body" hasCustomPrompt="1"/>
          </p:nvPr>
        </p:nvSpPr>
        <p:spPr>
          <a:xfrm>
            <a:off x="731520" y="3931920"/>
            <a:ext cx="6766560" cy="868680"/>
          </a:xfrm>
          <a:prstGeom prst="rect">
            <a:avLst/>
          </a:prstGeom>
          <a:noFill/>
          <a:ln/>
        </p:spPr>
        <p:txBody>
          <a:bodyPr wrap="square" lIns="0" tIns="0" rIns="0" bIns="0" rtlCol="0" anchor="t"/>
          <a:lstStyle/>
          <a:p>
            <a:pPr indent="0" marL="0">
              <a:buNone/>
            </a:pPr>
            <a:r>
              <a:rPr lang="en-US" sz="2000" dirty="0">
                <a:solidFill>
                  <a:schemeClr val="accent5"/>
                </a:solidFill>
              </a:rPr>
              <a:t>Thank you</a:t>
            </a:r>
            <a:endParaRPr lang="en-US" sz="2000" dirty="0"/>
          </a:p>
        </p:txBody>
      </p:sp>
      <p:sp>
        <p:nvSpPr>
          <p:cNvPr id="4" name="a1f-src"/>
          <p:cNvSpPr/>
          <p:nvPr/>
        </p:nvSpPr>
        <p:spPr>
          <a:xfrm>
            <a:off x="7635240" y="1143000"/>
            <a:ext cx="4023360" cy="3840480"/>
          </a:xfrm>
          <a:prstGeom prst="roundRect">
            <a:avLst>
              <a:gd name="adj" fmla="val 2857"/>
            </a:avLst>
          </a:prstGeom>
          <a:solidFill>
            <a:schemeClr val="bg1">
              <a:alpha val="7000"/>
            </a:schemeClr>
          </a:solidFill>
          <a:ln/>
        </p:spPr>
      </p:sp>
      <p:sp>
        <p:nvSpPr>
          <p:cNvPr id="5" name="a1f-srch"/>
          <p:cNvSpPr txBox="1"/>
          <p:nvPr/>
        </p:nvSpPr>
        <p:spPr>
          <a:xfrm>
            <a:off x="7909560" y="1280160"/>
            <a:ext cx="3474720" cy="365760"/>
          </a:xfrm>
          <a:prstGeom prst="rect">
            <a:avLst/>
          </a:prstGeom>
          <a:noFill/>
          <a:ln/>
        </p:spPr>
        <p:txBody>
          <a:bodyPr wrap="square" lIns="0" tIns="0" rIns="0" bIns="0" rtlCol="0" anchor="t"/>
          <a:lstStyle/>
          <a:p>
            <a:pPr indent="0" marL="0">
              <a:buNone/>
            </a:pPr>
            <a:r>
              <a:rPr lang="en-US" sz="1600" dirty="0">
                <a:solidFill>
                  <a:schemeClr val="accent5"/>
                </a:solidFill>
                <a:latin typeface="+mj-lt" pitchFamily="34" charset="0"/>
                <a:ea typeface="+mj-lt" pitchFamily="34" charset="-122"/>
                <a:cs typeface="+mj-lt" pitchFamily="34" charset="-120"/>
              </a:rPr>
              <a:t>Sources</a:t>
            </a:r>
            <a:endParaRPr lang="en-US" sz="1600" dirty="0"/>
          </a:p>
        </p:txBody>
      </p:sp>
      <p:sp>
        <p:nvSpPr>
          <p:cNvPr id="6" name="a1f-srcb"/>
          <p:cNvSpPr txBox="1"/>
          <p:nvPr/>
        </p:nvSpPr>
        <p:spPr>
          <a:xfrm>
            <a:off x="7909560" y="1737360"/>
            <a:ext cx="3520440" cy="3611880"/>
          </a:xfrm>
          <a:prstGeom prst="rect">
            <a:avLst/>
          </a:prstGeom>
          <a:noFill/>
          <a:ln/>
        </p:spPr>
        <p:txBody>
          <a:bodyPr wrap="square" lIns="0" tIns="0" rIns="0" bIns="0" rtlCol="0" anchor="t"/>
          <a:lstStyle/>
          <a:p>
            <a:pPr indent="0" marL="0">
              <a:buNone/>
            </a:pPr>
            <a:r>
              <a:rPr lang="en-US" sz="1200" b="1" dirty="0">
                <a:solidFill>
                  <a:schemeClr val="bg1"/>
                </a:solidFill>
              </a:rPr>
              <a:t>Microsoft Learn (Sept–Oct 2026)</a:t>
            </a:r>
            <a:endParaRPr lang="en-US" sz="1200" dirty="0"/>
          </a:p>
          <a:p>
            <a:pPr marL="152400" indent="-152400">
              <a:buSzPct val="100000"/>
              <a:buChar char="•"/>
            </a:pPr>
            <a:r>
              <a:rPr lang="en-US" sz="1200" dirty="0">
                <a:solidFill>
                  <a:srgbClr val="C9D4E5"/>
                </a:solidFill>
              </a:rPr>
              <a:t>Migration Assistant for Fabric Data Warehouse</a:t>
            </a:r>
            <a:endParaRPr lang="en-US" sz="1200" dirty="0"/>
          </a:p>
          <a:p>
            <a:pPr marL="152400" indent="-152400">
              <a:buSzPct val="100000"/>
              <a:buChar char="•"/>
            </a:pPr>
            <a:r>
              <a:rPr lang="en-US" sz="1200" dirty="0">
                <a:solidFill>
                  <a:srgbClr val="C9D4E5"/>
                </a:solidFill>
              </a:rPr>
              <a:t>Migrate by uploading a file / by connecting to the source</a:t>
            </a:r>
            <a:endParaRPr lang="en-US" sz="1200" dirty="0"/>
          </a:p>
          <a:p>
            <a:pPr marL="152400" indent="-152400">
              <a:buSzPct val="100000"/>
              <a:buChar char="•"/>
            </a:pPr>
            <a:r>
              <a:rPr lang="en-US" sz="1200" dirty="0">
                <a:solidFill>
                  <a:srgbClr val="C9D4E5"/>
                </a:solidFill>
              </a:rPr>
              <a:t>Migrate Spark workloads from Azure Synapse (preview)</a:t>
            </a:r>
            <a:endParaRPr lang="en-US" sz="1200" dirty="0"/>
          </a:p>
          <a:p>
            <a:pPr marL="152400" indent="-152400">
              <a:buSzPct val="100000"/>
              <a:buChar char="•"/>
            </a:pPr>
            <a:r>
              <a:rPr lang="en-US" sz="1200" dirty="0">
                <a:solidFill>
                  <a:srgbClr val="C9D4E5"/>
                </a:solidFill>
              </a:rPr>
              <a:t>Upgrade Azure Synapse pipelines to Fabric Data Factory (preview)</a:t>
            </a:r>
            <a:endParaRPr lang="en-US" sz="1200" dirty="0"/>
          </a:p>
          <a:p>
            <a:pPr marL="152400" indent="-152400">
              <a:buSzPct val="100000"/>
              <a:buChar char="•"/>
            </a:pPr>
            <a:r>
              <a:rPr lang="en-US" sz="1200" dirty="0">
                <a:solidFill>
                  <a:srgbClr val="C9D4E5"/>
                </a:solidFill>
              </a:rPr>
              <a:t>Upgrade planning: Azure Data Factory to Fabric</a:t>
            </a:r>
            <a:endParaRPr lang="en-US" sz="1200" dirty="0"/>
          </a:p>
          <a:p>
            <a:pPr indent="0" marL="0">
              <a:spcBef>
                <a:spcPts val="1000"/>
              </a:spcBef>
              <a:buNone/>
            </a:pPr>
            <a:r>
              <a:rPr lang="en-US" sz="1200" b="1" dirty="0">
                <a:solidFill>
                  <a:schemeClr val="bg1"/>
                </a:solidFill>
              </a:rPr>
              <a:t>GitHub: microsoft/skills-for-fabric</a:t>
            </a:r>
            <a:endParaRPr lang="en-US" sz="1200" dirty="0"/>
          </a:p>
          <a:p>
            <a:pPr marL="152400" indent="-152400">
              <a:buSzPct val="100000"/>
              <a:buChar char="•"/>
            </a:pPr>
            <a:r>
              <a:rPr lang="en-US" sz="1200" dirty="0">
                <a:solidFill>
                  <a:srgbClr val="C9D4E5"/>
                </a:solidFill>
              </a:rPr>
              <a:t>synapse-migration and pipeline-migration skills</a:t>
            </a:r>
            <a:endParaRPr lang="en-US" sz="1200" dirty="0"/>
          </a:p>
          <a:p>
            <a:pPr indent="0" marL="0">
              <a:spcBef>
                <a:spcPts val="1000"/>
              </a:spcBef>
              <a:buNone/>
            </a:pPr>
            <a:r>
              <a:rPr lang="en-US" sz="1200" b="1" dirty="0">
                <a:solidFill>
                  <a:schemeClr val="bg1"/>
                </a:solidFill>
              </a:rPr>
              <a:t>This accelerator</a:t>
            </a:r>
            <a:endParaRPr lang="en-US" sz="1200" dirty="0"/>
          </a:p>
          <a:p>
            <a:pPr marL="152400" indent="-152400">
              <a:buSzPct val="100000"/>
              <a:buChar char="•"/>
            </a:pPr>
            <a:r>
              <a:rPr lang="en-US" sz="1200" dirty="0">
                <a:solidFill>
                  <a:srgbClr val="C9D4E5"/>
                </a:solidFill>
              </a:rPr>
              <a:t>README and source code, branch Rasool, commit c0d16de</a:t>
            </a:r>
            <a:endParaRPr lang="en-US" sz="12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theme/theme1.xml><?xml version="1.0" encoding="utf-8"?>
<a:theme xmlns:a="http://schemas.openxmlformats.org/drawingml/2006/main" name="Synapse to Fabric">
  <a:themeElements>
    <a:clrScheme name="Synapse to Fabric">
      <a:dk1>
        <a:srgbClr val="1B2333"/>
      </a:dk1>
      <a:lt1>
        <a:srgbClr val="FFFFFF"/>
      </a:lt1>
      <a:dk2>
        <a:srgbClr val="0B2545"/>
      </a:dk2>
      <a:lt2>
        <a:srgbClr val="EEF3F7"/>
      </a:lt2>
      <a:accent1>
        <a:srgbClr val="0B7F70"/>
      </a:accent1>
      <a:accent2>
        <a:srgbClr val="4157D6"/>
      </a:accent2>
      <a:accent3>
        <a:srgbClr val="C77C0E"/>
      </a:accent3>
      <a:accent4>
        <a:srgbClr val="C8404F"/>
      </a:accent4>
      <a:accent5>
        <a:srgbClr val="2BB7A3"/>
      </a:accent5>
      <a:accent6>
        <a:srgbClr val="5D6B82"/>
      </a:accent6>
      <a:hlink>
        <a:srgbClr val="1F6FB2"/>
      </a:hlink>
      <a:folHlink>
        <a:srgbClr val="6B4FA0"/>
      </a:folHlink>
    </a:clrScheme>
    <a:fontScheme name="Synapse to Fabric">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Synapse to Fabric Migration Accelerator vs Microsoft Fabric Migration Assistant</dc:title>
  <dc:subject>Feature comparison</dc:subject>
  <dc:creator>Synapse to Fabric Migration Accelerator team</dc:creator>
  <cp:lastModifiedBy>Synapse to Fabric Migration Accelerator team</cp:lastModifiedBy>
  <cp:revision>1</cp:revision>
  <dcterms:created xsi:type="dcterms:W3CDTF">2026-10-14T05:48:56Z</dcterms:created>
  <dcterms:modified xsi:type="dcterms:W3CDTF">2026-10-14T05:48:56Z</dcterms:modified>
</cp:coreProperties>
</file>