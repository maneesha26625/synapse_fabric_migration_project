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1fca8ec-1548-3174-d8de-f6d28010ada2}">
          <p14:sldIdLst>
            <p14:sldId id="256"/>
            <p14:sldId id="257"/>
            <p14:sldId id="258"/>
          </p14:sldIdLst>
        </p14:section>
        <p14:section name="Item by item" id="{a31b0647-22f1-c17c-ae75-62503881705c}">
          <p14:sldIdLst>
            <p14:sldId id="259"/>
            <p14:sldId id="260"/>
            <p14:sldId id="261"/>
            <p14:sldId id="262"/>
            <p14:sldId id="263"/>
            <p14:sldId id="264"/>
          </p14:sldIdLst>
        </p14:section>
        <p14:section name="Summary" id="{84001c8b-0710-0c0c-2d0c-5c57b348e7f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Spark only. The SQL and pipeline side is compared with the Fabric Migration Assistant in a separate deck. Source for the assistant: Microsoft Learn, 'Migrate Spark workloads from Azure Synapse Analytics to Microsoft Fabric' (public preview, 2026-08-04).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for the audience: we convert, we check first, and we prove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pitch: each card is something the accelerator does on Spark items beyond creating them in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items both tools migrate, we do more on each. Libraries, Spark configuration and executor settings: the assistant's page says it doesn't migrate them in the preview; we discover them and keep what Fabric can take. Lake databases are on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direction, different depth: the assistant migrates in one step; we have four steps before anything is written and one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create a pool plus an Environment. Ours is explicit about every setting and notes what it changed on the migrated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Rewrites are mechanical and each is noted on the notebook. Anything that would need a guess is flagged, not rewritten. The storage path goes through a OneLake shortcut named after the container. Today the pool binding is dropped and the notebook runs on the workspace default; binding it to its Environment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job's main file builds its own storage paths, so rewriting the job definition alone isn't enough. We copy the file into the run's Lakehouse with the paths rewritten and point the Fabric job at the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Arriving isn't working: our Validate step judges notebooks and Spark jobs by whether they actually run in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to leave on screen for questions. 'Not described' means the assistant's page doesn't say; it isn't a claim that it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roadmap: two items bring us level with the assistant on coverage, two take us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86200"/>
            <a:ext cx="106984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Title Only">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accent4"/>
                </a:solidFill>
              </a:rPr>
              <a:t>Spark workloads only  ·  our accelerator compared with Microsoft's Spark Migration Assistant (preview, Aug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algn="l" indent="0" marL="0">
              <a:buNone/>
            </a:pPr>
            <a:r>
              <a:rPr lang="en-US" sz="4000" b="1" dirty="0">
                <a:solidFill>
                  <a:schemeClr val="bg1"/>
                </a:solidFill>
              </a:rPr>
              <a:t>Spark migration, converted and proven: our accelerator vs Microsoft's Spark Migration Assistant</a:t>
            </a:r>
            <a:endParaRPr lang="en-US" sz="4000" dirty="0"/>
          </a:p>
        </p:txBody>
      </p:sp>
      <p:sp>
        <p:nvSpPr>
          <p:cNvPr id="3" name="Text 0"/>
          <p:cNvSpPr/>
          <p:nvPr>
            <p:ph idx="101" type="body" hasCustomPrompt="1"/>
          </p:nvPr>
        </p:nvSpPr>
        <p:spPr>
          <a:xfrm>
            <a:off x="731520" y="3886200"/>
            <a:ext cx="10698480" cy="1097280"/>
          </a:xfrm>
          <a:prstGeom prst="rect">
            <a:avLst/>
          </a:prstGeom>
          <a:noFill/>
          <a:ln/>
        </p:spPr>
        <p:txBody>
          <a:bodyPr wrap="square" lIns="0" tIns="0" rIns="0" bIns="0" rtlCol="0" anchor="t"/>
          <a:lstStyle/>
          <a:p>
            <a:pPr algn="l" indent="0" marL="0">
              <a:buNone/>
            </a:pPr>
            <a:r>
              <a:rPr lang="en-US" sz="2000" dirty="0">
                <a:solidFill>
                  <a:schemeClr val="bg2"/>
                </a:solidFill>
              </a:rPr>
              <a:t>Spark pools, notebooks and Spark job definitions, from Synapse to Fabric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short version</a:t>
            </a:r>
            <a:endParaRPr lang="en-US" sz="3400" dirty="0"/>
          </a:p>
        </p:txBody>
      </p:sp>
      <p:sp>
        <p:nvSpPr>
          <p:cNvPr id="3" name="Takeaway 1 card"/>
          <p:cNvSpPr/>
          <p:nvPr/>
        </p:nvSpPr>
        <p:spPr>
          <a:xfrm>
            <a:off x="548640" y="1463040"/>
            <a:ext cx="3520440" cy="3931920"/>
          </a:xfrm>
          <a:prstGeom prst="roundRect">
            <a:avLst>
              <a:gd name="adj" fmla="val 3117"/>
            </a:avLst>
          </a:prstGeom>
          <a:solidFill>
            <a:schemeClr val="bg2"/>
          </a:solidFill>
          <a:ln w="12700">
            <a:solidFill>
              <a:schemeClr val="bg2"/>
            </a:solidFill>
            <a:prstDash val="solid"/>
          </a:ln>
        </p:spPr>
      </p:sp>
      <p:sp>
        <p:nvSpPr>
          <p:cNvPr id="4" name="Takeaway 1 circle"/>
          <p:cNvSpPr/>
          <p:nvPr/>
        </p:nvSpPr>
        <p:spPr>
          <a:xfrm>
            <a:off x="914400" y="1783080"/>
            <a:ext cx="777240" cy="777240"/>
          </a:xfrm>
          <a:prstGeom prst="ellipse">
            <a:avLst/>
          </a:prstGeom>
          <a:solidFill>
            <a:schemeClr val="accent1"/>
          </a:solidFill>
          <a:ln w="12700">
            <a:solidFill>
              <a:schemeClr val="accent1"/>
            </a:solidFill>
            <a:prstDash val="solid"/>
          </a:ln>
        </p:spPr>
      </p:sp>
      <p:pic>
        <p:nvPicPr>
          <p:cNvPr id="5" name="Takeaway 1 icon" descr="preencoded.png">    </p:cNvPr>
          <p:cNvPicPr>
            <a:picLocks noChangeAspect="1"/>
          </p:cNvPicPr>
          <p:nvPr/>
        </p:nvPicPr>
        <p:blipFill>
          <a:blip r:embed="rId1"/>
          <a:stretch>
            <a:fillRect/>
          </a:stretch>
        </p:blipFill>
        <p:spPr>
          <a:xfrm>
            <a:off x="1108710" y="1977390"/>
            <a:ext cx="388620" cy="388620"/>
          </a:xfrm>
          <a:prstGeom prst="rect">
            <a:avLst/>
          </a:prstGeom>
        </p:spPr>
      </p:pic>
      <p:sp>
        <p:nvSpPr>
          <p:cNvPr id="6" name="Text 3"/>
          <p:cNvSpPr txBox="1"/>
          <p:nvPr/>
        </p:nvSpPr>
        <p:spPr>
          <a:xfrm>
            <a:off x="914400" y="2788920"/>
            <a:ext cx="288036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Converts the code</a:t>
            </a:r>
            <a:endParaRPr lang="en-US" sz="2200" dirty="0"/>
          </a:p>
        </p:txBody>
      </p:sp>
      <p:sp>
        <p:nvSpPr>
          <p:cNvPr id="7" name="Text 4"/>
          <p:cNvSpPr txBox="1"/>
          <p:nvPr/>
        </p:nvSpPr>
        <p:spPr>
          <a:xfrm>
            <a:off x="914400" y="3383280"/>
            <a:ext cx="2834640" cy="1828800"/>
          </a:xfrm>
          <a:prstGeom prst="rect">
            <a:avLst/>
          </a:prstGeom>
          <a:noFill/>
          <a:ln/>
        </p:spPr>
        <p:txBody>
          <a:bodyPr wrap="square" lIns="0" tIns="0" rIns="0" bIns="0" rtlCol="0" anchor="t"/>
          <a:lstStyle/>
          <a:p>
            <a:pPr indent="0" marL="0">
              <a:buNone/>
            </a:pPr>
            <a:r>
              <a:rPr lang="en-US" sz="1600" dirty="0">
                <a:solidFill>
                  <a:schemeClr val="tx1"/>
                </a:solidFill>
              </a:rPr>
              <a:t>Notebooks and job files are rewritten for Fabric, storage paths go through OneLake, and anything that needs a person is flagged.</a:t>
            </a:r>
            <a:endParaRPr lang="en-US" sz="1600" dirty="0"/>
          </a:p>
        </p:txBody>
      </p:sp>
      <p:sp>
        <p:nvSpPr>
          <p:cNvPr id="8" name="Takeaway 2 card"/>
          <p:cNvSpPr/>
          <p:nvPr/>
        </p:nvSpPr>
        <p:spPr>
          <a:xfrm>
            <a:off x="4343400" y="1463040"/>
            <a:ext cx="3520440" cy="3931920"/>
          </a:xfrm>
          <a:prstGeom prst="roundRect">
            <a:avLst>
              <a:gd name="adj" fmla="val 3117"/>
            </a:avLst>
          </a:prstGeom>
          <a:solidFill>
            <a:schemeClr val="bg2"/>
          </a:solidFill>
          <a:ln w="12700">
            <a:solidFill>
              <a:schemeClr val="bg2"/>
            </a:solidFill>
            <a:prstDash val="solid"/>
          </a:ln>
        </p:spPr>
      </p:sp>
      <p:sp>
        <p:nvSpPr>
          <p:cNvPr id="9" name="Takeaway 2 circle"/>
          <p:cNvSpPr/>
          <p:nvPr/>
        </p:nvSpPr>
        <p:spPr>
          <a:xfrm>
            <a:off x="4709160" y="1783080"/>
            <a:ext cx="777240" cy="777240"/>
          </a:xfrm>
          <a:prstGeom prst="ellipse">
            <a:avLst/>
          </a:prstGeom>
          <a:solidFill>
            <a:schemeClr val="accent1"/>
          </a:solidFill>
          <a:ln w="12700">
            <a:solidFill>
              <a:schemeClr val="accent1"/>
            </a:solidFill>
            <a:prstDash val="solid"/>
          </a:ln>
        </p:spPr>
      </p:sp>
      <p:pic>
        <p:nvPicPr>
          <p:cNvPr id="10" name="Takeaway 2 icon" descr="preencoded.png">    </p:cNvPr>
          <p:cNvPicPr>
            <a:picLocks noChangeAspect="1"/>
          </p:cNvPicPr>
          <p:nvPr/>
        </p:nvPicPr>
        <p:blipFill>
          <a:blip r:embed="rId2"/>
          <a:stretch>
            <a:fillRect/>
          </a:stretch>
        </p:blipFill>
        <p:spPr>
          <a:xfrm>
            <a:off x="4903470" y="1977390"/>
            <a:ext cx="388620" cy="388620"/>
          </a:xfrm>
          <a:prstGeom prst="rect">
            <a:avLst/>
          </a:prstGeom>
        </p:spPr>
      </p:pic>
      <p:sp>
        <p:nvSpPr>
          <p:cNvPr id="11" name="Text 7"/>
          <p:cNvSpPr txBox="1"/>
          <p:nvPr/>
        </p:nvSpPr>
        <p:spPr>
          <a:xfrm>
            <a:off x="4709160" y="2788920"/>
            <a:ext cx="288036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Finds problems first</a:t>
            </a:r>
            <a:endParaRPr lang="en-US" sz="2200" dirty="0"/>
          </a:p>
        </p:txBody>
      </p:sp>
      <p:sp>
        <p:nvSpPr>
          <p:cNvPr id="12" name="Text 8"/>
          <p:cNvSpPr txBox="1"/>
          <p:nvPr/>
        </p:nvSpPr>
        <p:spPr>
          <a:xfrm>
            <a:off x="4709160" y="3383280"/>
            <a:ext cx="2834640" cy="1828800"/>
          </a:xfrm>
          <a:prstGeom prst="rect">
            <a:avLst/>
          </a:prstGeom>
          <a:noFill/>
          <a:ln/>
        </p:spPr>
        <p:txBody>
          <a:bodyPr wrap="square" lIns="0" tIns="0" rIns="0" bIns="0" rtlCol="0" anchor="t"/>
          <a:lstStyle/>
          <a:p>
            <a:pPr indent="0" marL="0">
              <a:buNone/>
            </a:pPr>
            <a:r>
              <a:rPr lang="en-US" sz="1600" dirty="0">
                <a:solidFill>
                  <a:schemeClr val="tx1"/>
                </a:solidFill>
              </a:rPr>
              <a:t>Every notebook cell is scanned and Spark risks are listed in the plan, before anything is written to Fabric.</a:t>
            </a:r>
            <a:endParaRPr lang="en-US" sz="1600" dirty="0"/>
          </a:p>
        </p:txBody>
      </p:sp>
      <p:sp>
        <p:nvSpPr>
          <p:cNvPr id="13" name="Takeaway 3 card"/>
          <p:cNvSpPr/>
          <p:nvPr/>
        </p:nvSpPr>
        <p:spPr>
          <a:xfrm>
            <a:off x="8138160" y="1463040"/>
            <a:ext cx="3520440" cy="3931920"/>
          </a:xfrm>
          <a:prstGeom prst="roundRect">
            <a:avLst>
              <a:gd name="adj" fmla="val 3117"/>
            </a:avLst>
          </a:prstGeom>
          <a:solidFill>
            <a:schemeClr val="bg2"/>
          </a:solidFill>
          <a:ln w="12700">
            <a:solidFill>
              <a:schemeClr val="bg2"/>
            </a:solidFill>
            <a:prstDash val="solid"/>
          </a:ln>
        </p:spPr>
      </p:sp>
      <p:sp>
        <p:nvSpPr>
          <p:cNvPr id="14" name="Takeaway 3 circle"/>
          <p:cNvSpPr/>
          <p:nvPr/>
        </p:nvSpPr>
        <p:spPr>
          <a:xfrm>
            <a:off x="8503920" y="1783080"/>
            <a:ext cx="777240" cy="777240"/>
          </a:xfrm>
          <a:prstGeom prst="ellipse">
            <a:avLst/>
          </a:prstGeom>
          <a:solidFill>
            <a:schemeClr val="accent1"/>
          </a:solidFill>
          <a:ln w="12700">
            <a:solidFill>
              <a:schemeClr val="accent1"/>
            </a:solidFill>
            <a:prstDash val="solid"/>
          </a:ln>
        </p:spPr>
      </p:sp>
      <p:pic>
        <p:nvPicPr>
          <p:cNvPr id="15" name="Takeaway 3 icon" descr="preencoded.png">    </p:cNvPr>
          <p:cNvPicPr>
            <a:picLocks noChangeAspect="1"/>
          </p:cNvPicPr>
          <p:nvPr/>
        </p:nvPicPr>
        <p:blipFill>
          <a:blip r:embed="rId3"/>
          <a:stretch>
            <a:fillRect/>
          </a:stretch>
        </p:blipFill>
        <p:spPr>
          <a:xfrm>
            <a:off x="8698230" y="1977390"/>
            <a:ext cx="388620" cy="388620"/>
          </a:xfrm>
          <a:prstGeom prst="rect">
            <a:avLst/>
          </a:prstGeom>
        </p:spPr>
      </p:pic>
      <p:sp>
        <p:nvSpPr>
          <p:cNvPr id="16" name="Text 11"/>
          <p:cNvSpPr txBox="1"/>
          <p:nvPr/>
        </p:nvSpPr>
        <p:spPr>
          <a:xfrm>
            <a:off x="8503920" y="2788920"/>
            <a:ext cx="288036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Proves it works</a:t>
            </a:r>
            <a:endParaRPr lang="en-US" sz="2200" dirty="0"/>
          </a:p>
        </p:txBody>
      </p:sp>
      <p:sp>
        <p:nvSpPr>
          <p:cNvPr id="17" name="Text 12"/>
          <p:cNvSpPr txBox="1"/>
          <p:nvPr/>
        </p:nvSpPr>
        <p:spPr>
          <a:xfrm>
            <a:off x="8503920" y="3383280"/>
            <a:ext cx="2834640" cy="1828800"/>
          </a:xfrm>
          <a:prstGeom prst="rect">
            <a:avLst/>
          </a:prstGeom>
          <a:noFill/>
          <a:ln/>
        </p:spPr>
        <p:txBody>
          <a:bodyPr wrap="square" lIns="0" tIns="0" rIns="0" bIns="0" rtlCol="0" anchor="t"/>
          <a:lstStyle/>
          <a:p>
            <a:pPr indent="0" marL="0">
              <a:buNone/>
            </a:pPr>
            <a:r>
              <a:rPr lang="en-US" sz="1600" dirty="0">
                <a:solidFill>
                  <a:schemeClr val="tx1"/>
                </a:solidFill>
              </a:rPr>
              <a:t>After the run, each pool, notebook and job is compared with Synapse and checked for a successful run in Fabric.</a:t>
            </a:r>
            <a:endParaRPr lang="en-US" sz="1600" dirty="0"/>
          </a:p>
        </p:txBody>
      </p:sp>
      <p:sp>
        <p:nvSpPr>
          <p:cNvPr id="18" name="Text 13"/>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i="1" dirty="0">
                <a:solidFill>
                  <a:schemeClr val="tx2"/>
                </a:solidFill>
              </a:rPr>
              <a:t>The assistant creates the Spark items. We also convert their code, check them before the run and prove they work after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Eight things we do for Spark that the assistant doesn't</a:t>
            </a:r>
            <a:endParaRPr lang="en-US" sz="3400" dirty="0"/>
          </a:p>
        </p:txBody>
      </p:sp>
      <p:sp>
        <p:nvSpPr>
          <p:cNvPr id="3" name="Synapse calls rewritten card"/>
          <p:cNvSpPr/>
          <p:nvPr/>
        </p:nvSpPr>
        <p:spPr>
          <a:xfrm>
            <a:off x="548640" y="1325880"/>
            <a:ext cx="2560320" cy="2148840"/>
          </a:xfrm>
          <a:prstGeom prst="roundRect">
            <a:avLst>
              <a:gd name="adj" fmla="val 5106"/>
            </a:avLst>
          </a:prstGeom>
          <a:solidFill>
            <a:schemeClr val="bg2"/>
          </a:solidFill>
          <a:ln w="12700">
            <a:solidFill>
              <a:schemeClr val="bg2"/>
            </a:solidFill>
            <a:prstDash val="solid"/>
          </a:ln>
        </p:spPr>
      </p:sp>
      <p:sp>
        <p:nvSpPr>
          <p:cNvPr id="4" name="Synapse calls rewritten circle"/>
          <p:cNvSpPr/>
          <p:nvPr/>
        </p:nvSpPr>
        <p:spPr>
          <a:xfrm>
            <a:off x="777240" y="1554480"/>
            <a:ext cx="502920" cy="502920"/>
          </a:xfrm>
          <a:prstGeom prst="ellipse">
            <a:avLst/>
          </a:prstGeom>
          <a:solidFill>
            <a:schemeClr val="accent1"/>
          </a:solidFill>
          <a:ln w="12700">
            <a:solidFill>
              <a:schemeClr val="accent1"/>
            </a:solidFill>
            <a:prstDash val="solid"/>
          </a:ln>
        </p:spPr>
      </p:sp>
      <p:pic>
        <p:nvPicPr>
          <p:cNvPr id="5" name="Synapse calls rewritten icon" descr="preencoded.png">    </p:cNvPr>
          <p:cNvPicPr>
            <a:picLocks noChangeAspect="1"/>
          </p:cNvPicPr>
          <p:nvPr/>
        </p:nvPicPr>
        <p:blipFill>
          <a:blip r:embed="rId1"/>
          <a:stretch>
            <a:fillRect/>
          </a:stretch>
        </p:blipFill>
        <p:spPr>
          <a:xfrm>
            <a:off x="902970" y="1680210"/>
            <a:ext cx="251460" cy="251460"/>
          </a:xfrm>
          <a:prstGeom prst="rect">
            <a:avLst/>
          </a:prstGeom>
        </p:spPr>
      </p:pic>
      <p:sp>
        <p:nvSpPr>
          <p:cNvPr id="6" name="Text 3"/>
          <p:cNvSpPr txBox="1"/>
          <p:nvPr/>
        </p:nvSpPr>
        <p:spPr>
          <a:xfrm>
            <a:off x="1417320" y="155448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Synapse calls rewritten</a:t>
            </a:r>
            <a:endParaRPr lang="en-US" sz="1600" dirty="0"/>
          </a:p>
        </p:txBody>
      </p:sp>
      <p:sp>
        <p:nvSpPr>
          <p:cNvPr id="7" name="Text 4"/>
          <p:cNvSpPr txBox="1"/>
          <p:nvPr/>
        </p:nvSpPr>
        <p:spPr>
          <a:xfrm>
            <a:off x="777240" y="2194560"/>
            <a:ext cx="2148840" cy="1188720"/>
          </a:xfrm>
          <a:prstGeom prst="rect">
            <a:avLst/>
          </a:prstGeom>
          <a:noFill/>
          <a:ln/>
        </p:spPr>
        <p:txBody>
          <a:bodyPr wrap="square" lIns="0" tIns="0" rIns="0" bIns="0" rtlCol="0" anchor="t"/>
          <a:lstStyle/>
          <a:p>
            <a:pPr indent="0" marL="0">
              <a:buNone/>
            </a:pPr>
            <a:r>
              <a:rPr lang="en-US" sz="1400" dirty="0">
                <a:solidFill>
                  <a:schemeClr val="tx1"/>
                </a:solidFill>
              </a:rPr>
              <a:t>mssparkutils, the SQL connector and its reads converted for Fabric; the rest flagged.</a:t>
            </a:r>
            <a:endParaRPr lang="en-US" sz="1400" dirty="0"/>
          </a:p>
        </p:txBody>
      </p:sp>
      <p:sp>
        <p:nvSpPr>
          <p:cNvPr id="8" name="Storage via OneLake card"/>
          <p:cNvSpPr/>
          <p:nvPr/>
        </p:nvSpPr>
        <p:spPr>
          <a:xfrm>
            <a:off x="3383280" y="1325880"/>
            <a:ext cx="2560320" cy="2148840"/>
          </a:xfrm>
          <a:prstGeom prst="roundRect">
            <a:avLst>
              <a:gd name="adj" fmla="val 5106"/>
            </a:avLst>
          </a:prstGeom>
          <a:solidFill>
            <a:schemeClr val="bg2"/>
          </a:solidFill>
          <a:ln w="12700">
            <a:solidFill>
              <a:schemeClr val="bg2"/>
            </a:solidFill>
            <a:prstDash val="solid"/>
          </a:ln>
        </p:spPr>
      </p:sp>
      <p:sp>
        <p:nvSpPr>
          <p:cNvPr id="9" name="Storage via OneLake circle"/>
          <p:cNvSpPr/>
          <p:nvPr/>
        </p:nvSpPr>
        <p:spPr>
          <a:xfrm>
            <a:off x="3611880" y="1554480"/>
            <a:ext cx="502920" cy="502920"/>
          </a:xfrm>
          <a:prstGeom prst="ellipse">
            <a:avLst/>
          </a:prstGeom>
          <a:solidFill>
            <a:schemeClr val="accent1"/>
          </a:solidFill>
          <a:ln w="12700">
            <a:solidFill>
              <a:schemeClr val="accent1"/>
            </a:solidFill>
            <a:prstDash val="solid"/>
          </a:ln>
        </p:spPr>
      </p:sp>
      <p:pic>
        <p:nvPicPr>
          <p:cNvPr id="10" name="Storage via OneLake icon" descr="preencoded.png">    </p:cNvPr>
          <p:cNvPicPr>
            <a:picLocks noChangeAspect="1"/>
          </p:cNvPicPr>
          <p:nvPr/>
        </p:nvPicPr>
        <p:blipFill>
          <a:blip r:embed="rId2"/>
          <a:stretch>
            <a:fillRect/>
          </a:stretch>
        </p:blipFill>
        <p:spPr>
          <a:xfrm>
            <a:off x="3737610" y="1680210"/>
            <a:ext cx="251460" cy="251460"/>
          </a:xfrm>
          <a:prstGeom prst="rect">
            <a:avLst/>
          </a:prstGeom>
        </p:spPr>
      </p:pic>
      <p:sp>
        <p:nvSpPr>
          <p:cNvPr id="11" name="Text 7"/>
          <p:cNvSpPr txBox="1"/>
          <p:nvPr/>
        </p:nvSpPr>
        <p:spPr>
          <a:xfrm>
            <a:off x="4251960" y="155448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Storage via OneLake</a:t>
            </a:r>
            <a:endParaRPr lang="en-US" sz="1600" dirty="0"/>
          </a:p>
        </p:txBody>
      </p:sp>
      <p:sp>
        <p:nvSpPr>
          <p:cNvPr id="12" name="Text 8"/>
          <p:cNvSpPr txBox="1"/>
          <p:nvPr/>
        </p:nvSpPr>
        <p:spPr>
          <a:xfrm>
            <a:off x="3611880" y="2194560"/>
            <a:ext cx="2148840" cy="1188720"/>
          </a:xfrm>
          <a:prstGeom prst="rect">
            <a:avLst/>
          </a:prstGeom>
          <a:noFill/>
          <a:ln/>
        </p:spPr>
        <p:txBody>
          <a:bodyPr wrap="square" lIns="0" tIns="0" rIns="0" bIns="0" rtlCol="0" anchor="t"/>
          <a:lstStyle/>
          <a:p>
            <a:pPr indent="0" marL="0">
              <a:buNone/>
            </a:pPr>
            <a:r>
              <a:rPr lang="en-US" sz="1400" dirty="0">
                <a:solidFill>
                  <a:schemeClr val="tx1"/>
                </a:solidFill>
              </a:rPr>
              <a:t>ADLS paths in notebooks and jobs rewritten to go through OneLake shortcuts.</a:t>
            </a:r>
            <a:endParaRPr lang="en-US" sz="1400" dirty="0"/>
          </a:p>
        </p:txBody>
      </p:sp>
      <p:sp>
        <p:nvSpPr>
          <p:cNvPr id="13" name="Job code converted card"/>
          <p:cNvSpPr/>
          <p:nvPr/>
        </p:nvSpPr>
        <p:spPr>
          <a:xfrm>
            <a:off x="6217920" y="1325880"/>
            <a:ext cx="2560320" cy="2148840"/>
          </a:xfrm>
          <a:prstGeom prst="roundRect">
            <a:avLst>
              <a:gd name="adj" fmla="val 5106"/>
            </a:avLst>
          </a:prstGeom>
          <a:solidFill>
            <a:schemeClr val="bg2"/>
          </a:solidFill>
          <a:ln w="12700">
            <a:solidFill>
              <a:schemeClr val="bg2"/>
            </a:solidFill>
            <a:prstDash val="solid"/>
          </a:ln>
        </p:spPr>
      </p:sp>
      <p:sp>
        <p:nvSpPr>
          <p:cNvPr id="14" name="Job code converted circle"/>
          <p:cNvSpPr/>
          <p:nvPr/>
        </p:nvSpPr>
        <p:spPr>
          <a:xfrm>
            <a:off x="6446520" y="1554480"/>
            <a:ext cx="502920" cy="502920"/>
          </a:xfrm>
          <a:prstGeom prst="ellipse">
            <a:avLst/>
          </a:prstGeom>
          <a:solidFill>
            <a:schemeClr val="accent1"/>
          </a:solidFill>
          <a:ln w="12700">
            <a:solidFill>
              <a:schemeClr val="accent1"/>
            </a:solidFill>
            <a:prstDash val="solid"/>
          </a:ln>
        </p:spPr>
      </p:sp>
      <p:pic>
        <p:nvPicPr>
          <p:cNvPr id="15" name="Job code converted icon" descr="preencoded.png">    </p:cNvPr>
          <p:cNvPicPr>
            <a:picLocks noChangeAspect="1"/>
          </p:cNvPicPr>
          <p:nvPr/>
        </p:nvPicPr>
        <p:blipFill>
          <a:blip r:embed="rId3"/>
          <a:stretch>
            <a:fillRect/>
          </a:stretch>
        </p:blipFill>
        <p:spPr>
          <a:xfrm>
            <a:off x="6572250" y="1680210"/>
            <a:ext cx="251460" cy="251460"/>
          </a:xfrm>
          <a:prstGeom prst="rect">
            <a:avLst/>
          </a:prstGeom>
        </p:spPr>
      </p:pic>
      <p:sp>
        <p:nvSpPr>
          <p:cNvPr id="16" name="Text 11"/>
          <p:cNvSpPr txBox="1"/>
          <p:nvPr/>
        </p:nvSpPr>
        <p:spPr>
          <a:xfrm>
            <a:off x="7086600" y="155448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Job code converted</a:t>
            </a:r>
            <a:endParaRPr lang="en-US" sz="1600" dirty="0"/>
          </a:p>
        </p:txBody>
      </p:sp>
      <p:sp>
        <p:nvSpPr>
          <p:cNvPr id="17" name="Text 12"/>
          <p:cNvSpPr txBox="1"/>
          <p:nvPr/>
        </p:nvSpPr>
        <p:spPr>
          <a:xfrm>
            <a:off x="6446520" y="2194560"/>
            <a:ext cx="2148840" cy="1188720"/>
          </a:xfrm>
          <a:prstGeom prst="rect">
            <a:avLst/>
          </a:prstGeom>
          <a:noFill/>
          <a:ln/>
        </p:spPr>
        <p:txBody>
          <a:bodyPr wrap="square" lIns="0" tIns="0" rIns="0" bIns="0" rtlCol="0" anchor="t"/>
          <a:lstStyle/>
          <a:p>
            <a:pPr indent="0" marL="0">
              <a:buNone/>
            </a:pPr>
            <a:r>
              <a:rPr lang="en-US" sz="1400" dirty="0">
                <a:solidFill>
                  <a:schemeClr val="tx1"/>
                </a:solidFill>
              </a:rPr>
              <a:t>A job's main file is copied into the Lakehouse with its paths rewritten.</a:t>
            </a:r>
            <a:endParaRPr lang="en-US" sz="1400" dirty="0"/>
          </a:p>
        </p:txBody>
      </p:sp>
      <p:sp>
        <p:nvSpPr>
          <p:cNvPr id="18" name="Risks before the run card"/>
          <p:cNvSpPr/>
          <p:nvPr/>
        </p:nvSpPr>
        <p:spPr>
          <a:xfrm>
            <a:off x="9052560" y="1325880"/>
            <a:ext cx="2560320" cy="2148840"/>
          </a:xfrm>
          <a:prstGeom prst="roundRect">
            <a:avLst>
              <a:gd name="adj" fmla="val 5106"/>
            </a:avLst>
          </a:prstGeom>
          <a:solidFill>
            <a:schemeClr val="bg2"/>
          </a:solidFill>
          <a:ln w="12700">
            <a:solidFill>
              <a:schemeClr val="bg2"/>
            </a:solidFill>
            <a:prstDash val="solid"/>
          </a:ln>
        </p:spPr>
      </p:sp>
      <p:sp>
        <p:nvSpPr>
          <p:cNvPr id="19" name="Risks before the run circle"/>
          <p:cNvSpPr/>
          <p:nvPr/>
        </p:nvSpPr>
        <p:spPr>
          <a:xfrm>
            <a:off x="9281160" y="1554480"/>
            <a:ext cx="502920" cy="502920"/>
          </a:xfrm>
          <a:prstGeom prst="ellipse">
            <a:avLst/>
          </a:prstGeom>
          <a:solidFill>
            <a:schemeClr val="accent1"/>
          </a:solidFill>
          <a:ln w="12700">
            <a:solidFill>
              <a:schemeClr val="accent1"/>
            </a:solidFill>
            <a:prstDash val="solid"/>
          </a:ln>
        </p:spPr>
      </p:sp>
      <p:pic>
        <p:nvPicPr>
          <p:cNvPr id="20" name="Risks before the run icon" descr="preencoded.png">    </p:cNvPr>
          <p:cNvPicPr>
            <a:picLocks noChangeAspect="1"/>
          </p:cNvPicPr>
          <p:nvPr/>
        </p:nvPicPr>
        <p:blipFill>
          <a:blip r:embed="rId4"/>
          <a:stretch>
            <a:fillRect/>
          </a:stretch>
        </p:blipFill>
        <p:spPr>
          <a:xfrm>
            <a:off x="9406890" y="1680210"/>
            <a:ext cx="251460" cy="251460"/>
          </a:xfrm>
          <a:prstGeom prst="rect">
            <a:avLst/>
          </a:prstGeom>
        </p:spPr>
      </p:pic>
      <p:sp>
        <p:nvSpPr>
          <p:cNvPr id="21" name="Text 15"/>
          <p:cNvSpPr txBox="1"/>
          <p:nvPr/>
        </p:nvSpPr>
        <p:spPr>
          <a:xfrm>
            <a:off x="9921240" y="155448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Risks before the run</a:t>
            </a:r>
            <a:endParaRPr lang="en-US" sz="1600" dirty="0"/>
          </a:p>
        </p:txBody>
      </p:sp>
      <p:sp>
        <p:nvSpPr>
          <p:cNvPr id="22" name="Text 16"/>
          <p:cNvSpPr txBox="1"/>
          <p:nvPr/>
        </p:nvSpPr>
        <p:spPr>
          <a:xfrm>
            <a:off x="9281160" y="2194560"/>
            <a:ext cx="2148840" cy="1188720"/>
          </a:xfrm>
          <a:prstGeom prst="rect">
            <a:avLst/>
          </a:prstGeom>
          <a:noFill/>
          <a:ln/>
        </p:spPr>
        <p:txBody>
          <a:bodyPr wrap="square" lIns="0" tIns="0" rIns="0" bIns="0" rtlCol="0" anchor="t"/>
          <a:lstStyle/>
          <a:p>
            <a:pPr indent="0" marL="0">
              <a:buNone/>
            </a:pPr>
            <a:r>
              <a:rPr lang="en-US" sz="1400" dirty="0">
                <a:solidFill>
                  <a:schemeClr val="tx1"/>
                </a:solidFill>
              </a:rPr>
              <a:t>Every notebook cell scanned; Spark risks listed in the plan by severity.</a:t>
            </a:r>
            <a:endParaRPr lang="en-US" sz="1400" dirty="0"/>
          </a:p>
        </p:txBody>
      </p:sp>
      <p:sp>
        <p:nvSpPr>
          <p:cNvPr id="23" name="Proof it runs card"/>
          <p:cNvSpPr/>
          <p:nvPr/>
        </p:nvSpPr>
        <p:spPr>
          <a:xfrm>
            <a:off x="548640" y="3703320"/>
            <a:ext cx="2560320" cy="2148840"/>
          </a:xfrm>
          <a:prstGeom prst="roundRect">
            <a:avLst>
              <a:gd name="adj" fmla="val 5106"/>
            </a:avLst>
          </a:prstGeom>
          <a:solidFill>
            <a:schemeClr val="bg2"/>
          </a:solidFill>
          <a:ln w="12700">
            <a:solidFill>
              <a:schemeClr val="bg2"/>
            </a:solidFill>
            <a:prstDash val="solid"/>
          </a:ln>
        </p:spPr>
      </p:sp>
      <p:sp>
        <p:nvSpPr>
          <p:cNvPr id="24" name="Proof it runs circle"/>
          <p:cNvSpPr/>
          <p:nvPr/>
        </p:nvSpPr>
        <p:spPr>
          <a:xfrm>
            <a:off x="777240" y="3931920"/>
            <a:ext cx="502920" cy="502920"/>
          </a:xfrm>
          <a:prstGeom prst="ellipse">
            <a:avLst/>
          </a:prstGeom>
          <a:solidFill>
            <a:schemeClr val="accent1"/>
          </a:solidFill>
          <a:ln w="12700">
            <a:solidFill>
              <a:schemeClr val="accent1"/>
            </a:solidFill>
            <a:prstDash val="solid"/>
          </a:ln>
        </p:spPr>
      </p:sp>
      <p:pic>
        <p:nvPicPr>
          <p:cNvPr id="25" name="Proof it runs icon" descr="preencoded.png">    </p:cNvPr>
          <p:cNvPicPr>
            <a:picLocks noChangeAspect="1"/>
          </p:cNvPicPr>
          <p:nvPr/>
        </p:nvPicPr>
        <p:blipFill>
          <a:blip r:embed="rId5"/>
          <a:stretch>
            <a:fillRect/>
          </a:stretch>
        </p:blipFill>
        <p:spPr>
          <a:xfrm>
            <a:off x="902970" y="4057650"/>
            <a:ext cx="251460" cy="251460"/>
          </a:xfrm>
          <a:prstGeom prst="rect">
            <a:avLst/>
          </a:prstGeom>
        </p:spPr>
      </p:pic>
      <p:sp>
        <p:nvSpPr>
          <p:cNvPr id="26" name="Text 19"/>
          <p:cNvSpPr txBox="1"/>
          <p:nvPr/>
        </p:nvSpPr>
        <p:spPr>
          <a:xfrm>
            <a:off x="1417320" y="393192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Proof it runs</a:t>
            </a:r>
            <a:endParaRPr lang="en-US" sz="1600" dirty="0"/>
          </a:p>
        </p:txBody>
      </p:sp>
      <p:sp>
        <p:nvSpPr>
          <p:cNvPr id="27" name="Text 20"/>
          <p:cNvSpPr txBox="1"/>
          <p:nvPr/>
        </p:nvSpPr>
        <p:spPr>
          <a:xfrm>
            <a:off x="777240" y="4572000"/>
            <a:ext cx="2148840" cy="1188720"/>
          </a:xfrm>
          <a:prstGeom prst="rect">
            <a:avLst/>
          </a:prstGeom>
          <a:noFill/>
          <a:ln/>
        </p:spPr>
        <p:txBody>
          <a:bodyPr wrap="square" lIns="0" tIns="0" rIns="0" bIns="0" rtlCol="0" anchor="t"/>
          <a:lstStyle/>
          <a:p>
            <a:pPr indent="0" marL="0">
              <a:buNone/>
            </a:pPr>
            <a:r>
              <a:rPr lang="en-US" sz="1400" dirty="0">
                <a:solidFill>
                  <a:schemeClr val="tx1"/>
                </a:solidFill>
              </a:rPr>
              <a:t>Each pool, notebook and job compared, and checked for a successful run.</a:t>
            </a:r>
            <a:endParaRPr lang="en-US" sz="1400" dirty="0"/>
          </a:p>
        </p:txBody>
      </p:sp>
      <p:sp>
        <p:nvSpPr>
          <p:cNvPr id="28" name="Git or ZIP as source card"/>
          <p:cNvSpPr/>
          <p:nvPr/>
        </p:nvSpPr>
        <p:spPr>
          <a:xfrm>
            <a:off x="3383280" y="3703320"/>
            <a:ext cx="2560320" cy="2148840"/>
          </a:xfrm>
          <a:prstGeom prst="roundRect">
            <a:avLst>
              <a:gd name="adj" fmla="val 5106"/>
            </a:avLst>
          </a:prstGeom>
          <a:solidFill>
            <a:schemeClr val="bg2"/>
          </a:solidFill>
          <a:ln w="12700">
            <a:solidFill>
              <a:schemeClr val="bg2"/>
            </a:solidFill>
            <a:prstDash val="solid"/>
          </a:ln>
        </p:spPr>
      </p:sp>
      <p:sp>
        <p:nvSpPr>
          <p:cNvPr id="29" name="Git or ZIP as source circle"/>
          <p:cNvSpPr/>
          <p:nvPr/>
        </p:nvSpPr>
        <p:spPr>
          <a:xfrm>
            <a:off x="3611880" y="3931920"/>
            <a:ext cx="502920" cy="502920"/>
          </a:xfrm>
          <a:prstGeom prst="ellipse">
            <a:avLst/>
          </a:prstGeom>
          <a:solidFill>
            <a:schemeClr val="accent1"/>
          </a:solidFill>
          <a:ln w="12700">
            <a:solidFill>
              <a:schemeClr val="accent1"/>
            </a:solidFill>
            <a:prstDash val="solid"/>
          </a:ln>
        </p:spPr>
      </p:sp>
      <p:pic>
        <p:nvPicPr>
          <p:cNvPr id="30" name="Git or ZIP as source icon" descr="preencoded.png">    </p:cNvPr>
          <p:cNvPicPr>
            <a:picLocks noChangeAspect="1"/>
          </p:cNvPicPr>
          <p:nvPr/>
        </p:nvPicPr>
        <p:blipFill>
          <a:blip r:embed="rId6"/>
          <a:stretch>
            <a:fillRect/>
          </a:stretch>
        </p:blipFill>
        <p:spPr>
          <a:xfrm>
            <a:off x="3737610" y="4057650"/>
            <a:ext cx="251460" cy="251460"/>
          </a:xfrm>
          <a:prstGeom prst="rect">
            <a:avLst/>
          </a:prstGeom>
        </p:spPr>
      </p:pic>
      <p:sp>
        <p:nvSpPr>
          <p:cNvPr id="31" name="Text 23"/>
          <p:cNvSpPr txBox="1"/>
          <p:nvPr/>
        </p:nvSpPr>
        <p:spPr>
          <a:xfrm>
            <a:off x="4251960" y="393192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Git or ZIP as source</a:t>
            </a:r>
            <a:endParaRPr lang="en-US" sz="1600" dirty="0"/>
          </a:p>
        </p:txBody>
      </p:sp>
      <p:sp>
        <p:nvSpPr>
          <p:cNvPr id="32" name="Text 24"/>
          <p:cNvSpPr txBox="1"/>
          <p:nvPr/>
        </p:nvSpPr>
        <p:spPr>
          <a:xfrm>
            <a:off x="3611880" y="4572000"/>
            <a:ext cx="2148840" cy="1188720"/>
          </a:xfrm>
          <a:prstGeom prst="rect">
            <a:avLst/>
          </a:prstGeom>
          <a:noFill/>
          <a:ln/>
        </p:spPr>
        <p:txBody>
          <a:bodyPr wrap="square" lIns="0" tIns="0" rIns="0" bIns="0" rtlCol="0" anchor="t"/>
          <a:lstStyle/>
          <a:p>
            <a:pPr indent="0" marL="0">
              <a:buNone/>
            </a:pPr>
            <a:r>
              <a:rPr lang="en-US" sz="1400" dirty="0">
                <a:solidFill>
                  <a:schemeClr val="tx1"/>
                </a:solidFill>
              </a:rPr>
              <a:t>Notebooks and jobs from a Git branch per environment, or a ZIP export.</a:t>
            </a:r>
            <a:endParaRPr lang="en-US" sz="1400" dirty="0"/>
          </a:p>
        </p:txBody>
      </p:sp>
      <p:sp>
        <p:nvSpPr>
          <p:cNvPr id="33" name="AI drafts, reviewed card"/>
          <p:cNvSpPr/>
          <p:nvPr/>
        </p:nvSpPr>
        <p:spPr>
          <a:xfrm>
            <a:off x="6217920" y="3703320"/>
            <a:ext cx="2560320" cy="2148840"/>
          </a:xfrm>
          <a:prstGeom prst="roundRect">
            <a:avLst>
              <a:gd name="adj" fmla="val 5106"/>
            </a:avLst>
          </a:prstGeom>
          <a:solidFill>
            <a:schemeClr val="bg2"/>
          </a:solidFill>
          <a:ln w="12700">
            <a:solidFill>
              <a:schemeClr val="bg2"/>
            </a:solidFill>
            <a:prstDash val="solid"/>
          </a:ln>
        </p:spPr>
      </p:sp>
      <p:sp>
        <p:nvSpPr>
          <p:cNvPr id="34" name="AI drafts, reviewed circle"/>
          <p:cNvSpPr/>
          <p:nvPr/>
        </p:nvSpPr>
        <p:spPr>
          <a:xfrm>
            <a:off x="6446520" y="3931920"/>
            <a:ext cx="502920" cy="502920"/>
          </a:xfrm>
          <a:prstGeom prst="ellipse">
            <a:avLst/>
          </a:prstGeom>
          <a:solidFill>
            <a:schemeClr val="accent1"/>
          </a:solidFill>
          <a:ln w="12700">
            <a:solidFill>
              <a:schemeClr val="accent1"/>
            </a:solidFill>
            <a:prstDash val="solid"/>
          </a:ln>
        </p:spPr>
      </p:sp>
      <p:pic>
        <p:nvPicPr>
          <p:cNvPr id="35" name="AI drafts, reviewed icon" descr="preencoded.png">    </p:cNvPr>
          <p:cNvPicPr>
            <a:picLocks noChangeAspect="1"/>
          </p:cNvPicPr>
          <p:nvPr/>
        </p:nvPicPr>
        <p:blipFill>
          <a:blip r:embed="rId7"/>
          <a:stretch>
            <a:fillRect/>
          </a:stretch>
        </p:blipFill>
        <p:spPr>
          <a:xfrm>
            <a:off x="6572250" y="4057650"/>
            <a:ext cx="251460" cy="251460"/>
          </a:xfrm>
          <a:prstGeom prst="rect">
            <a:avLst/>
          </a:prstGeom>
        </p:spPr>
      </p:pic>
      <p:sp>
        <p:nvSpPr>
          <p:cNvPr id="36" name="Text 27"/>
          <p:cNvSpPr txBox="1"/>
          <p:nvPr/>
        </p:nvSpPr>
        <p:spPr>
          <a:xfrm>
            <a:off x="7086600" y="393192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AI drafts, reviewed</a:t>
            </a:r>
            <a:endParaRPr lang="en-US" sz="1600" dirty="0"/>
          </a:p>
        </p:txBody>
      </p:sp>
      <p:sp>
        <p:nvSpPr>
          <p:cNvPr id="37" name="Text 28"/>
          <p:cNvSpPr txBox="1"/>
          <p:nvPr/>
        </p:nvSpPr>
        <p:spPr>
          <a:xfrm>
            <a:off x="6446520" y="4572000"/>
            <a:ext cx="2148840" cy="1188720"/>
          </a:xfrm>
          <a:prstGeom prst="rect">
            <a:avLst/>
          </a:prstGeom>
          <a:noFill/>
          <a:ln/>
        </p:spPr>
        <p:txBody>
          <a:bodyPr wrap="square" lIns="0" tIns="0" rIns="0" bIns="0" rtlCol="0" anchor="t"/>
          <a:lstStyle/>
          <a:p>
            <a:pPr indent="0" marL="0">
              <a:buNone/>
            </a:pPr>
            <a:r>
              <a:rPr lang="en-US" sz="1400" dirty="0">
                <a:solidFill>
                  <a:schemeClr val="tx1"/>
                </a:solidFill>
              </a:rPr>
              <a:t>Claude drafts code the rules can't convert; a person reviews and accepts it.</a:t>
            </a:r>
            <a:endParaRPr lang="en-US" sz="1400" dirty="0"/>
          </a:p>
        </p:txBody>
      </p:sp>
      <p:sp>
        <p:nvSpPr>
          <p:cNvPr id="38" name="Safe to re-run card"/>
          <p:cNvSpPr/>
          <p:nvPr/>
        </p:nvSpPr>
        <p:spPr>
          <a:xfrm>
            <a:off x="9052560" y="3703320"/>
            <a:ext cx="2560320" cy="2148840"/>
          </a:xfrm>
          <a:prstGeom prst="roundRect">
            <a:avLst>
              <a:gd name="adj" fmla="val 5106"/>
            </a:avLst>
          </a:prstGeom>
          <a:solidFill>
            <a:schemeClr val="bg2"/>
          </a:solidFill>
          <a:ln w="12700">
            <a:solidFill>
              <a:schemeClr val="bg2"/>
            </a:solidFill>
            <a:prstDash val="solid"/>
          </a:ln>
        </p:spPr>
      </p:sp>
      <p:sp>
        <p:nvSpPr>
          <p:cNvPr id="39" name="Safe to re-run circle"/>
          <p:cNvSpPr/>
          <p:nvPr/>
        </p:nvSpPr>
        <p:spPr>
          <a:xfrm>
            <a:off x="9281160" y="3931920"/>
            <a:ext cx="502920" cy="502920"/>
          </a:xfrm>
          <a:prstGeom prst="ellipse">
            <a:avLst/>
          </a:prstGeom>
          <a:solidFill>
            <a:schemeClr val="accent1"/>
          </a:solidFill>
          <a:ln w="12700">
            <a:solidFill>
              <a:schemeClr val="accent1"/>
            </a:solidFill>
            <a:prstDash val="solid"/>
          </a:ln>
        </p:spPr>
      </p:sp>
      <p:pic>
        <p:nvPicPr>
          <p:cNvPr id="40" name="Safe to re-run icon" descr="preencoded.png">    </p:cNvPr>
          <p:cNvPicPr>
            <a:picLocks noChangeAspect="1"/>
          </p:cNvPicPr>
          <p:nvPr/>
        </p:nvPicPr>
        <p:blipFill>
          <a:blip r:embed="rId8"/>
          <a:stretch>
            <a:fillRect/>
          </a:stretch>
        </p:blipFill>
        <p:spPr>
          <a:xfrm>
            <a:off x="9406890" y="4057650"/>
            <a:ext cx="251460" cy="251460"/>
          </a:xfrm>
          <a:prstGeom prst="rect">
            <a:avLst/>
          </a:prstGeom>
        </p:spPr>
      </p:pic>
      <p:sp>
        <p:nvSpPr>
          <p:cNvPr id="41" name="Text 31"/>
          <p:cNvSpPr txBox="1"/>
          <p:nvPr/>
        </p:nvSpPr>
        <p:spPr>
          <a:xfrm>
            <a:off x="9921240" y="3931920"/>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Safe to re-run</a:t>
            </a:r>
            <a:endParaRPr lang="en-US" sz="1600" dirty="0"/>
          </a:p>
        </p:txBody>
      </p:sp>
      <p:sp>
        <p:nvSpPr>
          <p:cNvPr id="42" name="Text 32"/>
          <p:cNvSpPr txBox="1"/>
          <p:nvPr/>
        </p:nvSpPr>
        <p:spPr>
          <a:xfrm>
            <a:off x="9281160" y="4572000"/>
            <a:ext cx="2148840" cy="1188720"/>
          </a:xfrm>
          <a:prstGeom prst="rect">
            <a:avLst/>
          </a:prstGeom>
          <a:noFill/>
          <a:ln/>
        </p:spPr>
        <p:txBody>
          <a:bodyPr wrap="square" lIns="0" tIns="0" rIns="0" bIns="0" rtlCol="0" anchor="t"/>
          <a:lstStyle/>
          <a:p>
            <a:pPr indent="0" marL="0">
              <a:buNone/>
            </a:pPr>
            <a:r>
              <a:rPr lang="en-US" sz="1400" dirty="0">
                <a:solidFill>
                  <a:schemeClr val="tx1"/>
                </a:solidFill>
              </a:rPr>
              <a:t>Pause, resume, Retry failed, and update items already in Fabric.</a:t>
            </a:r>
            <a:endParaRPr lang="en-US" sz="1400" dirty="0"/>
          </a:p>
        </p:txBody>
      </p:sp>
      <p:sp>
        <p:nvSpPr>
          <p:cNvPr id="43" name="Text 33"/>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i="1" dirty="0">
                <a:solidFill>
                  <a:schemeClr val="accent4"/>
                </a:solidFill>
              </a:rPr>
              <a:t>None of these is described on the assistant's documentation page.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Same Spark items, more done on each</a:t>
            </a:r>
            <a:endParaRPr lang="en-US" sz="3400" dirty="0"/>
          </a:p>
        </p:txBody>
      </p:sp>
      <p:sp>
        <p:nvSpPr>
          <p:cNvPr id="3" name="Assistant header"/>
          <p:cNvSpPr txBox="1"/>
          <p:nvPr/>
        </p:nvSpPr>
        <p:spPr>
          <a:xfrm>
            <a:off x="3429000" y="1325880"/>
            <a:ext cx="21945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Microsoft assistant</a:t>
            </a:r>
            <a:endParaRPr lang="en-US" sz="1300" dirty="0"/>
          </a:p>
        </p:txBody>
      </p:sp>
      <p:sp>
        <p:nvSpPr>
          <p:cNvPr id="4" name="Accelerator header"/>
          <p:cNvSpPr txBox="1"/>
          <p:nvPr/>
        </p:nvSpPr>
        <p:spPr>
          <a:xfrm>
            <a:off x="7543800" y="1325880"/>
            <a:ext cx="210312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Our accelerator</a:t>
            </a:r>
            <a:endParaRPr lang="en-US" sz="1300" dirty="0"/>
          </a:p>
        </p:txBody>
      </p:sp>
      <p:sp>
        <p:nvSpPr>
          <p:cNvPr id="5" name="Row 1 band"/>
          <p:cNvSpPr/>
          <p:nvPr/>
        </p:nvSpPr>
        <p:spPr>
          <a:xfrm>
            <a:off x="548640" y="1773936"/>
            <a:ext cx="11064240" cy="612648"/>
          </a:xfrm>
          <a:prstGeom prst="rect">
            <a:avLst/>
          </a:prstGeom>
          <a:solidFill>
            <a:schemeClr val="bg2"/>
          </a:solidFill>
          <a:ln w="12700">
            <a:solidFill>
              <a:schemeClr val="bg2"/>
            </a:solidFill>
            <a:prstDash val="solid"/>
          </a:ln>
        </p:spPr>
      </p:sp>
      <p:sp>
        <p:nvSpPr>
          <p:cNvPr id="6" name="Text 4"/>
          <p:cNvSpPr txBox="1"/>
          <p:nvPr/>
        </p:nvSpPr>
        <p:spPr>
          <a:xfrm>
            <a:off x="685800" y="1828800"/>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Spark pools</a:t>
            </a:r>
            <a:endParaRPr lang="en-US" sz="1500" dirty="0"/>
          </a:p>
        </p:txBody>
      </p:sp>
      <p:sp>
        <p:nvSpPr>
          <p:cNvPr id="7" name="Spark pools Assistant status"/>
          <p:cNvSpPr txBox="1"/>
          <p:nvPr/>
        </p:nvSpPr>
        <p:spPr>
          <a:xfrm>
            <a:off x="3429000" y="1920240"/>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8" name="Text 6"/>
          <p:cNvSpPr txBox="1"/>
          <p:nvPr/>
        </p:nvSpPr>
        <p:spPr>
          <a:xfrm>
            <a:off x="4800600" y="1828800"/>
            <a:ext cx="2514600" cy="502920"/>
          </a:xfrm>
          <a:prstGeom prst="rect">
            <a:avLst/>
          </a:prstGeom>
          <a:noFill/>
          <a:ln/>
        </p:spPr>
        <p:txBody>
          <a:bodyPr wrap="square" lIns="0" tIns="0" rIns="0" bIns="0" rtlCol="0" anchor="ctr"/>
          <a:lstStyle/>
          <a:p>
            <a:pPr indent="0" marL="0">
              <a:buNone/>
            </a:pPr>
            <a:r>
              <a:rPr lang="en-US" sz="1400" dirty="0">
                <a:solidFill>
                  <a:schemeClr val="tx1"/>
                </a:solidFill>
              </a:rPr>
              <a:t>Pool + Environment</a:t>
            </a:r>
            <a:endParaRPr lang="en-US" sz="1400" dirty="0"/>
          </a:p>
        </p:txBody>
      </p:sp>
      <p:sp>
        <p:nvSpPr>
          <p:cNvPr id="9" name="Spark pools Accelerator status"/>
          <p:cNvSpPr txBox="1"/>
          <p:nvPr/>
        </p:nvSpPr>
        <p:spPr>
          <a:xfrm>
            <a:off x="7543800" y="1920240"/>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10" name="Text 8"/>
          <p:cNvSpPr txBox="1"/>
          <p:nvPr/>
        </p:nvSpPr>
        <p:spPr>
          <a:xfrm>
            <a:off x="8915400" y="1828800"/>
            <a:ext cx="2697480" cy="502920"/>
          </a:xfrm>
          <a:prstGeom prst="rect">
            <a:avLst/>
          </a:prstGeom>
          <a:noFill/>
          <a:ln/>
        </p:spPr>
        <p:txBody>
          <a:bodyPr wrap="square" lIns="0" tIns="0" rIns="0" bIns="0" rtlCol="0" anchor="ctr"/>
          <a:lstStyle/>
          <a:p>
            <a:pPr indent="0" marL="0">
              <a:buNone/>
            </a:pPr>
            <a:r>
              <a:rPr lang="en-US" sz="1400" dirty="0">
                <a:solidFill>
                  <a:schemeClr val="tx1"/>
                </a:solidFill>
              </a:rPr>
              <a:t>Pool + Environment; every setting mapped</a:t>
            </a:r>
            <a:endParaRPr lang="en-US" sz="1400" dirty="0"/>
          </a:p>
        </p:txBody>
      </p:sp>
      <p:sp>
        <p:nvSpPr>
          <p:cNvPr id="11" name="Text 9"/>
          <p:cNvSpPr txBox="1"/>
          <p:nvPr/>
        </p:nvSpPr>
        <p:spPr>
          <a:xfrm>
            <a:off x="685800" y="2441448"/>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Notebooks</a:t>
            </a:r>
            <a:endParaRPr lang="en-US" sz="1500" dirty="0"/>
          </a:p>
        </p:txBody>
      </p:sp>
      <p:sp>
        <p:nvSpPr>
          <p:cNvPr id="12" name="Notebooks Assistant status"/>
          <p:cNvSpPr txBox="1"/>
          <p:nvPr/>
        </p:nvSpPr>
        <p:spPr>
          <a:xfrm>
            <a:off x="3429000" y="2532888"/>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13" name="Text 11"/>
          <p:cNvSpPr txBox="1"/>
          <p:nvPr/>
        </p:nvSpPr>
        <p:spPr>
          <a:xfrm>
            <a:off x="4800600" y="2441448"/>
            <a:ext cx="2514600" cy="502920"/>
          </a:xfrm>
          <a:prstGeom prst="rect">
            <a:avLst/>
          </a:prstGeom>
          <a:noFill/>
          <a:ln/>
        </p:spPr>
        <p:txBody>
          <a:bodyPr wrap="square" lIns="0" tIns="0" rIns="0" bIns="0" rtlCol="0" anchor="ctr"/>
          <a:lstStyle/>
          <a:p>
            <a:pPr indent="0" marL="0">
              <a:buNone/>
            </a:pPr>
            <a:r>
              <a:rPr lang="en-US" sz="1400" dirty="0">
                <a:solidFill>
                  <a:schemeClr val="tx1"/>
                </a:solidFill>
              </a:rPr>
              <a:t>With their Environment</a:t>
            </a:r>
            <a:endParaRPr lang="en-US" sz="1400" dirty="0"/>
          </a:p>
        </p:txBody>
      </p:sp>
      <p:sp>
        <p:nvSpPr>
          <p:cNvPr id="14" name="Notebooks Accelerator status"/>
          <p:cNvSpPr txBox="1"/>
          <p:nvPr/>
        </p:nvSpPr>
        <p:spPr>
          <a:xfrm>
            <a:off x="7543800" y="2532888"/>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15" name="Text 13"/>
          <p:cNvSpPr txBox="1"/>
          <p:nvPr/>
        </p:nvSpPr>
        <p:spPr>
          <a:xfrm>
            <a:off x="8915400" y="2441448"/>
            <a:ext cx="2697480" cy="502920"/>
          </a:xfrm>
          <a:prstGeom prst="rect">
            <a:avLst/>
          </a:prstGeom>
          <a:noFill/>
          <a:ln/>
        </p:spPr>
        <p:txBody>
          <a:bodyPr wrap="square" lIns="0" tIns="0" rIns="0" bIns="0" rtlCol="0" anchor="ctr"/>
          <a:lstStyle/>
          <a:p>
            <a:pPr indent="0" marL="0">
              <a:buNone/>
            </a:pPr>
            <a:r>
              <a:rPr lang="en-US" sz="1400" dirty="0">
                <a:solidFill>
                  <a:schemeClr val="tx1"/>
                </a:solidFill>
              </a:rPr>
              <a:t>Code rewritten for Fabric</a:t>
            </a:r>
            <a:endParaRPr lang="en-US" sz="1400" dirty="0"/>
          </a:p>
        </p:txBody>
      </p:sp>
      <p:sp>
        <p:nvSpPr>
          <p:cNvPr id="16" name="Row 3 band"/>
          <p:cNvSpPr/>
          <p:nvPr/>
        </p:nvSpPr>
        <p:spPr>
          <a:xfrm>
            <a:off x="548640" y="2999232"/>
            <a:ext cx="11064240" cy="612648"/>
          </a:xfrm>
          <a:prstGeom prst="rect">
            <a:avLst/>
          </a:prstGeom>
          <a:solidFill>
            <a:schemeClr val="bg2"/>
          </a:solidFill>
          <a:ln w="12700">
            <a:solidFill>
              <a:schemeClr val="bg2"/>
            </a:solidFill>
            <a:prstDash val="solid"/>
          </a:ln>
        </p:spPr>
      </p:sp>
      <p:sp>
        <p:nvSpPr>
          <p:cNvPr id="17" name="Text 15"/>
          <p:cNvSpPr txBox="1"/>
          <p:nvPr/>
        </p:nvSpPr>
        <p:spPr>
          <a:xfrm>
            <a:off x="685800" y="3054096"/>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Spark job definitions</a:t>
            </a:r>
            <a:endParaRPr lang="en-US" sz="1500" dirty="0"/>
          </a:p>
        </p:txBody>
      </p:sp>
      <p:sp>
        <p:nvSpPr>
          <p:cNvPr id="18" name="Spark job definitions Assistant status"/>
          <p:cNvSpPr txBox="1"/>
          <p:nvPr/>
        </p:nvSpPr>
        <p:spPr>
          <a:xfrm>
            <a:off x="3429000" y="3145536"/>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19" name="Text 17"/>
          <p:cNvSpPr txBox="1"/>
          <p:nvPr/>
        </p:nvSpPr>
        <p:spPr>
          <a:xfrm>
            <a:off x="4800600" y="3054096"/>
            <a:ext cx="2514600" cy="502920"/>
          </a:xfrm>
          <a:prstGeom prst="rect">
            <a:avLst/>
          </a:prstGeom>
          <a:noFill/>
          <a:ln/>
        </p:spPr>
        <p:txBody>
          <a:bodyPr wrap="square" lIns="0" tIns="0" rIns="0" bIns="0" rtlCol="0" anchor="ctr"/>
          <a:lstStyle/>
          <a:p>
            <a:pPr indent="0" marL="0">
              <a:buNone/>
            </a:pPr>
            <a:r>
              <a:rPr lang="en-US" sz="1400" dirty="0">
                <a:solidFill>
                  <a:schemeClr val="tx1"/>
                </a:solidFill>
              </a:rPr>
              <a:t>With their Environment</a:t>
            </a:r>
            <a:endParaRPr lang="en-US" sz="1400" dirty="0"/>
          </a:p>
        </p:txBody>
      </p:sp>
      <p:sp>
        <p:nvSpPr>
          <p:cNvPr id="20" name="Spark job definitions Accelerator status"/>
          <p:cNvSpPr txBox="1"/>
          <p:nvPr/>
        </p:nvSpPr>
        <p:spPr>
          <a:xfrm>
            <a:off x="7543800" y="3145536"/>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21" name="Text 19"/>
          <p:cNvSpPr txBox="1"/>
          <p:nvPr/>
        </p:nvSpPr>
        <p:spPr>
          <a:xfrm>
            <a:off x="8915400" y="3054096"/>
            <a:ext cx="2697480" cy="502920"/>
          </a:xfrm>
          <a:prstGeom prst="rect">
            <a:avLst/>
          </a:prstGeom>
          <a:noFill/>
          <a:ln/>
        </p:spPr>
        <p:txBody>
          <a:bodyPr wrap="square" lIns="0" tIns="0" rIns="0" bIns="0" rtlCol="0" anchor="ctr"/>
          <a:lstStyle/>
          <a:p>
            <a:pPr indent="0" marL="0">
              <a:buNone/>
            </a:pPr>
            <a:r>
              <a:rPr lang="en-US" sz="1400" dirty="0">
                <a:solidFill>
                  <a:schemeClr val="tx1"/>
                </a:solidFill>
              </a:rPr>
              <a:t>Bound to its Environment; main file rewritten</a:t>
            </a:r>
            <a:endParaRPr lang="en-US" sz="1400" dirty="0"/>
          </a:p>
        </p:txBody>
      </p:sp>
      <p:sp>
        <p:nvSpPr>
          <p:cNvPr id="22" name="Text 20"/>
          <p:cNvSpPr txBox="1"/>
          <p:nvPr/>
        </p:nvSpPr>
        <p:spPr>
          <a:xfrm>
            <a:off x="685800" y="3666744"/>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Spark libraries</a:t>
            </a:r>
            <a:endParaRPr lang="en-US" sz="1500" dirty="0"/>
          </a:p>
        </p:txBody>
      </p:sp>
      <p:sp>
        <p:nvSpPr>
          <p:cNvPr id="23" name="Spark libraries Assistant status"/>
          <p:cNvSpPr txBox="1"/>
          <p:nvPr/>
        </p:nvSpPr>
        <p:spPr>
          <a:xfrm>
            <a:off x="3429000" y="3758184"/>
            <a:ext cx="123444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Not migrated</a:t>
            </a:r>
            <a:endParaRPr lang="en-US" sz="1300" dirty="0"/>
          </a:p>
        </p:txBody>
      </p:sp>
      <p:sp>
        <p:nvSpPr>
          <p:cNvPr id="24" name="Spark libraries Accelerator status"/>
          <p:cNvSpPr txBox="1"/>
          <p:nvPr/>
        </p:nvSpPr>
        <p:spPr>
          <a:xfrm>
            <a:off x="7543800" y="3758184"/>
            <a:ext cx="1234440" cy="329184"/>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Flagged</a:t>
            </a:r>
            <a:endParaRPr lang="en-US" sz="1300" dirty="0"/>
          </a:p>
        </p:txBody>
      </p:sp>
      <p:sp>
        <p:nvSpPr>
          <p:cNvPr id="25" name="Text 23"/>
          <p:cNvSpPr txBox="1"/>
          <p:nvPr/>
        </p:nvSpPr>
        <p:spPr>
          <a:xfrm>
            <a:off x="8915400" y="3666744"/>
            <a:ext cx="2697480" cy="502920"/>
          </a:xfrm>
          <a:prstGeom prst="rect">
            <a:avLst/>
          </a:prstGeom>
          <a:noFill/>
          <a:ln/>
        </p:spPr>
        <p:txBody>
          <a:bodyPr wrap="square" lIns="0" tIns="0" rIns="0" bIns="0" rtlCol="0" anchor="ctr"/>
          <a:lstStyle/>
          <a:p>
            <a:pPr indent="0" marL="0">
              <a:buNone/>
            </a:pPr>
            <a:r>
              <a:rPr lang="en-US" sz="1400" dirty="0">
                <a:solidFill>
                  <a:schemeClr val="tx1"/>
                </a:solidFill>
              </a:rPr>
              <a:t>Discovered and listed for a person</a:t>
            </a:r>
            <a:endParaRPr lang="en-US" sz="1400" dirty="0"/>
          </a:p>
        </p:txBody>
      </p:sp>
      <p:sp>
        <p:nvSpPr>
          <p:cNvPr id="26" name="Row 5 band"/>
          <p:cNvSpPr/>
          <p:nvPr/>
        </p:nvSpPr>
        <p:spPr>
          <a:xfrm>
            <a:off x="548640" y="4224528"/>
            <a:ext cx="11064240" cy="612648"/>
          </a:xfrm>
          <a:prstGeom prst="rect">
            <a:avLst/>
          </a:prstGeom>
          <a:solidFill>
            <a:schemeClr val="bg2"/>
          </a:solidFill>
          <a:ln w="12700">
            <a:solidFill>
              <a:schemeClr val="bg2"/>
            </a:solidFill>
            <a:prstDash val="solid"/>
          </a:ln>
        </p:spPr>
      </p:sp>
      <p:sp>
        <p:nvSpPr>
          <p:cNvPr id="27" name="Text 25"/>
          <p:cNvSpPr txBox="1"/>
          <p:nvPr/>
        </p:nvSpPr>
        <p:spPr>
          <a:xfrm>
            <a:off x="685800" y="4279392"/>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Spark configuration</a:t>
            </a:r>
            <a:endParaRPr lang="en-US" sz="1500" dirty="0"/>
          </a:p>
        </p:txBody>
      </p:sp>
      <p:sp>
        <p:nvSpPr>
          <p:cNvPr id="28" name="Spark configuration Assistant status"/>
          <p:cNvSpPr txBox="1"/>
          <p:nvPr/>
        </p:nvSpPr>
        <p:spPr>
          <a:xfrm>
            <a:off x="3429000" y="4370832"/>
            <a:ext cx="123444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Not migrated</a:t>
            </a:r>
            <a:endParaRPr lang="en-US" sz="1300" dirty="0"/>
          </a:p>
        </p:txBody>
      </p:sp>
      <p:sp>
        <p:nvSpPr>
          <p:cNvPr id="29" name="Spark configuration Accelerator status"/>
          <p:cNvSpPr txBox="1"/>
          <p:nvPr/>
        </p:nvSpPr>
        <p:spPr>
          <a:xfrm>
            <a:off x="7543800" y="4370832"/>
            <a:ext cx="1234440" cy="329184"/>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Flagged</a:t>
            </a:r>
            <a:endParaRPr lang="en-US" sz="1300" dirty="0"/>
          </a:p>
        </p:txBody>
      </p:sp>
      <p:sp>
        <p:nvSpPr>
          <p:cNvPr id="30" name="Text 28"/>
          <p:cNvSpPr txBox="1"/>
          <p:nvPr/>
        </p:nvSpPr>
        <p:spPr>
          <a:xfrm>
            <a:off x="8915400" y="4279392"/>
            <a:ext cx="2697480" cy="502920"/>
          </a:xfrm>
          <a:prstGeom prst="rect">
            <a:avLst/>
          </a:prstGeom>
          <a:noFill/>
          <a:ln/>
        </p:spPr>
        <p:txBody>
          <a:bodyPr wrap="square" lIns="0" tIns="0" rIns="0" bIns="0" rtlCol="0" anchor="ctr"/>
          <a:lstStyle/>
          <a:p>
            <a:pPr indent="0" marL="0">
              <a:buNone/>
            </a:pPr>
            <a:r>
              <a:rPr lang="en-US" sz="1400" dirty="0">
                <a:solidFill>
                  <a:schemeClr val="tx1"/>
                </a:solidFill>
              </a:rPr>
              <a:t>Noted on each object it affects</a:t>
            </a:r>
            <a:endParaRPr lang="en-US" sz="1400" dirty="0"/>
          </a:p>
        </p:txBody>
      </p:sp>
      <p:sp>
        <p:nvSpPr>
          <p:cNvPr id="31" name="Text 29"/>
          <p:cNvSpPr txBox="1"/>
          <p:nvPr/>
        </p:nvSpPr>
        <p:spPr>
          <a:xfrm>
            <a:off x="685800" y="4892040"/>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Executor settings</a:t>
            </a:r>
            <a:endParaRPr lang="en-US" sz="1500" dirty="0"/>
          </a:p>
        </p:txBody>
      </p:sp>
      <p:sp>
        <p:nvSpPr>
          <p:cNvPr id="32" name="Executor settings Assistant status"/>
          <p:cNvSpPr txBox="1"/>
          <p:nvPr/>
        </p:nvSpPr>
        <p:spPr>
          <a:xfrm>
            <a:off x="3429000" y="4983480"/>
            <a:ext cx="123444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Not migrated</a:t>
            </a:r>
            <a:endParaRPr lang="en-US" sz="1300" dirty="0"/>
          </a:p>
        </p:txBody>
      </p:sp>
      <p:sp>
        <p:nvSpPr>
          <p:cNvPr id="33" name="Executor settings Accelerator status"/>
          <p:cNvSpPr txBox="1"/>
          <p:nvPr/>
        </p:nvSpPr>
        <p:spPr>
          <a:xfrm>
            <a:off x="7543800" y="4983480"/>
            <a:ext cx="1234440" cy="329184"/>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Partly</a:t>
            </a:r>
            <a:endParaRPr lang="en-US" sz="1300" dirty="0"/>
          </a:p>
        </p:txBody>
      </p:sp>
      <p:sp>
        <p:nvSpPr>
          <p:cNvPr id="34" name="Text 32"/>
          <p:cNvSpPr txBox="1"/>
          <p:nvPr/>
        </p:nvSpPr>
        <p:spPr>
          <a:xfrm>
            <a:off x="8915400" y="4892040"/>
            <a:ext cx="2697480" cy="502920"/>
          </a:xfrm>
          <a:prstGeom prst="rect">
            <a:avLst/>
          </a:prstGeom>
          <a:noFill/>
          <a:ln/>
        </p:spPr>
        <p:txBody>
          <a:bodyPr wrap="square" lIns="0" tIns="0" rIns="0" bIns="0" rtlCol="0" anchor="ctr"/>
          <a:lstStyle/>
          <a:p>
            <a:pPr indent="0" marL="0">
              <a:buNone/>
            </a:pPr>
            <a:r>
              <a:rPr lang="en-US" sz="1400" dirty="0">
                <a:solidFill>
                  <a:schemeClr val="tx1"/>
                </a:solidFill>
              </a:rPr>
              <a:t>Pool sizing and dynamic allocation kept</a:t>
            </a:r>
            <a:endParaRPr lang="en-US" sz="1400" dirty="0"/>
          </a:p>
        </p:txBody>
      </p:sp>
      <p:sp>
        <p:nvSpPr>
          <p:cNvPr id="35" name="Row 7 band"/>
          <p:cNvSpPr/>
          <p:nvPr/>
        </p:nvSpPr>
        <p:spPr>
          <a:xfrm>
            <a:off x="548640" y="5449824"/>
            <a:ext cx="11064240" cy="612648"/>
          </a:xfrm>
          <a:prstGeom prst="rect">
            <a:avLst/>
          </a:prstGeom>
          <a:solidFill>
            <a:schemeClr val="bg2"/>
          </a:solidFill>
          <a:ln w="12700">
            <a:solidFill>
              <a:schemeClr val="bg2"/>
            </a:solidFill>
            <a:prstDash val="solid"/>
          </a:ln>
        </p:spPr>
      </p:sp>
      <p:sp>
        <p:nvSpPr>
          <p:cNvPr id="36" name="Text 34"/>
          <p:cNvSpPr txBox="1"/>
          <p:nvPr/>
        </p:nvSpPr>
        <p:spPr>
          <a:xfrm>
            <a:off x="685800" y="5504688"/>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Lake databases</a:t>
            </a:r>
            <a:endParaRPr lang="en-US" sz="1500" dirty="0"/>
          </a:p>
        </p:txBody>
      </p:sp>
      <p:sp>
        <p:nvSpPr>
          <p:cNvPr id="37" name="Lake databases Assistant status"/>
          <p:cNvSpPr txBox="1"/>
          <p:nvPr/>
        </p:nvSpPr>
        <p:spPr>
          <a:xfrm>
            <a:off x="3429000" y="5596128"/>
            <a:ext cx="123444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Migrated</a:t>
            </a:r>
            <a:endParaRPr lang="en-US" sz="1300" dirty="0"/>
          </a:p>
        </p:txBody>
      </p:sp>
      <p:sp>
        <p:nvSpPr>
          <p:cNvPr id="38" name="Text 36"/>
          <p:cNvSpPr txBox="1"/>
          <p:nvPr/>
        </p:nvSpPr>
        <p:spPr>
          <a:xfrm>
            <a:off x="4800600" y="5504688"/>
            <a:ext cx="2514600" cy="502920"/>
          </a:xfrm>
          <a:prstGeom prst="rect">
            <a:avLst/>
          </a:prstGeom>
          <a:noFill/>
          <a:ln/>
        </p:spPr>
        <p:txBody>
          <a:bodyPr wrap="square" lIns="0" tIns="0" rIns="0" bIns="0" rtlCol="0" anchor="ctr"/>
          <a:lstStyle/>
          <a:p>
            <a:pPr indent="0" marL="0">
              <a:buNone/>
            </a:pPr>
            <a:r>
              <a:rPr lang="en-US" sz="1400" dirty="0">
                <a:solidFill>
                  <a:schemeClr val="tx1"/>
                </a:solidFill>
              </a:rPr>
              <a:t>Lakehouse schemas + Delta shortcuts</a:t>
            </a:r>
            <a:endParaRPr lang="en-US" sz="1400" dirty="0"/>
          </a:p>
        </p:txBody>
      </p:sp>
      <p:sp>
        <p:nvSpPr>
          <p:cNvPr id="39" name="Lake databases Accelerator status"/>
          <p:cNvSpPr txBox="1"/>
          <p:nvPr/>
        </p:nvSpPr>
        <p:spPr>
          <a:xfrm>
            <a:off x="7543800" y="5596128"/>
            <a:ext cx="123444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Roadmap</a:t>
            </a:r>
            <a:endParaRPr lang="en-US" sz="1300" dirty="0"/>
          </a:p>
        </p:txBody>
      </p:sp>
      <p:sp>
        <p:nvSpPr>
          <p:cNvPr id="40" name="Text 38"/>
          <p:cNvSpPr txBox="1"/>
          <p:nvPr/>
        </p:nvSpPr>
        <p:spPr>
          <a:xfrm>
            <a:off x="8915400" y="5504688"/>
            <a:ext cx="2697480" cy="502920"/>
          </a:xfrm>
          <a:prstGeom prst="rect">
            <a:avLst/>
          </a:prstGeom>
          <a:noFill/>
          <a:ln/>
        </p:spPr>
        <p:txBody>
          <a:bodyPr wrap="square" lIns="0" tIns="0" rIns="0" bIns="0" rtlCol="0" anchor="ctr"/>
          <a:lstStyle/>
          <a:p>
            <a:pPr indent="0" marL="0">
              <a:buNone/>
            </a:pPr>
            <a:r>
              <a:rPr lang="en-US" sz="1400" dirty="0">
                <a:solidFill>
                  <a:schemeClr val="tx1"/>
                </a:solidFill>
              </a:rPr>
              <a:t>On the roadmap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One wizard vs a guided, checked process</a:t>
            </a:r>
            <a:endParaRPr lang="en-US" sz="3400" dirty="0"/>
          </a:p>
        </p:txBody>
      </p:sp>
      <p:sp>
        <p:nvSpPr>
          <p:cNvPr id="3" name="Assistant pill"/>
          <p:cNvSpPr txBox="1"/>
          <p:nvPr/>
        </p:nvSpPr>
        <p:spPr>
          <a:xfrm>
            <a:off x="548640" y="1371600"/>
            <a:ext cx="21945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Microsoft assistant</a:t>
            </a:r>
            <a:endParaRPr lang="en-US" sz="1300" dirty="0"/>
          </a:p>
        </p:txBody>
      </p:sp>
      <p:sp>
        <p:nvSpPr>
          <p:cNvPr id="4" name="Assistant step 1"/>
          <p:cNvSpPr txBox="1"/>
          <p:nvPr/>
        </p:nvSpPr>
        <p:spPr>
          <a:xfrm>
            <a:off x="548640" y="1828800"/>
            <a:ext cx="2286000" cy="777240"/>
          </a:xfrm>
          <a:prstGeom prst="homePlate">
            <a:avLst/>
          </a:prstGeom>
          <a:solidFill>
            <a:schemeClr val="accent2"/>
          </a:solidFill>
          <a:ln/>
        </p:spPr>
        <p:txBody>
          <a:bodyPr wrap="square" lIns="0" tIns="0" rIns="0" bIns="0" rtlCol="0" anchor="ctr"/>
          <a:lstStyle/>
          <a:p>
            <a:pPr algn="ctr" indent="0" marL="0">
              <a:buNone/>
            </a:pPr>
            <a:r>
              <a:rPr lang="en-US" sz="1500" b="1" dirty="0">
                <a:solidFill>
                  <a:schemeClr val="bg1"/>
                </a:solidFill>
              </a:rPr>
              <a:t>Pick source</a:t>
            </a:r>
            <a:endParaRPr lang="en-US" sz="1500" dirty="0"/>
          </a:p>
        </p:txBody>
      </p:sp>
      <p:sp>
        <p:nvSpPr>
          <p:cNvPr id="5" name="Assistant step 2"/>
          <p:cNvSpPr txBox="1"/>
          <p:nvPr/>
        </p:nvSpPr>
        <p:spPr>
          <a:xfrm>
            <a:off x="2743200" y="1828800"/>
            <a:ext cx="2286000" cy="777240"/>
          </a:xfrm>
          <a:prstGeom prst="chevron">
            <a:avLst/>
          </a:prstGeom>
          <a:solidFill>
            <a:schemeClr val="accent2"/>
          </a:solidFill>
          <a:ln/>
        </p:spPr>
        <p:txBody>
          <a:bodyPr wrap="square" lIns="0" tIns="0" rIns="0" bIns="0" rtlCol="0" anchor="ctr"/>
          <a:lstStyle/>
          <a:p>
            <a:pPr algn="ctr" indent="0" marL="0">
              <a:buNone/>
            </a:pPr>
            <a:r>
              <a:rPr lang="en-US" sz="1500" b="1" dirty="0">
                <a:solidFill>
                  <a:schemeClr val="bg1"/>
                </a:solidFill>
              </a:rPr>
              <a:t>Pick target</a:t>
            </a:r>
            <a:endParaRPr lang="en-US" sz="1500" dirty="0"/>
          </a:p>
        </p:txBody>
      </p:sp>
      <p:sp>
        <p:nvSpPr>
          <p:cNvPr id="6" name="Assistant step 3"/>
          <p:cNvSpPr txBox="1"/>
          <p:nvPr/>
        </p:nvSpPr>
        <p:spPr>
          <a:xfrm>
            <a:off x="4937760" y="1828800"/>
            <a:ext cx="2286000" cy="777240"/>
          </a:xfrm>
          <a:prstGeom prst="chevron">
            <a:avLst/>
          </a:prstGeom>
          <a:solidFill>
            <a:schemeClr val="accent2"/>
          </a:solidFill>
          <a:ln/>
        </p:spPr>
        <p:txBody>
          <a:bodyPr wrap="square" lIns="0" tIns="0" rIns="0" bIns="0" rtlCol="0" anchor="ctr"/>
          <a:lstStyle/>
          <a:p>
            <a:pPr algn="ctr" indent="0" marL="0">
              <a:buNone/>
            </a:pPr>
            <a:r>
              <a:rPr lang="en-US" sz="1500" b="1" dirty="0">
                <a:solidFill>
                  <a:schemeClr val="bg1"/>
                </a:solidFill>
              </a:rPr>
              <a:t>Gateway connection</a:t>
            </a:r>
            <a:endParaRPr lang="en-US" sz="1500" dirty="0"/>
          </a:p>
        </p:txBody>
      </p:sp>
      <p:sp>
        <p:nvSpPr>
          <p:cNvPr id="7" name="Assistant step 4"/>
          <p:cNvSpPr txBox="1"/>
          <p:nvPr/>
        </p:nvSpPr>
        <p:spPr>
          <a:xfrm>
            <a:off x="7132320" y="1828800"/>
            <a:ext cx="2286000" cy="777240"/>
          </a:xfrm>
          <a:prstGeom prst="chevron">
            <a:avLst/>
          </a:prstGeom>
          <a:solidFill>
            <a:schemeClr val="accent2"/>
          </a:solidFill>
          <a:ln/>
        </p:spPr>
        <p:txBody>
          <a:bodyPr wrap="square" lIns="0" tIns="0" rIns="0" bIns="0" rtlCol="0" anchor="ctr"/>
          <a:lstStyle/>
          <a:p>
            <a:pPr algn="ctr" indent="0" marL="0">
              <a:buNone/>
            </a:pPr>
            <a:r>
              <a:rPr lang="en-US" sz="1500" b="1" dirty="0">
                <a:solidFill>
                  <a:schemeClr val="bg1"/>
                </a:solidFill>
              </a:rPr>
              <a:t>Migrate</a:t>
            </a:r>
            <a:endParaRPr lang="en-US" sz="1500" dirty="0"/>
          </a:p>
        </p:txBody>
      </p:sp>
      <p:sp>
        <p:nvSpPr>
          <p:cNvPr id="8" name="Assistant step 5"/>
          <p:cNvSpPr txBox="1"/>
          <p:nvPr/>
        </p:nvSpPr>
        <p:spPr>
          <a:xfrm>
            <a:off x="9326880" y="1828800"/>
            <a:ext cx="2286000" cy="777240"/>
          </a:xfrm>
          <a:prstGeom prst="chevron">
            <a:avLst/>
          </a:prstGeom>
          <a:solidFill>
            <a:schemeClr val="accent2"/>
          </a:solidFill>
          <a:ln/>
        </p:spPr>
        <p:txBody>
          <a:bodyPr wrap="square" lIns="0" tIns="0" rIns="0" bIns="0" rtlCol="0" anchor="ctr"/>
          <a:lstStyle/>
          <a:p>
            <a:pPr algn="ctr" indent="0" marL="0">
              <a:buNone/>
            </a:pPr>
            <a:r>
              <a:rPr lang="en-US" sz="1500" b="1" dirty="0">
                <a:solidFill>
                  <a:schemeClr val="bg1"/>
                </a:solidFill>
              </a:rPr>
              <a:t>Read report</a:t>
            </a:r>
            <a:endParaRPr lang="en-US" sz="1500" dirty="0"/>
          </a:p>
        </p:txBody>
      </p:sp>
      <p:sp>
        <p:nvSpPr>
          <p:cNvPr id="9" name="Text 7"/>
          <p:cNvSpPr txBox="1"/>
          <p:nvPr/>
        </p:nvSpPr>
        <p:spPr>
          <a:xfrm>
            <a:off x="548640" y="2788920"/>
            <a:ext cx="11064240" cy="685800"/>
          </a:xfrm>
          <a:prstGeom prst="rect">
            <a:avLst/>
          </a:prstGeom>
          <a:noFill/>
          <a:ln/>
        </p:spPr>
        <p:txBody>
          <a:bodyPr wrap="square" lIns="0" tIns="0" rIns="0" bIns="0" rtlCol="0" anchor="t"/>
          <a:lstStyle/>
          <a:p>
            <a:pPr indent="0" marL="0">
              <a:buNone/>
            </a:pPr>
            <a:r>
              <a:rPr lang="en-US" sz="1600" dirty="0">
                <a:solidFill>
                  <a:schemeClr val="tx1"/>
                </a:solidFill>
              </a:rPr>
              <a:t>A wizard in the Fabric portal (Migrate → Data engineering items). The gateway connection to the workspace's ADLS account is optional, but without it lake databases are skipped.</a:t>
            </a:r>
            <a:endParaRPr lang="en-US" sz="1600" dirty="0"/>
          </a:p>
        </p:txBody>
      </p:sp>
      <p:sp>
        <p:nvSpPr>
          <p:cNvPr id="10" name="Accelerator pill"/>
          <p:cNvSpPr txBox="1"/>
          <p:nvPr/>
        </p:nvSpPr>
        <p:spPr>
          <a:xfrm>
            <a:off x="548640" y="3703320"/>
            <a:ext cx="210312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Our accelerator</a:t>
            </a:r>
            <a:endParaRPr lang="en-US" sz="1300" dirty="0"/>
          </a:p>
        </p:txBody>
      </p:sp>
      <p:sp>
        <p:nvSpPr>
          <p:cNvPr id="11" name="Accelerator step 1"/>
          <p:cNvSpPr txBox="1"/>
          <p:nvPr/>
        </p:nvSpPr>
        <p:spPr>
          <a:xfrm>
            <a:off x="548640" y="4160520"/>
            <a:ext cx="1920240" cy="777240"/>
          </a:xfrm>
          <a:prstGeom prst="homePlate">
            <a:avLst/>
          </a:prstGeom>
          <a:solidFill>
            <a:schemeClr val="accent1"/>
          </a:solidFill>
          <a:ln/>
        </p:spPr>
        <p:txBody>
          <a:bodyPr wrap="square" lIns="0" tIns="0" rIns="0" bIns="0" rtlCol="0" anchor="ctr"/>
          <a:lstStyle/>
          <a:p>
            <a:pPr algn="ctr" indent="0" marL="0">
              <a:buNone/>
            </a:pPr>
            <a:r>
              <a:rPr lang="en-US" sz="1500" b="1" dirty="0">
                <a:solidFill>
                  <a:schemeClr val="bg1"/>
                </a:solidFill>
              </a:rPr>
              <a:t>Discover</a:t>
            </a:r>
            <a:endParaRPr lang="en-US" sz="1500" dirty="0"/>
          </a:p>
        </p:txBody>
      </p:sp>
      <p:sp>
        <p:nvSpPr>
          <p:cNvPr id="12" name="Accelerator step 2"/>
          <p:cNvSpPr txBox="1"/>
          <p:nvPr/>
        </p:nvSpPr>
        <p:spPr>
          <a:xfrm>
            <a:off x="2377440" y="4160520"/>
            <a:ext cx="1920240" cy="77724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Assess</a:t>
            </a:r>
            <a:endParaRPr lang="en-US" sz="1500" dirty="0"/>
          </a:p>
        </p:txBody>
      </p:sp>
      <p:sp>
        <p:nvSpPr>
          <p:cNvPr id="13" name="Accelerator step 3"/>
          <p:cNvSpPr txBox="1"/>
          <p:nvPr/>
        </p:nvSpPr>
        <p:spPr>
          <a:xfrm>
            <a:off x="4206240" y="4160520"/>
            <a:ext cx="1920240" cy="77724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Waves</a:t>
            </a:r>
            <a:endParaRPr lang="en-US" sz="1500" dirty="0"/>
          </a:p>
        </p:txBody>
      </p:sp>
      <p:sp>
        <p:nvSpPr>
          <p:cNvPr id="14" name="Accelerator step 4"/>
          <p:cNvSpPr txBox="1"/>
          <p:nvPr/>
        </p:nvSpPr>
        <p:spPr>
          <a:xfrm>
            <a:off x="6035040" y="4160520"/>
            <a:ext cx="1920240" cy="77724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Plan</a:t>
            </a:r>
            <a:endParaRPr lang="en-US" sz="1500" dirty="0"/>
          </a:p>
        </p:txBody>
      </p:sp>
      <p:sp>
        <p:nvSpPr>
          <p:cNvPr id="15" name="Accelerator step 5"/>
          <p:cNvSpPr txBox="1"/>
          <p:nvPr/>
        </p:nvSpPr>
        <p:spPr>
          <a:xfrm>
            <a:off x="7863840" y="4160520"/>
            <a:ext cx="1920240" cy="77724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Migrate</a:t>
            </a:r>
            <a:endParaRPr lang="en-US" sz="1500" dirty="0"/>
          </a:p>
        </p:txBody>
      </p:sp>
      <p:sp>
        <p:nvSpPr>
          <p:cNvPr id="16" name="Accelerator step 6"/>
          <p:cNvSpPr txBox="1"/>
          <p:nvPr/>
        </p:nvSpPr>
        <p:spPr>
          <a:xfrm>
            <a:off x="9692640" y="4160520"/>
            <a:ext cx="1920240" cy="77724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Validate</a:t>
            </a:r>
            <a:endParaRPr lang="en-US" sz="1500" dirty="0"/>
          </a:p>
        </p:txBody>
      </p:sp>
      <p:sp>
        <p:nvSpPr>
          <p:cNvPr id="17" name="Text 15"/>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600" dirty="0">
                <a:solidFill>
                  <a:schemeClr val="tx1"/>
                </a:solidFill>
              </a:rPr>
              <a:t>Discover reads pools and libraries and scans every notebook cell. Plan lists Spark risks. Migrate creates Environments, then the jobs that use them. Validate checks that items run in Fabric.</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Spark pools: every setting mapped and explained</a:t>
            </a:r>
            <a:endParaRPr lang="en-US" sz="3400" dirty="0"/>
          </a:p>
        </p:txBody>
      </p:sp>
      <p:graphicFrame>
        <p:nvGraphicFramePr>
          <p:cNvPr id="7" name="Pool mapping table"/>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2743200"/>
                <a:gridCol w="4846320"/>
              </a:tblGrid>
              <a:tr h="438912">
                <a:tc>
                  <a:txBody>
                    <a:bodyPr/>
                    <a:lstStyle/>
                    <a:p>
                      <a:pPr indent="0" marL="0">
                        <a:buNone/>
                      </a:pPr>
                      <a:r>
                        <a:rPr lang="en-US" sz="1500" b="1" dirty="0">
                          <a:solidFill>
                            <a:schemeClr val="bg1"/>
                          </a:solidFill>
                        </a:rPr>
                        <a:t>Synapse setting</a:t>
                      </a:r>
                      <a:endParaRPr lang="en-US" sz="15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Our accelerator in Fabric</a:t>
                      </a:r>
                      <a:endParaRPr lang="en-US" sz="15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1"/>
                          </a:solidFill>
                        </a:rPr>
                        <a:t>Node size (Small–XXLarge)</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Same size on a custom pool; driver and executor cores and memory set from it</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Node family</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MemoryOptimized; any other family is noted</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Autoscale min / max nodes</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Kept; a fixed node count becomes min = max</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Dynamic executor allocation</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Kept, with its min and max executors</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Spark 3.1–3.4  /  3.5</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Runtime 1.2 (Spark 3.4)  /  Runtime 1.3 (Spark 3.5)</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Auto-pause</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Dropped: Fabric ends idle sessions on its own</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Libraries</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 copied; noted on the Environment</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Custom pool refused</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Environment falls back to the Starter Pool</a:t>
                      </a:r>
                      <a:endParaRPr lang="en-US" sz="1400" dirty="0"/>
                    </a:p>
                  </a:txBody>
                  <a:tcPr marL="101600" marR="101600" marT="38100" marB="381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bl>
          </a:graphicData>
        </a:graphic>
      </p:graphicFrame>
      <p:sp>
        <p:nvSpPr>
          <p:cNvPr id="4" name="Assistant pool card"/>
          <p:cNvSpPr/>
          <p:nvPr/>
        </p:nvSpPr>
        <p:spPr>
          <a:xfrm>
            <a:off x="8458200" y="1325880"/>
            <a:ext cx="3154680" cy="4828032"/>
          </a:xfrm>
          <a:prstGeom prst="roundRect">
            <a:avLst>
              <a:gd name="adj" fmla="val 3478"/>
            </a:avLst>
          </a:prstGeom>
          <a:solidFill>
            <a:schemeClr val="bg2"/>
          </a:solidFill>
          <a:ln w="12700">
            <a:solidFill>
              <a:schemeClr val="bg2"/>
            </a:solidFill>
            <a:prstDash val="solid"/>
          </a:ln>
        </p:spPr>
      </p:sp>
      <p:sp>
        <p:nvSpPr>
          <p:cNvPr id="5" name="Assistant pill"/>
          <p:cNvSpPr txBox="1"/>
          <p:nvPr/>
        </p:nvSpPr>
        <p:spPr>
          <a:xfrm>
            <a:off x="8732520" y="1600200"/>
            <a:ext cx="21945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Microsoft assistant</a:t>
            </a:r>
            <a:endParaRPr lang="en-US" sz="1300" dirty="0"/>
          </a:p>
        </p:txBody>
      </p:sp>
      <p:sp>
        <p:nvSpPr>
          <p:cNvPr id="6" name="Text 3"/>
          <p:cNvSpPr txBox="1"/>
          <p:nvPr/>
        </p:nvSpPr>
        <p:spPr>
          <a:xfrm>
            <a:off x="8732520" y="2194560"/>
            <a:ext cx="2606040" cy="1371600"/>
          </a:xfrm>
          <a:prstGeom prst="rect">
            <a:avLst/>
          </a:prstGeom>
          <a:noFill/>
          <a:ln/>
        </p:spPr>
        <p:txBody>
          <a:bodyPr wrap="square" lIns="0" tIns="0" rIns="0" bIns="0" rtlCol="0" anchor="t"/>
          <a:lstStyle/>
          <a:p>
            <a:pPr indent="0" marL="0">
              <a:buNone/>
            </a:pPr>
            <a:r>
              <a:rPr lang="en-US" sz="1600" i="1" dirty="0">
                <a:solidFill>
                  <a:schemeClr val="tx2"/>
                </a:solidFill>
              </a:rPr>
              <a:t>"Spark pools are migrated to Fabric Pools and corresponding environments."</a:t>
            </a:r>
            <a:endParaRPr lang="en-US" sz="1600" dirty="0"/>
          </a:p>
        </p:txBody>
      </p:sp>
      <p:sp>
        <p:nvSpPr>
          <p:cNvPr id="7" name="Text 4"/>
          <p:cNvSpPr txBox="1"/>
          <p:nvPr/>
        </p:nvSpPr>
        <p:spPr>
          <a:xfrm>
            <a:off x="8732520" y="3429000"/>
            <a:ext cx="2606040" cy="2286000"/>
          </a:xfrm>
          <a:prstGeom prst="rect">
            <a:avLst/>
          </a:prstGeom>
          <a:noFill/>
          <a:ln/>
        </p:spPr>
        <p:txBody>
          <a:bodyPr wrap="square" lIns="0" tIns="0" rIns="0" bIns="0" rtlCol="0" anchor="t"/>
          <a:lstStyle/>
          <a:p>
            <a:pPr indent="0" marL="0">
              <a:buNone/>
            </a:pPr>
            <a:r>
              <a:rPr lang="en-US" sz="1400" dirty="0">
                <a:solidFill>
                  <a:schemeClr val="tx1"/>
                </a:solidFill>
              </a:rPr>
              <a:t>The page doesn't say how node size, scale or Spark version are mapped. Libraries, Spark configuration and custom executor settings aren't migrated.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Notebooks: the code is converted, not just copied</a:t>
            </a:r>
            <a:endParaRPr lang="en-US" sz="3400" dirty="0"/>
          </a:p>
        </p:txBody>
      </p:sp>
      <p:sp>
        <p:nvSpPr>
          <p:cNvPr id="3" name="Rewritten chip"/>
          <p:cNvSpPr txBox="1"/>
          <p:nvPr/>
        </p:nvSpPr>
        <p:spPr>
          <a:xfrm>
            <a:off x="548640" y="1417320"/>
            <a:ext cx="192024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Rewritten</a:t>
            </a:r>
            <a:endParaRPr lang="en-US" sz="1300" dirty="0"/>
          </a:p>
        </p:txBody>
      </p:sp>
      <p:sp>
        <p:nvSpPr>
          <p:cNvPr id="4" name="Text 2"/>
          <p:cNvSpPr txBox="1"/>
          <p:nvPr/>
        </p:nvSpPr>
        <p:spPr>
          <a:xfrm>
            <a:off x="2651760" y="1371600"/>
            <a:ext cx="3611880" cy="914400"/>
          </a:xfrm>
          <a:prstGeom prst="rect">
            <a:avLst/>
          </a:prstGeom>
          <a:noFill/>
          <a:ln/>
        </p:spPr>
        <p:txBody>
          <a:bodyPr wrap="square" lIns="0" tIns="0" rIns="0" bIns="0" rtlCol="0" anchor="t"/>
          <a:lstStyle/>
          <a:p>
            <a:pPr indent="0" marL="0">
              <a:buNone/>
            </a:pPr>
            <a:r>
              <a:rPr lang="en-US" sz="1400" dirty="0">
                <a:solidFill>
                  <a:schemeClr val="tx1"/>
                </a:solidFill>
              </a:rPr>
              <a:t>mssparkutils → notebookutils · SQL connector → com.microsoft.spark.fabric · synapsesql reads → the Warehouse · ADLS paths → OneLake</a:t>
            </a:r>
            <a:endParaRPr lang="en-US" sz="1400" dirty="0"/>
          </a:p>
        </p:txBody>
      </p:sp>
      <p:sp>
        <p:nvSpPr>
          <p:cNvPr id="5" name="Flagged for review chip"/>
          <p:cNvSpPr txBox="1"/>
          <p:nvPr/>
        </p:nvSpPr>
        <p:spPr>
          <a:xfrm>
            <a:off x="548640" y="2441448"/>
            <a:ext cx="1920240" cy="347472"/>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Flagged for review</a:t>
            </a:r>
            <a:endParaRPr lang="en-US" sz="1300" dirty="0"/>
          </a:p>
        </p:txBody>
      </p:sp>
      <p:sp>
        <p:nvSpPr>
          <p:cNvPr id="6" name="Text 4"/>
          <p:cNvSpPr txBox="1"/>
          <p:nvPr/>
        </p:nvSpPr>
        <p:spPr>
          <a:xfrm>
            <a:off x="2651760" y="2395728"/>
            <a:ext cx="3611880" cy="914400"/>
          </a:xfrm>
          <a:prstGeom prst="rect">
            <a:avLst/>
          </a:prstGeom>
          <a:noFill/>
          <a:ln/>
        </p:spPr>
        <p:txBody>
          <a:bodyPr wrap="square" lIns="0" tIns="0" rIns="0" bIns="0" rtlCol="0" anchor="t"/>
          <a:lstStyle/>
          <a:p>
            <a:pPr indent="0" marL="0">
              <a:buNone/>
            </a:pPr>
            <a:r>
              <a:rPr lang="en-US" sz="1400" dirty="0">
                <a:solidFill>
                  <a:schemeClr val="tx1"/>
                </a:solidFill>
              </a:rPr>
              <a:t>TokenLibrary · synapsesql writes · linked-service credentials · mssparkutils.env</a:t>
            </a:r>
            <a:endParaRPr lang="en-US" sz="1400" dirty="0"/>
          </a:p>
        </p:txBody>
      </p:sp>
      <p:sp>
        <p:nvSpPr>
          <p:cNvPr id="7" name="Dropped, with a note chip"/>
          <p:cNvSpPr txBox="1"/>
          <p:nvPr/>
        </p:nvSpPr>
        <p:spPr>
          <a:xfrm>
            <a:off x="548640" y="3465576"/>
            <a:ext cx="1920240" cy="347472"/>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Dropped, with a note</a:t>
            </a:r>
            <a:endParaRPr lang="en-US" sz="1300" dirty="0"/>
          </a:p>
        </p:txBody>
      </p:sp>
      <p:sp>
        <p:nvSpPr>
          <p:cNvPr id="8" name="Text 6"/>
          <p:cNvSpPr txBox="1"/>
          <p:nvPr/>
        </p:nvSpPr>
        <p:spPr>
          <a:xfrm>
            <a:off x="2651760" y="3419856"/>
            <a:ext cx="3611880" cy="914400"/>
          </a:xfrm>
          <a:prstGeom prst="rect">
            <a:avLst/>
          </a:prstGeom>
          <a:noFill/>
          <a:ln/>
        </p:spPr>
        <p:txBody>
          <a:bodyPr wrap="square" lIns="0" tIns="0" rIns="0" bIns="0" rtlCol="0" anchor="t"/>
          <a:lstStyle/>
          <a:p>
            <a:pPr indent="0" marL="0">
              <a:buNone/>
            </a:pPr>
            <a:r>
              <a:rPr lang="en-US" sz="1400" dirty="0">
                <a:solidFill>
                  <a:schemeClr val="tx1"/>
                </a:solidFill>
              </a:rPr>
              <a:t>Spark pool binding · session size settings · folder · saved outputs</a:t>
            </a:r>
            <a:endParaRPr lang="en-US" sz="1400" dirty="0"/>
          </a:p>
        </p:txBody>
      </p:sp>
      <p:sp>
        <p:nvSpPr>
          <p:cNvPr id="9" name="Not migrated chip"/>
          <p:cNvSpPr txBox="1"/>
          <p:nvPr/>
        </p:nvSpPr>
        <p:spPr>
          <a:xfrm>
            <a:off x="548640" y="4489704"/>
            <a:ext cx="192024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Not migrated</a:t>
            </a:r>
            <a:endParaRPr lang="en-US" sz="1300" dirty="0"/>
          </a:p>
        </p:txBody>
      </p:sp>
      <p:sp>
        <p:nvSpPr>
          <p:cNvPr id="10" name="Text 8"/>
          <p:cNvSpPr txBox="1"/>
          <p:nvPr/>
        </p:nvSpPr>
        <p:spPr>
          <a:xfrm>
            <a:off x="2651760" y="4443984"/>
            <a:ext cx="3611880" cy="914400"/>
          </a:xfrm>
          <a:prstGeom prst="rect">
            <a:avLst/>
          </a:prstGeom>
          <a:noFill/>
          <a:ln/>
        </p:spPr>
        <p:txBody>
          <a:bodyPr wrap="square" lIns="0" tIns="0" rIns="0" bIns="0" rtlCol="0" anchor="t"/>
          <a:lstStyle/>
          <a:p>
            <a:pPr indent="0" marL="0">
              <a:buNone/>
            </a:pPr>
            <a:r>
              <a:rPr lang="en-US" sz="1400" dirty="0">
                <a:solidFill>
                  <a:schemeClr val="tx1"/>
                </a:solidFill>
              </a:rPr>
              <a:t>.NET notebooks; a Claude draft can be generated, reviewed and accepted</a:t>
            </a:r>
            <a:endParaRPr lang="en-US" sz="1400" dirty="0"/>
          </a:p>
        </p:txBody>
      </p:sp>
      <p:sp>
        <p:nvSpPr>
          <p:cNvPr id="11" name="Text 9"/>
          <p:cNvSpPr txBox="1"/>
          <p:nvPr/>
        </p:nvSpPr>
        <p:spPr>
          <a:xfrm>
            <a:off x="548640" y="5532120"/>
            <a:ext cx="5669280" cy="548640"/>
          </a:xfrm>
          <a:prstGeom prst="rect">
            <a:avLst/>
          </a:prstGeom>
          <a:noFill/>
          <a:ln/>
        </p:spPr>
        <p:txBody>
          <a:bodyPr wrap="square" lIns="0" tIns="0" rIns="0" bIns="0" rtlCol="0" anchor="t"/>
          <a:lstStyle/>
          <a:p>
            <a:pPr indent="0" marL="0">
              <a:buNone/>
            </a:pPr>
            <a:r>
              <a:rPr lang="en-US" sz="1300" i="1" dirty="0">
                <a:solidFill>
                  <a:schemeClr val="accent4"/>
                </a:solidFill>
              </a:rPr>
              <a:t>Assistant: "Notebooks and associated environments are migrated." The page doesn't list any code changes.</a:t>
            </a:r>
            <a:endParaRPr lang="en-US" sz="1300" dirty="0"/>
          </a:p>
        </p:txBody>
      </p:sp>
      <p:sp>
        <p:nvSpPr>
          <p:cNvPr id="12" name="Synapse code"/>
          <p:cNvSpPr/>
          <p:nvPr/>
        </p:nvSpPr>
        <p:spPr>
          <a:xfrm>
            <a:off x="6583680" y="1371600"/>
            <a:ext cx="5029200" cy="1874520"/>
          </a:xfrm>
          <a:prstGeom prst="roundRect">
            <a:avLst>
              <a:gd name="adj" fmla="val 4878"/>
            </a:avLst>
          </a:prstGeom>
          <a:solidFill>
            <a:schemeClr val="tx2"/>
          </a:solidFill>
          <a:ln w="12700">
            <a:solidFill>
              <a:schemeClr val="tx2"/>
            </a:solidFill>
            <a:prstDash val="solid"/>
          </a:ln>
          <a:effectLst>
            <a:outerShdw sx="100000" sy="100000" kx="0" ky="0" algn="bl" rotWithShape="0" blurRad="76200" dist="25400" dir="5400000">
              <a:srgbClr val="1B2430">
                <a:alpha val="12000"/>
              </a:srgbClr>
            </a:outerShdw>
          </a:effectLst>
        </p:spPr>
      </p:sp>
      <p:sp>
        <p:nvSpPr>
          <p:cNvPr id="13" name="Synapse code label"/>
          <p:cNvSpPr txBox="1"/>
          <p:nvPr/>
        </p:nvSpPr>
        <p:spPr>
          <a:xfrm>
            <a:off x="6812280" y="1554480"/>
            <a:ext cx="137160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Synapse</a:t>
            </a:r>
            <a:endParaRPr lang="en-US" sz="1300" dirty="0"/>
          </a:p>
        </p:txBody>
      </p:sp>
      <p:sp>
        <p:nvSpPr>
          <p:cNvPr id="14" name="Text 12"/>
          <p:cNvSpPr txBox="1"/>
          <p:nvPr/>
        </p:nvSpPr>
        <p:spPr>
          <a:xfrm>
            <a:off x="6812280" y="2011680"/>
            <a:ext cx="4663440" cy="13716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from notebookutils import mssparkutils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import com.microsoft.spark.sqlanalytics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mssparkutils.fs.ls(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"abfss://raw@contosolake.dfs.core.windows.net/")</a:t>
            </a:r>
            <a:endParaRPr lang="en-US" sz="1100" dirty="0"/>
          </a:p>
        </p:txBody>
      </p:sp>
      <p:sp>
        <p:nvSpPr>
          <p:cNvPr id="15" name="Fabric code"/>
          <p:cNvSpPr/>
          <p:nvPr/>
        </p:nvSpPr>
        <p:spPr>
          <a:xfrm>
            <a:off x="6583680" y="3520440"/>
            <a:ext cx="5029200" cy="1874520"/>
          </a:xfrm>
          <a:prstGeom prst="roundRect">
            <a:avLst>
              <a:gd name="adj" fmla="val 4878"/>
            </a:avLst>
          </a:prstGeom>
          <a:solidFill>
            <a:schemeClr val="tx2"/>
          </a:solidFill>
          <a:ln w="12700">
            <a:solidFill>
              <a:schemeClr val="tx2"/>
            </a:solidFill>
            <a:prstDash val="solid"/>
          </a:ln>
          <a:effectLst>
            <a:outerShdw sx="100000" sy="100000" kx="0" ky="0" algn="bl" rotWithShape="0" blurRad="76200" dist="25400" dir="5400000">
              <a:srgbClr val="1B2430">
                <a:alpha val="12000"/>
              </a:srgbClr>
            </a:outerShdw>
          </a:effectLst>
        </p:spPr>
      </p:sp>
      <p:sp>
        <p:nvSpPr>
          <p:cNvPr id="16" name="Fabric code label"/>
          <p:cNvSpPr txBox="1"/>
          <p:nvPr/>
        </p:nvSpPr>
        <p:spPr>
          <a:xfrm>
            <a:off x="6812280" y="370332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Fabric</a:t>
            </a:r>
            <a:endParaRPr lang="en-US" sz="1300" dirty="0"/>
          </a:p>
        </p:txBody>
      </p:sp>
      <p:sp>
        <p:nvSpPr>
          <p:cNvPr id="17" name="Text 15"/>
          <p:cNvSpPr txBox="1"/>
          <p:nvPr/>
        </p:nvSpPr>
        <p:spPr>
          <a:xfrm>
            <a:off x="6812280" y="4160520"/>
            <a:ext cx="4663440" cy="13716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notebookutils is built into Fabric notebooks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import com.microsoft.spark.fabric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notebookutils.fs.ls(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"abfss://&lt;ws&gt;@onelake.dfs.fabric.microsoft.com"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"/&lt;lakehouse&gt;/Files/raw/")</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Spark job definitions: the code they run is converted too</a:t>
            </a:r>
            <a:endParaRPr lang="en-US" sz="3400" dirty="0"/>
          </a:p>
        </p:txBody>
      </p:sp>
      <p:sp>
        <p:nvSpPr>
          <p:cNvPr id="3" name="Job step 1"/>
          <p:cNvSpPr txBox="1"/>
          <p:nvPr/>
        </p:nvSpPr>
        <p:spPr>
          <a:xfrm>
            <a:off x="548640" y="1371600"/>
            <a:ext cx="2514600" cy="914400"/>
          </a:xfrm>
          <a:prstGeom prst="roundRect">
            <a:avLst>
              <a:gd name="adj" fmla="val 10000"/>
            </a:avLst>
          </a:prstGeom>
          <a:solidFill>
            <a:schemeClr val="tx2"/>
          </a:solidFill>
          <a:ln/>
        </p:spPr>
        <p:txBody>
          <a:bodyPr wrap="square" lIns="50800" tIns="50800" rIns="50800" bIns="50800" rtlCol="0" anchor="ctr"/>
          <a:lstStyle/>
          <a:p>
            <a:pPr algn="ctr" indent="0" marL="0">
              <a:buNone/>
            </a:pPr>
            <a:r>
              <a:rPr lang="en-US" sz="1500" b="1" dirty="0">
                <a:solidFill>
                  <a:schemeClr val="bg1"/>
                </a:solidFill>
              </a:rPr>
              <a:t>Main file read from ADLS</a:t>
            </a:r>
            <a:endParaRPr lang="en-US" sz="1500" dirty="0"/>
          </a:p>
        </p:txBody>
      </p:sp>
      <p:sp>
        <p:nvSpPr>
          <p:cNvPr id="4" name="Job arrow 1"/>
          <p:cNvSpPr/>
          <p:nvPr/>
        </p:nvSpPr>
        <p:spPr>
          <a:xfrm>
            <a:off x="3108960" y="1691640"/>
            <a:ext cx="256032" cy="274320"/>
          </a:xfrm>
          <a:prstGeom prst="rightArrow">
            <a:avLst/>
          </a:prstGeom>
          <a:solidFill>
            <a:schemeClr val="accent4"/>
          </a:solidFill>
          <a:ln w="12700">
            <a:solidFill>
              <a:schemeClr val="accent4"/>
            </a:solidFill>
            <a:prstDash val="solid"/>
          </a:ln>
        </p:spPr>
      </p:sp>
      <p:sp>
        <p:nvSpPr>
          <p:cNvPr id="5" name="Job step 2"/>
          <p:cNvSpPr txBox="1"/>
          <p:nvPr/>
        </p:nvSpPr>
        <p:spPr>
          <a:xfrm>
            <a:off x="3383280" y="1371600"/>
            <a:ext cx="2514600" cy="914400"/>
          </a:xfrm>
          <a:prstGeom prst="roundRect">
            <a:avLst>
              <a:gd name="adj" fmla="val 10000"/>
            </a:avLst>
          </a:prstGeom>
          <a:solidFill>
            <a:schemeClr val="tx2"/>
          </a:solidFill>
          <a:ln/>
        </p:spPr>
        <p:txBody>
          <a:bodyPr wrap="square" lIns="50800" tIns="50800" rIns="50800" bIns="50800" rtlCol="0" anchor="ctr"/>
          <a:lstStyle/>
          <a:p>
            <a:pPr algn="ctr" indent="0" marL="0">
              <a:buNone/>
            </a:pPr>
            <a:r>
              <a:rPr lang="en-US" sz="1500" b="1" dirty="0">
                <a:solidFill>
                  <a:schemeClr val="bg1"/>
                </a:solidFill>
              </a:rPr>
              <a:t>Storage paths rewritten</a:t>
            </a:r>
            <a:endParaRPr lang="en-US" sz="1500" dirty="0"/>
          </a:p>
        </p:txBody>
      </p:sp>
      <p:sp>
        <p:nvSpPr>
          <p:cNvPr id="6" name="Job arrow 2"/>
          <p:cNvSpPr/>
          <p:nvPr/>
        </p:nvSpPr>
        <p:spPr>
          <a:xfrm>
            <a:off x="5943600" y="1691640"/>
            <a:ext cx="256032" cy="274320"/>
          </a:xfrm>
          <a:prstGeom prst="rightArrow">
            <a:avLst/>
          </a:prstGeom>
          <a:solidFill>
            <a:schemeClr val="accent4"/>
          </a:solidFill>
          <a:ln w="12700">
            <a:solidFill>
              <a:schemeClr val="accent4"/>
            </a:solidFill>
            <a:prstDash val="solid"/>
          </a:ln>
        </p:spPr>
      </p:sp>
      <p:sp>
        <p:nvSpPr>
          <p:cNvPr id="7" name="Job step 3"/>
          <p:cNvSpPr txBox="1"/>
          <p:nvPr/>
        </p:nvSpPr>
        <p:spPr>
          <a:xfrm>
            <a:off x="6217920" y="1371600"/>
            <a:ext cx="2514600" cy="914400"/>
          </a:xfrm>
          <a:prstGeom prst="roundRect">
            <a:avLst>
              <a:gd name="adj" fmla="val 10000"/>
            </a:avLst>
          </a:prstGeom>
          <a:solidFill>
            <a:schemeClr val="tx2"/>
          </a:solidFill>
          <a:ln/>
        </p:spPr>
        <p:txBody>
          <a:bodyPr wrap="square" lIns="50800" tIns="50800" rIns="50800" bIns="50800" rtlCol="0" anchor="ctr"/>
          <a:lstStyle/>
          <a:p>
            <a:pPr algn="ctr" indent="0" marL="0">
              <a:buNone/>
            </a:pPr>
            <a:r>
              <a:rPr lang="en-US" sz="1500" b="1" dirty="0">
                <a:solidFill>
                  <a:schemeClr val="bg1"/>
                </a:solidFill>
              </a:rPr>
              <a:t>Copy saved to Files/_migrated_jobs/</a:t>
            </a:r>
            <a:endParaRPr lang="en-US" sz="1500" dirty="0"/>
          </a:p>
        </p:txBody>
      </p:sp>
      <p:sp>
        <p:nvSpPr>
          <p:cNvPr id="8" name="Job arrow 3"/>
          <p:cNvSpPr/>
          <p:nvPr/>
        </p:nvSpPr>
        <p:spPr>
          <a:xfrm>
            <a:off x="8778240" y="1691640"/>
            <a:ext cx="256032" cy="274320"/>
          </a:xfrm>
          <a:prstGeom prst="rightArrow">
            <a:avLst/>
          </a:prstGeom>
          <a:solidFill>
            <a:schemeClr val="accent4"/>
          </a:solidFill>
          <a:ln w="12700">
            <a:solidFill>
              <a:schemeClr val="accent4"/>
            </a:solidFill>
            <a:prstDash val="solid"/>
          </a:ln>
        </p:spPr>
      </p:sp>
      <p:sp>
        <p:nvSpPr>
          <p:cNvPr id="9" name="Job step 4"/>
          <p:cNvSpPr txBox="1"/>
          <p:nvPr/>
        </p:nvSpPr>
        <p:spPr>
          <a:xfrm>
            <a:off x="9052560" y="1371600"/>
            <a:ext cx="2514600" cy="91440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Fabric job: Environment + default Lakehouse</a:t>
            </a:r>
            <a:endParaRPr lang="en-US" sz="1500" dirty="0"/>
          </a:p>
        </p:txBody>
      </p:sp>
      <p:sp>
        <p:nvSpPr>
          <p:cNvPr id="10" name="Text 8"/>
          <p:cNvSpPr txBox="1"/>
          <p:nvPr/>
        </p:nvSpPr>
        <p:spPr>
          <a:xfrm>
            <a:off x="548640" y="2377440"/>
            <a:ext cx="11064240" cy="365760"/>
          </a:xfrm>
          <a:prstGeom prst="rect">
            <a:avLst/>
          </a:prstGeom>
          <a:noFill/>
          <a:ln/>
        </p:spPr>
        <p:txBody>
          <a:bodyPr wrap="square" lIns="0" tIns="0" rIns="0" bIns="0" rtlCol="0" anchor="t"/>
          <a:lstStyle/>
          <a:p>
            <a:pPr indent="0" marL="0">
              <a:buNone/>
            </a:pPr>
            <a:r>
              <a:rPr lang="en-US" sz="1300" i="1" dirty="0">
                <a:solidFill>
                  <a:schemeClr val="accent4"/>
                </a:solidFill>
              </a:rPr>
              <a:t>When the job's storage is routed through OneLake. The original file stays where it is, for Synapse.</a:t>
            </a:r>
            <a:endParaRPr lang="en-US" sz="1300" dirty="0"/>
          </a:p>
        </p:txBody>
      </p:sp>
      <p:sp>
        <p:nvSpPr>
          <p:cNvPr id="11" name="Kept card"/>
          <p:cNvSpPr/>
          <p:nvPr/>
        </p:nvSpPr>
        <p:spPr>
          <a:xfrm>
            <a:off x="548640" y="2926080"/>
            <a:ext cx="3520440" cy="2743200"/>
          </a:xfrm>
          <a:prstGeom prst="roundRect">
            <a:avLst>
              <a:gd name="adj" fmla="val 4000"/>
            </a:avLst>
          </a:prstGeom>
          <a:solidFill>
            <a:schemeClr val="bg2"/>
          </a:solidFill>
          <a:ln w="12700">
            <a:solidFill>
              <a:schemeClr val="bg2"/>
            </a:solidFill>
            <a:prstDash val="solid"/>
          </a:ln>
        </p:spPr>
      </p:sp>
      <p:sp>
        <p:nvSpPr>
          <p:cNvPr id="12" name="Kept chip"/>
          <p:cNvSpPr txBox="1"/>
          <p:nvPr/>
        </p:nvSpPr>
        <p:spPr>
          <a:xfrm>
            <a:off x="822960" y="3154680"/>
            <a:ext cx="237744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Kept</a:t>
            </a:r>
            <a:endParaRPr lang="en-US" sz="1300" dirty="0"/>
          </a:p>
        </p:txBody>
      </p:sp>
      <p:sp>
        <p:nvSpPr>
          <p:cNvPr id="13" name="Text 11"/>
          <p:cNvSpPr txBox="1"/>
          <p:nvPr/>
        </p:nvSpPr>
        <p:spPr>
          <a:xfrm>
            <a:off x="822960" y="36576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Main file, main class and arguments</a:t>
            </a:r>
            <a:endParaRPr lang="en-US" sz="1500" dirty="0"/>
          </a:p>
          <a:p>
            <a:pPr marL="203200" indent="-203200">
              <a:spcAft>
                <a:spcPts val="600"/>
              </a:spcAft>
              <a:buSzPct val="100000"/>
              <a:buChar char="•"/>
            </a:pPr>
            <a:r>
              <a:rPr lang="en-US" sz="1500" dirty="0">
                <a:solidFill>
                  <a:schemeClr val="tx1"/>
                </a:solidFill>
              </a:rPr>
              <a:t>Extra jars and files</a:t>
            </a:r>
            <a:endParaRPr lang="en-US" sz="1500" dirty="0"/>
          </a:p>
          <a:p>
            <a:pPr marL="203200" indent="-203200">
              <a:spcAft>
                <a:spcPts val="600"/>
              </a:spcAft>
              <a:buSzPct val="100000"/>
              <a:buChar char="•"/>
            </a:pPr>
            <a:r>
              <a:rPr lang="en-US" sz="1500" dirty="0">
                <a:solidFill>
                  <a:schemeClr val="tx1"/>
                </a:solidFill>
              </a:rPr>
              <a:t>Environment of the same name</a:t>
            </a:r>
            <a:endParaRPr lang="en-US" sz="1500" dirty="0"/>
          </a:p>
          <a:p>
            <a:pPr marL="203200" indent="-203200">
              <a:spcAft>
                <a:spcPts val="600"/>
              </a:spcAft>
              <a:buSzPct val="100000"/>
              <a:buChar char="•"/>
            </a:pPr>
            <a:r>
              <a:rPr lang="en-US" sz="1500" dirty="0">
                <a:solidFill>
                  <a:schemeClr val="tx1"/>
                </a:solidFill>
              </a:rPr>
              <a:t>A default Lakehouse (Fabric needs one to run a job)</a:t>
            </a:r>
            <a:endParaRPr lang="en-US" sz="1500" dirty="0"/>
          </a:p>
        </p:txBody>
      </p:sp>
      <p:sp>
        <p:nvSpPr>
          <p:cNvPr id="14" name="Dropped, with a note card"/>
          <p:cNvSpPr/>
          <p:nvPr/>
        </p:nvSpPr>
        <p:spPr>
          <a:xfrm>
            <a:off x="4343400" y="2926080"/>
            <a:ext cx="3520440" cy="2743200"/>
          </a:xfrm>
          <a:prstGeom prst="roundRect">
            <a:avLst>
              <a:gd name="adj" fmla="val 4000"/>
            </a:avLst>
          </a:prstGeom>
          <a:solidFill>
            <a:schemeClr val="bg2"/>
          </a:solidFill>
          <a:ln w="12700">
            <a:solidFill>
              <a:schemeClr val="bg2"/>
            </a:solidFill>
            <a:prstDash val="solid"/>
          </a:ln>
        </p:spPr>
      </p:sp>
      <p:sp>
        <p:nvSpPr>
          <p:cNvPr id="15" name="Dropped, with a note chip"/>
          <p:cNvSpPr txBox="1"/>
          <p:nvPr/>
        </p:nvSpPr>
        <p:spPr>
          <a:xfrm>
            <a:off x="4617720" y="3154680"/>
            <a:ext cx="2377440" cy="347472"/>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Dropped, with a note</a:t>
            </a:r>
            <a:endParaRPr lang="en-US" sz="1300" dirty="0"/>
          </a:p>
        </p:txBody>
      </p:sp>
      <p:sp>
        <p:nvSpPr>
          <p:cNvPr id="16" name="Text 14"/>
          <p:cNvSpPr txBox="1"/>
          <p:nvPr/>
        </p:nvSpPr>
        <p:spPr>
          <a:xfrm>
            <a:off x="4617720" y="36576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Driver and executor sizing</a:t>
            </a:r>
            <a:endParaRPr lang="en-US" sz="1500" dirty="0"/>
          </a:p>
          <a:p>
            <a:pPr marL="203200" indent="-203200">
              <a:spcAft>
                <a:spcPts val="600"/>
              </a:spcAft>
              <a:buSzPct val="100000"/>
              <a:buChar char="•"/>
            </a:pPr>
            <a:r>
              <a:rPr lang="en-US" sz="1500" dirty="0">
                <a:solidFill>
                  <a:schemeClr val="tx1"/>
                </a:solidFill>
              </a:rPr>
              <a:t>Spark conf on the job</a:t>
            </a:r>
            <a:endParaRPr lang="en-US" sz="1500" dirty="0"/>
          </a:p>
          <a:p>
            <a:pPr marL="203200" indent="-203200">
              <a:spcAft>
                <a:spcPts val="600"/>
              </a:spcAft>
              <a:buSzPct val="100000"/>
              <a:buChar char="•"/>
            </a:pPr>
            <a:r>
              <a:rPr lang="en-US" sz="1500" dirty="0">
                <a:solidFill>
                  <a:schemeClr val="tx1"/>
                </a:solidFill>
              </a:rPr>
              <a:t>Both belong in the job's Environment</a:t>
            </a:r>
            <a:endParaRPr lang="en-US" sz="1500" dirty="0"/>
          </a:p>
        </p:txBody>
      </p:sp>
      <p:sp>
        <p:nvSpPr>
          <p:cNvPr id="17" name="Refused, with the reason card"/>
          <p:cNvSpPr/>
          <p:nvPr/>
        </p:nvSpPr>
        <p:spPr>
          <a:xfrm>
            <a:off x="8138160" y="2926080"/>
            <a:ext cx="3520440" cy="2743200"/>
          </a:xfrm>
          <a:prstGeom prst="roundRect">
            <a:avLst>
              <a:gd name="adj" fmla="val 4000"/>
            </a:avLst>
          </a:prstGeom>
          <a:solidFill>
            <a:schemeClr val="bg2"/>
          </a:solidFill>
          <a:ln w="12700">
            <a:solidFill>
              <a:schemeClr val="bg2"/>
            </a:solidFill>
            <a:prstDash val="solid"/>
          </a:ln>
        </p:spPr>
      </p:sp>
      <p:sp>
        <p:nvSpPr>
          <p:cNvPr id="18" name="Refused, with the reason chip"/>
          <p:cNvSpPr txBox="1"/>
          <p:nvPr/>
        </p:nvSpPr>
        <p:spPr>
          <a:xfrm>
            <a:off x="8412480" y="3154680"/>
            <a:ext cx="237744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Refused, with the reason</a:t>
            </a:r>
            <a:endParaRPr lang="en-US" sz="1300" dirty="0"/>
          </a:p>
        </p:txBody>
      </p:sp>
      <p:sp>
        <p:nvSpPr>
          <p:cNvPr id="19" name="Text 17"/>
          <p:cNvSpPr txBox="1"/>
          <p:nvPr/>
        </p:nvSpPr>
        <p:spPr>
          <a:xfrm>
            <a:off x="8412480" y="36576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Languages other than Python, Scala or R</a:t>
            </a:r>
            <a:endParaRPr lang="en-US" sz="1500" dirty="0"/>
          </a:p>
          <a:p>
            <a:pPr marL="203200" indent="-203200">
              <a:spcAft>
                <a:spcPts val="600"/>
              </a:spcAft>
              <a:buSzPct val="100000"/>
              <a:buChar char="•"/>
            </a:pPr>
            <a:r>
              <a:rPr lang="en-US" sz="1500" dirty="0">
                <a:solidFill>
                  <a:schemeClr val="tx1"/>
                </a:solidFill>
              </a:rPr>
              <a:t>A job with no main file</a:t>
            </a:r>
            <a:endParaRPr lang="en-US" sz="1500" dirty="0"/>
          </a:p>
        </p:txBody>
      </p:sp>
      <p:sp>
        <p:nvSpPr>
          <p:cNvPr id="20" name="Text 18"/>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i="1" dirty="0">
                <a:solidFill>
                  <a:schemeClr val="accent4"/>
                </a:solidFill>
              </a:rPr>
              <a:t>Assistant: "Spark job definitions (SJDs) are migrated with associated environments."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Problems found before the run, proof after it</a:t>
            </a:r>
            <a:endParaRPr lang="en-US" sz="34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Assistant: one migration report per run, with Details for each error or warning; also found in the Monitoring Hub.</a:t>
            </a:r>
            <a:endParaRPr lang="en-US" sz="1600" dirty="0"/>
          </a:p>
        </p:txBody>
      </p:sp>
      <p:sp>
        <p:nvSpPr>
          <p:cNvPr id="4" name="Before the run card"/>
          <p:cNvSpPr/>
          <p:nvPr/>
        </p:nvSpPr>
        <p:spPr>
          <a:xfrm>
            <a:off x="548640" y="1874520"/>
            <a:ext cx="5394960" cy="3611880"/>
          </a:xfrm>
          <a:prstGeom prst="roundRect">
            <a:avLst>
              <a:gd name="adj" fmla="val 3038"/>
            </a:avLst>
          </a:prstGeom>
          <a:solidFill>
            <a:schemeClr val="bg2"/>
          </a:solidFill>
          <a:ln w="12700">
            <a:solidFill>
              <a:schemeClr val="bg2"/>
            </a:solidFill>
            <a:prstDash val="solid"/>
          </a:ln>
        </p:spPr>
      </p:sp>
      <p:sp>
        <p:nvSpPr>
          <p:cNvPr id="5" name="Before the run chip"/>
          <p:cNvSpPr txBox="1"/>
          <p:nvPr/>
        </p:nvSpPr>
        <p:spPr>
          <a:xfrm>
            <a:off x="868680" y="2148840"/>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Before the run</a:t>
            </a:r>
            <a:endParaRPr lang="en-US" sz="1300" dirty="0"/>
          </a:p>
        </p:txBody>
      </p:sp>
      <p:sp>
        <p:nvSpPr>
          <p:cNvPr id="6" name="Text 4"/>
          <p:cNvSpPr txBox="1"/>
          <p:nvPr/>
        </p:nvSpPr>
        <p:spPr>
          <a:xfrm>
            <a:off x="868680" y="2697480"/>
            <a:ext cx="475488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Every notebook cell scanned for 11 kinds of Synapse-specific code, plus imported and installed packages</a:t>
            </a:r>
            <a:endParaRPr lang="en-US" sz="1500" dirty="0"/>
          </a:p>
          <a:p>
            <a:pPr marL="203200" indent="-203200">
              <a:spcAft>
                <a:spcPts val="1000"/>
              </a:spcAft>
              <a:buSzPct val="100000"/>
              <a:buChar char="•"/>
            </a:pPr>
            <a:r>
              <a:rPr lang="en-US" sz="1500" dirty="0">
                <a:solidFill>
                  <a:schemeClr val="tx1"/>
                </a:solidFill>
              </a:rPr>
              <a:t>Plan risks per object: NOTEBOOK_REVIEW, SPARK_SETTINGS, EXTERNAL_STORAGE, DEPENDS_ON_STORAGE</a:t>
            </a:r>
            <a:endParaRPr lang="en-US" sz="1500" dirty="0"/>
          </a:p>
          <a:p>
            <a:pPr marL="203200" indent="-203200">
              <a:spcAft>
                <a:spcPts val="1000"/>
              </a:spcAft>
              <a:buSzPct val="100000"/>
              <a:buChar char="•"/>
            </a:pPr>
            <a:r>
              <a:rPr lang="en-US" sz="1500" dirty="0">
                <a:solidFill>
                  <a:schemeClr val="tx1"/>
                </a:solidFill>
              </a:rPr>
              <a:t>Each storage location the code reads, with the connection that can reach it</a:t>
            </a:r>
            <a:endParaRPr lang="en-US" sz="1500" dirty="0"/>
          </a:p>
          <a:p>
            <a:pPr marL="203200" indent="-203200">
              <a:spcAft>
                <a:spcPts val="1000"/>
              </a:spcAft>
              <a:buSzPct val="100000"/>
              <a:buChar char="•"/>
            </a:pPr>
            <a:r>
              <a:rPr lang="en-US" sz="1500" dirty="0">
                <a:solidFill>
                  <a:schemeClr val="tx1"/>
                </a:solidFill>
              </a:rPr>
              <a:t>Waves: Environments are created before the jobs that use them</a:t>
            </a:r>
            <a:endParaRPr lang="en-US" sz="1500" dirty="0"/>
          </a:p>
        </p:txBody>
      </p:sp>
      <p:sp>
        <p:nvSpPr>
          <p:cNvPr id="7" name="After the run card"/>
          <p:cNvSpPr/>
          <p:nvPr/>
        </p:nvSpPr>
        <p:spPr>
          <a:xfrm>
            <a:off x="6217920" y="1874520"/>
            <a:ext cx="5394960" cy="3611880"/>
          </a:xfrm>
          <a:prstGeom prst="roundRect">
            <a:avLst>
              <a:gd name="adj" fmla="val 3038"/>
            </a:avLst>
          </a:prstGeom>
          <a:solidFill>
            <a:schemeClr val="bg2"/>
          </a:solidFill>
          <a:ln w="12700">
            <a:solidFill>
              <a:schemeClr val="bg2"/>
            </a:solidFill>
            <a:prstDash val="solid"/>
          </a:ln>
        </p:spPr>
      </p:sp>
      <p:sp>
        <p:nvSpPr>
          <p:cNvPr id="8" name="After the run chip"/>
          <p:cNvSpPr txBox="1"/>
          <p:nvPr/>
        </p:nvSpPr>
        <p:spPr>
          <a:xfrm>
            <a:off x="6537960" y="2148840"/>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After the run</a:t>
            </a:r>
            <a:endParaRPr lang="en-US" sz="1300" dirty="0"/>
          </a:p>
        </p:txBody>
      </p:sp>
      <p:sp>
        <p:nvSpPr>
          <p:cNvPr id="9" name="Text 7"/>
          <p:cNvSpPr txBox="1"/>
          <p:nvPr/>
        </p:nvSpPr>
        <p:spPr>
          <a:xfrm>
            <a:off x="6537960" y="2697480"/>
            <a:ext cx="475488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Spark pool and Environment: same node size and scale</a:t>
            </a:r>
            <a:endParaRPr lang="en-US" sz="1500" dirty="0"/>
          </a:p>
          <a:p>
            <a:pPr marL="203200" indent="-203200">
              <a:spcAft>
                <a:spcPts val="1000"/>
              </a:spcAft>
              <a:buSzPct val="100000"/>
              <a:buChar char="•"/>
            </a:pPr>
            <a:r>
              <a:rPr lang="en-US" sz="1500" dirty="0">
                <a:solidFill>
                  <a:schemeClr val="tx1"/>
                </a:solidFill>
              </a:rPr>
              <a:t>Notebooks: same number of cells; jobs: present</a:t>
            </a:r>
            <a:endParaRPr lang="en-US" sz="1500" dirty="0"/>
          </a:p>
          <a:p>
            <a:pPr marL="203200" indent="-203200">
              <a:spcAft>
                <a:spcPts val="1000"/>
              </a:spcAft>
              <a:buSzPct val="100000"/>
              <a:buChar char="•"/>
            </a:pPr>
            <a:r>
              <a:rPr lang="en-US" sz="1500" dirty="0">
                <a:solidFill>
                  <a:schemeClr val="tx1"/>
                </a:solidFill>
              </a:rPr>
              <a:t>Runs in Fabric: the latest run's result, or run now and followed to the end</a:t>
            </a:r>
            <a:endParaRPr lang="en-US" sz="1500" dirty="0"/>
          </a:p>
          <a:p>
            <a:pPr marL="203200" indent="-203200">
              <a:spcAft>
                <a:spcPts val="1000"/>
              </a:spcAft>
              <a:buSzPct val="100000"/>
              <a:buChar char="•"/>
            </a:pPr>
            <a:r>
              <a:rPr lang="en-US" sz="1500" dirty="0">
                <a:solidFill>
                  <a:schemeClr val="tx1"/>
                </a:solidFill>
              </a:rPr>
              <a:t>A failed run is a MISMATCH; never run is a REVIEW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At a glance: what each one gives you</a:t>
            </a:r>
            <a:endParaRPr lang="en-US" sz="3400" dirty="0"/>
          </a:p>
        </p:txBody>
      </p:sp>
      <p:graphicFrame>
        <p:nvGraphicFramePr>
          <p:cNvPr id="11" name="Summary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97680"/>
                <a:gridCol w="3017520"/>
                <a:gridCol w="3749040"/>
              </a:tblGrid>
              <a:tr h="411480">
                <a:tc>
                  <a:txBody>
                    <a:bodyPr/>
                    <a:lstStyle/>
                    <a:p>
                      <a:pPr indent="0" marL="0">
                        <a:buNone/>
                      </a:pPr>
                      <a:r>
                        <a:rPr lang="en-US" sz="1500" b="1" dirty="0">
                          <a:solidFill>
                            <a:schemeClr val="bg1"/>
                          </a:solidFill>
                        </a:rPr>
                        <a:t>Capability</a:t>
                      </a:r>
                      <a:endParaRPr lang="en-US" sz="15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Microsoft assistant</a:t>
                      </a:r>
                      <a:endParaRPr lang="en-US" sz="15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accent2"/>
                    </a:solidFill>
                  </a:tcPr>
                </a:tc>
                <a:tc>
                  <a:txBody>
                    <a:bodyPr/>
                    <a:lstStyle/>
                    <a:p>
                      <a:pPr indent="0" marL="0">
                        <a:buNone/>
                      </a:pPr>
                      <a:r>
                        <a:rPr lang="en-US" sz="1500" b="1" dirty="0">
                          <a:solidFill>
                            <a:schemeClr val="bg1"/>
                          </a:solidFill>
                        </a:rPr>
                        <a:t>Our accelerator</a:t>
                      </a:r>
                      <a:endParaRPr lang="en-US" sz="15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accent1"/>
                    </a:solidFill>
                  </a:tcPr>
                </a:tc>
              </a:tr>
              <a:tr h="402336">
                <a:tc>
                  <a:txBody>
                    <a:bodyPr/>
                    <a:lstStyle/>
                    <a:p>
                      <a:pPr indent="0" marL="0">
                        <a:buNone/>
                      </a:pPr>
                      <a:r>
                        <a:rPr lang="en-US" sz="1400" b="1" dirty="0">
                          <a:solidFill>
                            <a:schemeClr val="tx1"/>
                          </a:solidFill>
                        </a:rPr>
                        <a:t>Spark pools → Environments</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  every setting mapped and noted</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Notebooks and job definitions</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Synapse-only calls rewritten</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Not described</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Storage paths routed through OneLake</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Job main files converted</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Risks listed before the run</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Proof each item runs in Fabric</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Migration report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  compared and run-checked</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Git branch or ZIP as source</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Live workspace only</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Re-run, Retry failed, update in place</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AI drafts for code rules can't convert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  reviewed by a person</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Lake databases</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On the roadmap</a:t>
                      </a:r>
                      <a:endParaRPr lang="en-US" sz="1400" dirty="0"/>
                    </a:p>
                  </a:txBody>
                  <a:tcPr marL="101600" marR="101600" marT="25400" marB="254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Roadmap for Spark</a:t>
            </a:r>
            <a:endParaRPr lang="en-US" sz="3600" dirty="0"/>
          </a:p>
        </p:txBody>
      </p:sp>
      <p:sp>
        <p:nvSpPr>
          <p:cNvPr id="3" name="Text 1"/>
          <p:cNvSpPr txBox="1"/>
          <p:nvPr/>
        </p:nvSpPr>
        <p:spPr>
          <a:xfrm>
            <a:off x="731520" y="1600200"/>
            <a:ext cx="731520" cy="82296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1</a:t>
            </a:r>
            <a:endParaRPr lang="en-US" sz="4800" dirty="0"/>
          </a:p>
        </p:txBody>
      </p:sp>
      <p:sp>
        <p:nvSpPr>
          <p:cNvPr id="4" name="Text 2"/>
          <p:cNvSpPr txBox="1"/>
          <p:nvPr/>
        </p:nvSpPr>
        <p:spPr>
          <a:xfrm>
            <a:off x="1600200" y="1600200"/>
            <a:ext cx="4389120" cy="457200"/>
          </a:xfrm>
          <a:prstGeom prst="rect">
            <a:avLst/>
          </a:prstGeom>
          <a:noFill/>
          <a:ln/>
        </p:spPr>
        <p:txBody>
          <a:bodyPr wrap="square" lIns="0" tIns="0" rIns="0" bIns="0" rtlCol="0" anchor="t"/>
          <a:lstStyle/>
          <a:p>
            <a:pPr indent="0" marL="0">
              <a:buNone/>
            </a:pPr>
            <a:r>
              <a:rPr lang="en-US" sz="2000" b="1" dirty="0">
                <a:solidFill>
                  <a:schemeClr val="bg1"/>
                </a:solidFill>
              </a:rPr>
              <a:t>Lake databases</a:t>
            </a:r>
            <a:endParaRPr lang="en-US" sz="2000" dirty="0"/>
          </a:p>
        </p:txBody>
      </p:sp>
      <p:sp>
        <p:nvSpPr>
          <p:cNvPr id="5" name="Text 3"/>
          <p:cNvSpPr txBox="1"/>
          <p:nvPr/>
        </p:nvSpPr>
        <p:spPr>
          <a:xfrm>
            <a:off x="1600200" y="2103120"/>
            <a:ext cx="4389120" cy="1280160"/>
          </a:xfrm>
          <a:prstGeom prst="rect">
            <a:avLst/>
          </a:prstGeom>
          <a:noFill/>
          <a:ln/>
        </p:spPr>
        <p:txBody>
          <a:bodyPr wrap="square" lIns="0" tIns="0" rIns="0" bIns="0" rtlCol="0" anchor="t"/>
          <a:lstStyle/>
          <a:p>
            <a:pPr indent="0" marL="0">
              <a:buNone/>
            </a:pPr>
            <a:r>
              <a:rPr lang="en-US" sz="1600" dirty="0">
                <a:solidFill>
                  <a:schemeClr val="bg2"/>
                </a:solidFill>
              </a:rPr>
              <a:t>One lakehouse, default database as dbo, Delta tables as shortcuts, non-Delta tables flagged.</a:t>
            </a:r>
            <a:endParaRPr lang="en-US" sz="1600" dirty="0"/>
          </a:p>
        </p:txBody>
      </p:sp>
      <p:sp>
        <p:nvSpPr>
          <p:cNvPr id="6" name="Text 4"/>
          <p:cNvSpPr txBox="1"/>
          <p:nvPr/>
        </p:nvSpPr>
        <p:spPr>
          <a:xfrm>
            <a:off x="6217920" y="1600200"/>
            <a:ext cx="731520" cy="82296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2</a:t>
            </a:r>
            <a:endParaRPr lang="en-US" sz="4800" dirty="0"/>
          </a:p>
        </p:txBody>
      </p:sp>
      <p:sp>
        <p:nvSpPr>
          <p:cNvPr id="7" name="Text 5"/>
          <p:cNvSpPr txBox="1"/>
          <p:nvPr/>
        </p:nvSpPr>
        <p:spPr>
          <a:xfrm>
            <a:off x="7086600" y="1600200"/>
            <a:ext cx="4389120" cy="457200"/>
          </a:xfrm>
          <a:prstGeom prst="rect">
            <a:avLst/>
          </a:prstGeom>
          <a:noFill/>
          <a:ln/>
        </p:spPr>
        <p:txBody>
          <a:bodyPr wrap="square" lIns="0" tIns="0" rIns="0" bIns="0" rtlCol="0" anchor="t"/>
          <a:lstStyle/>
          <a:p>
            <a:pPr indent="0" marL="0">
              <a:buNone/>
            </a:pPr>
            <a:r>
              <a:rPr lang="en-US" sz="2000" b="1" dirty="0">
                <a:solidFill>
                  <a:schemeClr val="bg1"/>
                </a:solidFill>
              </a:rPr>
              <a:t>Notebooks bound to Environments</a:t>
            </a:r>
            <a:endParaRPr lang="en-US" sz="2000" dirty="0"/>
          </a:p>
        </p:txBody>
      </p:sp>
      <p:sp>
        <p:nvSpPr>
          <p:cNvPr id="8" name="Text 6"/>
          <p:cNvSpPr txBox="1"/>
          <p:nvPr/>
        </p:nvSpPr>
        <p:spPr>
          <a:xfrm>
            <a:off x="7086600" y="2103120"/>
            <a:ext cx="4389120" cy="1280160"/>
          </a:xfrm>
          <a:prstGeom prst="rect">
            <a:avLst/>
          </a:prstGeom>
          <a:noFill/>
          <a:ln/>
        </p:spPr>
        <p:txBody>
          <a:bodyPr wrap="square" lIns="0" tIns="0" rIns="0" bIns="0" rtlCol="0" anchor="t"/>
          <a:lstStyle/>
          <a:p>
            <a:pPr indent="0" marL="0">
              <a:buNone/>
            </a:pPr>
            <a:r>
              <a:rPr lang="en-US" sz="1600" dirty="0">
                <a:solidFill>
                  <a:schemeClr val="bg2"/>
                </a:solidFill>
              </a:rPr>
              <a:t>Attach each notebook to the Environment made from its Synapse pool.</a:t>
            </a:r>
            <a:endParaRPr lang="en-US" sz="1600" dirty="0"/>
          </a:p>
        </p:txBody>
      </p:sp>
      <p:sp>
        <p:nvSpPr>
          <p:cNvPr id="9" name="Text 7"/>
          <p:cNvSpPr txBox="1"/>
          <p:nvPr/>
        </p:nvSpPr>
        <p:spPr>
          <a:xfrm>
            <a:off x="731520" y="3611880"/>
            <a:ext cx="731520" cy="82296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3</a:t>
            </a:r>
            <a:endParaRPr lang="en-US" sz="4800" dirty="0"/>
          </a:p>
        </p:txBody>
      </p:sp>
      <p:sp>
        <p:nvSpPr>
          <p:cNvPr id="10" name="Text 8"/>
          <p:cNvSpPr txBox="1"/>
          <p:nvPr/>
        </p:nvSpPr>
        <p:spPr>
          <a:xfrm>
            <a:off x="1600200" y="3611880"/>
            <a:ext cx="4389120" cy="457200"/>
          </a:xfrm>
          <a:prstGeom prst="rect">
            <a:avLst/>
          </a:prstGeom>
          <a:noFill/>
          <a:ln/>
        </p:spPr>
        <p:txBody>
          <a:bodyPr wrap="square" lIns="0" tIns="0" rIns="0" bIns="0" rtlCol="0" anchor="t"/>
          <a:lstStyle/>
          <a:p>
            <a:pPr indent="0" marL="0">
              <a:buNone/>
            </a:pPr>
            <a:r>
              <a:rPr lang="en-US" sz="2000" b="1" dirty="0">
                <a:solidFill>
                  <a:schemeClr val="bg1"/>
                </a:solidFill>
              </a:rPr>
              <a:t>Libraries into Environments</a:t>
            </a:r>
            <a:endParaRPr lang="en-US" sz="2000" dirty="0"/>
          </a:p>
        </p:txBody>
      </p:sp>
      <p:sp>
        <p:nvSpPr>
          <p:cNvPr id="11" name="Text 9"/>
          <p:cNvSpPr txBox="1"/>
          <p:nvPr/>
        </p:nvSpPr>
        <p:spPr>
          <a:xfrm>
            <a:off x="1600200" y="4114800"/>
            <a:ext cx="4389120" cy="1280160"/>
          </a:xfrm>
          <a:prstGeom prst="rect">
            <a:avLst/>
          </a:prstGeom>
          <a:noFill/>
          <a:ln/>
        </p:spPr>
        <p:txBody>
          <a:bodyPr wrap="square" lIns="0" tIns="0" rIns="0" bIns="0" rtlCol="0" anchor="t"/>
          <a:lstStyle/>
          <a:p>
            <a:pPr indent="0" marL="0">
              <a:buNone/>
            </a:pPr>
            <a:r>
              <a:rPr lang="en-US" sz="1600" dirty="0">
                <a:solidFill>
                  <a:schemeClr val="bg2"/>
                </a:solidFill>
              </a:rPr>
              <a:t>Upload the packages a pool uses into its Environment. The assistant doesn't do this.</a:t>
            </a:r>
            <a:endParaRPr lang="en-US" sz="1600" dirty="0"/>
          </a:p>
        </p:txBody>
      </p:sp>
      <p:sp>
        <p:nvSpPr>
          <p:cNvPr id="12" name="Text 10"/>
          <p:cNvSpPr txBox="1"/>
          <p:nvPr/>
        </p:nvSpPr>
        <p:spPr>
          <a:xfrm>
            <a:off x="6217920" y="3611880"/>
            <a:ext cx="731520" cy="82296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4</a:t>
            </a:r>
            <a:endParaRPr lang="en-US" sz="4800" dirty="0"/>
          </a:p>
        </p:txBody>
      </p:sp>
      <p:sp>
        <p:nvSpPr>
          <p:cNvPr id="13" name="Text 11"/>
          <p:cNvSpPr txBox="1"/>
          <p:nvPr/>
        </p:nvSpPr>
        <p:spPr>
          <a:xfrm>
            <a:off x="7086600" y="3611880"/>
            <a:ext cx="4389120" cy="457200"/>
          </a:xfrm>
          <a:prstGeom prst="rect">
            <a:avLst/>
          </a:prstGeom>
          <a:noFill/>
          <a:ln/>
        </p:spPr>
        <p:txBody>
          <a:bodyPr wrap="square" lIns="0" tIns="0" rIns="0" bIns="0" rtlCol="0" anchor="t"/>
          <a:lstStyle/>
          <a:p>
            <a:pPr indent="0" marL="0">
              <a:buNone/>
            </a:pPr>
            <a:r>
              <a:rPr lang="en-US" sz="2000" b="1" dirty="0">
                <a:solidFill>
                  <a:schemeClr val="bg1"/>
                </a:solidFill>
              </a:rPr>
              <a:t>Spark configuration</a:t>
            </a:r>
            <a:endParaRPr lang="en-US" sz="2000" dirty="0"/>
          </a:p>
        </p:txBody>
      </p:sp>
      <p:sp>
        <p:nvSpPr>
          <p:cNvPr id="14" name="Text 12"/>
          <p:cNvSpPr txBox="1"/>
          <p:nvPr/>
        </p:nvSpPr>
        <p:spPr>
          <a:xfrm>
            <a:off x="7086600" y="4114800"/>
            <a:ext cx="4389120" cy="1280160"/>
          </a:xfrm>
          <a:prstGeom prst="rect">
            <a:avLst/>
          </a:prstGeom>
          <a:noFill/>
          <a:ln/>
        </p:spPr>
        <p:txBody>
          <a:bodyPr wrap="square" lIns="0" tIns="0" rIns="0" bIns="0" rtlCol="0" anchor="t"/>
          <a:lstStyle/>
          <a:p>
            <a:pPr indent="0" marL="0">
              <a:buNone/>
            </a:pPr>
            <a:r>
              <a:rPr lang="en-US" sz="1600" dirty="0">
                <a:solidFill>
                  <a:schemeClr val="bg2"/>
                </a:solidFill>
              </a:rPr>
              <a:t>Carry pool and job Spark properties into the Environment. The assistant doesn't do this either.</a:t>
            </a:r>
            <a:endParaRPr lang="en-US" sz="1600" dirty="0"/>
          </a:p>
        </p:txBody>
      </p:sp>
      <p:sp>
        <p:nvSpPr>
          <p:cNvPr id="15" name="Text 13"/>
          <p:cNvSpPr txBox="1"/>
          <p:nvPr/>
        </p:nvSpPr>
        <p:spPr>
          <a:xfrm>
            <a:off x="731520" y="5760720"/>
            <a:ext cx="10698480" cy="457200"/>
          </a:xfrm>
          <a:prstGeom prst="rect">
            <a:avLst/>
          </a:prstGeom>
          <a:noFill/>
          <a:ln/>
        </p:spPr>
        <p:txBody>
          <a:bodyPr wrap="square" lIns="0" tIns="0" rIns="0" bIns="0" rtlCol="0" anchor="t"/>
          <a:lstStyle/>
          <a:p>
            <a:pPr indent="0" marL="0">
              <a:buNone/>
            </a:pPr>
            <a:r>
              <a:rPr lang="en-US" sz="1600" i="1" dirty="0">
                <a:solidFill>
                  <a:schemeClr val="bg2"/>
                </a:solidFill>
              </a:rPr>
              <a:t>After 1 and 2 we cover every Spark item the assistant does. 3 and 4 are things it doesn't do at all.</a:t>
            </a:r>
            <a:endParaRPr lang="en-US" sz="1600" dirty="0"/>
          </a:p>
        </p:txBody>
      </p:sp>
    </p:spTree>
  </p:cSld>
  <p:clrMapOvr>
    <a:masterClrMapping/>
  </p:clrMapOvr>
</p:sld>
</file>

<file path=ppt/theme/theme1.xml><?xml version="1.0" encoding="utf-8"?>
<a:theme xmlns:a="http://schemas.openxmlformats.org/drawingml/2006/main" name="Spark Comparison">
  <a:themeElements>
    <a:clrScheme name="Spark Comparison">
      <a:dk1>
        <a:srgbClr val="1B2430"/>
      </a:dk1>
      <a:lt1>
        <a:srgbClr val="FFFFFF"/>
      </a:lt1>
      <a:dk2>
        <a:srgbClr val="0E3B43"/>
      </a:dk2>
      <a:lt2>
        <a:srgbClr val="EDF3F2"/>
      </a:lt2>
      <a:accent1>
        <a:srgbClr val="0F8B7E"/>
      </a:accent1>
      <a:accent2>
        <a:srgbClr val="3A5A8C"/>
      </a:accent2>
      <a:accent3>
        <a:srgbClr val="B8432F"/>
      </a:accent3>
      <a:accent4>
        <a:srgbClr val="5B7083"/>
      </a:accent4>
      <a:accent5>
        <a:srgbClr val="C97A12"/>
      </a:accent5>
      <a:accent6>
        <a:srgbClr val="2E7D4F"/>
      </a:accent6>
      <a:hlink>
        <a:srgbClr val="0F8B7E"/>
      </a:hlink>
      <a:folHlink>
        <a:srgbClr val="5B7083"/>
      </a:folHlink>
    </a:clrScheme>
    <a:fontScheme name="Spark Compari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migration: our accelerator vs Microsoft's Spark Migration Assistant</dc:title>
  <dc:subject>PptxGenJS Presentation</dc:subject>
  <dc:creator>Synapse to Fabric Migration Accelerator team</dc:creator>
  <cp:lastModifiedBy>Synapse to Fabric Migration Accelerator team</cp:lastModifiedBy>
  <cp:revision>1</cp:revision>
  <dcterms:created xsi:type="dcterms:W3CDTF">2026-10-14T07:06:37Z</dcterms:created>
  <dcterms:modified xsi:type="dcterms:W3CDTF">2026-10-14T07:06:37Z</dcterms:modified>
</cp:coreProperties>
</file>